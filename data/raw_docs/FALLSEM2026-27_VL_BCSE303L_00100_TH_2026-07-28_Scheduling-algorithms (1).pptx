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325" r:id="rId11"/>
    <p:sldId id="267" r:id="rId12"/>
    <p:sldId id="345" r:id="rId13"/>
    <p:sldId id="324" r:id="rId14"/>
    <p:sldId id="326" r:id="rId15"/>
    <p:sldId id="329" r:id="rId16"/>
    <p:sldId id="330" r:id="rId17"/>
    <p:sldId id="332" r:id="rId18"/>
    <p:sldId id="333" r:id="rId19"/>
    <p:sldId id="268" r:id="rId20"/>
    <p:sldId id="269" r:id="rId21"/>
    <p:sldId id="328" r:id="rId22"/>
    <p:sldId id="335" r:id="rId23"/>
    <p:sldId id="336" r:id="rId24"/>
    <p:sldId id="270" r:id="rId25"/>
    <p:sldId id="271" r:id="rId26"/>
    <p:sldId id="272" r:id="rId27"/>
    <p:sldId id="273" r:id="rId28"/>
    <p:sldId id="341" r:id="rId29"/>
    <p:sldId id="343" r:id="rId30"/>
    <p:sldId id="274" r:id="rId31"/>
    <p:sldId id="338" r:id="rId32"/>
    <p:sldId id="275" r:id="rId33"/>
    <p:sldId id="342" r:id="rId34"/>
    <p:sldId id="344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8" r:id="rId44"/>
    <p:sldId id="290" r:id="rId45"/>
    <p:sldId id="291" r:id="rId46"/>
    <p:sldId id="292" r:id="rId47"/>
    <p:sldId id="309" r:id="rId48"/>
    <p:sldId id="317" r:id="rId49"/>
    <p:sldId id="318" r:id="rId50"/>
    <p:sldId id="319" r:id="rId51"/>
    <p:sldId id="320" r:id="rId52"/>
    <p:sldId id="321" r:id="rId53"/>
    <p:sldId id="323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3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00296-54E5-41AB-8299-2B06C1F3E713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23230-5126-4B36-88B0-D1AF255E7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9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39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595926-DD1C-47B0-97F0-5694ABAF93FA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98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A290BA7-4886-4F5B-B632-3E1E7C2A2258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931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17AF221-5897-47DF-99C3-05BBF2076BF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6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381E8DA-103A-4958-BDF2-58C748EB0E9A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989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E17D41E-3162-46F3-9D16-E2FFBA7E7E42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14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697E20-ADFD-4584-9C38-A6E0F51E2770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4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48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06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A00795C-4B38-4120-8083-3215D8F70862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754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638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5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781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34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8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8668E82-A10B-4A1B-872B-2C01E09345D8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643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D3FC16-23C0-4321-8999-75DCE329C549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01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D3FC16-23C0-4321-8999-75DCE329C549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743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13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63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957335-7351-4CC0-822D-E07DFDF42458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21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2D276A9-9DEE-4C19-B2FD-4DDD5CF6A263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86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5037F6-5187-4281-9D3B-DE74E01C8497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374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1A2A565-6DFA-4C11-9643-7C3FB6A6DBB1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489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44466E-F77B-4058-824D-A47DB56F0413}" type="slidenum">
              <a:rPr lang="en-US" altLang="en-US" sz="1200">
                <a:latin typeface="Arial" panose="020B0604020202020204" pitchFamily="34" charset="0"/>
              </a:rPr>
              <a:pPr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35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43E0A01-10F0-4ADA-A071-593EF68A4EF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673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40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1E5ABF-0EDE-44C5-8B7D-D820F8FB6AAD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622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35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0C098D1-AD02-4F35-92E7-B811609ADF40}" type="slidenum">
              <a:rPr lang="en-US" altLang="en-US" smtClean="0">
                <a:latin typeface="Times New Roman" pitchFamily="18" charset="0"/>
              </a:rPr>
              <a:pPr/>
              <a:t>35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3565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01FE888-3C1A-4FF5-B633-93B6031BDFD5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599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021728E-F7CD-4400-80B3-771FDCED920A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7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F52565B-3235-4C6A-8019-5195D6C511D2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912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2A10742-6B58-47E0-896F-2EFBF6C3F778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71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846F90-633F-4BD3-8961-931CBCABFC97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84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1CAD16-FD49-46E4-A56E-17FC319F7DCF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612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5B9D0BE-969D-4665-B2CD-1CFEB20FF923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05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0BFC49F-2811-4AA6-B134-6AFEF2BAE293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648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621EB3C-9B34-4358-9382-34A3FCD8A794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173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414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6173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D8369AD-F2EE-4E8E-A70C-87EF919D5996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34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6E899AC-BF1F-45EB-B5F2-F61F7BACAD6C}" type="slidenum">
              <a:rPr lang="en-US" altLang="en-US" smtClean="0">
                <a:latin typeface="Times New Roman" pitchFamily="18" charset="0"/>
              </a:rPr>
              <a:pPr/>
              <a:t>49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3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9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9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0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27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41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9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5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4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6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1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FEFE3-F4D9-41F9-96B1-44355B228259}" type="datetimeFigureOut">
              <a:rPr lang="en-IN" smtClean="0"/>
              <a:t>21-05-2023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74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 smtClean="0"/>
              <a:t>Module3_CPU_Scheduling</a:t>
            </a:r>
            <a:endParaRPr lang="en-IN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altLang="en-US" dirty="0"/>
              <a:t>Reference: </a:t>
            </a:r>
            <a:r>
              <a:rPr lang="en-US" altLang="en-US" dirty="0" smtClean="0"/>
              <a:t>“OPERATING </a:t>
            </a:r>
            <a:r>
              <a:rPr lang="en-US" altLang="en-US" dirty="0"/>
              <a:t>SYSTEM </a:t>
            </a:r>
            <a:r>
              <a:rPr lang="en-US" altLang="en-US" dirty="0" smtClean="0"/>
              <a:t>CONCEPTS”, </a:t>
            </a:r>
            <a:r>
              <a:rPr lang="en-US" altLang="en-US" dirty="0"/>
              <a:t>ABRAHAM </a:t>
            </a:r>
            <a:r>
              <a:rPr lang="en-US" altLang="en-US" dirty="0" smtClean="0"/>
              <a:t>SILBERSCHATZ, PETER </a:t>
            </a:r>
            <a:r>
              <a:rPr lang="en-US" altLang="en-US" dirty="0"/>
              <a:t>BAER </a:t>
            </a:r>
            <a:r>
              <a:rPr lang="en-US" altLang="en-US" dirty="0" smtClean="0"/>
              <a:t>GALVIN, GREG </a:t>
            </a:r>
            <a:r>
              <a:rPr lang="en-US" altLang="en-US" dirty="0"/>
              <a:t>GAGNE </a:t>
            </a:r>
            <a:r>
              <a:rPr lang="en-US" altLang="en-US" dirty="0" smtClean="0"/>
              <a:t>, Wiley publications.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26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6150" y="1233488"/>
            <a:ext cx="7283450" cy="453072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 smtClean="0"/>
              <a:t>To introduce </a:t>
            </a:r>
            <a:r>
              <a:rPr lang="en-US" altLang="en-US" dirty="0" smtClean="0">
                <a:solidFill>
                  <a:srgbClr val="FF0000"/>
                </a:solidFill>
              </a:rPr>
              <a:t>CPU scheduling,</a:t>
            </a:r>
            <a:r>
              <a:rPr lang="en-US" altLang="en-US" dirty="0" smtClean="0"/>
              <a:t> which is the </a:t>
            </a:r>
            <a:r>
              <a:rPr lang="en-US" altLang="en-US" dirty="0" smtClean="0">
                <a:solidFill>
                  <a:srgbClr val="FF0000"/>
                </a:solidFill>
              </a:rPr>
              <a:t>basis for </a:t>
            </a:r>
            <a:r>
              <a:rPr lang="en-US" altLang="en-US" dirty="0" err="1" smtClean="0">
                <a:solidFill>
                  <a:srgbClr val="FF0000"/>
                </a:solidFill>
              </a:rPr>
              <a:t>multiprogrammed</a:t>
            </a:r>
            <a:r>
              <a:rPr lang="en-US" altLang="en-US" dirty="0" smtClean="0">
                <a:solidFill>
                  <a:srgbClr val="FF0000"/>
                </a:solidFill>
              </a:rPr>
              <a:t> operating systems</a:t>
            </a:r>
          </a:p>
          <a:p>
            <a:pPr algn="just"/>
            <a:r>
              <a:rPr lang="en-US" altLang="en-US" dirty="0" smtClean="0"/>
              <a:t>To describe various CPU-scheduling algorithms</a:t>
            </a:r>
          </a:p>
          <a:p>
            <a:pPr algn="just"/>
            <a:r>
              <a:rPr lang="en-US" altLang="en-US" dirty="0" smtClean="0"/>
              <a:t>To discuss evaluation criteria for selecting a CPU-scheduling algorithm for a particular system</a:t>
            </a:r>
          </a:p>
        </p:txBody>
      </p:sp>
    </p:spTree>
    <p:extLst>
      <p:ext uri="{BB962C8B-B14F-4D97-AF65-F5344CB8AC3E}">
        <p14:creationId xmlns:p14="http://schemas.microsoft.com/office/powerpoint/2010/main" val="36196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Basic Concepts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274763"/>
            <a:ext cx="3978275" cy="505777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 smtClean="0"/>
              <a:t>Maximum CPU utilization  is obtained with multiprogramming</a:t>
            </a:r>
          </a:p>
          <a:p>
            <a:r>
              <a:rPr lang="en-US" altLang="en-US" dirty="0" smtClean="0"/>
              <a:t>CPU–I/O Burst Cycle – Process execution consists of a </a:t>
            </a:r>
            <a:r>
              <a:rPr lang="en-US" altLang="en-US" b="1" dirty="0" smtClean="0">
                <a:solidFill>
                  <a:srgbClr val="3366FF"/>
                </a:solidFill>
              </a:rPr>
              <a:t>cycle</a:t>
            </a:r>
            <a:r>
              <a:rPr lang="en-US" altLang="en-US" dirty="0" smtClean="0"/>
              <a:t> of CPU execution and I/O wait</a:t>
            </a:r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CPU burst </a:t>
            </a:r>
            <a:r>
              <a:rPr lang="en-US" altLang="en-US" dirty="0" smtClean="0"/>
              <a:t>followed by </a:t>
            </a:r>
            <a:r>
              <a:rPr lang="en-US" altLang="en-US" b="1" dirty="0" smtClean="0">
                <a:solidFill>
                  <a:srgbClr val="3366FF"/>
                </a:solidFill>
              </a:rPr>
              <a:t>I/O burst</a:t>
            </a:r>
            <a:endParaRPr lang="en-US" altLang="en-US" dirty="0" smtClean="0"/>
          </a:p>
          <a:p>
            <a:r>
              <a:rPr lang="en-US" altLang="en-US" dirty="0" smtClean="0"/>
              <a:t>CPU burst distribution is of main concern</a:t>
            </a:r>
          </a:p>
          <a:p>
            <a:pPr algn="just"/>
            <a:r>
              <a:rPr lang="en-US" altLang="en-US" dirty="0" smtClean="0">
                <a:solidFill>
                  <a:srgbClr val="FF0000"/>
                </a:solidFill>
              </a:rPr>
              <a:t>CPU Burst Time: </a:t>
            </a:r>
            <a:r>
              <a:rPr lang="en-US" altLang="en-US" dirty="0" smtClean="0"/>
              <a:t>The amount of time a process executes before it goes to wait state</a:t>
            </a:r>
          </a:p>
          <a:p>
            <a:pPr>
              <a:buFont typeface="Monotype Sorts" pitchFamily="-84" charset="2"/>
              <a:buNone/>
            </a:pPr>
            <a:endParaRPr lang="en-US" altLang="en-US" dirty="0" smtClean="0"/>
          </a:p>
        </p:txBody>
      </p:sp>
      <p:pic>
        <p:nvPicPr>
          <p:cNvPr id="6148" name="Picture 1" descr="6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292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76213"/>
            <a:ext cx="76200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Histogram of CPU-burst Times</a:t>
            </a:r>
          </a:p>
        </p:txBody>
      </p:sp>
      <p:pic>
        <p:nvPicPr>
          <p:cNvPr id="717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525588"/>
            <a:ext cx="57213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03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169988"/>
            <a:ext cx="7067550" cy="4786312"/>
          </a:xfrm>
        </p:spPr>
        <p:txBody>
          <a:bodyPr>
            <a:normAutofit fontScale="70000" lnSpcReduction="20000"/>
          </a:bodyPr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Short-term scheduler </a:t>
            </a:r>
            <a:r>
              <a:rPr lang="en-US" dirty="0" smtClean="0">
                <a:ea typeface="ＭＳ Ｐゴシック" charset="-128"/>
              </a:rPr>
              <a:t>selects </a:t>
            </a:r>
            <a:r>
              <a:rPr lang="en-US" dirty="0">
                <a:ea typeface="ＭＳ Ｐゴシック" charset="-128"/>
              </a:rPr>
              <a:t>from among the processes in</a:t>
            </a:r>
            <a:r>
              <a:rPr lang="en-US" dirty="0" smtClean="0">
                <a:ea typeface="ＭＳ Ｐゴシック" charset="-128"/>
              </a:rPr>
              <a:t> ready queue, and </a:t>
            </a:r>
            <a:r>
              <a:rPr lang="en-US" dirty="0">
                <a:ea typeface="ＭＳ Ｐゴシック" charset="-128"/>
              </a:rPr>
              <a:t>allocates the CPU to one of </a:t>
            </a:r>
            <a:r>
              <a:rPr lang="en-US" dirty="0" smtClean="0">
                <a:ea typeface="ＭＳ Ｐゴシック" charset="-128"/>
              </a:rPr>
              <a:t>them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 smtClean="0">
                <a:ea typeface="ＭＳ Ｐゴシック" charset="-128"/>
              </a:rPr>
              <a:t>Queue may be ordered in various ways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CPU scheduling decisions may take place when a process: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1.	Switches from running to waiting state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2.	Switches from running to ready state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3.	Switches from waiting to ready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r>
              <a:rPr lang="en-US" dirty="0" smtClean="0">
                <a:ea typeface="ＭＳ Ｐゴシック" charset="-128"/>
              </a:rPr>
              <a:t>Terminates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Scheduling under 1 and 4 is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All other scheduling is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 smtClean="0">
                <a:ea typeface="ＭＳ Ｐゴシック" charset="-128"/>
              </a:rPr>
              <a:t>Consider access to shared data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 smtClean="0">
                <a:ea typeface="ＭＳ Ｐゴシック" charset="-128"/>
              </a:rPr>
              <a:t>Consider preemption while in kernel mode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 smtClean="0">
                <a:ea typeface="ＭＳ Ｐゴシック" charset="-128"/>
              </a:rPr>
              <a:t>Consider interrupts occurring during crucial OS activities</a:t>
            </a:r>
            <a:endParaRPr lang="en-US" dirty="0">
              <a:ea typeface="ＭＳ Ｐゴシック" charset="-128"/>
            </a:endParaRP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492896"/>
            <a:ext cx="2952328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254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335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Dispatcher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775" y="1177925"/>
            <a:ext cx="6724650" cy="44831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en-US" dirty="0" smtClean="0"/>
              <a:t>Dispatcher module </a:t>
            </a:r>
            <a:r>
              <a:rPr lang="en-US" altLang="en-US" dirty="0" smtClean="0">
                <a:solidFill>
                  <a:srgbClr val="FF0000"/>
                </a:solidFill>
              </a:rPr>
              <a:t>gives control of the CPU to the process selected by the short-term scheduler</a:t>
            </a:r>
            <a:r>
              <a:rPr lang="en-US" altLang="en-US" dirty="0" smtClean="0"/>
              <a:t>; this involves:</a:t>
            </a:r>
          </a:p>
          <a:p>
            <a:pPr lvl="1"/>
            <a:r>
              <a:rPr lang="en-US" altLang="en-US" dirty="0" smtClean="0"/>
              <a:t>switching context</a:t>
            </a:r>
          </a:p>
          <a:p>
            <a:pPr lvl="1"/>
            <a:r>
              <a:rPr lang="en-US" altLang="en-US" dirty="0" smtClean="0"/>
              <a:t>switching to user mode</a:t>
            </a:r>
          </a:p>
          <a:p>
            <a:pPr lvl="1"/>
            <a:r>
              <a:rPr lang="en-US" altLang="en-US" dirty="0" smtClean="0"/>
              <a:t>jumping to the proper location in the user program to restart that program</a:t>
            </a:r>
          </a:p>
          <a:p>
            <a:pPr algn="just"/>
            <a:r>
              <a:rPr lang="en-US" altLang="en-US" b="1" dirty="0" smtClean="0">
                <a:solidFill>
                  <a:srgbClr val="3366FF"/>
                </a:solidFill>
              </a:rPr>
              <a:t>Dispatch latency </a:t>
            </a:r>
            <a:r>
              <a:rPr lang="en-US" altLang="en-US" dirty="0" smtClean="0"/>
              <a:t>– </a:t>
            </a:r>
            <a:r>
              <a:rPr lang="en-US" altLang="en-US" dirty="0" smtClean="0">
                <a:solidFill>
                  <a:srgbClr val="FF0000"/>
                </a:solidFill>
              </a:rPr>
              <a:t>time taken </a:t>
            </a:r>
            <a:r>
              <a:rPr lang="en-US" altLang="en-US" dirty="0" smtClean="0"/>
              <a:t>by the </a:t>
            </a:r>
            <a:r>
              <a:rPr lang="en-US" altLang="en-US" dirty="0" err="1" smtClean="0"/>
              <a:t>the</a:t>
            </a:r>
            <a:r>
              <a:rPr lang="en-US" altLang="en-US" dirty="0" smtClean="0"/>
              <a:t> dispatcher </a:t>
            </a:r>
            <a:r>
              <a:rPr lang="en-US" altLang="en-US" dirty="0" smtClean="0">
                <a:solidFill>
                  <a:srgbClr val="FF0000"/>
                </a:solidFill>
              </a:rPr>
              <a:t>to stop one process and start another running</a:t>
            </a:r>
          </a:p>
        </p:txBody>
      </p:sp>
    </p:spTree>
    <p:extLst>
      <p:ext uri="{BB962C8B-B14F-4D97-AF65-F5344CB8AC3E}">
        <p14:creationId xmlns:p14="http://schemas.microsoft.com/office/powerpoint/2010/main" val="37693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Scheduling Criteria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246188"/>
            <a:ext cx="7156450" cy="495935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 smtClean="0">
                <a:solidFill>
                  <a:srgbClr val="FF0000"/>
                </a:solidFill>
              </a:rPr>
              <a:t>CPU utilization </a:t>
            </a:r>
            <a:r>
              <a:rPr lang="en-US" altLang="en-US" dirty="0" smtClean="0"/>
              <a:t>– keep the CPU as busy as possible</a:t>
            </a:r>
          </a:p>
          <a:p>
            <a:pPr algn="just"/>
            <a:r>
              <a:rPr lang="en-US" altLang="en-US" b="1" dirty="0" smtClean="0">
                <a:solidFill>
                  <a:srgbClr val="FF0000"/>
                </a:solidFill>
              </a:rPr>
              <a:t>Throughput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– # of processes that complete their execution per time unit</a:t>
            </a:r>
          </a:p>
          <a:p>
            <a:pPr algn="just"/>
            <a:r>
              <a:rPr lang="en-US" altLang="en-US" b="1" dirty="0" smtClean="0">
                <a:solidFill>
                  <a:srgbClr val="FF0000"/>
                </a:solidFill>
              </a:rPr>
              <a:t>Turnaround time </a:t>
            </a:r>
            <a:r>
              <a:rPr lang="en-US" altLang="en-US" dirty="0" smtClean="0"/>
              <a:t>– amount of time to execute a particular process</a:t>
            </a:r>
          </a:p>
          <a:p>
            <a:pPr algn="just"/>
            <a:r>
              <a:rPr lang="en-US" altLang="en-US" b="1" dirty="0" smtClean="0">
                <a:solidFill>
                  <a:srgbClr val="FF0000"/>
                </a:solidFill>
              </a:rPr>
              <a:t>Waiting time </a:t>
            </a:r>
            <a:r>
              <a:rPr lang="en-US" altLang="en-US" dirty="0" smtClean="0"/>
              <a:t>– amount of time a process has been waiting in the ready queue</a:t>
            </a:r>
          </a:p>
          <a:p>
            <a:pPr algn="just"/>
            <a:r>
              <a:rPr lang="en-US" altLang="en-US" b="1" dirty="0" smtClean="0">
                <a:solidFill>
                  <a:srgbClr val="FF0000"/>
                </a:solidFill>
              </a:rPr>
              <a:t>Response time </a:t>
            </a:r>
            <a:r>
              <a:rPr lang="en-US" altLang="en-US" dirty="0" smtClean="0"/>
              <a:t>– amount of time taken  from when a request was submitted until the first response is produced, not output  (for time-sharing environment)</a:t>
            </a:r>
          </a:p>
        </p:txBody>
      </p:sp>
    </p:spTree>
    <p:extLst>
      <p:ext uri="{BB962C8B-B14F-4D97-AF65-F5344CB8AC3E}">
        <p14:creationId xmlns:p14="http://schemas.microsoft.com/office/powerpoint/2010/main" val="73654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404466"/>
            <a:ext cx="7513637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/>
              <a:t>Scheduling Algorithm Optimization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174750"/>
            <a:ext cx="6115050" cy="4483100"/>
          </a:xfrm>
        </p:spPr>
        <p:txBody>
          <a:bodyPr>
            <a:normAutofit/>
          </a:bodyPr>
          <a:lstStyle/>
          <a:p>
            <a:endParaRPr lang="en-US" altLang="en-US" dirty="0" smtClean="0"/>
          </a:p>
          <a:p>
            <a:r>
              <a:rPr lang="en-US" altLang="en-US" dirty="0" smtClean="0"/>
              <a:t>Maximize CPU utilization</a:t>
            </a:r>
          </a:p>
          <a:p>
            <a:r>
              <a:rPr lang="en-US" altLang="en-US" dirty="0"/>
              <a:t>Maximize throughput</a:t>
            </a:r>
            <a:endParaRPr lang="en-US" altLang="en-US" dirty="0" smtClean="0"/>
          </a:p>
          <a:p>
            <a:r>
              <a:rPr lang="en-US" altLang="en-US" dirty="0" smtClean="0"/>
              <a:t>Minimize turnaround time </a:t>
            </a:r>
          </a:p>
          <a:p>
            <a:r>
              <a:rPr lang="en-US" altLang="en-US" dirty="0"/>
              <a:t>Minimize waiting </a:t>
            </a:r>
            <a:r>
              <a:rPr lang="en-US" altLang="en-US" dirty="0" smtClean="0"/>
              <a:t>time </a:t>
            </a:r>
          </a:p>
          <a:p>
            <a:r>
              <a:rPr lang="en-US" altLang="en-US" dirty="0"/>
              <a:t>Minimize response </a:t>
            </a:r>
            <a:r>
              <a:rPr lang="en-US" altLang="en-US" dirty="0" smtClean="0"/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4872251" y="4653136"/>
            <a:ext cx="3078382" cy="1490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uptime -&gt; Linux command</a:t>
            </a:r>
          </a:p>
          <a:p>
            <a:r>
              <a:rPr lang="en-US" altLang="en-US" dirty="0" smtClean="0"/>
              <a:t> </a:t>
            </a:r>
            <a:r>
              <a:rPr lang="en-US" altLang="en-US" dirty="0"/>
              <a:t>system </a:t>
            </a:r>
            <a:r>
              <a:rPr lang="en-US" altLang="en-US" dirty="0" smtClean="0"/>
              <a:t>calls</a:t>
            </a:r>
          </a:p>
          <a:p>
            <a:r>
              <a:rPr lang="en-US" altLang="en-US" dirty="0" smtClean="0"/>
              <a:t>time</a:t>
            </a:r>
          </a:p>
          <a:p>
            <a:r>
              <a:rPr lang="en-IN" dirty="0" err="1"/>
              <a:t>sched_getscheduler</a:t>
            </a:r>
            <a:r>
              <a:rPr lang="en-IN" dirty="0"/>
              <a:t>() </a:t>
            </a:r>
            <a:endParaRPr lang="en-IN" dirty="0" smtClean="0"/>
          </a:p>
          <a:p>
            <a:r>
              <a:rPr lang="en-IN" dirty="0" err="1" smtClean="0"/>
              <a:t>sched_setscheduler</a:t>
            </a:r>
            <a:r>
              <a:rPr lang="en-IN" dirty="0"/>
              <a:t>()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251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1: </a:t>
            </a:r>
            <a:r>
              <a:rPr lang="en-US" altLang="en-US" sz="2400" dirty="0" smtClean="0"/>
              <a:t>Consider the following processes with their burst time.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dirty="0" smtClean="0">
                <a:solidFill>
                  <a:srgbClr val="FF0000"/>
                </a:solidFill>
              </a:rPr>
              <a:t>             </a:t>
            </a:r>
            <a:r>
              <a:rPr lang="en-US" altLang="en-US" sz="2000" dirty="0" smtClean="0">
                <a:solidFill>
                  <a:srgbClr val="FF0000"/>
                </a:solidFill>
              </a:rPr>
              <a:t>          Process ID   Burst Time </a:t>
            </a:r>
            <a:r>
              <a:rPr lang="en-US" altLang="en-US" sz="2000" dirty="0" smtClean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1</a:t>
            </a:r>
            <a:r>
              <a:rPr lang="en-US" altLang="en-US" sz="2000" dirty="0" smtClean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2</a:t>
            </a:r>
            <a:r>
              <a:rPr lang="en-US" altLang="en-US" sz="2000" dirty="0" smtClean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3	 </a:t>
            </a:r>
            <a:r>
              <a:rPr lang="en-US" altLang="en-US" sz="2000" dirty="0" smtClean="0"/>
              <a:t>3</a:t>
            </a:r>
            <a:r>
              <a:rPr lang="en-US" altLang="en-US" sz="2400" i="1" baseline="-25000" dirty="0" smtClean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Suppose that the processes arrive in the order: </a:t>
            </a:r>
            <a:r>
              <a:rPr lang="en-US" altLang="en-US" sz="1800" i="1" dirty="0" smtClean="0"/>
              <a:t>P</a:t>
            </a:r>
            <a:r>
              <a:rPr lang="en-US" altLang="en-US" sz="1800" i="1" baseline="-25000" dirty="0" smtClean="0"/>
              <a:t>1</a:t>
            </a:r>
            <a:r>
              <a:rPr lang="en-US" altLang="en-US" sz="1800" dirty="0" smtClean="0"/>
              <a:t> , </a:t>
            </a:r>
            <a:r>
              <a:rPr lang="en-US" altLang="en-US" sz="1800" i="1" dirty="0" smtClean="0"/>
              <a:t>P</a:t>
            </a:r>
            <a:r>
              <a:rPr lang="en-US" altLang="en-US" sz="1800" i="1" baseline="-25000" dirty="0" smtClean="0"/>
              <a:t>2</a:t>
            </a:r>
            <a:r>
              <a:rPr lang="en-US" altLang="en-US" sz="1800" dirty="0" smtClean="0"/>
              <a:t> , </a:t>
            </a:r>
            <a:r>
              <a:rPr lang="en-US" altLang="en-US" sz="1800" i="1" dirty="0" smtClean="0"/>
              <a:t>P</a:t>
            </a:r>
            <a:r>
              <a:rPr lang="en-US" altLang="en-US" sz="1800" i="1" baseline="-25000" dirty="0" smtClean="0"/>
              <a:t>3  </a:t>
            </a:r>
            <a:br>
              <a:rPr lang="en-US" altLang="en-US" sz="1800" i="1" baseline="-25000" dirty="0" smtClean="0"/>
            </a:br>
            <a:r>
              <a:rPr lang="en-US" altLang="en-US" sz="1800" dirty="0" smtClean="0"/>
              <a:t>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/>
              <a:t>Waiting time for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1</a:t>
            </a:r>
            <a:r>
              <a:rPr lang="en-US" altLang="en-US" sz="2400" dirty="0" smtClean="0"/>
              <a:t>  = 0;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2</a:t>
            </a:r>
            <a:r>
              <a:rPr lang="en-US" altLang="en-US" sz="2400" dirty="0" smtClean="0"/>
              <a:t>  = 24;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3 </a:t>
            </a:r>
            <a:r>
              <a:rPr lang="en-US" altLang="en-US" sz="2400" dirty="0" smtClean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 smtClean="0"/>
              <a:t>:  (0 + 24 + 27)/3 = 17</a:t>
            </a:r>
          </a:p>
        </p:txBody>
      </p:sp>
      <p:pic>
        <p:nvPicPr>
          <p:cNvPr id="1229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3974976"/>
            <a:ext cx="6954838" cy="7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217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00" dirty="0" smtClean="0"/>
              <a:t>	</a:t>
            </a:r>
            <a:r>
              <a:rPr lang="en-US" altLang="en-US" sz="2000" u="sng" dirty="0" smtClean="0"/>
              <a:t>Example 1: Continued</a:t>
            </a:r>
            <a:endParaRPr lang="en-US" altLang="en-US" sz="20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</a:t>
            </a:r>
            <a:r>
              <a:rPr lang="en-US" altLang="en-US" sz="1600" dirty="0" smtClean="0"/>
              <a:t>The </a:t>
            </a:r>
            <a:r>
              <a:rPr lang="en-US" altLang="en-US" sz="16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600" dirty="0" smtClean="0"/>
              <a:t>for the schedule is:</a:t>
            </a:r>
            <a:br>
              <a:rPr lang="en-US" altLang="en-US" sz="1600" dirty="0" smtClean="0"/>
            </a:br>
            <a:r>
              <a:rPr lang="en-US" altLang="en-US" sz="1000" dirty="0" smtClean="0"/>
              <a:t/>
            </a:r>
            <a:br>
              <a:rPr lang="en-US" altLang="en-US" sz="1000" dirty="0" smtClean="0"/>
            </a:br>
            <a:r>
              <a:rPr lang="en-US" altLang="en-US" sz="1000" dirty="0" smtClean="0"/>
              <a:t/>
            </a:r>
            <a:br>
              <a:rPr lang="en-US" altLang="en-US" sz="1000" dirty="0" smtClean="0"/>
            </a:br>
            <a:endParaRPr lang="en-US" altLang="en-US" sz="1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/>
              <a:t>Waiting time for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1</a:t>
            </a:r>
            <a:r>
              <a:rPr lang="en-US" altLang="en-US" sz="2400" dirty="0" smtClean="0"/>
              <a:t>  = 0;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2</a:t>
            </a:r>
            <a:r>
              <a:rPr lang="en-US" altLang="en-US" sz="2400" dirty="0" smtClean="0"/>
              <a:t>  = 24;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3 </a:t>
            </a:r>
            <a:r>
              <a:rPr lang="en-US" altLang="en-US" sz="2400" dirty="0" smtClean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 smtClean="0"/>
              <a:t>:  (0 + 24 + 27)/3 = 17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pic>
        <p:nvPicPr>
          <p:cNvPr id="1229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42728"/>
            <a:ext cx="6954838" cy="7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230142"/>
              </p:ext>
            </p:extLst>
          </p:nvPr>
        </p:nvGraphicFramePr>
        <p:xfrm>
          <a:off x="928048" y="2924944"/>
          <a:ext cx="7286421" cy="2155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445"/>
                <a:gridCol w="1161445"/>
                <a:gridCol w="1890087"/>
                <a:gridCol w="1906521"/>
                <a:gridCol w="1166923"/>
              </a:tblGrid>
              <a:tr h="8472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24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27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27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24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417874" y="6095037"/>
            <a:ext cx="56105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Turnaround Time = Completion Time - Arrival Time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 Time = Turn Around Time - Burst Time    </a:t>
            </a:r>
          </a:p>
        </p:txBody>
      </p:sp>
    </p:spTree>
    <p:extLst>
      <p:ext uri="{BB962C8B-B14F-4D97-AF65-F5344CB8AC3E}">
        <p14:creationId xmlns:p14="http://schemas.microsoft.com/office/powerpoint/2010/main" val="91627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 fontScale="55000" lnSpcReduction="20000"/>
          </a:bodyPr>
          <a:lstStyle/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u="sng" dirty="0"/>
              <a:t>Example 1: Continued</a:t>
            </a:r>
            <a:endParaRPr lang="en-US" altLang="en-US" dirty="0"/>
          </a:p>
          <a:p>
            <a:pPr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dirty="0" smtClean="0"/>
              <a:t>Suppose that the </a:t>
            </a:r>
            <a:r>
              <a:rPr lang="en-US" altLang="en-US" b="1" dirty="0" smtClean="0">
                <a:solidFill>
                  <a:srgbClr val="00B050"/>
                </a:solidFill>
              </a:rPr>
              <a:t>processes arrive in the order:</a:t>
            </a:r>
            <a:r>
              <a:rPr lang="en-US" altLang="en-US" b="1" dirty="0">
                <a:solidFill>
                  <a:srgbClr val="00B050"/>
                </a:solidFill>
              </a:rPr>
              <a:t> 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2</a:t>
            </a:r>
            <a:r>
              <a:rPr lang="en-US" altLang="en-US" b="1" dirty="0">
                <a:solidFill>
                  <a:srgbClr val="00B050"/>
                </a:solidFill>
              </a:rPr>
              <a:t> ,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3</a:t>
            </a:r>
            <a:r>
              <a:rPr lang="en-US" altLang="en-US" b="1" dirty="0">
                <a:solidFill>
                  <a:srgbClr val="00B050"/>
                </a:solidFill>
              </a:rPr>
              <a:t> ,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1</a:t>
            </a:r>
            <a:r>
              <a:rPr lang="en-US" altLang="en-US" b="1" dirty="0">
                <a:solidFill>
                  <a:srgbClr val="00B050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 smtClean="0">
                <a:solidFill>
                  <a:srgbClr val="FF0000"/>
                </a:solidFill>
              </a:rPr>
              <a:t>			                    Process </a:t>
            </a:r>
            <a:r>
              <a:rPr lang="en-US" altLang="en-US" sz="2500" dirty="0">
                <a:solidFill>
                  <a:srgbClr val="FF0000"/>
                </a:solidFill>
              </a:rPr>
              <a:t>ID   Burst Time </a:t>
            </a:r>
            <a:r>
              <a:rPr lang="en-US" altLang="en-US" sz="2500" dirty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</a:t>
            </a:r>
            <a:r>
              <a:rPr lang="en-US" altLang="en-US" sz="2500" dirty="0" smtClean="0"/>
              <a:t>	</a:t>
            </a:r>
            <a:r>
              <a:rPr lang="en-US" altLang="en-US" sz="2500" i="1" dirty="0" smtClean="0"/>
              <a:t>P</a:t>
            </a:r>
            <a:r>
              <a:rPr lang="en-US" altLang="en-US" sz="2500" i="1" baseline="-25000" dirty="0" smtClean="0"/>
              <a:t>1</a:t>
            </a:r>
            <a:r>
              <a:rPr lang="en-US" altLang="en-US" sz="2500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</a:t>
            </a:r>
            <a:r>
              <a:rPr lang="en-US" altLang="en-US" sz="2500" dirty="0" smtClean="0"/>
              <a:t>	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	</a:t>
            </a:r>
            <a:r>
              <a:rPr lang="en-US" altLang="en-US" sz="2500" dirty="0" smtClean="0"/>
              <a:t> 3</a:t>
            </a:r>
            <a:endParaRPr lang="en-US" altLang="en-US" sz="25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</a:t>
            </a:r>
            <a:r>
              <a:rPr lang="en-US" altLang="en-US" sz="2500" dirty="0" smtClean="0"/>
              <a:t>	</a:t>
            </a:r>
            <a:r>
              <a:rPr lang="en-US" altLang="en-US" sz="2500" i="1" dirty="0" smtClean="0"/>
              <a:t>P</a:t>
            </a:r>
            <a:r>
              <a:rPr lang="en-US" altLang="en-US" sz="2500" i="1" baseline="-25000" dirty="0" smtClean="0"/>
              <a:t>3</a:t>
            </a:r>
            <a:r>
              <a:rPr lang="en-US" altLang="en-US" sz="2500" i="1" baseline="-25000" dirty="0"/>
              <a:t>	 </a:t>
            </a:r>
            <a:r>
              <a:rPr lang="en-US" altLang="en-US" sz="2500" dirty="0"/>
              <a:t>3</a:t>
            </a:r>
            <a:r>
              <a:rPr lang="en-US" altLang="en-US" sz="2900" i="1" baseline="-25000" dirty="0"/>
              <a:t> </a:t>
            </a:r>
            <a:endParaRPr lang="en-US" altLang="en-US" sz="2500" dirty="0" smtClean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 smtClean="0"/>
              <a:t>	The </a:t>
            </a:r>
            <a:r>
              <a:rPr lang="en-US" altLang="en-US" dirty="0" smtClean="0">
                <a:solidFill>
                  <a:srgbClr val="FF0000"/>
                </a:solidFill>
              </a:rPr>
              <a:t>Gantt chart </a:t>
            </a:r>
            <a:r>
              <a:rPr lang="en-US" altLang="en-US" dirty="0" smtClean="0"/>
              <a:t>for the schedule is:</a:t>
            </a:r>
            <a:br>
              <a:rPr lang="en-US" altLang="en-US" dirty="0" smtClean="0"/>
            </a:b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endParaRPr lang="en-US" altLang="en-US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Waiting time for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 </a:t>
            </a:r>
            <a:r>
              <a:rPr lang="en-US" altLang="en-US" i="1" dirty="0" smtClean="0"/>
              <a:t>=</a:t>
            </a:r>
            <a:r>
              <a:rPr lang="en-US" altLang="en-US" dirty="0" smtClean="0"/>
              <a:t> 6</a:t>
            </a:r>
            <a:r>
              <a:rPr lang="en-US" altLang="en-US" i="1" dirty="0" smtClean="0"/>
              <a:t>;</a:t>
            </a:r>
            <a:r>
              <a:rPr lang="en-US" altLang="en-US" i="1" baseline="-25000" dirty="0" smtClean="0"/>
              <a:t>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 = 0</a:t>
            </a:r>
            <a:r>
              <a:rPr lang="en-US" altLang="en-US" i="1" baseline="-25000" dirty="0" smtClean="0"/>
              <a:t>;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 </a:t>
            </a:r>
            <a:r>
              <a:rPr lang="en-US" altLang="en-US" i="1" dirty="0" smtClean="0"/>
              <a:t>= </a:t>
            </a:r>
            <a:r>
              <a:rPr lang="en-US" altLang="en-US" dirty="0" smtClean="0"/>
              <a:t>3</a:t>
            </a:r>
            <a:endParaRPr lang="en-US" altLang="en-US" i="1" dirty="0" smtClean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 smtClean="0"/>
              <a:t>Performance of FCFS is dynamic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b="1" dirty="0" smtClean="0">
                <a:solidFill>
                  <a:srgbClr val="3366FF"/>
                </a:solidFill>
              </a:rPr>
              <a:t>Convoy effect </a:t>
            </a:r>
            <a:r>
              <a:rPr lang="en-US" altLang="en-US" dirty="0" smtClean="0"/>
              <a:t>- short process behind long process</a:t>
            </a:r>
          </a:p>
          <a:p>
            <a:pPr marL="457200" lvl="1" indent="0">
              <a:buNone/>
              <a:tabLst>
                <a:tab pos="3649345" algn="ctr"/>
              </a:tabLst>
              <a:defRPr/>
            </a:pPr>
            <a:r>
              <a:rPr lang="en-US" altLang="en-US" dirty="0" smtClean="0"/>
              <a:t>          - Consider one CPU-bound and many I/O-bound processes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996952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81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en-US" dirty="0"/>
              <a:t>FCFS Scheduling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900" dirty="0">
                <a:solidFill>
                  <a:srgbClr val="FF0000"/>
                </a:solidFill>
              </a:rPr>
              <a:t>Convoy Effect</a:t>
            </a:r>
            <a:endParaRPr lang="en-US" sz="5900" dirty="0" smtClean="0">
              <a:solidFill>
                <a:srgbClr val="FF0000"/>
              </a:solidFill>
            </a:endParaRPr>
          </a:p>
          <a:p>
            <a:r>
              <a:rPr lang="en-US" sz="4000" dirty="0" smtClean="0"/>
              <a:t>FCFS </a:t>
            </a:r>
            <a:r>
              <a:rPr lang="en-US" sz="4000" dirty="0"/>
              <a:t>algorithm is </a:t>
            </a:r>
            <a:r>
              <a:rPr lang="en-US" sz="4000" dirty="0" smtClean="0"/>
              <a:t>non-preemptive, </a:t>
            </a:r>
            <a:r>
              <a:rPr lang="en-US" sz="4000" dirty="0"/>
              <a:t>that is, once CPU time has been allocated to a process, other processes can get CPU time only after the current process has finished. This property of FCFS scheduling leads to the situation called Convoy Effect.</a:t>
            </a:r>
          </a:p>
          <a:p>
            <a:r>
              <a:rPr lang="en-US" sz="4000" dirty="0"/>
              <a:t>Suppose there is one CPU intensive (large burst time) process in the ready queue, and several other processes with relatively less burst times but are </a:t>
            </a:r>
            <a:r>
              <a:rPr lang="en-US" sz="4000" dirty="0" err="1"/>
              <a:t>Input/Output</a:t>
            </a:r>
            <a:r>
              <a:rPr lang="en-US" sz="4000" dirty="0"/>
              <a:t> (I/O) bound (Need I/O operations frequently</a:t>
            </a:r>
            <a:r>
              <a:rPr lang="en-US" sz="4000" dirty="0" smtClean="0"/>
              <a:t>).</a:t>
            </a:r>
          </a:p>
          <a:p>
            <a:pPr lvl="1"/>
            <a:r>
              <a:rPr lang="en-US" sz="3500" dirty="0"/>
              <a:t>The I/O bound processes are first allocated CPU time. As they are less CPU intensive, they quickly get executed and </a:t>
            </a:r>
            <a:r>
              <a:rPr lang="en-US" sz="3500" dirty="0" err="1"/>
              <a:t>goto</a:t>
            </a:r>
            <a:r>
              <a:rPr lang="en-US" sz="3500" dirty="0"/>
              <a:t> I/O queues.</a:t>
            </a:r>
          </a:p>
          <a:p>
            <a:pPr lvl="1"/>
            <a:r>
              <a:rPr lang="en-US" sz="3500" dirty="0"/>
              <a:t>Now, the CPU intensive process is allocated CPU time. As its burst time is high, it takes time to complete.</a:t>
            </a:r>
          </a:p>
          <a:p>
            <a:pPr lvl="1"/>
            <a:r>
              <a:rPr lang="en-US" sz="3500" dirty="0"/>
              <a:t>While the CPU intensive process is being executed, the I/O bound processes complete their I/O operations and are moved back to ready queue.</a:t>
            </a:r>
          </a:p>
          <a:p>
            <a:pPr lvl="1"/>
            <a:r>
              <a:rPr lang="en-US" sz="3500" dirty="0"/>
              <a:t>However, the I/O bound processes are made to wait as the CPU intensive process still hasn’t finished. This leads to I/O devices being idle.</a:t>
            </a:r>
          </a:p>
          <a:p>
            <a:pPr lvl="1"/>
            <a:r>
              <a:rPr lang="en-US" sz="3500" dirty="0"/>
              <a:t>When the CPU intensive process gets over, it is sent to the I/O queue so that it can access an I/O device.</a:t>
            </a:r>
          </a:p>
          <a:p>
            <a:pPr lvl="1"/>
            <a:r>
              <a:rPr lang="en-US" sz="3500" dirty="0"/>
              <a:t>Meanwhile, the I/O bound processes get their required CPU time and move back to I/O queue.</a:t>
            </a:r>
          </a:p>
          <a:p>
            <a:pPr lvl="1"/>
            <a:r>
              <a:rPr lang="en-US" sz="3500" dirty="0"/>
              <a:t>However, they are made to wait because the CPU intensive process is still accessing an I/O device. As a result, the CPU is sitting idle now.</a:t>
            </a:r>
          </a:p>
          <a:p>
            <a:pPr lvl="1"/>
            <a:r>
              <a:rPr lang="en-US" sz="3500" dirty="0"/>
              <a:t>Hence in Convoy Effect, one slow process slows down the performance of the entire set of processes, and leads to wastage of CPU time and other devices.</a:t>
            </a:r>
          </a:p>
          <a:p>
            <a:pPr marL="457200" lvl="1" indent="0">
              <a:buNone/>
            </a:pPr>
            <a:endParaRPr lang="en-US" sz="3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13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First- Come, First-Served (FCFS) Scheduling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Example 2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5724525" cy="318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546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00" dirty="0" smtClean="0"/>
              <a:t>	</a:t>
            </a:r>
            <a:r>
              <a:rPr lang="en-US" altLang="en-US" sz="2000" u="sng" dirty="0" smtClean="0"/>
              <a:t>Example </a:t>
            </a:r>
            <a:r>
              <a:rPr lang="en-US" altLang="en-US" sz="2000" u="sng" dirty="0"/>
              <a:t>2</a:t>
            </a:r>
            <a:r>
              <a:rPr lang="en-US" altLang="en-US" sz="2000" u="sng" dirty="0" smtClean="0"/>
              <a:t>: Continued</a:t>
            </a:r>
            <a:endParaRPr lang="en-US" altLang="en-US" sz="20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</a:t>
            </a:r>
            <a:r>
              <a:rPr lang="en-US" altLang="en-US" sz="1600" dirty="0" smtClean="0"/>
              <a:t>The </a:t>
            </a:r>
            <a:r>
              <a:rPr lang="en-US" altLang="en-US" sz="16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600" dirty="0" smtClean="0"/>
              <a:t>for the schedule is:</a:t>
            </a:r>
            <a:br>
              <a:rPr lang="en-US" altLang="en-US" sz="1600" dirty="0" smtClean="0"/>
            </a:br>
            <a:r>
              <a:rPr lang="en-US" altLang="en-US" sz="1000" dirty="0" smtClean="0"/>
              <a:t/>
            </a:r>
            <a:br>
              <a:rPr lang="en-US" altLang="en-US" sz="1000" dirty="0" smtClean="0"/>
            </a:br>
            <a:r>
              <a:rPr lang="en-US" altLang="en-US" sz="1000" dirty="0" smtClean="0"/>
              <a:t/>
            </a:r>
            <a:br>
              <a:rPr lang="en-US" altLang="en-US" sz="1000" dirty="0" smtClean="0"/>
            </a:br>
            <a:endParaRPr lang="en-US" altLang="en-US" sz="1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 smtClean="0"/>
              <a:t>:  (0 +7+11+12)/4 = 7.5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282671"/>
              </p:ext>
            </p:extLst>
          </p:nvPr>
        </p:nvGraphicFramePr>
        <p:xfrm>
          <a:off x="928048" y="3069019"/>
          <a:ext cx="7286421" cy="25922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445"/>
                <a:gridCol w="1161445"/>
                <a:gridCol w="1890087"/>
                <a:gridCol w="1906521"/>
                <a:gridCol w="1166923"/>
              </a:tblGrid>
              <a:tr h="8472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 smtClean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5" y="725487"/>
            <a:ext cx="4176464" cy="22323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290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3: </a:t>
            </a:r>
            <a:r>
              <a:rPr lang="en-US" altLang="en-US" sz="2400" dirty="0" smtClean="0"/>
              <a:t>Consider the following processes with their </a:t>
            </a:r>
            <a:r>
              <a:rPr lang="en-US" altLang="en-US" sz="2400" b="1" dirty="0" smtClean="0">
                <a:solidFill>
                  <a:srgbClr val="00B050"/>
                </a:solidFill>
              </a:rPr>
              <a:t>burst time and arrival time</a:t>
            </a:r>
            <a:r>
              <a:rPr lang="en-US" altLang="en-US" sz="2400" dirty="0" smtClean="0"/>
              <a:t>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 smtClean="0"/>
              <a:t>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        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IN" sz="2400" dirty="0" smtClean="0"/>
              <a:t>Average </a:t>
            </a:r>
            <a:r>
              <a:rPr lang="en-IN" sz="2400" dirty="0"/>
              <a:t>Waiting Time: (0+4+6+13) / 4 = 5.75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21642"/>
              </p:ext>
            </p:extLst>
          </p:nvPr>
        </p:nvGraphicFramePr>
        <p:xfrm>
          <a:off x="3002507" y="2101755"/>
          <a:ext cx="3551030" cy="1571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666"/>
                <a:gridCol w="1136838"/>
                <a:gridCol w="1281526"/>
              </a:tblGrid>
              <a:tr h="306143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BurstTime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ArrivalTime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30" y="4293096"/>
            <a:ext cx="538695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5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3 (cont’d): </a:t>
            </a: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 smtClean="0"/>
              <a:t>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           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IN" sz="2400" dirty="0" smtClean="0"/>
              <a:t>Average Waiting </a:t>
            </a:r>
            <a:r>
              <a:rPr lang="en-IN" sz="2400" dirty="0"/>
              <a:t>Time: (0+4+6+13) / 4 = 5.75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07546"/>
              </p:ext>
            </p:extLst>
          </p:nvPr>
        </p:nvGraphicFramePr>
        <p:xfrm>
          <a:off x="1547664" y="1412776"/>
          <a:ext cx="6336705" cy="2016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025"/>
                <a:gridCol w="878988"/>
                <a:gridCol w="990859"/>
                <a:gridCol w="1378413"/>
                <a:gridCol w="1390400"/>
                <a:gridCol w="851020"/>
              </a:tblGrid>
              <a:tr h="66525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4149080"/>
            <a:ext cx="4608512" cy="120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4: </a:t>
            </a:r>
            <a:r>
              <a:rPr lang="en-US" altLang="en-US" sz="2400" dirty="0" smtClean="0"/>
              <a:t>Consider the following processes with their burst time and arrival time.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dirty="0" smtClean="0">
                <a:solidFill>
                  <a:srgbClr val="FF0000"/>
                </a:solidFill>
              </a:rPr>
              <a:t>             </a:t>
            </a:r>
            <a:r>
              <a:rPr lang="en-US" altLang="en-US" sz="2000" dirty="0" smtClean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</a:t>
            </a:r>
            <a:r>
              <a:rPr lang="en-US" altLang="en-US" sz="2400" dirty="0">
                <a:solidFill>
                  <a:srgbClr val="FF0000"/>
                </a:solidFill>
              </a:rPr>
              <a:t>waiting time</a:t>
            </a:r>
            <a:r>
              <a:rPr lang="en-US" altLang="en-US" sz="2400" dirty="0"/>
              <a:t> = (0 </a:t>
            </a:r>
            <a:r>
              <a:rPr lang="en-US" altLang="en-US" sz="2400"/>
              <a:t>+ </a:t>
            </a:r>
            <a:r>
              <a:rPr lang="en-US" altLang="en-US" sz="2400" smtClean="0"/>
              <a:t>5 </a:t>
            </a:r>
            <a:r>
              <a:rPr lang="en-US" altLang="en-US" sz="2400"/>
              <a:t>+ </a:t>
            </a:r>
            <a:r>
              <a:rPr lang="en-US" altLang="en-US" sz="2400" smtClean="0"/>
              <a:t>7 </a:t>
            </a:r>
            <a:r>
              <a:rPr lang="en-US" altLang="en-US" sz="2400" dirty="0"/>
              <a:t>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49301"/>
              </p:ext>
            </p:extLst>
          </p:nvPr>
        </p:nvGraphicFramePr>
        <p:xfrm>
          <a:off x="2411761" y="2060848"/>
          <a:ext cx="4752528" cy="154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6995"/>
                <a:gridCol w="1563285"/>
                <a:gridCol w="1762248"/>
              </a:tblGrid>
              <a:tr h="30936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4221088"/>
            <a:ext cx="4248472" cy="7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5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First- Come, First-Served (FCFS) Scheduling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4: (</a:t>
            </a:r>
            <a:r>
              <a:rPr lang="en-US" altLang="en-US" sz="2400" dirty="0" smtClean="0"/>
              <a:t>continued)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dirty="0" smtClean="0">
                <a:solidFill>
                  <a:srgbClr val="FF0000"/>
                </a:solidFill>
              </a:rPr>
              <a:t>             </a:t>
            </a:r>
            <a:r>
              <a:rPr lang="en-US" altLang="en-US" sz="2000" dirty="0" smtClean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</a:t>
            </a:r>
            <a:r>
              <a:rPr lang="en-US" altLang="en-US" sz="2400" dirty="0">
                <a:solidFill>
                  <a:srgbClr val="FF0000"/>
                </a:solidFill>
              </a:rPr>
              <a:t>waiting time</a:t>
            </a:r>
            <a:r>
              <a:rPr lang="en-US" altLang="en-US" sz="2400" dirty="0"/>
              <a:t> = (0 + </a:t>
            </a:r>
            <a:r>
              <a:rPr lang="en-US" altLang="en-US" sz="2400" dirty="0" smtClean="0"/>
              <a:t>5 </a:t>
            </a:r>
            <a:r>
              <a:rPr lang="en-US" altLang="en-US" sz="2400" dirty="0"/>
              <a:t>+ </a:t>
            </a:r>
            <a:r>
              <a:rPr lang="en-US" altLang="en-US" sz="2400" dirty="0" smtClean="0"/>
              <a:t>7 </a:t>
            </a:r>
            <a:r>
              <a:rPr lang="en-US" altLang="en-US" sz="2400" dirty="0"/>
              <a:t>+ 7)/4  = </a:t>
            </a:r>
            <a:r>
              <a:rPr lang="en-US" altLang="en-US" sz="2400" dirty="0" smtClean="0"/>
              <a:t>4.75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349923"/>
              </p:ext>
            </p:extLst>
          </p:nvPr>
        </p:nvGraphicFramePr>
        <p:xfrm>
          <a:off x="1331640" y="1556792"/>
          <a:ext cx="6480720" cy="1876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275"/>
                <a:gridCol w="898965"/>
                <a:gridCol w="1013379"/>
                <a:gridCol w="1409740"/>
                <a:gridCol w="1421999"/>
                <a:gridCol w="870362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 smtClean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4445868"/>
            <a:ext cx="4248472" cy="7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9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Shortest-Job-First (SJF)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143750" cy="4530725"/>
          </a:xfrm>
        </p:spPr>
        <p:txBody>
          <a:bodyPr/>
          <a:lstStyle/>
          <a:p>
            <a:r>
              <a:rPr lang="en-US" altLang="en-US" dirty="0" smtClean="0"/>
              <a:t>Associate with each process the length of its next CPU burst</a:t>
            </a:r>
          </a:p>
          <a:p>
            <a:pPr lvl="1"/>
            <a:r>
              <a:rPr lang="en-US" altLang="en-US" dirty="0" smtClean="0"/>
              <a:t> Use these lengths to schedule the process with the shortest time</a:t>
            </a:r>
          </a:p>
          <a:p>
            <a:pPr algn="just"/>
            <a:r>
              <a:rPr lang="en-US" altLang="en-US" dirty="0" smtClean="0"/>
              <a:t>SJF is optimal – gives minimum average waiting time for a given set of processes</a:t>
            </a:r>
          </a:p>
          <a:p>
            <a:pPr lvl="1"/>
            <a:r>
              <a:rPr lang="en-US" altLang="en-US" dirty="0" smtClean="0">
                <a:solidFill>
                  <a:srgbClr val="FF0000"/>
                </a:solidFill>
              </a:rPr>
              <a:t>The difficulty is knowing the length of the next CPU request</a:t>
            </a:r>
          </a:p>
          <a:p>
            <a:pPr lvl="1"/>
            <a:r>
              <a:rPr lang="en-US" altLang="en-US" dirty="0" smtClean="0"/>
              <a:t>Could ask the user</a:t>
            </a:r>
          </a:p>
        </p:txBody>
      </p:sp>
    </p:spTree>
    <p:extLst>
      <p:ext uri="{BB962C8B-B14F-4D97-AF65-F5344CB8AC3E}">
        <p14:creationId xmlns:p14="http://schemas.microsoft.com/office/powerpoint/2010/main" val="71300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SJF – Example  1 </a:t>
            </a:r>
          </a:p>
        </p:txBody>
      </p:sp>
      <p:sp>
        <p:nvSpPr>
          <p:cNvPr id="15363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030019"/>
          </a:xfrm>
          <a:noFill/>
        </p:spPr>
        <p:txBody>
          <a:bodyPr>
            <a:normAutofit fontScale="70000" lnSpcReduction="20000"/>
          </a:bodyPr>
          <a:lstStyle/>
          <a:p>
            <a:pPr algn="just"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u="sng" dirty="0"/>
              <a:t>Example </a:t>
            </a:r>
            <a:r>
              <a:rPr lang="en-US" altLang="en-US" u="sng" dirty="0" smtClean="0"/>
              <a:t>1: </a:t>
            </a:r>
            <a:r>
              <a:rPr lang="en-US" altLang="en-US" dirty="0"/>
              <a:t>Consider the following processes with their burst </a:t>
            </a:r>
            <a:r>
              <a:rPr lang="en-US" altLang="en-US" dirty="0" smtClean="0"/>
              <a:t>time. </a:t>
            </a:r>
            <a:r>
              <a:rPr lang="en-US" altLang="en-US" dirty="0"/>
              <a:t>Use </a:t>
            </a:r>
            <a:r>
              <a:rPr lang="en-US" altLang="en-US" dirty="0" smtClean="0"/>
              <a:t>SJF to </a:t>
            </a:r>
            <a:r>
              <a:rPr lang="en-US" altLang="en-US" dirty="0"/>
              <a:t>schedule the processes and compute the average waiting time. </a:t>
            </a:r>
            <a:r>
              <a:rPr lang="en-US" altLang="en-US" dirty="0" smtClean="0"/>
              <a:t>	      	               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 		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Average waiting time = (3 + 16 + 9 + 0) / 4 = 7</a:t>
            </a:r>
            <a:endParaRPr lang="en-US" altLang="en-US" i="1" baseline="-25000" dirty="0" smtClean="0"/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549874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945753"/>
              </p:ext>
            </p:extLst>
          </p:nvPr>
        </p:nvGraphicFramePr>
        <p:xfrm>
          <a:off x="2411760" y="2252113"/>
          <a:ext cx="3240360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0180"/>
                <a:gridCol w="1620180"/>
              </a:tblGrid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05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05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70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SJF – Example  1 </a:t>
            </a:r>
            <a:r>
              <a:rPr lang="en-US" altLang="en-US" dirty="0" smtClean="0"/>
              <a:t>(cont’d)</a:t>
            </a:r>
          </a:p>
        </p:txBody>
      </p:sp>
      <p:sp>
        <p:nvSpPr>
          <p:cNvPr id="15363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5073427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altLang="en-US" dirty="0" smtClean="0"/>
              <a:t>Scheduling Table	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Average waiting time = (3 + 16 + 9 + 0) / 4 = 7</a:t>
            </a:r>
            <a:endParaRPr lang="en-US" altLang="en-US" i="1" baseline="-25000" dirty="0" smtClean="0"/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549874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190366"/>
              </p:ext>
            </p:extLst>
          </p:nvPr>
        </p:nvGraphicFramePr>
        <p:xfrm>
          <a:off x="1147688" y="1568972"/>
          <a:ext cx="6160616" cy="2076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1993"/>
                <a:gridCol w="981993"/>
                <a:gridCol w="1598055"/>
                <a:gridCol w="1611950"/>
                <a:gridCol w="986625"/>
              </a:tblGrid>
              <a:tr h="68499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3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SJF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2: </a:t>
            </a:r>
            <a:r>
              <a:rPr lang="en-US" altLang="en-US" sz="2400" dirty="0" smtClean="0"/>
              <a:t>Consider the following processes with their burst time and arrival time. Use SJF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dirty="0" smtClean="0">
                <a:solidFill>
                  <a:srgbClr val="FF0000"/>
                </a:solidFill>
              </a:rPr>
              <a:t>             </a:t>
            </a:r>
            <a:r>
              <a:rPr lang="en-US" altLang="en-US" sz="2000" dirty="0" smtClean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</a:t>
            </a:r>
            <a:r>
              <a:rPr lang="en-US" altLang="en-US" sz="2400" dirty="0">
                <a:solidFill>
                  <a:srgbClr val="FF0000"/>
                </a:solidFill>
              </a:rPr>
              <a:t>waiting time</a:t>
            </a:r>
            <a:r>
              <a:rPr lang="en-US" altLang="en-US" sz="2400" dirty="0"/>
              <a:t> = (0 + 6 + 3 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11761" y="2060848"/>
          <a:ext cx="4752528" cy="154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6995"/>
                <a:gridCol w="1563285"/>
                <a:gridCol w="1762248"/>
              </a:tblGrid>
              <a:tr h="30936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4005064"/>
            <a:ext cx="54292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SJF Scheduling - Example</a:t>
            </a:r>
            <a:endParaRPr lang="en-US" alt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2: (</a:t>
            </a:r>
            <a:r>
              <a:rPr lang="en-US" altLang="en-US" sz="2400" dirty="0" smtClean="0"/>
              <a:t>continued)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dirty="0" smtClean="0">
                <a:solidFill>
                  <a:srgbClr val="FF0000"/>
                </a:solidFill>
              </a:rPr>
              <a:t>             </a:t>
            </a:r>
            <a:r>
              <a:rPr lang="en-US" altLang="en-US" sz="2000" dirty="0" smtClean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>The </a:t>
            </a:r>
            <a:r>
              <a:rPr lang="en-US" altLang="en-US" sz="1800" dirty="0" smtClean="0">
                <a:solidFill>
                  <a:srgbClr val="FF0000"/>
                </a:solidFill>
              </a:rPr>
              <a:t>Gantt Chart </a:t>
            </a:r>
            <a:r>
              <a:rPr lang="en-US" altLang="en-US" sz="1800" dirty="0" smtClean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r>
              <a:rPr lang="en-US" altLang="en-US" sz="1050" dirty="0" smtClean="0"/>
              <a:t/>
            </a:r>
            <a:br>
              <a:rPr lang="en-US" altLang="en-US" sz="1050" dirty="0" smtClean="0"/>
            </a:br>
            <a:endParaRPr lang="en-US" altLang="en-US" sz="1050" dirty="0" smtClean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 smtClean="0">
                <a:solidFill>
                  <a:srgbClr val="FF0000"/>
                </a:solidFill>
              </a:rPr>
              <a:t>Average </a:t>
            </a:r>
            <a:r>
              <a:rPr lang="en-US" altLang="en-US" sz="2400" dirty="0">
                <a:solidFill>
                  <a:srgbClr val="FF0000"/>
                </a:solidFill>
              </a:rPr>
              <a:t>waiting time</a:t>
            </a:r>
            <a:r>
              <a:rPr lang="en-US" altLang="en-US" sz="2400" dirty="0"/>
              <a:t> = (0 + 6 + 3 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4298032"/>
            <a:ext cx="5429250" cy="1219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31640" y="1556792"/>
          <a:ext cx="6480720" cy="1876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275"/>
                <a:gridCol w="898965"/>
                <a:gridCol w="1013379"/>
                <a:gridCol w="1409740"/>
                <a:gridCol w="1421999"/>
                <a:gridCol w="870362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 smtClean="0">
                          <a:effectLst/>
                        </a:rPr>
                        <a:t>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 smtClean="0">
                          <a:effectLst/>
                        </a:rPr>
                        <a:t>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5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9525" y="297533"/>
            <a:ext cx="7772400" cy="61118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/>
              <a:t>Determining Length of Next CPU Burst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233488"/>
            <a:ext cx="7435850" cy="493553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en-US" dirty="0" smtClean="0"/>
              <a:t>Can only estimate the length – should be similar to the previous one</a:t>
            </a:r>
          </a:p>
          <a:p>
            <a:pPr lvl="1">
              <a:defRPr/>
            </a:pPr>
            <a:r>
              <a:rPr lang="en-US" altLang="en-US" dirty="0" smtClean="0"/>
              <a:t>Then pick process with shortest predicted next CPU burst</a:t>
            </a:r>
          </a:p>
          <a:p>
            <a:pPr>
              <a:defRPr/>
            </a:pPr>
            <a:endParaRPr lang="en-US" altLang="en-US" dirty="0" smtClean="0"/>
          </a:p>
          <a:p>
            <a:pPr>
              <a:defRPr/>
            </a:pPr>
            <a:r>
              <a:rPr lang="en-US" altLang="en-US" dirty="0" smtClean="0"/>
              <a:t>Can be done by using the length of previous CPU bursts, using exponential averaging</a:t>
            </a:r>
          </a:p>
          <a:p>
            <a:pPr>
              <a:defRPr/>
            </a:pPr>
            <a:endParaRPr lang="en-US" altLang="en-US" dirty="0" smtClean="0"/>
          </a:p>
          <a:p>
            <a:pPr>
              <a:defRPr/>
            </a:pPr>
            <a:endParaRPr lang="en-US" altLang="en-US" dirty="0" smtClean="0"/>
          </a:p>
          <a:p>
            <a:pPr>
              <a:defRPr/>
            </a:pPr>
            <a:endParaRPr lang="en-US" altLang="en-US" dirty="0" smtClean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 smtClean="0"/>
          </a:p>
          <a:p>
            <a:pPr>
              <a:defRPr/>
            </a:pPr>
            <a:r>
              <a:rPr lang="en-US" altLang="en-US" dirty="0" smtClean="0"/>
              <a:t>Commonly, </a:t>
            </a:r>
            <a:r>
              <a:rPr lang="en-US" altLang="en-US" dirty="0" smtClean="0">
                <a:latin typeface="Lucida Grande" pitchFamily="-84" charset="0"/>
              </a:rPr>
              <a:t>α </a:t>
            </a:r>
            <a:r>
              <a:rPr lang="en-US" altLang="en-US" dirty="0" smtClean="0"/>
              <a:t>set to ½</a:t>
            </a:r>
          </a:p>
          <a:p>
            <a:pPr>
              <a:defRPr/>
            </a:pPr>
            <a:r>
              <a:rPr lang="en-US" altLang="en-US" dirty="0" smtClean="0"/>
              <a:t>Preemptive version of SJF is called </a:t>
            </a:r>
            <a:r>
              <a:rPr lang="en-US" altLang="en-US" b="1" dirty="0" smtClean="0">
                <a:solidFill>
                  <a:srgbClr val="3366FF"/>
                </a:solidFill>
              </a:rPr>
              <a:t>Shortest-Remaining-Time-First (SRTF)</a:t>
            </a:r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 smtClean="0"/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 smtClean="0"/>
          </a:p>
        </p:txBody>
      </p:sp>
      <p:graphicFrame>
        <p:nvGraphicFramePr>
          <p:cNvPr id="163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461705"/>
              </p:ext>
            </p:extLst>
          </p:nvPr>
        </p:nvGraphicFramePr>
        <p:xfrm>
          <a:off x="1979613" y="3357563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" name="Equation" r:id="rId4" imgW="6400800" imgH="1778000" progId="Equation.3">
                  <p:embed/>
                </p:oleObj>
              </mc:Choice>
              <mc:Fallback>
                <p:oleObj name="Equation" r:id="rId4" imgW="64008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357563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4403"/>
              </p:ext>
            </p:extLst>
          </p:nvPr>
        </p:nvGraphicFramePr>
        <p:xfrm>
          <a:off x="3419872" y="4293096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Equation" r:id="rId6" imgW="1282680" imgH="228600" progId="Equation.3">
                  <p:embed/>
                </p:oleObj>
              </mc:Choice>
              <mc:Fallback>
                <p:oleObj name="Equation" r:id="rId6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19872" y="4293096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16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3" y="-17463"/>
            <a:ext cx="8223250" cy="677863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Prediction of the Length of the Next CPU Burst</a:t>
            </a:r>
          </a:p>
        </p:txBody>
      </p:sp>
      <p:pic>
        <p:nvPicPr>
          <p:cNvPr id="17411" name="Picture 1" descr="6_03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82700"/>
            <a:ext cx="5387975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322396"/>
              </p:ext>
            </p:extLst>
          </p:nvPr>
        </p:nvGraphicFramePr>
        <p:xfrm>
          <a:off x="3131840" y="5877272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5" imgW="1282680" imgH="228600" progId="Equation.3">
                  <p:embed/>
                </p:oleObj>
              </mc:Choice>
              <mc:Fallback>
                <p:oleObj name="Equation" r:id="rId5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5877272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82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201613"/>
            <a:ext cx="74517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Examples of Exponential Averaging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245350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</a:t>
            </a:r>
            <a:r>
              <a:rPr lang="en-US" altLang="en-US" baseline="-25000" dirty="0" smtClean="0">
                <a:sym typeface="Symbol" pitchFamily="18" charset="2"/>
              </a:rPr>
              <a:t>n+1</a:t>
            </a:r>
            <a:r>
              <a:rPr lang="en-US" altLang="en-US" dirty="0" smtClean="0">
                <a:sym typeface="Symbol" pitchFamily="18" charset="2"/>
              </a:rPr>
              <a:t> = </a:t>
            </a:r>
            <a:r>
              <a:rPr lang="en-US" altLang="en-US" baseline="-25000" dirty="0" smtClean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 </a:t>
            </a:r>
            <a:r>
              <a:rPr lang="en-US" altLang="en-US" baseline="-25000" dirty="0" smtClean="0">
                <a:sym typeface="Symbol" pitchFamily="18" charset="2"/>
              </a:rPr>
              <a:t>n+1</a:t>
            </a:r>
            <a:r>
              <a:rPr lang="en-US" altLang="en-US" dirty="0" smtClean="0">
                <a:sym typeface="Symbol" pitchFamily="18" charset="2"/>
              </a:rPr>
              <a:t> =  </a:t>
            </a:r>
            <a:r>
              <a:rPr lang="en-US" altLang="en-US" i="1" dirty="0" err="1" smtClean="0">
                <a:sym typeface="Symbol" pitchFamily="18" charset="2"/>
              </a:rPr>
              <a:t>t</a:t>
            </a:r>
            <a:r>
              <a:rPr lang="en-US" altLang="en-US" baseline="-25000" dirty="0" err="1" smtClean="0">
                <a:sym typeface="Symbol" pitchFamily="18" charset="2"/>
              </a:rPr>
              <a:t>n</a:t>
            </a:r>
            <a:endParaRPr lang="en-US" altLang="en-US" baseline="-25000" dirty="0" smtClean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 smtClean="0">
                <a:sym typeface="Symbol" pitchFamily="18" charset="2"/>
              </a:rPr>
              <a:t></a:t>
            </a:r>
            <a:r>
              <a:rPr lang="en-US" altLang="en-US" i="1" baseline="-25000" dirty="0" smtClean="0">
                <a:sym typeface="Symbol" pitchFamily="18" charset="2"/>
              </a:rPr>
              <a:t>n</a:t>
            </a:r>
            <a:r>
              <a:rPr lang="en-US" altLang="en-US" baseline="-25000" dirty="0" smtClean="0">
                <a:sym typeface="Symbol" pitchFamily="18" charset="2"/>
              </a:rPr>
              <a:t>+1</a:t>
            </a:r>
            <a:r>
              <a:rPr lang="en-US" altLang="en-US" dirty="0" smtClean="0">
                <a:sym typeface="Symbol" pitchFamily="18" charset="2"/>
              </a:rPr>
              <a:t> =  </a:t>
            </a:r>
            <a:r>
              <a:rPr lang="en-US" altLang="en-US" dirty="0" err="1" smtClean="0">
                <a:sym typeface="Symbol" pitchFamily="18" charset="2"/>
              </a:rPr>
              <a:t>t</a:t>
            </a:r>
            <a:r>
              <a:rPr lang="en-US" altLang="en-US" i="1" baseline="-25000" dirty="0" err="1" smtClean="0">
                <a:sym typeface="Symbol" pitchFamily="18" charset="2"/>
              </a:rPr>
              <a:t>n</a:t>
            </a:r>
            <a:r>
              <a:rPr lang="en-US" altLang="en-US" dirty="0" smtClean="0">
                <a:sym typeface="Symbol" pitchFamily="18" charset="2"/>
              </a:rPr>
              <a:t>+(1</a:t>
            </a:r>
            <a:r>
              <a:rPr lang="en-US" altLang="en-US" i="1" dirty="0" smtClean="0">
                <a:sym typeface="Symbol" pitchFamily="18" charset="2"/>
              </a:rPr>
              <a:t> - </a:t>
            </a:r>
            <a:r>
              <a:rPr lang="en-US" altLang="en-US" dirty="0" smtClean="0">
                <a:sym typeface="Symbol" pitchFamily="18" charset="2"/>
              </a:rPr>
              <a:t></a:t>
            </a:r>
            <a:r>
              <a:rPr lang="en-US" altLang="en-US" i="1" dirty="0" smtClean="0">
                <a:sym typeface="Symbol" pitchFamily="18" charset="2"/>
              </a:rPr>
              <a:t>)</a:t>
            </a:r>
            <a:r>
              <a:rPr lang="en-US" altLang="en-US" dirty="0" smtClean="0">
                <a:sym typeface="Symbol" pitchFamily="18" charset="2"/>
              </a:rPr>
              <a:t> </a:t>
            </a:r>
            <a:r>
              <a:rPr lang="en-US" altLang="en-US" i="1" dirty="0" err="1" smtClean="0">
                <a:sym typeface="Symbol" pitchFamily="18" charset="2"/>
              </a:rPr>
              <a:t>t</a:t>
            </a:r>
            <a:r>
              <a:rPr lang="en-US" altLang="en-US" i="1" baseline="-25000" dirty="0" err="1" smtClean="0">
                <a:sym typeface="Symbol" pitchFamily="18" charset="2"/>
              </a:rPr>
              <a:t>n</a:t>
            </a:r>
            <a:r>
              <a:rPr lang="en-US" altLang="en-US" i="1" dirty="0" smtClean="0">
                <a:sym typeface="Symbol" pitchFamily="18" charset="2"/>
              </a:rPr>
              <a:t> </a:t>
            </a:r>
            <a:r>
              <a:rPr lang="en-US" altLang="en-US" baseline="-25000" dirty="0" smtClean="0">
                <a:sym typeface="Symbol" pitchFamily="18" charset="2"/>
              </a:rPr>
              <a:t>-1</a:t>
            </a:r>
            <a:r>
              <a:rPr lang="en-US" altLang="en-US" i="1" baseline="-25000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 smtClean="0">
                <a:sym typeface="Symbol" pitchFamily="18" charset="2"/>
              </a:rPr>
              <a:t>            </a:t>
            </a:r>
            <a:r>
              <a:rPr lang="en-US" altLang="en-US" i="1" dirty="0" smtClean="0">
                <a:sym typeface="Symbol" pitchFamily="18" charset="2"/>
              </a:rPr>
              <a:t>+(</a:t>
            </a:r>
            <a:r>
              <a:rPr lang="en-US" altLang="en-US" dirty="0" smtClean="0">
                <a:sym typeface="Symbol" pitchFamily="18" charset="2"/>
              </a:rPr>
              <a:t>1 -  </a:t>
            </a:r>
            <a:r>
              <a:rPr lang="en-US" altLang="en-US" i="1" dirty="0" smtClean="0">
                <a:sym typeface="Symbol" pitchFamily="18" charset="2"/>
              </a:rPr>
              <a:t>)</a:t>
            </a:r>
            <a:r>
              <a:rPr lang="en-US" altLang="en-US" i="1" baseline="30000" dirty="0" smtClean="0">
                <a:sym typeface="Symbol" pitchFamily="18" charset="2"/>
              </a:rPr>
              <a:t>j</a:t>
            </a:r>
            <a:r>
              <a:rPr lang="en-US" altLang="en-US" baseline="30000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 </a:t>
            </a:r>
            <a:r>
              <a:rPr lang="en-US" altLang="en-US" i="1" dirty="0" err="1" smtClean="0">
                <a:sym typeface="Symbol" pitchFamily="18" charset="2"/>
              </a:rPr>
              <a:t>t</a:t>
            </a:r>
            <a:r>
              <a:rPr lang="en-US" altLang="en-US" i="1" baseline="-25000" dirty="0" err="1" smtClean="0">
                <a:sym typeface="Symbol" pitchFamily="18" charset="2"/>
              </a:rPr>
              <a:t>n</a:t>
            </a:r>
            <a:r>
              <a:rPr lang="en-US" altLang="en-US" dirty="0" smtClean="0">
                <a:sym typeface="Symbol" pitchFamily="18" charset="2"/>
              </a:rPr>
              <a:t> </a:t>
            </a:r>
            <a:r>
              <a:rPr lang="en-US" altLang="en-US" baseline="-25000" dirty="0" smtClean="0">
                <a:sym typeface="Symbol" pitchFamily="18" charset="2"/>
              </a:rPr>
              <a:t>-</a:t>
            </a:r>
            <a:r>
              <a:rPr lang="en-US" altLang="en-US" i="1" baseline="-25000" dirty="0" smtClean="0">
                <a:sym typeface="Symbol" pitchFamily="18" charset="2"/>
              </a:rPr>
              <a:t>j</a:t>
            </a:r>
            <a:r>
              <a:rPr lang="en-US" altLang="en-US" i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 smtClean="0">
                <a:sym typeface="Symbol" pitchFamily="18" charset="2"/>
              </a:rPr>
              <a:t>            </a:t>
            </a:r>
            <a:r>
              <a:rPr lang="en-US" altLang="en-US" i="1" dirty="0" smtClean="0">
                <a:sym typeface="Symbol" pitchFamily="18" charset="2"/>
              </a:rPr>
              <a:t>+(</a:t>
            </a:r>
            <a:r>
              <a:rPr lang="en-US" altLang="en-US" dirty="0" smtClean="0">
                <a:sym typeface="Symbol" pitchFamily="18" charset="2"/>
              </a:rPr>
              <a:t>1 -  </a:t>
            </a:r>
            <a:r>
              <a:rPr lang="en-US" altLang="en-US" i="1" dirty="0" smtClean="0">
                <a:sym typeface="Symbol" pitchFamily="18" charset="2"/>
              </a:rPr>
              <a:t>)</a:t>
            </a:r>
            <a:r>
              <a:rPr lang="en-US" altLang="en-US" i="1" baseline="30000" dirty="0" smtClean="0">
                <a:sym typeface="Symbol" pitchFamily="18" charset="2"/>
              </a:rPr>
              <a:t>n</a:t>
            </a:r>
            <a:r>
              <a:rPr lang="en-US" altLang="en-US" baseline="30000" dirty="0" smtClean="0">
                <a:sym typeface="Symbol" pitchFamily="18" charset="2"/>
              </a:rPr>
              <a:t> +1 </a:t>
            </a:r>
            <a:r>
              <a:rPr lang="en-US" altLang="en-US" dirty="0" smtClean="0">
                <a:sym typeface="Symbol" pitchFamily="18" charset="2"/>
              </a:rPr>
              <a:t></a:t>
            </a:r>
            <a:r>
              <a:rPr lang="en-US" altLang="en-US" baseline="-25000" dirty="0" smtClean="0">
                <a:sym typeface="Symbol" pitchFamily="18" charset="2"/>
              </a:rPr>
              <a:t>0</a:t>
            </a:r>
            <a:br>
              <a:rPr lang="en-US" altLang="en-US" baseline="-25000" dirty="0" smtClean="0">
                <a:sym typeface="Symbol" pitchFamily="18" charset="2"/>
              </a:rPr>
            </a:br>
            <a:endParaRPr lang="en-US" altLang="en-US" baseline="-250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 smtClean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 smtClean="0">
              <a:sym typeface="Symbol" pitchFamily="18" charset="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035905"/>
              </p:ext>
            </p:extLst>
          </p:nvPr>
        </p:nvGraphicFramePr>
        <p:xfrm>
          <a:off x="3635896" y="1268760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4" imgW="1282680" imgH="228600" progId="Equation.3">
                  <p:embed/>
                </p:oleObj>
              </mc:Choice>
              <mc:Fallback>
                <p:oleObj name="Equation" r:id="rId4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35896" y="1268760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30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2778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1073150" y="1233488"/>
            <a:ext cx="7600950" cy="4530725"/>
          </a:xfrm>
        </p:spPr>
        <p:txBody>
          <a:bodyPr>
            <a:normAutofit fontScale="55000" lnSpcReduction="20000"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Preemptive version of SJF is called </a:t>
            </a:r>
            <a:r>
              <a:rPr lang="en-US" altLang="en-US" b="1" dirty="0">
                <a:solidFill>
                  <a:srgbClr val="3366FF"/>
                </a:solidFill>
              </a:rPr>
              <a:t>Shortest-Remaining-Time-First (SRTF)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Now we add the concepts of varying arrival times and preemption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 </a:t>
            </a:r>
            <a:r>
              <a:rPr lang="en-US" altLang="en-US" dirty="0" smtClean="0"/>
              <a:t>   </a:t>
            </a:r>
            <a:r>
              <a:rPr lang="en-US" altLang="en-US" u="sng" dirty="0" err="1" smtClean="0"/>
              <a:t>Process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a</a:t>
            </a:r>
            <a:r>
              <a:rPr lang="en-US" altLang="en-US" u="sng" dirty="0" err="1" smtClean="0"/>
              <a:t>Arrival</a:t>
            </a:r>
            <a:r>
              <a:rPr lang="en-US" altLang="en-US" i="1" u="sng" dirty="0" smtClean="0"/>
              <a:t> </a:t>
            </a:r>
            <a:r>
              <a:rPr lang="en-US" altLang="en-US" u="sng" dirty="0" err="1" smtClean="0"/>
              <a:t>Time</a:t>
            </a:r>
            <a:r>
              <a:rPr lang="en-US" altLang="en-US" u="sng" dirty="0" err="1" smtClean="0">
                <a:solidFill>
                  <a:schemeClr val="bg1"/>
                </a:solidFill>
              </a:rPr>
              <a:t>T</a:t>
            </a:r>
            <a:r>
              <a:rPr lang="en-US" altLang="en-US" u="sng" dirty="0" smtClean="0">
                <a:solidFill>
                  <a:schemeClr val="bg1"/>
                </a:solidFill>
              </a:rPr>
              <a:t>      </a:t>
            </a:r>
            <a:r>
              <a:rPr lang="en-US" altLang="en-US" dirty="0" smtClean="0"/>
              <a:t>	</a:t>
            </a:r>
            <a:r>
              <a:rPr lang="en-US" altLang="en-US" u="sng" dirty="0" smtClean="0"/>
              <a:t>Burst </a:t>
            </a:r>
            <a:r>
              <a:rPr lang="en-US" altLang="en-US" u="sng" dirty="0"/>
              <a:t>Time</a:t>
            </a:r>
            <a:r>
              <a:rPr lang="en-US" altLang="en-US" dirty="0"/>
              <a:t> </a:t>
            </a:r>
            <a:r>
              <a:rPr lang="en-US" altLang="en-US" dirty="0" smtClean="0"/>
              <a:t>       </a:t>
            </a:r>
            <a:r>
              <a:rPr lang="en-US" altLang="en-US" u="sng" dirty="0" smtClean="0"/>
              <a:t>Completion Time</a:t>
            </a:r>
            <a:r>
              <a:rPr lang="en-US" altLang="en-US" dirty="0" smtClean="0"/>
              <a:t>   </a:t>
            </a:r>
            <a:r>
              <a:rPr lang="en-US" altLang="en-US" u="sng" dirty="0" smtClean="0"/>
              <a:t>Wait Time 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0</a:t>
            </a:r>
            <a:r>
              <a:rPr lang="en-US" altLang="en-US" dirty="0" smtClean="0"/>
              <a:t>	8	17	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2 	</a:t>
            </a:r>
            <a:r>
              <a:rPr lang="en-US" altLang="en-US" dirty="0" smtClean="0">
                <a:solidFill>
                  <a:srgbClr val="000000"/>
                </a:solidFill>
              </a:rPr>
              <a:t>1</a:t>
            </a:r>
            <a:r>
              <a:rPr lang="en-US" altLang="en-US" dirty="0" smtClean="0"/>
              <a:t>	4	5		0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3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2</a:t>
            </a:r>
            <a:r>
              <a:rPr lang="en-US" altLang="en-US" dirty="0" smtClean="0"/>
              <a:t>	9	26		15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	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4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0000"/>
                </a:solidFill>
              </a:rPr>
              <a:t>3</a:t>
            </a:r>
            <a:r>
              <a:rPr lang="en-US" altLang="en-US" dirty="0" smtClean="0"/>
              <a:t>	5	10		2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 smtClean="0"/>
              <a:t>Preemptive </a:t>
            </a:r>
            <a:r>
              <a:rPr lang="en-US" altLang="en-US" dirty="0" smtClean="0"/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 marL="0" indent="0"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 smtClean="0"/>
              <a:t>Average waiting time = [(10-1)+(1-1)+(17-2)+5-3)]/4 = 26/4 = 6.5 </a:t>
            </a:r>
            <a:r>
              <a:rPr lang="en-US" altLang="en-US" dirty="0" err="1" smtClean="0"/>
              <a:t>msec</a:t>
            </a:r>
            <a:endParaRPr lang="en-US" altLang="en-US" dirty="0" smtClean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 smtClean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 smtClean="0"/>
          </a:p>
        </p:txBody>
      </p:sp>
      <p:pic>
        <p:nvPicPr>
          <p:cNvPr id="1946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3933056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999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of Preemptive SJF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		</a:t>
            </a:r>
            <a:r>
              <a:rPr lang="en-US" altLang="en-US" sz="2800" u="sng" dirty="0" smtClean="0"/>
              <a:t>Process	Arrival Time</a:t>
            </a:r>
            <a:r>
              <a:rPr lang="en-US" altLang="en-US" sz="2800" dirty="0" smtClean="0"/>
              <a:t>	</a:t>
            </a:r>
            <a:r>
              <a:rPr lang="en-US" altLang="en-US" sz="2800" u="sng" dirty="0" smtClean="0"/>
              <a:t>Burst Time</a:t>
            </a:r>
            <a:endParaRPr lang="en-US" altLang="en-US" sz="2800" dirty="0" smtClean="0"/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		</a:t>
            </a:r>
            <a:r>
              <a:rPr lang="en-US" altLang="en-US" sz="2800" i="1" dirty="0" smtClean="0"/>
              <a:t>P</a:t>
            </a:r>
            <a:r>
              <a:rPr lang="en-US" altLang="en-US" sz="2800" i="1" baseline="-25000" dirty="0" smtClean="0"/>
              <a:t>1</a:t>
            </a:r>
            <a:r>
              <a:rPr lang="en-US" altLang="en-US" sz="2800" dirty="0" smtClean="0"/>
              <a:t>	0	7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		 </a:t>
            </a:r>
            <a:r>
              <a:rPr lang="en-US" altLang="en-US" sz="2800" i="1" dirty="0" smtClean="0"/>
              <a:t>P</a:t>
            </a:r>
            <a:r>
              <a:rPr lang="en-US" altLang="en-US" sz="2800" i="1" baseline="-25000" dirty="0" smtClean="0"/>
              <a:t>2	</a:t>
            </a:r>
            <a:r>
              <a:rPr lang="en-US" altLang="en-US" sz="2800" dirty="0" smtClean="0"/>
              <a:t>2	4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		 </a:t>
            </a:r>
            <a:r>
              <a:rPr lang="en-US" altLang="en-US" sz="2800" i="1" dirty="0" smtClean="0"/>
              <a:t>P</a:t>
            </a:r>
            <a:r>
              <a:rPr lang="en-US" altLang="en-US" sz="2800" i="1" baseline="-25000" dirty="0" smtClean="0"/>
              <a:t>3</a:t>
            </a:r>
            <a:r>
              <a:rPr lang="en-US" altLang="en-US" sz="2800" dirty="0" smtClean="0"/>
              <a:t>	4	1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		 </a:t>
            </a:r>
            <a:r>
              <a:rPr lang="en-US" altLang="en-US" sz="2800" i="1" dirty="0" smtClean="0"/>
              <a:t>P</a:t>
            </a:r>
            <a:r>
              <a:rPr lang="en-US" altLang="en-US" sz="2800" i="1" baseline="-25000" dirty="0" smtClean="0"/>
              <a:t>4</a:t>
            </a:r>
            <a:r>
              <a:rPr lang="en-US" altLang="en-US" sz="2800" smtClean="0"/>
              <a:t>	5</a:t>
            </a:r>
            <a:r>
              <a:rPr lang="en-US" altLang="en-US" sz="2800" dirty="0" smtClean="0"/>
              <a:t>	4</a:t>
            </a:r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SJF (preemptive)</a:t>
            </a:r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 smtClean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 smtClean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 smtClean="0"/>
          </a:p>
          <a:p>
            <a:pPr marL="1085850" lvl="2"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 smtClean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 smtClean="0"/>
              <a:t>Average waiting time = (9 + 1 + 0 +2)/4 = 3</a:t>
            </a:r>
            <a:endParaRPr lang="en-US" altLang="en-US" sz="2800" i="1" baseline="-25000" dirty="0" smtClean="0"/>
          </a:p>
        </p:txBody>
      </p:sp>
      <p:grpSp>
        <p:nvGrpSpPr>
          <p:cNvPr id="9223" name="Group 4"/>
          <p:cNvGrpSpPr>
            <a:grpSpLocks/>
          </p:cNvGrpSpPr>
          <p:nvPr/>
        </p:nvGrpSpPr>
        <p:grpSpPr bwMode="auto">
          <a:xfrm>
            <a:off x="1609725" y="4343400"/>
            <a:ext cx="5924550" cy="1204913"/>
            <a:chOff x="1014" y="2736"/>
            <a:chExt cx="3732" cy="759"/>
          </a:xfrm>
        </p:grpSpPr>
        <p:sp>
          <p:nvSpPr>
            <p:cNvPr id="9224" name="Rectangle 5"/>
            <p:cNvSpPr>
              <a:spLocks noChangeArrowheads="1"/>
            </p:cNvSpPr>
            <p:nvPr/>
          </p:nvSpPr>
          <p:spPr bwMode="auto">
            <a:xfrm flipH="1">
              <a:off x="1110" y="2745"/>
              <a:ext cx="3504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25" name="Text Box 6"/>
            <p:cNvSpPr txBox="1">
              <a:spLocks noChangeArrowheads="1"/>
            </p:cNvSpPr>
            <p:nvPr/>
          </p:nvSpPr>
          <p:spPr bwMode="auto">
            <a:xfrm flipH="1">
              <a:off x="1158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1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6" name="Text Box 7"/>
            <p:cNvSpPr txBox="1">
              <a:spLocks noChangeArrowheads="1"/>
            </p:cNvSpPr>
            <p:nvPr/>
          </p:nvSpPr>
          <p:spPr bwMode="auto">
            <a:xfrm flipH="1">
              <a:off x="1974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3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7" name="Text Box 8"/>
            <p:cNvSpPr txBox="1">
              <a:spLocks noChangeArrowheads="1"/>
            </p:cNvSpPr>
            <p:nvPr/>
          </p:nvSpPr>
          <p:spPr bwMode="auto">
            <a:xfrm flipH="1">
              <a:off x="1638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2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8" name="Line 9"/>
            <p:cNvSpPr>
              <a:spLocks noChangeShapeType="1"/>
            </p:cNvSpPr>
            <p:nvPr/>
          </p:nvSpPr>
          <p:spPr bwMode="auto">
            <a:xfrm flipH="1">
              <a:off x="4602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29" name="Line 10"/>
            <p:cNvSpPr>
              <a:spLocks noChangeShapeType="1"/>
            </p:cNvSpPr>
            <p:nvPr/>
          </p:nvSpPr>
          <p:spPr bwMode="auto">
            <a:xfrm flipH="1">
              <a:off x="1110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0" name="Line 11"/>
            <p:cNvSpPr>
              <a:spLocks noChangeShapeType="1"/>
            </p:cNvSpPr>
            <p:nvPr/>
          </p:nvSpPr>
          <p:spPr bwMode="auto">
            <a:xfrm flipH="1">
              <a:off x="2838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1" name="Line 12"/>
            <p:cNvSpPr>
              <a:spLocks noChangeShapeType="1"/>
            </p:cNvSpPr>
            <p:nvPr/>
          </p:nvSpPr>
          <p:spPr bwMode="auto">
            <a:xfrm flipH="1">
              <a:off x="1494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2" name="Line 13"/>
            <p:cNvSpPr>
              <a:spLocks noChangeShapeType="1"/>
            </p:cNvSpPr>
            <p:nvPr/>
          </p:nvSpPr>
          <p:spPr bwMode="auto">
            <a:xfrm flipH="1">
              <a:off x="255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3" name="Text Box 14"/>
            <p:cNvSpPr txBox="1">
              <a:spLocks noChangeArrowheads="1"/>
            </p:cNvSpPr>
            <p:nvPr/>
          </p:nvSpPr>
          <p:spPr bwMode="auto">
            <a:xfrm flipH="1">
              <a:off x="1878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9234" name="Text Box 15"/>
            <p:cNvSpPr txBox="1">
              <a:spLocks noChangeArrowheads="1"/>
            </p:cNvSpPr>
            <p:nvPr/>
          </p:nvSpPr>
          <p:spPr bwMode="auto">
            <a:xfrm flipH="1">
              <a:off x="1398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9235" name="Text Box 16"/>
            <p:cNvSpPr txBox="1">
              <a:spLocks noChangeArrowheads="1"/>
            </p:cNvSpPr>
            <p:nvPr/>
          </p:nvSpPr>
          <p:spPr bwMode="auto">
            <a:xfrm flipH="1">
              <a:off x="3462" y="32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11</a:t>
              </a:r>
            </a:p>
          </p:txBody>
        </p:sp>
        <p:sp>
          <p:nvSpPr>
            <p:cNvPr id="9236" name="Text Box 17"/>
            <p:cNvSpPr txBox="1">
              <a:spLocks noChangeArrowheads="1"/>
            </p:cNvSpPr>
            <p:nvPr/>
          </p:nvSpPr>
          <p:spPr bwMode="auto">
            <a:xfrm flipH="1">
              <a:off x="1014" y="32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9237" name="Text Box 18"/>
            <p:cNvSpPr txBox="1">
              <a:spLocks noChangeArrowheads="1"/>
            </p:cNvSpPr>
            <p:nvPr/>
          </p:nvSpPr>
          <p:spPr bwMode="auto">
            <a:xfrm flipH="1">
              <a:off x="3126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4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38" name="Line 19"/>
            <p:cNvSpPr>
              <a:spLocks noChangeShapeType="1"/>
            </p:cNvSpPr>
            <p:nvPr/>
          </p:nvSpPr>
          <p:spPr bwMode="auto">
            <a:xfrm flipH="1">
              <a:off x="3606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9" name="Line 20"/>
            <p:cNvSpPr>
              <a:spLocks noChangeShapeType="1"/>
            </p:cNvSpPr>
            <p:nvPr/>
          </p:nvSpPr>
          <p:spPr bwMode="auto">
            <a:xfrm flipH="1">
              <a:off x="130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0" name="Line 21"/>
            <p:cNvSpPr>
              <a:spLocks noChangeShapeType="1"/>
            </p:cNvSpPr>
            <p:nvPr/>
          </p:nvSpPr>
          <p:spPr bwMode="auto">
            <a:xfrm flipH="1">
              <a:off x="172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1" name="Line 22"/>
            <p:cNvSpPr>
              <a:spLocks noChangeShapeType="1"/>
            </p:cNvSpPr>
            <p:nvPr/>
          </p:nvSpPr>
          <p:spPr bwMode="auto">
            <a:xfrm flipH="1">
              <a:off x="2838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2" name="Text Box 23"/>
            <p:cNvSpPr txBox="1">
              <a:spLocks noChangeArrowheads="1"/>
            </p:cNvSpPr>
            <p:nvPr/>
          </p:nvSpPr>
          <p:spPr bwMode="auto">
            <a:xfrm flipH="1">
              <a:off x="2214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9243" name="Line 24"/>
            <p:cNvSpPr>
              <a:spLocks noChangeShapeType="1"/>
            </p:cNvSpPr>
            <p:nvPr/>
          </p:nvSpPr>
          <p:spPr bwMode="auto">
            <a:xfrm flipH="1">
              <a:off x="307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4" name="Line 25"/>
            <p:cNvSpPr>
              <a:spLocks noChangeShapeType="1"/>
            </p:cNvSpPr>
            <p:nvPr/>
          </p:nvSpPr>
          <p:spPr bwMode="auto">
            <a:xfrm flipH="1">
              <a:off x="327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5" name="Line 26"/>
            <p:cNvSpPr>
              <a:spLocks noChangeShapeType="1"/>
            </p:cNvSpPr>
            <p:nvPr/>
          </p:nvSpPr>
          <p:spPr bwMode="auto">
            <a:xfrm flipH="1">
              <a:off x="346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6" name="Line 27"/>
            <p:cNvSpPr>
              <a:spLocks noChangeShapeType="1"/>
            </p:cNvSpPr>
            <p:nvPr/>
          </p:nvSpPr>
          <p:spPr bwMode="auto">
            <a:xfrm flipH="1">
              <a:off x="3606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7" name="Text Box 28"/>
            <p:cNvSpPr txBox="1">
              <a:spLocks noChangeArrowheads="1"/>
            </p:cNvSpPr>
            <p:nvPr/>
          </p:nvSpPr>
          <p:spPr bwMode="auto">
            <a:xfrm flipH="1">
              <a:off x="2742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 flipH="1">
              <a:off x="3846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9" name="Line 30"/>
            <p:cNvSpPr>
              <a:spLocks noChangeShapeType="1"/>
            </p:cNvSpPr>
            <p:nvPr/>
          </p:nvSpPr>
          <p:spPr bwMode="auto">
            <a:xfrm flipH="1">
              <a:off x="403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0" name="Line 31"/>
            <p:cNvSpPr>
              <a:spLocks noChangeShapeType="1"/>
            </p:cNvSpPr>
            <p:nvPr/>
          </p:nvSpPr>
          <p:spPr bwMode="auto">
            <a:xfrm flipH="1">
              <a:off x="423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1" name="Line 32"/>
            <p:cNvSpPr>
              <a:spLocks noChangeShapeType="1"/>
            </p:cNvSpPr>
            <p:nvPr/>
          </p:nvSpPr>
          <p:spPr bwMode="auto">
            <a:xfrm flipH="1">
              <a:off x="1974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2" name="Line 33"/>
            <p:cNvSpPr>
              <a:spLocks noChangeShapeType="1"/>
            </p:cNvSpPr>
            <p:nvPr/>
          </p:nvSpPr>
          <p:spPr bwMode="auto">
            <a:xfrm flipH="1">
              <a:off x="2310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3" name="Text Box 34"/>
            <p:cNvSpPr txBox="1">
              <a:spLocks noChangeArrowheads="1"/>
            </p:cNvSpPr>
            <p:nvPr/>
          </p:nvSpPr>
          <p:spPr bwMode="auto">
            <a:xfrm flipH="1">
              <a:off x="2406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2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54" name="Text Box 35"/>
            <p:cNvSpPr txBox="1">
              <a:spLocks noChangeArrowheads="1"/>
            </p:cNvSpPr>
            <p:nvPr/>
          </p:nvSpPr>
          <p:spPr bwMode="auto">
            <a:xfrm flipH="1">
              <a:off x="3990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1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55" name="Line 36"/>
            <p:cNvSpPr>
              <a:spLocks noChangeShapeType="1"/>
            </p:cNvSpPr>
            <p:nvPr/>
          </p:nvSpPr>
          <p:spPr bwMode="auto">
            <a:xfrm flipH="1">
              <a:off x="442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6" name="Text Box 37"/>
            <p:cNvSpPr txBox="1">
              <a:spLocks noChangeArrowheads="1"/>
            </p:cNvSpPr>
            <p:nvPr/>
          </p:nvSpPr>
          <p:spPr bwMode="auto">
            <a:xfrm flipH="1">
              <a:off x="4470" y="32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62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Preemptive SJF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840077"/>
              </p:ext>
            </p:extLst>
          </p:nvPr>
        </p:nvGraphicFramePr>
        <p:xfrm>
          <a:off x="1850628" y="3916660"/>
          <a:ext cx="4737595" cy="1662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254"/>
                <a:gridCol w="854320"/>
                <a:gridCol w="963052"/>
                <a:gridCol w="1351380"/>
                <a:gridCol w="745589"/>
              </a:tblGrid>
              <a:tr h="29131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Process 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Burst 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Arrival 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smtClean="0">
                          <a:effectLst/>
                        </a:rPr>
                        <a:t>Turn Around </a:t>
                      </a:r>
                      <a:r>
                        <a:rPr lang="en-IN" sz="1600" u="none" strike="noStrike" dirty="0">
                          <a:effectLst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Wait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5213"/>
              </p:ext>
            </p:extLst>
          </p:nvPr>
        </p:nvGraphicFramePr>
        <p:xfrm>
          <a:off x="2529720" y="2460885"/>
          <a:ext cx="2834368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3656"/>
                <a:gridCol w="917001"/>
                <a:gridCol w="1033711"/>
              </a:tblGrid>
              <a:tr h="19362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Process 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Burst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Arrival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590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altLang="en-US" dirty="0" smtClean="0"/>
              <a:t>A priority number (integer) is associated with each process</a:t>
            </a:r>
          </a:p>
          <a:p>
            <a:endParaRPr lang="en-US" altLang="en-US" sz="800" dirty="0" smtClean="0"/>
          </a:p>
          <a:p>
            <a:pPr algn="just"/>
            <a:r>
              <a:rPr lang="en-US" altLang="en-US" dirty="0" smtClean="0"/>
              <a:t>The CPU is allocated to the process with the highest priority (smallest integer </a:t>
            </a:r>
            <a:r>
              <a:rPr lang="en-US" altLang="en-US" dirty="0" smtClean="0">
                <a:sym typeface="Symbol" pitchFamily="18" charset="2"/>
              </a:rPr>
              <a:t> highest priority)</a:t>
            </a:r>
          </a:p>
          <a:p>
            <a:pPr lvl="1"/>
            <a:r>
              <a:rPr lang="en-US" altLang="en-US" dirty="0" smtClean="0"/>
              <a:t>Preemptive</a:t>
            </a:r>
          </a:p>
          <a:p>
            <a:pPr lvl="1"/>
            <a:r>
              <a:rPr lang="en-US" altLang="en-US" dirty="0" err="1" smtClean="0"/>
              <a:t>Nonpreemptive</a:t>
            </a:r>
            <a:endParaRPr lang="en-US" altLang="en-US" dirty="0" smtClean="0"/>
          </a:p>
          <a:p>
            <a:pPr lvl="1"/>
            <a:endParaRPr lang="en-US" altLang="en-US" sz="800" dirty="0" smtClean="0"/>
          </a:p>
          <a:p>
            <a:r>
              <a:rPr lang="en-US" altLang="en-US" dirty="0" smtClean="0"/>
              <a:t>SJF is priority scheduling where priority is the inverse of predicted next CPU burst time</a:t>
            </a:r>
          </a:p>
          <a:p>
            <a:endParaRPr lang="en-US" altLang="en-US" sz="800" dirty="0" smtClean="0"/>
          </a:p>
          <a:p>
            <a:pPr algn="just"/>
            <a:r>
              <a:rPr lang="en-US" altLang="en-US" dirty="0" smtClean="0"/>
              <a:t>Problem </a:t>
            </a:r>
            <a:r>
              <a:rPr lang="en-US" altLang="en-US" dirty="0" smtClean="0">
                <a:sym typeface="Symbol" pitchFamily="18" charset="2"/>
              </a:rPr>
              <a:t> </a:t>
            </a:r>
            <a:r>
              <a:rPr lang="en-US" altLang="en-US" b="1" dirty="0" smtClean="0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lang="en-US" altLang="en-US" b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– low priority processes may never execute</a:t>
            </a:r>
          </a:p>
          <a:p>
            <a:endParaRPr lang="en-US" altLang="en-US" sz="800" dirty="0" smtClean="0">
              <a:sym typeface="Symbol" pitchFamily="18" charset="2"/>
            </a:endParaRPr>
          </a:p>
          <a:p>
            <a:pPr algn="just"/>
            <a:r>
              <a:rPr lang="en-US" altLang="en-US" dirty="0" smtClean="0">
                <a:sym typeface="Symbol" pitchFamily="18" charset="2"/>
              </a:rPr>
              <a:t>Solution  </a:t>
            </a:r>
            <a:r>
              <a:rPr lang="en-US" altLang="en-US" b="1" dirty="0" smtClean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– as time progresses increase the priority of the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 smtClean="0">
              <a:solidFill>
                <a:srgbClr val="3366FF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3828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Priority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</a:t>
            </a:r>
            <a:r>
              <a:rPr lang="en-US" altLang="en-US" sz="2400" u="sng" dirty="0"/>
              <a:t>1</a:t>
            </a:r>
            <a:r>
              <a:rPr lang="en-US" altLang="en-US" sz="2400" u="sng" dirty="0" smtClean="0"/>
              <a:t>: </a:t>
            </a:r>
            <a:r>
              <a:rPr lang="en-US" altLang="en-US" sz="2400" dirty="0" smtClean="0"/>
              <a:t>Consider the following processes with their burst time and priority. Use priority to schedule the processes and compute the average waiting time.  </a:t>
            </a:r>
          </a:p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183506"/>
              </p:ext>
            </p:extLst>
          </p:nvPr>
        </p:nvGraphicFramePr>
        <p:xfrm>
          <a:off x="2699793" y="2492896"/>
          <a:ext cx="3456384" cy="1952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128"/>
                <a:gridCol w="1152128"/>
                <a:gridCol w="1152128"/>
              </a:tblGrid>
              <a:tr h="381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73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6525" y="201613"/>
            <a:ext cx="7280275" cy="5762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Priority Scheduling - Example</a:t>
            </a:r>
            <a:endParaRPr lang="en-US" altLang="en-US" dirty="0" smtClean="0"/>
          </a:p>
        </p:txBody>
      </p:sp>
      <p:sp>
        <p:nvSpPr>
          <p:cNvPr id="21507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8337550" cy="4887912"/>
          </a:xfrm>
          <a:noFill/>
        </p:spPr>
        <p:txBody>
          <a:bodyPr>
            <a:normAutofit fontScale="85000" lnSpcReduction="20000"/>
          </a:bodyPr>
          <a:lstStyle/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	Example 1 (cont’d) : 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/>
              <a:t>Priority </a:t>
            </a:r>
            <a:r>
              <a:rPr lang="en-US" altLang="en-US" dirty="0"/>
              <a:t>scheduling Gantt Chart: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 smtClean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 smtClean="0">
                <a:solidFill>
                  <a:srgbClr val="FF0000"/>
                </a:solidFill>
              </a:rPr>
              <a:t>Average waiting time </a:t>
            </a:r>
            <a:r>
              <a:rPr lang="en-US" altLang="en-US" dirty="0" smtClean="0"/>
              <a:t>= (6+0+16+18+1)/5 = 8.2 </a:t>
            </a:r>
            <a:r>
              <a:rPr lang="en-US" altLang="en-US" dirty="0" err="1" smtClean="0"/>
              <a:t>msec</a:t>
            </a:r>
            <a:endParaRPr lang="en-US" altLang="en-US" i="1" baseline="-25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262983"/>
            <a:ext cx="6096000" cy="103822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9902"/>
              </p:ext>
            </p:extLst>
          </p:nvPr>
        </p:nvGraphicFramePr>
        <p:xfrm>
          <a:off x="1763688" y="1628800"/>
          <a:ext cx="5688631" cy="1977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34"/>
                <a:gridCol w="993254"/>
                <a:gridCol w="758483"/>
                <a:gridCol w="1896211"/>
                <a:gridCol w="1083549"/>
              </a:tblGrid>
              <a:tr h="1458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29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>
                <a:solidFill>
                  <a:srgbClr val="FF0000"/>
                </a:solidFill>
              </a:rPr>
              <a:t>Priority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 smtClean="0"/>
              <a:t>	</a:t>
            </a:r>
            <a:r>
              <a:rPr lang="en-US" altLang="en-US" sz="2400" u="sng" dirty="0" smtClean="0"/>
              <a:t>Example </a:t>
            </a:r>
            <a:r>
              <a:rPr lang="en-US" altLang="en-US" sz="2400" u="sng" dirty="0"/>
              <a:t>2</a:t>
            </a:r>
            <a:r>
              <a:rPr lang="en-US" altLang="en-US" sz="2400" u="sng" dirty="0" smtClean="0"/>
              <a:t>: </a:t>
            </a:r>
            <a:r>
              <a:rPr lang="en-US" altLang="en-US" sz="2400" dirty="0" smtClean="0"/>
              <a:t>Consider the following processes with their burst time and priority. Use priority to schedule the processes and compute the average waiting time.  </a:t>
            </a:r>
          </a:p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582246"/>
              </p:ext>
            </p:extLst>
          </p:nvPr>
        </p:nvGraphicFramePr>
        <p:xfrm>
          <a:off x="1259632" y="2348878"/>
          <a:ext cx="6552728" cy="3328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182"/>
                <a:gridCol w="1638182"/>
                <a:gridCol w="1638182"/>
                <a:gridCol w="1638182"/>
              </a:tblGrid>
              <a:tr h="2664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</a:t>
                      </a:r>
                      <a:r>
                        <a:rPr lang="en-IN" sz="32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ID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  <a:tr h="3706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2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Priority Scheduling -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59083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Example 2 (continued): Gantt Chart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3100" dirty="0" smtClean="0"/>
          </a:p>
          <a:p>
            <a:endParaRPr lang="en-US" sz="3100" dirty="0" smtClean="0"/>
          </a:p>
          <a:p>
            <a:r>
              <a:rPr lang="en-US" sz="3100" dirty="0" smtClean="0"/>
              <a:t>Average </a:t>
            </a:r>
            <a:r>
              <a:rPr lang="en-US" sz="3100" dirty="0"/>
              <a:t>Waiting Time = (0+14+0+7+1+25+16)/7 = 63/7 = 9 units</a:t>
            </a:r>
            <a:endParaRPr lang="en-IN" sz="3100" dirty="0" smtClean="0"/>
          </a:p>
          <a:p>
            <a:endParaRPr lang="en-IN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19477"/>
              </p:ext>
            </p:extLst>
          </p:nvPr>
        </p:nvGraphicFramePr>
        <p:xfrm>
          <a:off x="590872" y="2852936"/>
          <a:ext cx="8229600" cy="24739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2932"/>
                <a:gridCol w="860281"/>
                <a:gridCol w="1037398"/>
                <a:gridCol w="1015258"/>
                <a:gridCol w="1429585"/>
                <a:gridCol w="1733213"/>
                <a:gridCol w="1280933"/>
              </a:tblGrid>
              <a:tr h="2184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</a:t>
                      </a:r>
                      <a:r>
                        <a:rPr lang="en-IN" sz="1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Turn </a:t>
                      </a:r>
                      <a:r>
                        <a:rPr lang="en-IN" sz="1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Around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Wait 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</a:tr>
              <a:tr h="3038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75966" marB="75966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84784"/>
            <a:ext cx="7068536" cy="11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7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1900"/>
            <a:ext cx="7150100" cy="44831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altLang="en-US" dirty="0" smtClean="0"/>
              <a:t>Each process gets a small unit of CPU time (</a:t>
            </a:r>
            <a:r>
              <a:rPr lang="en-US" altLang="en-US" b="1" dirty="0" smtClean="0">
                <a:solidFill>
                  <a:srgbClr val="3366FF"/>
                </a:solidFill>
              </a:rPr>
              <a:t>time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olidFill>
                  <a:srgbClr val="3366FF"/>
                </a:solidFill>
              </a:rPr>
              <a:t>quantum</a:t>
            </a:r>
            <a:r>
              <a:rPr lang="en-US" altLang="en-US" b="1" dirty="0" smtClean="0"/>
              <a:t>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), usually 10-100 milliseconds.  </a:t>
            </a:r>
          </a:p>
          <a:p>
            <a:pPr lvl="1" algn="just"/>
            <a:r>
              <a:rPr lang="en-US" altLang="en-US" dirty="0" smtClean="0"/>
              <a:t>After this time has elapsed, the process is preempted and added to the end of the ready queue.</a:t>
            </a:r>
          </a:p>
          <a:p>
            <a:pPr algn="just"/>
            <a:r>
              <a:rPr lang="en-US" altLang="en-US" dirty="0" smtClean="0"/>
              <a:t>If there are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processes in the ready queue and the time quantum is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, then each process gets 1/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of the CPU time in chunks of at most 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 time units at once.  </a:t>
            </a:r>
          </a:p>
          <a:p>
            <a:pPr lvl="1" algn="just"/>
            <a:r>
              <a:rPr lang="en-US" altLang="en-US" dirty="0" smtClean="0">
                <a:solidFill>
                  <a:srgbClr val="FF0000"/>
                </a:solidFill>
              </a:rPr>
              <a:t>No process waits more than (</a:t>
            </a:r>
            <a:r>
              <a:rPr lang="en-US" altLang="en-US" i="1" dirty="0" smtClean="0">
                <a:solidFill>
                  <a:srgbClr val="FF0000"/>
                </a:solidFill>
              </a:rPr>
              <a:t>n</a:t>
            </a:r>
            <a:r>
              <a:rPr lang="en-US" altLang="en-US" dirty="0" smtClean="0">
                <a:solidFill>
                  <a:srgbClr val="FF0000"/>
                </a:solidFill>
              </a:rPr>
              <a:t>-1)</a:t>
            </a:r>
            <a:r>
              <a:rPr lang="en-US" altLang="en-US" i="1" dirty="0" smtClean="0">
                <a:solidFill>
                  <a:srgbClr val="FF0000"/>
                </a:solidFill>
              </a:rPr>
              <a:t>q </a:t>
            </a:r>
            <a:r>
              <a:rPr lang="en-US" altLang="en-US" dirty="0" smtClean="0">
                <a:solidFill>
                  <a:srgbClr val="FF0000"/>
                </a:solidFill>
              </a:rPr>
              <a:t>time units.</a:t>
            </a:r>
          </a:p>
          <a:p>
            <a:pPr algn="just"/>
            <a:r>
              <a:rPr lang="en-US" altLang="en-US" dirty="0" smtClean="0"/>
              <a:t>Timer interrupts every quantum to schedule next process</a:t>
            </a:r>
          </a:p>
          <a:p>
            <a:pPr algn="just"/>
            <a:r>
              <a:rPr lang="en-US" altLang="en-US" dirty="0" smtClean="0"/>
              <a:t>Performance</a:t>
            </a:r>
          </a:p>
          <a:p>
            <a:pPr lvl="1" algn="just"/>
            <a:r>
              <a:rPr lang="en-US" altLang="en-US" i="1" dirty="0" smtClean="0"/>
              <a:t>q</a:t>
            </a:r>
            <a:r>
              <a:rPr lang="en-US" altLang="en-US" dirty="0" smtClean="0"/>
              <a:t> large </a:t>
            </a:r>
            <a:r>
              <a:rPr lang="en-US" altLang="en-US" dirty="0" smtClean="0">
                <a:sym typeface="Symbol" pitchFamily="18" charset="2"/>
              </a:rPr>
              <a:t> FIFO</a:t>
            </a:r>
          </a:p>
          <a:p>
            <a:pPr lvl="1" algn="just"/>
            <a:r>
              <a:rPr lang="en-US" altLang="en-US" i="1" dirty="0" smtClean="0">
                <a:sym typeface="Symbol" pitchFamily="18" charset="2"/>
              </a:rPr>
              <a:t>q </a:t>
            </a:r>
            <a:r>
              <a:rPr lang="en-US" altLang="en-US" dirty="0" smtClean="0">
                <a:sym typeface="Symbol" pitchFamily="18" charset="2"/>
              </a:rPr>
              <a:t>small  </a:t>
            </a:r>
            <a:r>
              <a:rPr lang="en-US" altLang="en-US" i="1" dirty="0" smtClean="0">
                <a:sym typeface="Symbol" pitchFamily="18" charset="2"/>
              </a:rPr>
              <a:t>q </a:t>
            </a:r>
            <a:r>
              <a:rPr lang="en-US" altLang="en-US" dirty="0" smtClean="0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  <p:extLst>
      <p:ext uri="{BB962C8B-B14F-4D97-AF65-F5344CB8AC3E}">
        <p14:creationId xmlns:p14="http://schemas.microsoft.com/office/powerpoint/2010/main" val="187027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900" y="139700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mtClean="0"/>
              <a:t>		</a:t>
            </a:r>
            <a:r>
              <a:rPr lang="en-US" altLang="en-US" u="sng" smtClean="0"/>
              <a:t>Process</a:t>
            </a:r>
            <a:r>
              <a:rPr lang="en-US" altLang="en-US" smtClean="0"/>
              <a:t>	</a:t>
            </a:r>
            <a:r>
              <a:rPr lang="en-US" altLang="en-US" u="sng" smtClean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smtClean="0"/>
              <a:t>		P</a:t>
            </a:r>
            <a:r>
              <a:rPr lang="en-US" altLang="en-US" i="1" baseline="-25000" smtClean="0"/>
              <a:t>1	</a:t>
            </a:r>
            <a:r>
              <a:rPr lang="en-US" altLang="en-US" smtClean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mtClean="0"/>
              <a:t>		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2	 </a:t>
            </a:r>
            <a:r>
              <a:rPr lang="en-US" altLang="en-US" smtClean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mtClean="0"/>
              <a:t>		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3	</a:t>
            </a:r>
            <a:r>
              <a:rPr lang="en-US" altLang="en-US" smtClean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mtClean="0"/>
              <a:t>The Gantt chart is: 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mtClean="0"/>
              <a:t>Typically, higher average turnaround than SJF, but better </a:t>
            </a:r>
            <a:r>
              <a:rPr lang="en-US" altLang="en-US" b="1" i="1" smtClean="0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mtClean="0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mtClean="0"/>
              <a:t>q usually 10ms to 100ms, context switch &lt; 10 usec</a:t>
            </a:r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068960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89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3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Time Quantum and Context Switch Time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74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66700"/>
            <a:ext cx="8535987" cy="4572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Turnaround Time Varies With The Time Quantum</a:t>
            </a:r>
          </a:p>
        </p:txBody>
      </p:sp>
      <p:pic>
        <p:nvPicPr>
          <p:cNvPr id="256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379538"/>
            <a:ext cx="500538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300">
                <a:latin typeface="Verdana" pitchFamily="34" charset="0"/>
              </a:rPr>
              <a:t>80% of CPU bursts should be shorter than q</a:t>
            </a:r>
          </a:p>
        </p:txBody>
      </p:sp>
    </p:spTree>
    <p:extLst>
      <p:ext uri="{BB962C8B-B14F-4D97-AF65-F5344CB8AC3E}">
        <p14:creationId xmlns:p14="http://schemas.microsoft.com/office/powerpoint/2010/main" val="29690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 smtClean="0"/>
              <a:t>Ready queue is partitioned into separate queues, </a:t>
            </a:r>
            <a:r>
              <a:rPr lang="en-US" altLang="en-US" dirty="0" err="1" smtClean="0"/>
              <a:t>eg</a:t>
            </a:r>
            <a:r>
              <a:rPr lang="en-US" altLang="en-US" dirty="0" smtClean="0"/>
              <a:t>: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foreground</a:t>
            </a:r>
            <a:r>
              <a:rPr lang="en-US" altLang="en-US" dirty="0" smtClean="0"/>
              <a:t> (interactive)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background</a:t>
            </a:r>
            <a:r>
              <a:rPr lang="en-US" altLang="en-US" dirty="0" smtClean="0"/>
              <a:t> (batch)</a:t>
            </a:r>
          </a:p>
          <a:p>
            <a:r>
              <a:rPr lang="en-US" altLang="en-US" dirty="0" smtClean="0"/>
              <a:t>Process is permanently in a given queue</a:t>
            </a:r>
            <a:endParaRPr lang="en-US" altLang="en-US" sz="800" dirty="0" smtClean="0"/>
          </a:p>
          <a:p>
            <a:r>
              <a:rPr lang="en-US" altLang="en-US" dirty="0" smtClean="0"/>
              <a:t>Each queue has its own scheduling algorithm:</a:t>
            </a:r>
          </a:p>
          <a:p>
            <a:pPr lvl="1"/>
            <a:r>
              <a:rPr lang="en-US" altLang="en-US" dirty="0" smtClean="0"/>
              <a:t>foreground – RR</a:t>
            </a:r>
          </a:p>
          <a:p>
            <a:pPr lvl="1"/>
            <a:r>
              <a:rPr lang="en-US" altLang="en-US" dirty="0" smtClean="0"/>
              <a:t>background – FCFS</a:t>
            </a:r>
            <a:endParaRPr lang="en-US" altLang="en-US" sz="800" dirty="0" smtClean="0"/>
          </a:p>
          <a:p>
            <a:r>
              <a:rPr lang="en-US" altLang="en-US" dirty="0" smtClean="0"/>
              <a:t>Scheduling must be done between the queues:</a:t>
            </a:r>
          </a:p>
          <a:p>
            <a:pPr lvl="1"/>
            <a:r>
              <a:rPr lang="en-US" altLang="en-US" dirty="0" smtClean="0"/>
              <a:t>Fixed priority scheduling; (i.e., serve all from foreground then from background).  Possibility of starvation.</a:t>
            </a:r>
          </a:p>
          <a:p>
            <a:pPr lvl="1"/>
            <a:r>
              <a:rPr lang="en-US" altLang="en-US" dirty="0" smtClean="0"/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lang="en-US" altLang="en-US" dirty="0" smtClean="0"/>
              <a:t>20% to background in FCFS </a:t>
            </a:r>
          </a:p>
        </p:txBody>
      </p:sp>
    </p:spTree>
    <p:extLst>
      <p:ext uri="{BB962C8B-B14F-4D97-AF65-F5344CB8AC3E}">
        <p14:creationId xmlns:p14="http://schemas.microsoft.com/office/powerpoint/2010/main" val="194148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3" y="188913"/>
            <a:ext cx="7596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Multilevel Queue Scheduling</a:t>
            </a:r>
          </a:p>
        </p:txBody>
      </p:sp>
      <p:pic>
        <p:nvPicPr>
          <p:cNvPr id="27651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466850"/>
            <a:ext cx="66865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0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488" y="1468438"/>
            <a:ext cx="7351712" cy="44831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 smtClean="0"/>
              <a:t>A </a:t>
            </a:r>
            <a:r>
              <a:rPr lang="en-US" altLang="en-US" dirty="0" smtClean="0">
                <a:solidFill>
                  <a:srgbClr val="FF0000"/>
                </a:solidFill>
              </a:rPr>
              <a:t>process can move between the various queues; aging </a:t>
            </a:r>
            <a:r>
              <a:rPr lang="en-US" altLang="en-US" dirty="0" smtClean="0"/>
              <a:t>can be implemented this way</a:t>
            </a:r>
          </a:p>
          <a:p>
            <a:pPr algn="just"/>
            <a:r>
              <a:rPr lang="en-US" altLang="en-US" dirty="0" smtClean="0"/>
              <a:t>Multilevel-feedback-queue scheduler is defined by the following parameters:</a:t>
            </a:r>
          </a:p>
          <a:p>
            <a:pPr lvl="1"/>
            <a:r>
              <a:rPr lang="en-US" altLang="en-US" dirty="0" smtClean="0"/>
              <a:t>number of queues</a:t>
            </a:r>
          </a:p>
          <a:p>
            <a:pPr lvl="1"/>
            <a:r>
              <a:rPr lang="en-US" altLang="en-US" dirty="0" smtClean="0"/>
              <a:t>scheduling algorithms for each queue</a:t>
            </a:r>
          </a:p>
          <a:p>
            <a:pPr lvl="1"/>
            <a:r>
              <a:rPr lang="en-US" altLang="en-US" dirty="0" smtClean="0"/>
              <a:t>method used to determine when to upgrade a process</a:t>
            </a:r>
          </a:p>
          <a:p>
            <a:pPr lvl="1"/>
            <a:r>
              <a:rPr lang="en-US" altLang="en-US" dirty="0" smtClean="0"/>
              <a:t>method used to determine when to demote a process</a:t>
            </a:r>
          </a:p>
          <a:p>
            <a:pPr lvl="1"/>
            <a:r>
              <a:rPr lang="en-US" altLang="en-US" dirty="0" smtClean="0"/>
              <a:t>method used to determine which queue a process will enter when that process needs service</a:t>
            </a:r>
          </a:p>
        </p:txBody>
      </p:sp>
    </p:spTree>
    <p:extLst>
      <p:ext uri="{BB962C8B-B14F-4D97-AF65-F5344CB8AC3E}">
        <p14:creationId xmlns:p14="http://schemas.microsoft.com/office/powerpoint/2010/main" val="363466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229270"/>
            <a:ext cx="7710488" cy="6794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065588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Three queues: </a:t>
            </a:r>
          </a:p>
          <a:p>
            <a:pPr lvl="1"/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0</a:t>
            </a:r>
            <a:r>
              <a:rPr lang="en-US" altLang="en-US" sz="1400" dirty="0" smtClean="0"/>
              <a:t> – RR with time quantum 8 milliseconds</a:t>
            </a:r>
          </a:p>
          <a:p>
            <a:pPr lvl="1"/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1</a:t>
            </a:r>
            <a:r>
              <a:rPr lang="en-US" altLang="en-US" sz="1400" dirty="0" smtClean="0"/>
              <a:t> – RR time quantum 16 milliseconds</a:t>
            </a:r>
          </a:p>
          <a:p>
            <a:pPr lvl="1"/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2</a:t>
            </a:r>
            <a:r>
              <a:rPr lang="en-US" altLang="en-US" sz="1400" dirty="0" smtClean="0"/>
              <a:t> – FCFS</a:t>
            </a:r>
          </a:p>
          <a:p>
            <a:pPr lvl="1"/>
            <a:endParaRPr lang="en-US" altLang="en-US" sz="1400" dirty="0" smtClean="0"/>
          </a:p>
          <a:p>
            <a:r>
              <a:rPr lang="en-US" altLang="en-US" dirty="0" smtClean="0"/>
              <a:t>Scheduling</a:t>
            </a:r>
          </a:p>
          <a:p>
            <a:pPr lvl="1"/>
            <a:r>
              <a:rPr lang="en-US" altLang="en-US" sz="1400" dirty="0" smtClean="0"/>
              <a:t>A new job enters queue </a:t>
            </a:r>
            <a:r>
              <a:rPr lang="en-US" altLang="en-US" sz="1400" i="1" dirty="0" smtClean="0"/>
              <a:t>Q</a:t>
            </a:r>
            <a:r>
              <a:rPr lang="en-US" altLang="en-US" sz="1400" i="1" baseline="-25000" dirty="0" smtClean="0"/>
              <a:t>0</a:t>
            </a:r>
            <a:r>
              <a:rPr lang="en-US" altLang="en-US" sz="1400" i="1" dirty="0" smtClean="0"/>
              <a:t> </a:t>
            </a:r>
            <a:r>
              <a:rPr lang="en-US" altLang="en-US" sz="1400" dirty="0" smtClean="0"/>
              <a:t>which is served by</a:t>
            </a:r>
            <a:r>
              <a:rPr lang="en-US" altLang="en-US" sz="1400" i="1" dirty="0" smtClean="0"/>
              <a:t> </a:t>
            </a:r>
            <a:r>
              <a:rPr lang="en-US" altLang="en-US" sz="1400" dirty="0" smtClean="0"/>
              <a:t>FCFS</a:t>
            </a:r>
          </a:p>
          <a:p>
            <a:pPr lvl="2"/>
            <a:r>
              <a:rPr lang="en-US" altLang="en-US" sz="1400" dirty="0" smtClean="0"/>
              <a:t>When it gains CPU, job receives 8 milliseconds</a:t>
            </a:r>
          </a:p>
          <a:p>
            <a:pPr lvl="2"/>
            <a:r>
              <a:rPr lang="en-US" altLang="en-US" sz="1400" dirty="0" smtClean="0"/>
              <a:t>If it does not finish in 8 milliseconds, job is moved to queue </a:t>
            </a:r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1</a:t>
            </a:r>
            <a:endParaRPr lang="en-US" altLang="en-US" sz="1400" dirty="0" smtClean="0"/>
          </a:p>
          <a:p>
            <a:pPr lvl="1"/>
            <a:r>
              <a:rPr lang="en-US" altLang="en-US" sz="1400" dirty="0" smtClean="0"/>
              <a:t>At </a:t>
            </a:r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1</a:t>
            </a:r>
            <a:r>
              <a:rPr lang="en-US" altLang="en-US" sz="1400" dirty="0" smtClean="0"/>
              <a:t> job is again served by FCFS and receives 16 additional milliseconds</a:t>
            </a:r>
          </a:p>
          <a:p>
            <a:pPr lvl="2"/>
            <a:r>
              <a:rPr lang="en-US" altLang="en-US" sz="1400" dirty="0" smtClean="0"/>
              <a:t>If it still does not complete, it is preempted and moved to queue </a:t>
            </a:r>
            <a:r>
              <a:rPr lang="en-US" altLang="en-US" sz="1400" i="1" dirty="0" smtClean="0"/>
              <a:t>Q</a:t>
            </a:r>
            <a:r>
              <a:rPr lang="en-US" altLang="en-US" sz="1400" baseline="-25000" dirty="0" smtClean="0"/>
              <a:t>2</a:t>
            </a:r>
            <a:endParaRPr lang="en-US" altLang="en-US" sz="1400" dirty="0" smtClean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46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Multiple-Processor Scheduling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1122363"/>
            <a:ext cx="7034212" cy="4808537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smtClean="0"/>
              <a:t>CPU scheduling more complex when multiple CPUs are available</a:t>
            </a:r>
            <a:endParaRPr lang="en-US" altLang="en-US" sz="800" smtClean="0"/>
          </a:p>
          <a:p>
            <a:r>
              <a:rPr lang="en-US" altLang="en-US" b="1" smtClean="0">
                <a:solidFill>
                  <a:srgbClr val="3366FF"/>
                </a:solidFill>
              </a:rPr>
              <a:t>Homogeneous</a:t>
            </a:r>
            <a:r>
              <a:rPr lang="en-US" altLang="en-US" b="1" smtClean="0"/>
              <a:t> </a:t>
            </a:r>
            <a:r>
              <a:rPr lang="en-US" altLang="en-US" b="1" smtClean="0">
                <a:solidFill>
                  <a:srgbClr val="3366FF"/>
                </a:solidFill>
              </a:rPr>
              <a:t>processors</a:t>
            </a:r>
            <a:r>
              <a:rPr lang="en-US" altLang="en-US" b="1" smtClean="0"/>
              <a:t> </a:t>
            </a:r>
            <a:r>
              <a:rPr lang="en-US" altLang="en-US" smtClean="0"/>
              <a:t>within a multiprocessor</a:t>
            </a:r>
            <a:endParaRPr lang="en-US" altLang="en-US" sz="800" smtClean="0"/>
          </a:p>
          <a:p>
            <a:r>
              <a:rPr lang="en-US" altLang="en-US" b="1" smtClean="0">
                <a:solidFill>
                  <a:srgbClr val="3366FF"/>
                </a:solidFill>
              </a:rPr>
              <a:t>Asymmetric multiprocessing </a:t>
            </a:r>
            <a:r>
              <a:rPr lang="en-US" altLang="en-US" smtClean="0"/>
              <a:t>– only one processor accesses the system data structures, alleviating the need for data sharing</a:t>
            </a:r>
            <a:endParaRPr lang="en-US" altLang="en-US" sz="800" smtClean="0"/>
          </a:p>
          <a:p>
            <a:r>
              <a:rPr lang="en-US" altLang="en-US" b="1" smtClean="0">
                <a:solidFill>
                  <a:srgbClr val="3366FF"/>
                </a:solidFill>
              </a:rPr>
              <a:t>Symmetric multiprocessing </a:t>
            </a:r>
            <a:r>
              <a:rPr lang="en-US" altLang="en-US" b="1" smtClean="0"/>
              <a:t>(</a:t>
            </a:r>
            <a:r>
              <a:rPr lang="en-US" altLang="en-US" b="1" smtClean="0">
                <a:solidFill>
                  <a:srgbClr val="3366FF"/>
                </a:solidFill>
              </a:rPr>
              <a:t>SMP</a:t>
            </a:r>
            <a:r>
              <a:rPr lang="en-US" altLang="en-US" b="1" smtClean="0"/>
              <a:t>) </a:t>
            </a:r>
            <a:r>
              <a:rPr lang="en-US" altLang="en-US" smtClean="0"/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 altLang="en-US" smtClean="0"/>
              <a:t>Currently, most common</a:t>
            </a:r>
            <a:endParaRPr lang="en-US" altLang="en-US" sz="800" smtClean="0"/>
          </a:p>
          <a:p>
            <a:r>
              <a:rPr lang="en-US" altLang="en-US" b="1" smtClean="0">
                <a:solidFill>
                  <a:srgbClr val="3366FF"/>
                </a:solidFill>
              </a:rPr>
              <a:t>Processor affinity </a:t>
            </a:r>
            <a:r>
              <a:rPr lang="en-US" altLang="en-US" smtClean="0"/>
              <a:t>– process has affinity for processor on which it is currently running</a:t>
            </a:r>
          </a:p>
          <a:p>
            <a:pPr lvl="1"/>
            <a:r>
              <a:rPr lang="en-US" altLang="en-US" b="1" smtClean="0">
                <a:solidFill>
                  <a:srgbClr val="3366FF"/>
                </a:solidFill>
              </a:rPr>
              <a:t>soft affinity</a:t>
            </a:r>
          </a:p>
          <a:p>
            <a:pPr lvl="1"/>
            <a:r>
              <a:rPr lang="en-US" altLang="en-US" b="1" smtClean="0">
                <a:solidFill>
                  <a:srgbClr val="3366FF"/>
                </a:solidFill>
              </a:rPr>
              <a:t>hard affinity</a:t>
            </a:r>
          </a:p>
          <a:p>
            <a:pPr lvl="1"/>
            <a:r>
              <a:rPr lang="en-US" altLang="en-US" smtClean="0"/>
              <a:t>Variations including </a:t>
            </a:r>
            <a:r>
              <a:rPr lang="en-US" altLang="en-US" b="1" smtClean="0">
                <a:solidFill>
                  <a:srgbClr val="3366FF"/>
                </a:solidFill>
              </a:rPr>
              <a:t>processor sets</a:t>
            </a:r>
          </a:p>
        </p:txBody>
      </p:sp>
    </p:spTree>
    <p:extLst>
      <p:ext uri="{BB962C8B-B14F-4D97-AF65-F5344CB8AC3E}">
        <p14:creationId xmlns:p14="http://schemas.microsoft.com/office/powerpoint/2010/main" val="1432427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2213" y="101600"/>
            <a:ext cx="7723187" cy="576263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Multiple-Processor Scheduling – Load Balancing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233488"/>
            <a:ext cx="7008812" cy="4808537"/>
          </a:xfrm>
        </p:spPr>
        <p:txBody>
          <a:bodyPr>
            <a:normAutofit lnSpcReduction="10000"/>
          </a:bodyPr>
          <a:lstStyle/>
          <a:p>
            <a:r>
              <a:rPr lang="en-US" altLang="en-US" smtClean="0"/>
              <a:t>If SMP, need to keep all CPUs loaded for efficiency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Load balancing </a:t>
            </a:r>
            <a:r>
              <a:rPr lang="en-US" altLang="en-US" smtClean="0"/>
              <a:t>attempts to keep workload evenly distributed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Push migration </a:t>
            </a:r>
            <a:r>
              <a:rPr lang="en-US" altLang="en-US" smtClean="0"/>
              <a:t>– periodic task checks load on each processor, and if found pushes task from overloaded CPU to other CPUs</a:t>
            </a:r>
            <a:endParaRPr lang="en-US" altLang="en-US" b="1" smtClean="0">
              <a:solidFill>
                <a:srgbClr val="3366FF"/>
              </a:solidFill>
            </a:endParaRPr>
          </a:p>
          <a:p>
            <a:r>
              <a:rPr lang="en-US" altLang="en-US" b="1" smtClean="0">
                <a:solidFill>
                  <a:srgbClr val="3366FF"/>
                </a:solidFill>
              </a:rPr>
              <a:t>Pull migration </a:t>
            </a:r>
            <a:r>
              <a:rPr lang="en-US" altLang="en-US" smtClean="0"/>
              <a:t>– idle processors pulls waiting task from busy processor</a:t>
            </a:r>
          </a:p>
          <a:p>
            <a:endParaRPr lang="en-US" altLang="en-US" sz="800" smtClean="0"/>
          </a:p>
        </p:txBody>
      </p:sp>
    </p:spTree>
    <p:extLst>
      <p:ext uri="{BB962C8B-B14F-4D97-AF65-F5344CB8AC3E}">
        <p14:creationId xmlns:p14="http://schemas.microsoft.com/office/powerpoint/2010/main" val="6632483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65188" y="176213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Multicore Processors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82650" y="1233488"/>
            <a:ext cx="6915150" cy="453072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 smtClean="0"/>
              <a:t>Recent trend to place multiple processor cores on same physical chip</a:t>
            </a:r>
          </a:p>
          <a:p>
            <a:r>
              <a:rPr lang="en-US" altLang="en-US" dirty="0" smtClean="0"/>
              <a:t>Faster and consumes less power</a:t>
            </a:r>
          </a:p>
          <a:p>
            <a:r>
              <a:rPr lang="en-US" altLang="en-US" dirty="0" smtClean="0"/>
              <a:t>Multiple threads per core is also growing</a:t>
            </a:r>
          </a:p>
          <a:p>
            <a:pPr lvl="1"/>
            <a:r>
              <a:rPr lang="en-US" altLang="en-US" dirty="0" smtClean="0"/>
              <a:t>Takes advantage of </a:t>
            </a:r>
            <a:r>
              <a:rPr lang="en-US" altLang="en-US" dirty="0" smtClean="0">
                <a:solidFill>
                  <a:srgbClr val="FF0000"/>
                </a:solidFill>
              </a:rPr>
              <a:t>memory stall </a:t>
            </a:r>
            <a:r>
              <a:rPr lang="en-US" altLang="en-US" dirty="0" smtClean="0"/>
              <a:t>to make progress on another thread while memory retrieve happens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602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196975" y="277813"/>
            <a:ext cx="7489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Multithreaded Multicore System</a:t>
            </a:r>
          </a:p>
        </p:txBody>
      </p:sp>
      <p:pic>
        <p:nvPicPr>
          <p:cNvPr id="38915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1401763"/>
            <a:ext cx="6781800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3722688"/>
            <a:ext cx="68722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4753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Windows Scheduling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920750" y="1144588"/>
            <a:ext cx="6648450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smtClean="0"/>
              <a:t>Windows uses priority-based preemptive scheduling</a:t>
            </a:r>
          </a:p>
          <a:p>
            <a:r>
              <a:rPr lang="en-US" altLang="en-US" smtClean="0"/>
              <a:t>Highest-priority thread runs next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Dispatcher</a:t>
            </a:r>
            <a:r>
              <a:rPr lang="en-US" altLang="en-US" i="1" smtClean="0"/>
              <a:t> </a:t>
            </a:r>
            <a:r>
              <a:rPr lang="en-US" altLang="en-US" smtClean="0"/>
              <a:t>is scheduler</a:t>
            </a:r>
          </a:p>
          <a:p>
            <a:r>
              <a:rPr lang="en-US" altLang="en-US" smtClean="0"/>
              <a:t>Thread runs until (1) blocks, (2) uses time slice, (3) preempted by higher-priority thread</a:t>
            </a:r>
          </a:p>
          <a:p>
            <a:r>
              <a:rPr lang="en-US" altLang="en-US" smtClean="0"/>
              <a:t>Real-time threads can preempt non-real-time</a:t>
            </a:r>
          </a:p>
          <a:p>
            <a:r>
              <a:rPr lang="en-US" altLang="en-US" smtClean="0"/>
              <a:t>32-level priority scheme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Variable class </a:t>
            </a:r>
            <a:r>
              <a:rPr lang="en-US" altLang="en-US" smtClean="0"/>
              <a:t>is 1-15, </a:t>
            </a:r>
            <a:r>
              <a:rPr lang="en-US" altLang="en-US" b="1" smtClean="0">
                <a:solidFill>
                  <a:srgbClr val="3366FF"/>
                </a:solidFill>
              </a:rPr>
              <a:t>real-time class </a:t>
            </a:r>
            <a:r>
              <a:rPr lang="en-US" altLang="en-US" smtClean="0"/>
              <a:t>is</a:t>
            </a:r>
            <a:r>
              <a:rPr lang="en-US" altLang="en-US" b="1" smtClean="0">
                <a:solidFill>
                  <a:srgbClr val="3366FF"/>
                </a:solidFill>
              </a:rPr>
              <a:t> </a:t>
            </a:r>
            <a:r>
              <a:rPr lang="en-US" altLang="en-US" smtClean="0"/>
              <a:t>16-31</a:t>
            </a:r>
          </a:p>
          <a:p>
            <a:r>
              <a:rPr lang="en-US" altLang="en-US" smtClean="0"/>
              <a:t>Priority 0 is memory-management thread</a:t>
            </a:r>
          </a:p>
          <a:p>
            <a:r>
              <a:rPr lang="en-US" altLang="en-US" smtClean="0"/>
              <a:t>Queue for each priority</a:t>
            </a:r>
          </a:p>
          <a:p>
            <a:r>
              <a:rPr lang="en-US" altLang="en-US" smtClean="0"/>
              <a:t>If no run-able thread, runs </a:t>
            </a:r>
            <a:r>
              <a:rPr lang="en-US" altLang="en-US" b="1" smtClean="0">
                <a:solidFill>
                  <a:srgbClr val="3366FF"/>
                </a:solidFill>
              </a:rPr>
              <a:t>idle thread</a:t>
            </a:r>
          </a:p>
        </p:txBody>
      </p:sp>
    </p:spTree>
    <p:extLst>
      <p:ext uri="{BB962C8B-B14F-4D97-AF65-F5344CB8AC3E}">
        <p14:creationId xmlns:p14="http://schemas.microsoft.com/office/powerpoint/2010/main" val="3489176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01613"/>
            <a:ext cx="7616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Algorithm Evaluation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16013"/>
            <a:ext cx="7566025" cy="4643437"/>
          </a:xfrm>
        </p:spPr>
        <p:txBody>
          <a:bodyPr>
            <a:normAutofit fontScale="92500"/>
          </a:bodyPr>
          <a:lstStyle/>
          <a:p>
            <a:r>
              <a:rPr lang="en-US" altLang="en-US" smtClean="0"/>
              <a:t>How to select CPU-scheduling algorithm for an OS?</a:t>
            </a:r>
          </a:p>
          <a:p>
            <a:r>
              <a:rPr lang="en-US" altLang="en-US" smtClean="0"/>
              <a:t>Determine criteria, then evaluate algorithms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Deterministic modeling</a:t>
            </a:r>
          </a:p>
          <a:p>
            <a:pPr lvl="1"/>
            <a:r>
              <a:rPr lang="en-US" altLang="en-US" smtClean="0"/>
              <a:t>Type of </a:t>
            </a:r>
            <a:r>
              <a:rPr lang="en-US" altLang="en-US" b="1" smtClean="0">
                <a:solidFill>
                  <a:srgbClr val="3366FF"/>
                </a:solidFill>
              </a:rPr>
              <a:t>analytic evaluation</a:t>
            </a:r>
          </a:p>
          <a:p>
            <a:pPr lvl="1"/>
            <a:r>
              <a:rPr lang="en-US" altLang="en-US" smtClean="0"/>
              <a:t>Takes a particular predetermined workload and defines the performance of each algorithm  for that workload</a:t>
            </a:r>
          </a:p>
          <a:p>
            <a:r>
              <a:rPr lang="en-US" altLang="en-US" smtClean="0"/>
              <a:t>Consider 5 processes arriving at time 0:</a:t>
            </a:r>
          </a:p>
        </p:txBody>
      </p:sp>
      <p:pic>
        <p:nvPicPr>
          <p:cNvPr id="64516" name="Picture 1" descr="Screen Shot 2012-12-17 at 9.44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45224"/>
            <a:ext cx="189706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5348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77813"/>
            <a:ext cx="7616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Deterministic Evaluation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82713"/>
            <a:ext cx="7566025" cy="4643437"/>
          </a:xfrm>
        </p:spPr>
        <p:txBody>
          <a:bodyPr>
            <a:normAutofit fontScale="85000" lnSpcReduction="20000"/>
          </a:bodyPr>
          <a:lstStyle/>
          <a:p>
            <a:pPr marL="342197" indent="-342197">
              <a:buFont typeface="Monotype Sorts" charset="0"/>
              <a:buChar char="n"/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For each algorithm, calculate minimum average waiting time</a:t>
            </a:r>
          </a:p>
          <a:p>
            <a:pPr marL="342197" indent="-342197">
              <a:buFont typeface="Monotype Sorts" charset="0"/>
              <a:buChar char="n"/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Simple and fast, but requires exact numbers for input, applies only to those inputs</a:t>
            </a: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FCFS is 28ms: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Non-preemptive SFJ is 13ms: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RR is 23ms: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65540" name="Picture 2" descr="Screen Shot 2012-12-17 at 9.47.1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199841"/>
            <a:ext cx="4445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 descr="Screen Shot 2012-12-17 at 9.47.18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988" y="4434402"/>
            <a:ext cx="4529137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Picture 4" descr="Screen Shot 2012-12-17 at 9.47.2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410201"/>
            <a:ext cx="4445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875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Queueing Models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908050" y="1233488"/>
            <a:ext cx="7105650" cy="4530725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mtClean="0"/>
              <a:t>Describes the arrival of processes, and CPU and I/O bursts probabilistically</a:t>
            </a:r>
          </a:p>
          <a:p>
            <a:pPr lvl="1"/>
            <a:r>
              <a:rPr lang="en-US" altLang="en-US" smtClean="0"/>
              <a:t>Commonly exponential, and described by mean</a:t>
            </a:r>
          </a:p>
          <a:p>
            <a:pPr lvl="1"/>
            <a:r>
              <a:rPr lang="en-US" altLang="en-US" smtClean="0"/>
              <a:t>Computes average throughput, utilization, waiting time, etc</a:t>
            </a:r>
          </a:p>
          <a:p>
            <a:r>
              <a:rPr lang="en-US" altLang="en-US" smtClean="0"/>
              <a:t>Computer system described as network of servers, each with queue of waiting processes</a:t>
            </a:r>
          </a:p>
          <a:p>
            <a:pPr lvl="1"/>
            <a:r>
              <a:rPr lang="en-US" altLang="en-US" smtClean="0"/>
              <a:t>Knowing arrival rates and service rates</a:t>
            </a:r>
          </a:p>
          <a:p>
            <a:pPr lvl="1"/>
            <a:r>
              <a:rPr lang="en-US" altLang="en-US" smtClean="0"/>
              <a:t>Computes utilization, average queue length, average wait time, etc</a:t>
            </a:r>
          </a:p>
        </p:txBody>
      </p:sp>
    </p:spTree>
    <p:extLst>
      <p:ext uri="{BB962C8B-B14F-4D97-AF65-F5344CB8AC3E}">
        <p14:creationId xmlns:p14="http://schemas.microsoft.com/office/powerpoint/2010/main" val="2864076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Little</a:t>
            </a:r>
            <a:r>
              <a:rPr lang="ja-JP" altLang="en-US" smtClean="0"/>
              <a:t>’</a:t>
            </a:r>
            <a:r>
              <a:rPr lang="en-US" altLang="ja-JP" smtClean="0"/>
              <a:t>s Formula</a:t>
            </a:r>
            <a:endParaRPr lang="en-US" altLang="en-US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895350" y="1169988"/>
            <a:ext cx="7270750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i="1" dirty="0" smtClean="0"/>
              <a:t>n</a:t>
            </a:r>
            <a:r>
              <a:rPr lang="en-US" altLang="en-US" dirty="0" smtClean="0"/>
              <a:t> = average queue length</a:t>
            </a:r>
          </a:p>
          <a:p>
            <a:r>
              <a:rPr lang="en-US" altLang="en-US" i="1" dirty="0" smtClean="0"/>
              <a:t>W</a:t>
            </a:r>
            <a:r>
              <a:rPr lang="en-US" altLang="en-US" dirty="0" smtClean="0"/>
              <a:t> = average waiting time in queue</a:t>
            </a:r>
          </a:p>
          <a:p>
            <a:r>
              <a:rPr lang="en-US" altLang="en-US" i="1" dirty="0" smtClean="0"/>
              <a:t>λ</a:t>
            </a:r>
            <a:r>
              <a:rPr lang="en-US" altLang="en-US" dirty="0" smtClean="0"/>
              <a:t> = average arrival rate into queue</a:t>
            </a:r>
          </a:p>
          <a:p>
            <a:r>
              <a:rPr lang="en-US" altLang="en-US" dirty="0" smtClean="0"/>
              <a:t>Little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law – in steady state, processes leaving queue must equal processes arriving, thus:</a:t>
            </a:r>
            <a:br>
              <a:rPr lang="en-US" altLang="ja-JP" dirty="0" smtClean="0"/>
            </a:br>
            <a:r>
              <a:rPr lang="en-US" altLang="ja-JP" dirty="0" smtClean="0"/>
              <a:t>      </a:t>
            </a:r>
            <a:r>
              <a:rPr lang="en-US" altLang="ja-JP" i="1" dirty="0" smtClean="0"/>
              <a:t>n </a:t>
            </a:r>
            <a:r>
              <a:rPr lang="en-US" altLang="ja-JP" dirty="0" smtClean="0"/>
              <a:t>= </a:t>
            </a:r>
            <a:r>
              <a:rPr lang="en-US" altLang="ja-JP" i="1" dirty="0" smtClean="0"/>
              <a:t>λ </a:t>
            </a:r>
            <a:r>
              <a:rPr lang="en-US" altLang="ja-JP" dirty="0" smtClean="0"/>
              <a:t>x</a:t>
            </a:r>
            <a:r>
              <a:rPr lang="en-US" altLang="ja-JP" i="1" dirty="0" smtClean="0"/>
              <a:t> W</a:t>
            </a:r>
          </a:p>
          <a:p>
            <a:pPr lvl="1"/>
            <a:r>
              <a:rPr lang="en-US" altLang="en-US" dirty="0" smtClean="0"/>
              <a:t>Valid for any scheduling algorithm and arrival distribution</a:t>
            </a:r>
          </a:p>
          <a:p>
            <a:pPr algn="just"/>
            <a:r>
              <a:rPr lang="en-US" altLang="en-US" dirty="0" smtClean="0"/>
              <a:t>For example, if </a:t>
            </a:r>
            <a:r>
              <a:rPr lang="en-US" altLang="en-US" smtClean="0"/>
              <a:t>on an average </a:t>
            </a:r>
            <a:r>
              <a:rPr lang="en-US" altLang="en-US" dirty="0" smtClean="0"/>
              <a:t>7 processes arrive per second, and normally 14 processes in queue, then average wait time per process = 2 seconds</a:t>
            </a:r>
          </a:p>
        </p:txBody>
      </p:sp>
    </p:spTree>
    <p:extLst>
      <p:ext uri="{BB962C8B-B14F-4D97-AF65-F5344CB8AC3E}">
        <p14:creationId xmlns:p14="http://schemas.microsoft.com/office/powerpoint/2010/main" val="2335945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Simulations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mtClean="0"/>
              <a:t>Queueing models limited</a:t>
            </a:r>
          </a:p>
          <a:p>
            <a:r>
              <a:rPr lang="en-US" altLang="en-US" b="1" smtClean="0">
                <a:solidFill>
                  <a:srgbClr val="3366FF"/>
                </a:solidFill>
              </a:rPr>
              <a:t>Simulations</a:t>
            </a:r>
            <a:r>
              <a:rPr lang="en-US" altLang="en-US" b="1" smtClean="0"/>
              <a:t> </a:t>
            </a:r>
            <a:r>
              <a:rPr lang="en-US" altLang="en-US" smtClean="0"/>
              <a:t>more accurate</a:t>
            </a:r>
          </a:p>
          <a:p>
            <a:pPr lvl="1"/>
            <a:r>
              <a:rPr lang="en-US" altLang="en-US" smtClean="0"/>
              <a:t>Programmed model of computer system</a:t>
            </a:r>
          </a:p>
          <a:p>
            <a:pPr lvl="1"/>
            <a:r>
              <a:rPr lang="en-US" altLang="en-US" smtClean="0"/>
              <a:t>Clock is a variable</a:t>
            </a:r>
          </a:p>
          <a:p>
            <a:pPr lvl="1"/>
            <a:r>
              <a:rPr lang="en-US" altLang="en-US" smtClean="0"/>
              <a:t>Gather statistics  indicating algorithm performance</a:t>
            </a:r>
          </a:p>
          <a:p>
            <a:pPr lvl="1"/>
            <a:r>
              <a:rPr lang="en-US" altLang="en-US" smtClean="0"/>
              <a:t>Data to drive simulation gathered via</a:t>
            </a:r>
          </a:p>
          <a:p>
            <a:pPr lvl="2"/>
            <a:r>
              <a:rPr lang="en-US" altLang="en-US" smtClean="0"/>
              <a:t>Random number generator according to probabilities</a:t>
            </a:r>
          </a:p>
          <a:p>
            <a:pPr lvl="2"/>
            <a:r>
              <a:rPr lang="en-US" altLang="en-US" smtClean="0"/>
              <a:t>Distributions defined mathematically or empirically</a:t>
            </a:r>
          </a:p>
          <a:p>
            <a:pPr lvl="2"/>
            <a:r>
              <a:rPr lang="en-US" altLang="en-US" smtClean="0"/>
              <a:t>Trace tapes record sequences of real events in real systems</a:t>
            </a:r>
          </a:p>
          <a:p>
            <a:pPr lvl="2"/>
            <a:endParaRPr lang="en-US" altLang="en-US" smtClean="0"/>
          </a:p>
          <a:p>
            <a:pPr lvl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82450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 idx="4294967295"/>
          </p:nvPr>
        </p:nvSpPr>
        <p:spPr>
          <a:xfrm>
            <a:off x="1404938" y="188913"/>
            <a:ext cx="6824662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References</a:t>
            </a:r>
          </a:p>
        </p:txBody>
      </p:sp>
      <p:sp>
        <p:nvSpPr>
          <p:cNvPr id="70659" name="Content Placeholder 2"/>
          <p:cNvSpPr txBox="1">
            <a:spLocks/>
          </p:cNvSpPr>
          <p:nvPr/>
        </p:nvSpPr>
        <p:spPr bwMode="auto">
          <a:xfrm>
            <a:off x="850900" y="1208088"/>
            <a:ext cx="75311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/>
          <a:lstStyle>
            <a:lvl1pPr marL="488950" indent="-48895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1141413" indent="-48895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550988" indent="-325438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inden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kumimoji="1" lang="en-US" altLang="en-US" dirty="0" smtClean="0">
                <a:latin typeface="Helvetica" pitchFamily="-84" charset="0"/>
              </a:rPr>
              <a:t>For more practice problems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itchFamily="-84" charset="0"/>
              </a:rPr>
              <a:t>https://www.gatevidyalay.com/round-robin-round-robin-scheduling-examples/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</a:pPr>
            <a:endParaRPr kumimoji="1" lang="en-US" altLang="en-US" dirty="0">
              <a:latin typeface="Helvetica" pitchFamily="-8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dirty="0">
              <a:latin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97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4456</TotalTime>
  <Words>2533</Words>
  <Application>Microsoft Office PowerPoint</Application>
  <PresentationFormat>On-screen Show (4:3)</PresentationFormat>
  <Paragraphs>904</Paragraphs>
  <Slides>53</Slides>
  <Notes>43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Equation</vt:lpstr>
      <vt:lpstr>Module3_CPU_Scheduling</vt:lpstr>
      <vt:lpstr>Objectives</vt:lpstr>
      <vt:lpstr>Basic Concepts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 Come, First-Served (FCFS) Scheduling</vt:lpstr>
      <vt:lpstr>First- Come, First-Served (FCFS) Scheduling</vt:lpstr>
      <vt:lpstr>FCFS Scheduling (Cont.)</vt:lpstr>
      <vt:lpstr>FCFS Scheduling (Cont.)</vt:lpstr>
      <vt:lpstr>First- Come, First-Served (FCFS) Scheduling</vt:lpstr>
      <vt:lpstr>First- Come, First-Served (FCFS) Scheduling</vt:lpstr>
      <vt:lpstr>First- Come, First-Served (FCFS) Scheduling</vt:lpstr>
      <vt:lpstr>First- Come, First-Served (FCFS) Scheduling</vt:lpstr>
      <vt:lpstr>First- Come, First-Served (FCFS) Scheduling </vt:lpstr>
      <vt:lpstr>First- Come, First-Served (FCFS) Scheduling </vt:lpstr>
      <vt:lpstr>Shortest-Job-First (SJF) Scheduling</vt:lpstr>
      <vt:lpstr>SJF – Example  1 </vt:lpstr>
      <vt:lpstr>SJF – Example  1 (cont’d)</vt:lpstr>
      <vt:lpstr>SJF Scheduling - Example</vt:lpstr>
      <vt:lpstr>SJF Scheduling - Example</vt:lpstr>
      <vt:lpstr>Determining Length of Next CPU Burst</vt:lpstr>
      <vt:lpstr>Prediction of the Length of the Next CPU Burst</vt:lpstr>
      <vt:lpstr>Examples of Exponential Averaging</vt:lpstr>
      <vt:lpstr>Example of Shortest-remaining-time-first</vt:lpstr>
      <vt:lpstr>Example of Preemptive SJF</vt:lpstr>
      <vt:lpstr>Example of Preemptive SJF</vt:lpstr>
      <vt:lpstr>Priority Scheduling</vt:lpstr>
      <vt:lpstr>Priority Scheduling - Example</vt:lpstr>
      <vt:lpstr>Priority Scheduling - Example</vt:lpstr>
      <vt:lpstr>Priority Scheduling - Example</vt:lpstr>
      <vt:lpstr>Priority Scheduling - Example</vt:lpstr>
      <vt:lpstr>Round Robin (RR)</vt:lpstr>
      <vt:lpstr>Example of RR with Time Quantum = 4</vt:lpstr>
      <vt:lpstr>Time Quantum and Context Switch Time</vt:lpstr>
      <vt:lpstr>Turnaround Time Varies With The Time Quantum</vt:lpstr>
      <vt:lpstr>Multilevel Queue</vt:lpstr>
      <vt:lpstr>Multilevel Queue Scheduling</vt:lpstr>
      <vt:lpstr>Multilevel Feedback Queue</vt:lpstr>
      <vt:lpstr>Example of Multilevel Feedback Queue</vt:lpstr>
      <vt:lpstr>Multiple-Processor Scheduling</vt:lpstr>
      <vt:lpstr>Multiple-Processor Scheduling – Load Balancing</vt:lpstr>
      <vt:lpstr>Multicore Processors</vt:lpstr>
      <vt:lpstr>Multithreaded Multicore System</vt:lpstr>
      <vt:lpstr>Windows Scheduling</vt:lpstr>
      <vt:lpstr>Algorithm Evaluation</vt:lpstr>
      <vt:lpstr>Deterministic Evaluation</vt:lpstr>
      <vt:lpstr>Queueing Models</vt:lpstr>
      <vt:lpstr>Little’s Formula</vt:lpstr>
      <vt:lpstr>Simulations</vt:lpstr>
      <vt:lpstr>References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</dc:title>
  <dc:creator>vijaya sherly</dc:creator>
  <cp:lastModifiedBy>DELL</cp:lastModifiedBy>
  <cp:revision>95</cp:revision>
  <dcterms:created xsi:type="dcterms:W3CDTF">2016-08-05T05:06:50Z</dcterms:created>
  <dcterms:modified xsi:type="dcterms:W3CDTF">2023-05-21T13:12:30Z</dcterms:modified>
</cp:coreProperties>
</file>