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8" r:id="rId1"/>
  </p:sldMasterIdLst>
  <p:notesMasterIdLst>
    <p:notesMasterId r:id="rId70"/>
  </p:notesMasterIdLst>
  <p:sldIdLst>
    <p:sldId id="256" r:id="rId2"/>
    <p:sldId id="257" r:id="rId3"/>
    <p:sldId id="258" r:id="rId4"/>
    <p:sldId id="259" r:id="rId5"/>
    <p:sldId id="263" r:id="rId6"/>
    <p:sldId id="264" r:id="rId7"/>
    <p:sldId id="265" r:id="rId8"/>
    <p:sldId id="261" r:id="rId9"/>
    <p:sldId id="262" r:id="rId10"/>
    <p:sldId id="266" r:id="rId11"/>
    <p:sldId id="267" r:id="rId12"/>
    <p:sldId id="268" r:id="rId13"/>
    <p:sldId id="269" r:id="rId14"/>
    <p:sldId id="270"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 id="290" r:id="rId32"/>
    <p:sldId id="291" r:id="rId33"/>
    <p:sldId id="292" r:id="rId34"/>
    <p:sldId id="293" r:id="rId35"/>
    <p:sldId id="294" r:id="rId36"/>
    <p:sldId id="295" r:id="rId37"/>
    <p:sldId id="296" r:id="rId38"/>
    <p:sldId id="297" r:id="rId39"/>
    <p:sldId id="298" r:id="rId40"/>
    <p:sldId id="299" r:id="rId41"/>
    <p:sldId id="300" r:id="rId42"/>
    <p:sldId id="301" r:id="rId43"/>
    <p:sldId id="302" r:id="rId44"/>
    <p:sldId id="303" r:id="rId45"/>
    <p:sldId id="304" r:id="rId46"/>
    <p:sldId id="305" r:id="rId47"/>
    <p:sldId id="306" r:id="rId48"/>
    <p:sldId id="307" r:id="rId49"/>
    <p:sldId id="308" r:id="rId50"/>
    <p:sldId id="309" r:id="rId51"/>
    <p:sldId id="310" r:id="rId52"/>
    <p:sldId id="311" r:id="rId53"/>
    <p:sldId id="312" r:id="rId54"/>
    <p:sldId id="313" r:id="rId55"/>
    <p:sldId id="314" r:id="rId56"/>
    <p:sldId id="315" r:id="rId57"/>
    <p:sldId id="316" r:id="rId58"/>
    <p:sldId id="317" r:id="rId59"/>
    <p:sldId id="318" r:id="rId60"/>
    <p:sldId id="319" r:id="rId61"/>
    <p:sldId id="320" r:id="rId62"/>
    <p:sldId id="321" r:id="rId63"/>
    <p:sldId id="322" r:id="rId64"/>
    <p:sldId id="323" r:id="rId65"/>
    <p:sldId id="324" r:id="rId66"/>
    <p:sldId id="325" r:id="rId67"/>
    <p:sldId id="326" r:id="rId68"/>
    <p:sldId id="327" r:id="rId6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62" d="100"/>
          <a:sy n="62" d="100"/>
        </p:scale>
        <p:origin x="-1396" y="-1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704EEA2-636B-4E3F-A156-EDCF627EAD88}" type="datetimeFigureOut">
              <a:rPr lang="en-US" smtClean="0"/>
              <a:t>4/30/2026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501839D-747D-4767-938B-B5F801730807}" type="slidenum">
              <a:rPr lang="en-US" smtClean="0"/>
              <a:t>‹#›</a:t>
            </a:fld>
            <a:endParaRPr lang="en-US"/>
          </a:p>
        </p:txBody>
      </p:sp>
    </p:spTree>
    <p:extLst>
      <p:ext uri="{BB962C8B-B14F-4D97-AF65-F5344CB8AC3E}">
        <p14:creationId xmlns:p14="http://schemas.microsoft.com/office/powerpoint/2010/main" val="11115562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EA8D2450-B0FE-45C0-BFEB-0B9F27779D33}" type="slidenum">
              <a:rPr lang="en-US" altLang="en-US" smtClean="0">
                <a:latin typeface="Times New Roman" pitchFamily="18" charset="0"/>
              </a:rPr>
              <a:pPr/>
              <a:t>2</a:t>
            </a:fld>
            <a:endParaRPr lang="en-US" altLang="en-US" smtClean="0">
              <a:latin typeface="Times New Roman" pitchFamily="18" charset="0"/>
            </a:endParaRPr>
          </a:p>
        </p:txBody>
      </p:sp>
      <p:sp>
        <p:nvSpPr>
          <p:cNvPr id="76803" name="Rectangle 2"/>
          <p:cNvSpPr>
            <a:spLocks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45C483CE-8487-46DB-991A-3114C744FC36}" type="slidenum">
              <a:rPr lang="en-US" altLang="en-US" smtClean="0">
                <a:latin typeface="Times New Roman" pitchFamily="18" charset="0"/>
              </a:rPr>
              <a:pPr/>
              <a:t>3</a:t>
            </a:fld>
            <a:endParaRPr lang="en-US" altLang="en-US" smtClean="0">
              <a:latin typeface="Times New Roman" pitchFamily="18" charset="0"/>
            </a:endParaRPr>
          </a:p>
        </p:txBody>
      </p:sp>
      <p:sp>
        <p:nvSpPr>
          <p:cNvPr id="77827" name="Rectangle 2"/>
          <p:cNvSpPr>
            <a:spLocks noChangeArrowheads="1" noTextEdit="1"/>
          </p:cNvSpPr>
          <p:nvPr>
            <p:ph type="sldImg"/>
          </p:nvPr>
        </p:nvSpPr>
        <p:spPr>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E6FA9715-7E09-4D16-8EA9-697557B3796F}" type="slidenum">
              <a:rPr lang="en-US" altLang="en-US" smtClean="0">
                <a:latin typeface="Times New Roman" pitchFamily="18" charset="0"/>
              </a:rPr>
              <a:pPr/>
              <a:t>4</a:t>
            </a:fld>
            <a:endParaRPr lang="en-US" altLang="en-US" smtClean="0">
              <a:latin typeface="Times New Roman" pitchFamily="18" charset="0"/>
            </a:endParaRPr>
          </a:p>
        </p:txBody>
      </p:sp>
      <p:sp>
        <p:nvSpPr>
          <p:cNvPr id="78851" name="Rectangle 2"/>
          <p:cNvSpPr>
            <a:spLocks noChangeArrowheads="1" noTextEdit="1"/>
          </p:cNvSpPr>
          <p:nvPr>
            <p:ph type="sldImg"/>
          </p:nvPr>
        </p:nvSpPr>
        <p:spPr>
          <a:ln/>
        </p:spPr>
      </p:sp>
      <p:sp>
        <p:nvSpPr>
          <p:cNvPr id="788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xmlns="" id="{764C6DB2-A3B2-4D18-A415-9F1EB91BC1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anose="020B0604030504040204" pitchFamily="34" charset="0"/>
                <a:ea typeface="MS PGothic" panose="020B0600070205080204" pitchFamily="34" charset="-128"/>
              </a:defRPr>
            </a:lvl1pPr>
            <a:lvl2pPr marL="722296" indent="-277806" defTabSz="913674">
              <a:defRPr>
                <a:solidFill>
                  <a:schemeClr val="tx1"/>
                </a:solidFill>
                <a:latin typeface="Verdana" panose="020B0604030504040204" pitchFamily="34" charset="0"/>
                <a:ea typeface="MS PGothic" panose="020B0600070205080204" pitchFamily="34" charset="-128"/>
              </a:defRPr>
            </a:lvl2pPr>
            <a:lvl3pPr marL="1111225" indent="-222245" defTabSz="913674">
              <a:defRPr>
                <a:solidFill>
                  <a:schemeClr val="tx1"/>
                </a:solidFill>
                <a:latin typeface="Verdana" panose="020B0604030504040204" pitchFamily="34" charset="0"/>
                <a:ea typeface="MS PGothic" panose="020B0600070205080204" pitchFamily="34" charset="-128"/>
              </a:defRPr>
            </a:lvl3pPr>
            <a:lvl4pPr marL="1555714" indent="-222245" defTabSz="913674">
              <a:defRPr>
                <a:solidFill>
                  <a:schemeClr val="tx1"/>
                </a:solidFill>
                <a:latin typeface="Verdana" panose="020B0604030504040204" pitchFamily="34" charset="0"/>
                <a:ea typeface="MS PGothic" panose="020B0600070205080204" pitchFamily="34" charset="-128"/>
              </a:defRPr>
            </a:lvl4pPr>
            <a:lvl5pPr marL="2000204" indent="-222245" defTabSz="913674">
              <a:defRPr>
                <a:solidFill>
                  <a:schemeClr val="tx1"/>
                </a:solidFill>
                <a:latin typeface="Verdana" panose="020B0604030504040204" pitchFamily="34" charset="0"/>
                <a:ea typeface="MS PGothic" panose="020B0600070205080204" pitchFamily="34" charset="-128"/>
              </a:defRPr>
            </a:lvl5pPr>
            <a:lvl6pPr marL="2444694" indent="-222245" defTabSz="91367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889184" indent="-222245" defTabSz="91367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33674" indent="-222245" defTabSz="91367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778164" indent="-222245" defTabSz="91367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59FA64-B840-47E0-A280-D112047F7636}" type="slidenum">
              <a:rPr lang="en-US" altLang="en-US" smtClean="0">
                <a:latin typeface="Times New Roman" panose="02020603050405020304" pitchFamily="18" charset="0"/>
              </a:rPr>
              <a:pPr/>
              <a:t>5</a:t>
            </a:fld>
            <a:endParaRPr lang="en-US" altLang="en-US">
              <a:latin typeface="Times New Roman" panose="02020603050405020304" pitchFamily="18" charset="0"/>
            </a:endParaRPr>
          </a:p>
        </p:txBody>
      </p:sp>
      <p:sp>
        <p:nvSpPr>
          <p:cNvPr id="16386" name="Rectangle 2">
            <a:extLst>
              <a:ext uri="{FF2B5EF4-FFF2-40B4-BE49-F238E27FC236}">
                <a16:creationId xmlns:a16="http://schemas.microsoft.com/office/drawing/2014/main" xmlns="" id="{3E063D3B-C605-4809-885A-65B64372A9F0}"/>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xmlns="" id="{0A0FFA38-D7C5-4747-B0EF-688A1B1056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807889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xmlns="" id="{764C6DB2-A3B2-4D18-A415-9F1EB91BC1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anose="020B0604030504040204" pitchFamily="34" charset="0"/>
                <a:ea typeface="MS PGothic" panose="020B0600070205080204" pitchFamily="34" charset="-128"/>
              </a:defRPr>
            </a:lvl1pPr>
            <a:lvl2pPr marL="722296" indent="-277806" defTabSz="913674">
              <a:defRPr>
                <a:solidFill>
                  <a:schemeClr val="tx1"/>
                </a:solidFill>
                <a:latin typeface="Verdana" panose="020B0604030504040204" pitchFamily="34" charset="0"/>
                <a:ea typeface="MS PGothic" panose="020B0600070205080204" pitchFamily="34" charset="-128"/>
              </a:defRPr>
            </a:lvl2pPr>
            <a:lvl3pPr marL="1111225" indent="-222245" defTabSz="913674">
              <a:defRPr>
                <a:solidFill>
                  <a:schemeClr val="tx1"/>
                </a:solidFill>
                <a:latin typeface="Verdana" panose="020B0604030504040204" pitchFamily="34" charset="0"/>
                <a:ea typeface="MS PGothic" panose="020B0600070205080204" pitchFamily="34" charset="-128"/>
              </a:defRPr>
            </a:lvl3pPr>
            <a:lvl4pPr marL="1555714" indent="-222245" defTabSz="913674">
              <a:defRPr>
                <a:solidFill>
                  <a:schemeClr val="tx1"/>
                </a:solidFill>
                <a:latin typeface="Verdana" panose="020B0604030504040204" pitchFamily="34" charset="0"/>
                <a:ea typeface="MS PGothic" panose="020B0600070205080204" pitchFamily="34" charset="-128"/>
              </a:defRPr>
            </a:lvl4pPr>
            <a:lvl5pPr marL="2000204" indent="-222245" defTabSz="913674">
              <a:defRPr>
                <a:solidFill>
                  <a:schemeClr val="tx1"/>
                </a:solidFill>
                <a:latin typeface="Verdana" panose="020B0604030504040204" pitchFamily="34" charset="0"/>
                <a:ea typeface="MS PGothic" panose="020B0600070205080204" pitchFamily="34" charset="-128"/>
              </a:defRPr>
            </a:lvl5pPr>
            <a:lvl6pPr marL="2444694" indent="-222245" defTabSz="91367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889184" indent="-222245" defTabSz="91367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33674" indent="-222245" defTabSz="91367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778164" indent="-222245" defTabSz="91367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59FA64-B840-47E0-A280-D112047F7636}" type="slidenum">
              <a:rPr lang="en-US" altLang="en-US" smtClean="0">
                <a:latin typeface="Times New Roman" panose="02020603050405020304" pitchFamily="18" charset="0"/>
              </a:rPr>
              <a:pPr/>
              <a:t>6</a:t>
            </a:fld>
            <a:endParaRPr lang="en-US" altLang="en-US">
              <a:latin typeface="Times New Roman" panose="02020603050405020304" pitchFamily="18" charset="0"/>
            </a:endParaRPr>
          </a:p>
        </p:txBody>
      </p:sp>
      <p:sp>
        <p:nvSpPr>
          <p:cNvPr id="16386" name="Rectangle 2">
            <a:extLst>
              <a:ext uri="{FF2B5EF4-FFF2-40B4-BE49-F238E27FC236}">
                <a16:creationId xmlns:a16="http://schemas.microsoft.com/office/drawing/2014/main" xmlns="" id="{3E063D3B-C605-4809-885A-65B64372A9F0}"/>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xmlns="" id="{0A0FFA38-D7C5-4747-B0EF-688A1B1056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146119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xmlns="" id="{A01F25CF-FF7D-432D-AEB3-6710154153A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anose="020B0604030504040204" pitchFamily="34" charset="0"/>
                <a:ea typeface="MS PGothic" panose="020B0600070205080204" pitchFamily="34" charset="-128"/>
              </a:defRPr>
            </a:lvl1pPr>
            <a:lvl2pPr marL="722296" indent="-277806" defTabSz="913674">
              <a:defRPr>
                <a:solidFill>
                  <a:schemeClr val="tx1"/>
                </a:solidFill>
                <a:latin typeface="Verdana" panose="020B0604030504040204" pitchFamily="34" charset="0"/>
                <a:ea typeface="MS PGothic" panose="020B0600070205080204" pitchFamily="34" charset="-128"/>
              </a:defRPr>
            </a:lvl2pPr>
            <a:lvl3pPr marL="1111225" indent="-222245" defTabSz="913674">
              <a:defRPr>
                <a:solidFill>
                  <a:schemeClr val="tx1"/>
                </a:solidFill>
                <a:latin typeface="Verdana" panose="020B0604030504040204" pitchFamily="34" charset="0"/>
                <a:ea typeface="MS PGothic" panose="020B0600070205080204" pitchFamily="34" charset="-128"/>
              </a:defRPr>
            </a:lvl3pPr>
            <a:lvl4pPr marL="1555714" indent="-222245" defTabSz="913674">
              <a:defRPr>
                <a:solidFill>
                  <a:schemeClr val="tx1"/>
                </a:solidFill>
                <a:latin typeface="Verdana" panose="020B0604030504040204" pitchFamily="34" charset="0"/>
                <a:ea typeface="MS PGothic" panose="020B0600070205080204" pitchFamily="34" charset="-128"/>
              </a:defRPr>
            </a:lvl4pPr>
            <a:lvl5pPr marL="2000204" indent="-222245" defTabSz="913674">
              <a:defRPr>
                <a:solidFill>
                  <a:schemeClr val="tx1"/>
                </a:solidFill>
                <a:latin typeface="Verdana" panose="020B0604030504040204" pitchFamily="34" charset="0"/>
                <a:ea typeface="MS PGothic" panose="020B0600070205080204" pitchFamily="34" charset="-128"/>
              </a:defRPr>
            </a:lvl5pPr>
            <a:lvl6pPr marL="2444694" indent="-222245" defTabSz="91367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889184" indent="-222245" defTabSz="91367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33674" indent="-222245" defTabSz="91367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778164" indent="-222245" defTabSz="91367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72593EA-83E9-49DF-9A69-061BE7580B7A}" type="slidenum">
              <a:rPr lang="en-US" altLang="en-US" smtClean="0">
                <a:latin typeface="Times New Roman" panose="02020603050405020304" pitchFamily="18" charset="0"/>
              </a:rPr>
              <a:pPr/>
              <a:t>7</a:t>
            </a:fld>
            <a:endParaRPr lang="en-US" altLang="en-US">
              <a:latin typeface="Times New Roman" panose="02020603050405020304" pitchFamily="18" charset="0"/>
            </a:endParaRPr>
          </a:p>
        </p:txBody>
      </p:sp>
      <p:sp>
        <p:nvSpPr>
          <p:cNvPr id="18434" name="Rectangle 2">
            <a:extLst>
              <a:ext uri="{FF2B5EF4-FFF2-40B4-BE49-F238E27FC236}">
                <a16:creationId xmlns:a16="http://schemas.microsoft.com/office/drawing/2014/main" xmlns="" id="{7EBD862C-4A3E-4654-8B80-448A34563F74}"/>
              </a:ext>
            </a:extLst>
          </p:cNvPr>
          <p:cNvSpPr>
            <a:spLocks noGrp="1" noRot="1" noChangeAspect="1" noChangeArrowheads="1" noTextEdit="1"/>
          </p:cNvSpPr>
          <p:nvPr>
            <p:ph type="sldImg"/>
          </p:nvPr>
        </p:nvSpPr>
        <p:spPr>
          <a:ln/>
        </p:spPr>
      </p:sp>
      <p:sp>
        <p:nvSpPr>
          <p:cNvPr id="18435" name="Rectangle 3">
            <a:extLst>
              <a:ext uri="{FF2B5EF4-FFF2-40B4-BE49-F238E27FC236}">
                <a16:creationId xmlns:a16="http://schemas.microsoft.com/office/drawing/2014/main" xmlns="" id="{25E9679F-2A37-45A8-BEFD-99A55604463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5807708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09E930CF-C4AF-4B4D-8C05-FACE01BDDBD2}" type="slidenum">
              <a:rPr lang="en-US" altLang="en-US" smtClean="0">
                <a:latin typeface="Times New Roman" pitchFamily="18" charset="0"/>
              </a:rPr>
              <a:pPr/>
              <a:t>8</a:t>
            </a:fld>
            <a:endParaRPr lang="en-US" altLang="en-US" smtClean="0">
              <a:latin typeface="Times New Roman" pitchFamily="18" charset="0"/>
            </a:endParaRPr>
          </a:p>
        </p:txBody>
      </p:sp>
      <p:sp>
        <p:nvSpPr>
          <p:cNvPr id="80899" name="Rectangle 2"/>
          <p:cNvSpPr>
            <a:spLocks noChangeArrowheads="1" noTextEdit="1"/>
          </p:cNvSpPr>
          <p:nvPr>
            <p:ph type="sldImg"/>
          </p:nvPr>
        </p:nvSpPr>
        <p:spPr>
          <a:ln/>
        </p:spPr>
      </p:sp>
      <p:sp>
        <p:nvSpPr>
          <p:cNvPr id="809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E6AA43F4-20E3-47ED-9136-C08A2E61FD77}" type="slidenum">
              <a:rPr lang="en-US" altLang="en-US" smtClean="0">
                <a:latin typeface="Times New Roman" pitchFamily="18" charset="0"/>
              </a:rPr>
              <a:pPr/>
              <a:t>9</a:t>
            </a:fld>
            <a:endParaRPr lang="en-US" altLang="en-US" smtClean="0">
              <a:latin typeface="Times New Roman" pitchFamily="18" charset="0"/>
            </a:endParaRPr>
          </a:p>
        </p:txBody>
      </p:sp>
      <p:sp>
        <p:nvSpPr>
          <p:cNvPr id="81923" name="Rectangle 2"/>
          <p:cNvSpPr>
            <a:spLocks noChangeArrowheads="1" noTextEdit="1"/>
          </p:cNvSpPr>
          <p:nvPr>
            <p:ph type="sldImg"/>
          </p:nvPr>
        </p:nvSpPr>
        <p:spPr>
          <a:ln/>
        </p:spPr>
      </p:sp>
      <p:sp>
        <p:nvSpPr>
          <p:cNvPr id="819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E8EA6355-F490-4505-98C8-2913FA4970C9}" type="slidenum">
              <a:rPr lang="en-US" altLang="en-US" smtClean="0">
                <a:latin typeface="Times New Roman" pitchFamily="18" charset="0"/>
              </a:rPr>
              <a:pPr/>
              <a:t>10</a:t>
            </a:fld>
            <a:endParaRPr lang="en-US" altLang="en-US" smtClean="0">
              <a:latin typeface="Times New Roman" pitchFamily="18" charset="0"/>
            </a:endParaRPr>
          </a:p>
        </p:txBody>
      </p:sp>
      <p:sp>
        <p:nvSpPr>
          <p:cNvPr id="82947" name="Rectangle 2"/>
          <p:cNvSpPr>
            <a:spLocks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60F1B429-CEFA-40FE-9DD9-D70D7B461EEA}" type="slidenum">
              <a:rPr lang="en-US" altLang="en-US" smtClean="0">
                <a:latin typeface="Times New Roman" pitchFamily="18" charset="0"/>
              </a:rPr>
              <a:pPr/>
              <a:t>11</a:t>
            </a:fld>
            <a:endParaRPr lang="en-US" altLang="en-US" smtClean="0">
              <a:latin typeface="Times New Roman" pitchFamily="18" charset="0"/>
            </a:endParaRPr>
          </a:p>
        </p:txBody>
      </p:sp>
      <p:sp>
        <p:nvSpPr>
          <p:cNvPr id="83971" name="Rectangle 2"/>
          <p:cNvSpPr>
            <a:spLocks noChangeArrowheads="1" noTextEdit="1"/>
          </p:cNvSpPr>
          <p:nvPr>
            <p:ph type="sldImg"/>
          </p:nvPr>
        </p:nvSpPr>
        <p:spPr>
          <a:ln/>
        </p:spPr>
      </p:sp>
      <p:sp>
        <p:nvSpPr>
          <p:cNvPr id="839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0B7A2286-6458-458D-BC4C-76B7B37F9FA8}" type="slidenum">
              <a:rPr lang="en-US" altLang="en-US" smtClean="0">
                <a:latin typeface="Times New Roman" pitchFamily="18" charset="0"/>
              </a:rPr>
              <a:pPr/>
              <a:t>12</a:t>
            </a:fld>
            <a:endParaRPr lang="en-US" altLang="en-US" smtClean="0">
              <a:latin typeface="Times New Roman" pitchFamily="18" charset="0"/>
            </a:endParaRPr>
          </a:p>
        </p:txBody>
      </p:sp>
      <p:sp>
        <p:nvSpPr>
          <p:cNvPr id="84995" name="Rectangle 2"/>
          <p:cNvSpPr>
            <a:spLocks noChangeArrowheads="1" noTextEdit="1"/>
          </p:cNvSpPr>
          <p:nvPr>
            <p:ph type="sldImg"/>
          </p:nvPr>
        </p:nvSpPr>
        <p:spPr>
          <a:ln/>
        </p:spPr>
      </p:sp>
      <p:sp>
        <p:nvSpPr>
          <p:cNvPr id="849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EDD3E888-0EFF-4E1E-BF4A-B55877DF29FE}" type="slidenum">
              <a:rPr lang="en-US" altLang="en-US" smtClean="0">
                <a:latin typeface="Times New Roman" pitchFamily="18" charset="0"/>
              </a:rPr>
              <a:pPr/>
              <a:t>13</a:t>
            </a:fld>
            <a:endParaRPr lang="en-US" altLang="en-US" smtClean="0">
              <a:latin typeface="Times New Roman" pitchFamily="18" charset="0"/>
            </a:endParaRPr>
          </a:p>
        </p:txBody>
      </p:sp>
      <p:sp>
        <p:nvSpPr>
          <p:cNvPr id="86019" name="Rectangle 2"/>
          <p:cNvSpPr>
            <a:spLocks noChangeArrowheads="1" noTextEdit="1"/>
          </p:cNvSpPr>
          <p:nvPr>
            <p:ph type="sldImg"/>
          </p:nvPr>
        </p:nvSpPr>
        <p:spPr>
          <a:ln/>
        </p:spPr>
      </p:sp>
      <p:sp>
        <p:nvSpPr>
          <p:cNvPr id="860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EC886121-C661-43BB-81F9-BE7FBED1165C}" type="slidenum">
              <a:rPr lang="en-US" altLang="en-US" smtClean="0">
                <a:latin typeface="Times New Roman" pitchFamily="18" charset="0"/>
              </a:rPr>
              <a:pPr/>
              <a:t>14</a:t>
            </a:fld>
            <a:endParaRPr lang="en-US" altLang="en-US" smtClean="0">
              <a:latin typeface="Times New Roman" pitchFamily="18" charset="0"/>
            </a:endParaRPr>
          </a:p>
        </p:txBody>
      </p:sp>
      <p:sp>
        <p:nvSpPr>
          <p:cNvPr id="87043" name="Rectangle 2"/>
          <p:cNvSpPr>
            <a:spLocks noChangeArrowheads="1" noTextEdit="1"/>
          </p:cNvSpPr>
          <p:nvPr>
            <p:ph type="sldImg"/>
          </p:nvPr>
        </p:nvSpPr>
        <p:spPr>
          <a:ln/>
        </p:spPr>
      </p:sp>
      <p:sp>
        <p:nvSpPr>
          <p:cNvPr id="870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CB15BFD3-115E-4476-B00E-90D72B6395D3}" type="slidenum">
              <a:rPr lang="en-US" altLang="en-US" smtClean="0">
                <a:latin typeface="Times New Roman" pitchFamily="18" charset="0"/>
              </a:rPr>
              <a:pPr/>
              <a:t>15</a:t>
            </a:fld>
            <a:endParaRPr lang="en-US" altLang="en-US" smtClean="0">
              <a:latin typeface="Times New Roman" pitchFamily="18" charset="0"/>
            </a:endParaRPr>
          </a:p>
        </p:txBody>
      </p:sp>
      <p:sp>
        <p:nvSpPr>
          <p:cNvPr id="90115" name="Rectangle 2"/>
          <p:cNvSpPr>
            <a:spLocks noChangeArrowheads="1" noTextEdit="1"/>
          </p:cNvSpPr>
          <p:nvPr>
            <p:ph type="sldImg"/>
          </p:nvPr>
        </p:nvSpPr>
        <p:spPr>
          <a:ln/>
        </p:spPr>
      </p:sp>
      <p:sp>
        <p:nvSpPr>
          <p:cNvPr id="901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4F2AB592-A587-4661-9915-FBE78F35BD9C}" type="slidenum">
              <a:rPr lang="en-US" altLang="en-US" smtClean="0">
                <a:latin typeface="Times New Roman" pitchFamily="18" charset="0"/>
              </a:rPr>
              <a:pPr/>
              <a:t>16</a:t>
            </a:fld>
            <a:endParaRPr lang="en-US" altLang="en-US" smtClean="0">
              <a:latin typeface="Times New Roman" pitchFamily="18" charset="0"/>
            </a:endParaRPr>
          </a:p>
        </p:txBody>
      </p:sp>
      <p:sp>
        <p:nvSpPr>
          <p:cNvPr id="91139" name="Rectangle 2"/>
          <p:cNvSpPr>
            <a:spLocks noChangeArrowheads="1" noTextEdit="1"/>
          </p:cNvSpPr>
          <p:nvPr>
            <p:ph type="sldImg"/>
          </p:nvPr>
        </p:nvSpPr>
        <p:spPr>
          <a:ln/>
        </p:spPr>
      </p:sp>
      <p:sp>
        <p:nvSpPr>
          <p:cNvPr id="911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537D0E0B-4223-4BE6-8154-69628D0A290A}" type="slidenum">
              <a:rPr lang="en-US" altLang="en-US" smtClean="0">
                <a:latin typeface="Times New Roman" pitchFamily="18" charset="0"/>
              </a:rPr>
              <a:pPr/>
              <a:t>17</a:t>
            </a:fld>
            <a:endParaRPr lang="en-US" altLang="en-US" smtClean="0">
              <a:latin typeface="Times New Roman" pitchFamily="18" charset="0"/>
            </a:endParaRPr>
          </a:p>
        </p:txBody>
      </p:sp>
      <p:sp>
        <p:nvSpPr>
          <p:cNvPr id="92163" name="Rectangle 2"/>
          <p:cNvSpPr>
            <a:spLocks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E830314A-E8D5-4D5F-AB56-CB2985BA8C6A}" type="slidenum">
              <a:rPr lang="en-US" altLang="en-US" smtClean="0">
                <a:latin typeface="Times New Roman" pitchFamily="18" charset="0"/>
              </a:rPr>
              <a:pPr/>
              <a:t>18</a:t>
            </a:fld>
            <a:endParaRPr lang="en-US" altLang="en-US" smtClean="0">
              <a:latin typeface="Times New Roman" pitchFamily="18" charset="0"/>
            </a:endParaRPr>
          </a:p>
        </p:txBody>
      </p:sp>
      <p:sp>
        <p:nvSpPr>
          <p:cNvPr id="93187" name="Rectangle 2"/>
          <p:cNvSpPr>
            <a:spLocks noChangeArrowheads="1" noTextEdit="1"/>
          </p:cNvSpPr>
          <p:nvPr>
            <p:ph type="sldImg"/>
          </p:nvPr>
        </p:nvSpPr>
        <p:spPr>
          <a:ln/>
        </p:spPr>
      </p:sp>
      <p:sp>
        <p:nvSpPr>
          <p:cNvPr id="931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0107D58F-434C-4C08-83F9-C7D2ED74C32B}" type="slidenum">
              <a:rPr lang="en-US" altLang="en-US" smtClean="0">
                <a:latin typeface="Times New Roman" pitchFamily="18" charset="0"/>
              </a:rPr>
              <a:pPr/>
              <a:t>19</a:t>
            </a:fld>
            <a:endParaRPr lang="en-US" altLang="en-US" smtClean="0">
              <a:latin typeface="Times New Roman" pitchFamily="18" charset="0"/>
            </a:endParaRPr>
          </a:p>
        </p:txBody>
      </p:sp>
      <p:sp>
        <p:nvSpPr>
          <p:cNvPr id="94211" name="Rectangle 2"/>
          <p:cNvSpPr>
            <a:spLocks noChangeArrowheads="1" noTextEdit="1"/>
          </p:cNvSpPr>
          <p:nvPr>
            <p:ph type="sldImg"/>
          </p:nvPr>
        </p:nvSpPr>
        <p:spPr>
          <a:ln/>
        </p:spPr>
      </p:sp>
      <p:sp>
        <p:nvSpPr>
          <p:cNvPr id="942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a:extLst>
              <a:ext uri="{FF2B5EF4-FFF2-40B4-BE49-F238E27FC236}">
                <a16:creationId xmlns:a16="http://schemas.microsoft.com/office/drawing/2014/main" xmlns="" id="{7EB3323C-06A1-4632-B138-3B73546F039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anose="020B0604030504040204" pitchFamily="34" charset="0"/>
                <a:ea typeface="MS PGothic" panose="020B0600070205080204" pitchFamily="34" charset="-128"/>
              </a:defRPr>
            </a:lvl1pPr>
            <a:lvl2pPr marL="722296" indent="-277806" defTabSz="913674">
              <a:defRPr>
                <a:solidFill>
                  <a:schemeClr val="tx1"/>
                </a:solidFill>
                <a:latin typeface="Verdana" panose="020B0604030504040204" pitchFamily="34" charset="0"/>
                <a:ea typeface="MS PGothic" panose="020B0600070205080204" pitchFamily="34" charset="-128"/>
              </a:defRPr>
            </a:lvl2pPr>
            <a:lvl3pPr marL="1111225" indent="-222245" defTabSz="913674">
              <a:defRPr>
                <a:solidFill>
                  <a:schemeClr val="tx1"/>
                </a:solidFill>
                <a:latin typeface="Verdana" panose="020B0604030504040204" pitchFamily="34" charset="0"/>
                <a:ea typeface="MS PGothic" panose="020B0600070205080204" pitchFamily="34" charset="-128"/>
              </a:defRPr>
            </a:lvl3pPr>
            <a:lvl4pPr marL="1555714" indent="-222245" defTabSz="913674">
              <a:defRPr>
                <a:solidFill>
                  <a:schemeClr val="tx1"/>
                </a:solidFill>
                <a:latin typeface="Verdana" panose="020B0604030504040204" pitchFamily="34" charset="0"/>
                <a:ea typeface="MS PGothic" panose="020B0600070205080204" pitchFamily="34" charset="-128"/>
              </a:defRPr>
            </a:lvl4pPr>
            <a:lvl5pPr marL="2000204" indent="-222245" defTabSz="913674">
              <a:defRPr>
                <a:solidFill>
                  <a:schemeClr val="tx1"/>
                </a:solidFill>
                <a:latin typeface="Verdana" panose="020B0604030504040204" pitchFamily="34" charset="0"/>
                <a:ea typeface="MS PGothic" panose="020B0600070205080204" pitchFamily="34" charset="-128"/>
              </a:defRPr>
            </a:lvl5pPr>
            <a:lvl6pPr marL="2444694" indent="-222245" defTabSz="91367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889184" indent="-222245" defTabSz="91367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33674" indent="-222245" defTabSz="91367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778164" indent="-222245" defTabSz="91367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AD9CD47-795C-4CBD-956A-ABB15F37534F}" type="slidenum">
              <a:rPr lang="en-US" altLang="en-US" smtClean="0">
                <a:latin typeface="Times New Roman" panose="02020603050405020304" pitchFamily="18" charset="0"/>
              </a:rPr>
              <a:pPr/>
              <a:t>20</a:t>
            </a:fld>
            <a:endParaRPr lang="en-US" altLang="en-US">
              <a:latin typeface="Times New Roman" panose="02020603050405020304" pitchFamily="18" charset="0"/>
            </a:endParaRPr>
          </a:p>
        </p:txBody>
      </p:sp>
      <p:sp>
        <p:nvSpPr>
          <p:cNvPr id="53250" name="Rectangle 2">
            <a:extLst>
              <a:ext uri="{FF2B5EF4-FFF2-40B4-BE49-F238E27FC236}">
                <a16:creationId xmlns:a16="http://schemas.microsoft.com/office/drawing/2014/main" xmlns="" id="{3544896A-D075-4287-996D-AFC0058592F0}"/>
              </a:ext>
            </a:extLst>
          </p:cNvPr>
          <p:cNvSpPr>
            <a:spLocks noGrp="1" noRot="1" noChangeAspect="1" noChangeArrowheads="1" noTextEdit="1"/>
          </p:cNvSpPr>
          <p:nvPr>
            <p:ph type="sldImg"/>
          </p:nvPr>
        </p:nvSpPr>
        <p:spPr>
          <a:ln/>
        </p:spPr>
      </p:sp>
      <p:sp>
        <p:nvSpPr>
          <p:cNvPr id="53251" name="Rectangle 3">
            <a:extLst>
              <a:ext uri="{FF2B5EF4-FFF2-40B4-BE49-F238E27FC236}">
                <a16:creationId xmlns:a16="http://schemas.microsoft.com/office/drawing/2014/main" xmlns="" id="{A3696E72-3E2A-4324-898F-E308110EBC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9040631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CFB50E3C-FA8C-44EC-B9F0-699505D38F84}" type="slidenum">
              <a:rPr lang="en-US" altLang="en-US" smtClean="0">
                <a:latin typeface="Times New Roman" pitchFamily="18" charset="0"/>
              </a:rPr>
              <a:pPr/>
              <a:t>21</a:t>
            </a:fld>
            <a:endParaRPr lang="en-US" altLang="en-US" smtClean="0">
              <a:latin typeface="Times New Roman" pitchFamily="18" charset="0"/>
            </a:endParaRPr>
          </a:p>
        </p:txBody>
      </p:sp>
      <p:sp>
        <p:nvSpPr>
          <p:cNvPr id="97283" name="Rectangle 2"/>
          <p:cNvSpPr>
            <a:spLocks noChangeArrowheads="1" noTextEdit="1"/>
          </p:cNvSpPr>
          <p:nvPr>
            <p:ph type="sldImg"/>
          </p:nvPr>
        </p:nvSpPr>
        <p:spPr>
          <a:ln/>
        </p:spPr>
      </p:sp>
      <p:sp>
        <p:nvSpPr>
          <p:cNvPr id="972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A192AC7A-893A-4204-8DFE-E22E43C56D4D}" type="slidenum">
              <a:rPr lang="en-US" altLang="en-US" smtClean="0">
                <a:latin typeface="Times New Roman" pitchFamily="18" charset="0"/>
              </a:rPr>
              <a:pPr/>
              <a:t>22</a:t>
            </a:fld>
            <a:endParaRPr lang="en-US" altLang="en-US" smtClean="0">
              <a:latin typeface="Times New Roman" pitchFamily="18" charset="0"/>
            </a:endParaRPr>
          </a:p>
        </p:txBody>
      </p:sp>
      <p:sp>
        <p:nvSpPr>
          <p:cNvPr id="98307" name="Rectangle 2"/>
          <p:cNvSpPr>
            <a:spLocks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C7F007CE-910F-42FF-9D18-DB8D52805E96}" type="slidenum">
              <a:rPr lang="en-US" altLang="en-US" smtClean="0">
                <a:latin typeface="Times New Roman" pitchFamily="18" charset="0"/>
              </a:rPr>
              <a:pPr/>
              <a:t>23</a:t>
            </a:fld>
            <a:endParaRPr lang="en-US" altLang="en-US" smtClean="0">
              <a:latin typeface="Times New Roman" pitchFamily="18" charset="0"/>
            </a:endParaRPr>
          </a:p>
        </p:txBody>
      </p:sp>
      <p:sp>
        <p:nvSpPr>
          <p:cNvPr id="99331" name="Rectangle 2"/>
          <p:cNvSpPr>
            <a:spLocks noChangeArrowheads="1" noTextEdit="1"/>
          </p:cNvSpPr>
          <p:nvPr>
            <p:ph type="sldImg"/>
          </p:nvPr>
        </p:nvSpPr>
        <p:spPr>
          <a:ln/>
        </p:spPr>
      </p:sp>
      <p:sp>
        <p:nvSpPr>
          <p:cNvPr id="993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D7FEB41C-FBC7-487C-9499-AC8E8D92D82A}" type="slidenum">
              <a:rPr lang="en-US" altLang="en-US" smtClean="0">
                <a:latin typeface="Times New Roman" pitchFamily="18" charset="0"/>
              </a:rPr>
              <a:pPr/>
              <a:t>24</a:t>
            </a:fld>
            <a:endParaRPr lang="en-US" altLang="en-US" smtClean="0">
              <a:latin typeface="Times New Roman" pitchFamily="18" charset="0"/>
            </a:endParaRPr>
          </a:p>
        </p:txBody>
      </p:sp>
      <p:sp>
        <p:nvSpPr>
          <p:cNvPr id="100355" name="Rectangle 2"/>
          <p:cNvSpPr>
            <a:spLocks noChangeArrowheads="1" noTextEdit="1"/>
          </p:cNvSpPr>
          <p:nvPr>
            <p:ph type="sldImg"/>
          </p:nvPr>
        </p:nvSpPr>
        <p:spPr>
          <a:ln/>
        </p:spPr>
      </p:sp>
      <p:sp>
        <p:nvSpPr>
          <p:cNvPr id="1003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9E7C67AC-FCCC-4A5B-B8EF-CA80F4C193F1}" type="slidenum">
              <a:rPr lang="en-US" altLang="en-US" smtClean="0">
                <a:latin typeface="Times New Roman" pitchFamily="18" charset="0"/>
              </a:rPr>
              <a:pPr/>
              <a:t>25</a:t>
            </a:fld>
            <a:endParaRPr lang="en-US" altLang="en-US" smtClean="0">
              <a:latin typeface="Times New Roman" pitchFamily="18" charset="0"/>
            </a:endParaRPr>
          </a:p>
        </p:txBody>
      </p:sp>
      <p:sp>
        <p:nvSpPr>
          <p:cNvPr id="105475" name="Rectangle 2"/>
          <p:cNvSpPr>
            <a:spLocks noChangeArrowheads="1" noTextEdit="1"/>
          </p:cNvSpPr>
          <p:nvPr>
            <p:ph type="sldImg"/>
          </p:nvPr>
        </p:nvSpPr>
        <p:spPr>
          <a:ln/>
        </p:spPr>
      </p:sp>
      <p:sp>
        <p:nvSpPr>
          <p:cNvPr id="1054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a16="http://schemas.microsoft.com/office/drawing/2014/main" xmlns="" id="{B15668DC-5037-408F-A18B-C49D8F3C40A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anose="020B0604030504040204" pitchFamily="34" charset="0"/>
                <a:ea typeface="MS PGothic" panose="020B0600070205080204" pitchFamily="34" charset="-128"/>
              </a:defRPr>
            </a:lvl1pPr>
            <a:lvl2pPr marL="722296" indent="-277806" defTabSz="913674">
              <a:defRPr>
                <a:solidFill>
                  <a:schemeClr val="tx1"/>
                </a:solidFill>
                <a:latin typeface="Verdana" panose="020B0604030504040204" pitchFamily="34" charset="0"/>
                <a:ea typeface="MS PGothic" panose="020B0600070205080204" pitchFamily="34" charset="-128"/>
              </a:defRPr>
            </a:lvl2pPr>
            <a:lvl3pPr marL="1111225" indent="-222245" defTabSz="913674">
              <a:defRPr>
                <a:solidFill>
                  <a:schemeClr val="tx1"/>
                </a:solidFill>
                <a:latin typeface="Verdana" panose="020B0604030504040204" pitchFamily="34" charset="0"/>
                <a:ea typeface="MS PGothic" panose="020B0600070205080204" pitchFamily="34" charset="-128"/>
              </a:defRPr>
            </a:lvl3pPr>
            <a:lvl4pPr marL="1555714" indent="-222245" defTabSz="913674">
              <a:defRPr>
                <a:solidFill>
                  <a:schemeClr val="tx1"/>
                </a:solidFill>
                <a:latin typeface="Verdana" panose="020B0604030504040204" pitchFamily="34" charset="0"/>
                <a:ea typeface="MS PGothic" panose="020B0600070205080204" pitchFamily="34" charset="-128"/>
              </a:defRPr>
            </a:lvl4pPr>
            <a:lvl5pPr marL="2000204" indent="-222245" defTabSz="913674">
              <a:defRPr>
                <a:solidFill>
                  <a:schemeClr val="tx1"/>
                </a:solidFill>
                <a:latin typeface="Verdana" panose="020B0604030504040204" pitchFamily="34" charset="0"/>
                <a:ea typeface="MS PGothic" panose="020B0600070205080204" pitchFamily="34" charset="-128"/>
              </a:defRPr>
            </a:lvl5pPr>
            <a:lvl6pPr marL="2444694" indent="-222245" defTabSz="91367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889184" indent="-222245" defTabSz="91367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33674" indent="-222245" defTabSz="91367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778164" indent="-222245" defTabSz="91367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1FFB914-7B67-4023-B91D-BDAED6184615}" type="slidenum">
              <a:rPr lang="en-US" altLang="en-US" smtClean="0">
                <a:latin typeface="Times New Roman" panose="02020603050405020304" pitchFamily="18" charset="0"/>
              </a:rPr>
              <a:pPr/>
              <a:t>26</a:t>
            </a:fld>
            <a:endParaRPr lang="en-US" altLang="en-US">
              <a:latin typeface="Times New Roman" panose="02020603050405020304" pitchFamily="18" charset="0"/>
            </a:endParaRPr>
          </a:p>
        </p:txBody>
      </p:sp>
      <p:sp>
        <p:nvSpPr>
          <p:cNvPr id="70658" name="Rectangle 2">
            <a:extLst>
              <a:ext uri="{FF2B5EF4-FFF2-40B4-BE49-F238E27FC236}">
                <a16:creationId xmlns:a16="http://schemas.microsoft.com/office/drawing/2014/main" xmlns="" id="{D01442BD-7C9F-4C09-95EC-24ABEFC4AF51}"/>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xmlns="" id="{542FF4BC-BEAF-4FA5-A3D8-E000D2F815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9041289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a:extLst>
              <a:ext uri="{FF2B5EF4-FFF2-40B4-BE49-F238E27FC236}">
                <a16:creationId xmlns:a16="http://schemas.microsoft.com/office/drawing/2014/main" xmlns="" id="{601D3384-8B05-485F-A2EF-9587B33F33F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anose="020B0604030504040204" pitchFamily="34" charset="0"/>
                <a:ea typeface="MS PGothic" panose="020B0600070205080204" pitchFamily="34" charset="-128"/>
              </a:defRPr>
            </a:lvl1pPr>
            <a:lvl2pPr marL="722296" indent="-277806" defTabSz="913674">
              <a:defRPr>
                <a:solidFill>
                  <a:schemeClr val="tx1"/>
                </a:solidFill>
                <a:latin typeface="Verdana" panose="020B0604030504040204" pitchFamily="34" charset="0"/>
                <a:ea typeface="MS PGothic" panose="020B0600070205080204" pitchFamily="34" charset="-128"/>
              </a:defRPr>
            </a:lvl2pPr>
            <a:lvl3pPr marL="1111225" indent="-222245" defTabSz="913674">
              <a:defRPr>
                <a:solidFill>
                  <a:schemeClr val="tx1"/>
                </a:solidFill>
                <a:latin typeface="Verdana" panose="020B0604030504040204" pitchFamily="34" charset="0"/>
                <a:ea typeface="MS PGothic" panose="020B0600070205080204" pitchFamily="34" charset="-128"/>
              </a:defRPr>
            </a:lvl3pPr>
            <a:lvl4pPr marL="1555714" indent="-222245" defTabSz="913674">
              <a:defRPr>
                <a:solidFill>
                  <a:schemeClr val="tx1"/>
                </a:solidFill>
                <a:latin typeface="Verdana" panose="020B0604030504040204" pitchFamily="34" charset="0"/>
                <a:ea typeface="MS PGothic" panose="020B0600070205080204" pitchFamily="34" charset="-128"/>
              </a:defRPr>
            </a:lvl4pPr>
            <a:lvl5pPr marL="2000204" indent="-222245" defTabSz="913674">
              <a:defRPr>
                <a:solidFill>
                  <a:schemeClr val="tx1"/>
                </a:solidFill>
                <a:latin typeface="Verdana" panose="020B0604030504040204" pitchFamily="34" charset="0"/>
                <a:ea typeface="MS PGothic" panose="020B0600070205080204" pitchFamily="34" charset="-128"/>
              </a:defRPr>
            </a:lvl5pPr>
            <a:lvl6pPr marL="2444694" indent="-222245" defTabSz="91367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889184" indent="-222245" defTabSz="91367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33674" indent="-222245" defTabSz="91367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778164" indent="-222245" defTabSz="91367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3389D00-F0DB-4575-A202-8ED00A374984}" type="slidenum">
              <a:rPr lang="en-US" altLang="en-US" smtClean="0">
                <a:latin typeface="Times New Roman" panose="02020603050405020304" pitchFamily="18" charset="0"/>
              </a:rPr>
              <a:pPr/>
              <a:t>28</a:t>
            </a:fld>
            <a:endParaRPr lang="en-US" altLang="en-US">
              <a:latin typeface="Times New Roman" panose="02020603050405020304" pitchFamily="18" charset="0"/>
            </a:endParaRPr>
          </a:p>
        </p:txBody>
      </p:sp>
      <p:sp>
        <p:nvSpPr>
          <p:cNvPr id="79874" name="Rectangle 2">
            <a:extLst>
              <a:ext uri="{FF2B5EF4-FFF2-40B4-BE49-F238E27FC236}">
                <a16:creationId xmlns:a16="http://schemas.microsoft.com/office/drawing/2014/main" xmlns="" id="{7717566B-D582-4B91-9A71-0FBF1749F47A}"/>
              </a:ext>
            </a:extLst>
          </p:cNvPr>
          <p:cNvSpPr>
            <a:spLocks noGrp="1" noRot="1" noChangeAspect="1" noChangeArrowheads="1" noTextEdit="1"/>
          </p:cNvSpPr>
          <p:nvPr>
            <p:ph type="sldImg"/>
          </p:nvPr>
        </p:nvSpPr>
        <p:spPr>
          <a:ln/>
        </p:spPr>
      </p:sp>
      <p:sp>
        <p:nvSpPr>
          <p:cNvPr id="79875" name="Rectangle 3">
            <a:extLst>
              <a:ext uri="{FF2B5EF4-FFF2-40B4-BE49-F238E27FC236}">
                <a16:creationId xmlns:a16="http://schemas.microsoft.com/office/drawing/2014/main" xmlns="" id="{7C69C62F-2959-411E-8350-C197A5B2F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3616305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8E07F862-1D22-46D1-AE83-70BEC076D81D}" type="slidenum">
              <a:rPr lang="en-US" altLang="en-US" smtClean="0">
                <a:latin typeface="Times New Roman" pitchFamily="18" charset="0"/>
              </a:rPr>
              <a:pPr/>
              <a:t>29</a:t>
            </a:fld>
            <a:endParaRPr lang="en-US" altLang="en-US" smtClean="0">
              <a:latin typeface="Times New Roman" pitchFamily="18" charset="0"/>
            </a:endParaRPr>
          </a:p>
        </p:txBody>
      </p:sp>
      <p:sp>
        <p:nvSpPr>
          <p:cNvPr id="53251" name="Rectangle 2"/>
          <p:cNvSpPr>
            <a:spLocks noChangeArrowheads="1" noTextEdit="1"/>
          </p:cNvSpPr>
          <p:nvPr>
            <p:ph type="sldImg"/>
          </p:nvPr>
        </p:nvSpPr>
        <p:spPr>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B500C3EA-76C2-4CA3-B918-C25F63EEEEAB}" type="slidenum">
              <a:rPr lang="en-US" altLang="en-US" smtClean="0">
                <a:latin typeface="Times New Roman" pitchFamily="18" charset="0"/>
              </a:rPr>
              <a:pPr/>
              <a:t>30</a:t>
            </a:fld>
            <a:endParaRPr lang="en-US" altLang="en-US" smtClean="0">
              <a:latin typeface="Times New Roman" pitchFamily="18" charset="0"/>
            </a:endParaRPr>
          </a:p>
        </p:txBody>
      </p:sp>
      <p:sp>
        <p:nvSpPr>
          <p:cNvPr id="54275" name="Rectangle 2"/>
          <p:cNvSpPr>
            <a:spLocks noChangeArrowheads="1" noTextEdit="1"/>
          </p:cNvSpPr>
          <p:nvPr>
            <p:ph type="sldImg"/>
          </p:nvPr>
        </p:nvSpPr>
        <p:spPr>
          <a:ln/>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90CA4E03-F6C6-4C57-B10C-916F7EDD6830}" type="slidenum">
              <a:rPr lang="en-US" altLang="en-US" smtClean="0">
                <a:latin typeface="Times New Roman" pitchFamily="18" charset="0"/>
              </a:rPr>
              <a:pPr/>
              <a:t>31</a:t>
            </a:fld>
            <a:endParaRPr lang="en-US" altLang="en-US" smtClean="0">
              <a:latin typeface="Times New Roman" pitchFamily="18" charset="0"/>
            </a:endParaRPr>
          </a:p>
        </p:txBody>
      </p:sp>
      <p:sp>
        <p:nvSpPr>
          <p:cNvPr id="56323" name="Rectangle 2"/>
          <p:cNvSpPr>
            <a:spLocks noChangeArrowheads="1" noTextEdit="1"/>
          </p:cNvSpPr>
          <p:nvPr>
            <p:ph type="sldImg"/>
          </p:nvPr>
        </p:nvSpPr>
        <p:spPr>
          <a:ln/>
        </p:spPr>
      </p:sp>
      <p:sp>
        <p:nvSpPr>
          <p:cNvPr id="56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7D94DBE3-50A3-47DF-B47C-8CAA6556AFD9}" type="slidenum">
              <a:rPr lang="en-US" altLang="en-US" smtClean="0">
                <a:latin typeface="Times New Roman" pitchFamily="18" charset="0"/>
              </a:rPr>
              <a:pPr/>
              <a:t>32</a:t>
            </a:fld>
            <a:endParaRPr lang="en-US" altLang="en-US" smtClean="0">
              <a:latin typeface="Times New Roman" pitchFamily="18" charset="0"/>
            </a:endParaRPr>
          </a:p>
        </p:txBody>
      </p:sp>
      <p:sp>
        <p:nvSpPr>
          <p:cNvPr id="57347" name="Rectangle 2"/>
          <p:cNvSpPr>
            <a:spLocks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E6F982D4-84B7-4516-B78B-2356F80AA6B2}" type="slidenum">
              <a:rPr lang="en-US" altLang="en-US" smtClean="0">
                <a:latin typeface="Times New Roman" pitchFamily="18" charset="0"/>
              </a:rPr>
              <a:pPr/>
              <a:t>33</a:t>
            </a:fld>
            <a:endParaRPr lang="en-US" altLang="en-US" smtClean="0">
              <a:latin typeface="Times New Roman" pitchFamily="18" charset="0"/>
            </a:endParaRPr>
          </a:p>
        </p:txBody>
      </p:sp>
      <p:sp>
        <p:nvSpPr>
          <p:cNvPr id="58371" name="Rectangle 2"/>
          <p:cNvSpPr>
            <a:spLocks noChangeArrowheads="1" noTextEdit="1"/>
          </p:cNvSpPr>
          <p:nvPr>
            <p:ph type="sldImg"/>
          </p:nvPr>
        </p:nvSpPr>
        <p:spPr>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00283D01-BA6F-4B15-A1B8-914C57D92878}" type="slidenum">
              <a:rPr lang="en-US" altLang="en-US" smtClean="0">
                <a:latin typeface="Times New Roman" pitchFamily="18" charset="0"/>
              </a:rPr>
              <a:pPr/>
              <a:t>34</a:t>
            </a:fld>
            <a:endParaRPr lang="en-US" altLang="en-US" smtClean="0">
              <a:latin typeface="Times New Roman" pitchFamily="18" charset="0"/>
            </a:endParaRPr>
          </a:p>
        </p:txBody>
      </p:sp>
      <p:sp>
        <p:nvSpPr>
          <p:cNvPr id="59395" name="Rectangle 2"/>
          <p:cNvSpPr>
            <a:spLocks noChangeArrowheads="1" noTextEdit="1"/>
          </p:cNvSpPr>
          <p:nvPr>
            <p:ph type="sldImg"/>
          </p:nvPr>
        </p:nvSpPr>
        <p:spPr>
          <a:ln/>
        </p:spPr>
      </p:sp>
      <p:sp>
        <p:nvSpPr>
          <p:cNvPr id="593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F75A6088-EEE5-4B40-98C8-72D949DAE15E}" type="slidenum">
              <a:rPr lang="en-US" altLang="en-US" smtClean="0">
                <a:latin typeface="Times New Roman" pitchFamily="18" charset="0"/>
              </a:rPr>
              <a:pPr/>
              <a:t>35</a:t>
            </a:fld>
            <a:endParaRPr lang="en-US" altLang="en-US" smtClean="0">
              <a:latin typeface="Times New Roman" pitchFamily="18" charset="0"/>
            </a:endParaRPr>
          </a:p>
        </p:txBody>
      </p:sp>
      <p:sp>
        <p:nvSpPr>
          <p:cNvPr id="60419" name="Rectangle 2"/>
          <p:cNvSpPr>
            <a:spLocks noChangeArrowheads="1" noTextEdit="1"/>
          </p:cNvSpPr>
          <p:nvPr>
            <p:ph type="sldImg"/>
          </p:nvPr>
        </p:nvSpPr>
        <p:spPr>
          <a:ln/>
        </p:spPr>
      </p:sp>
      <p:sp>
        <p:nvSpPr>
          <p:cNvPr id="60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B262F338-C115-46BE-AE81-B405F4381835}" type="slidenum">
              <a:rPr lang="en-US" altLang="en-US" smtClean="0">
                <a:latin typeface="Times New Roman" pitchFamily="18" charset="0"/>
              </a:rPr>
              <a:pPr/>
              <a:t>36</a:t>
            </a:fld>
            <a:endParaRPr lang="en-US" altLang="en-US" smtClean="0">
              <a:latin typeface="Times New Roman" pitchFamily="18" charset="0"/>
            </a:endParaRPr>
          </a:p>
        </p:txBody>
      </p:sp>
      <p:sp>
        <p:nvSpPr>
          <p:cNvPr id="61443" name="Rectangle 2"/>
          <p:cNvSpPr>
            <a:spLocks noChangeArrowheads="1" noTextEdit="1"/>
          </p:cNvSpPr>
          <p:nvPr>
            <p:ph type="sldImg"/>
          </p:nvPr>
        </p:nvSpPr>
        <p:spPr>
          <a:ln/>
        </p:spPr>
      </p:sp>
      <p:sp>
        <p:nvSpPr>
          <p:cNvPr id="61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76E5DE1D-EB41-4446-B622-77824E370F76}" type="slidenum">
              <a:rPr lang="en-US" altLang="en-US" smtClean="0">
                <a:latin typeface="Times New Roman" pitchFamily="18" charset="0"/>
              </a:rPr>
              <a:pPr/>
              <a:t>37</a:t>
            </a:fld>
            <a:endParaRPr lang="en-US" altLang="en-US" smtClean="0">
              <a:latin typeface="Times New Roman" pitchFamily="18" charset="0"/>
            </a:endParaRPr>
          </a:p>
        </p:txBody>
      </p:sp>
      <p:sp>
        <p:nvSpPr>
          <p:cNvPr id="62467" name="Rectangle 2"/>
          <p:cNvSpPr>
            <a:spLocks noChangeArrowheads="1" noTextEdit="1"/>
          </p:cNvSpPr>
          <p:nvPr>
            <p:ph type="sldImg"/>
          </p:nvPr>
        </p:nvSpPr>
        <p:spPr>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7E30573C-BC68-47F1-B74C-7C393A8ABD76}" type="slidenum">
              <a:rPr lang="en-US" altLang="en-US" smtClean="0">
                <a:latin typeface="Times New Roman" pitchFamily="18" charset="0"/>
              </a:rPr>
              <a:pPr/>
              <a:t>38</a:t>
            </a:fld>
            <a:endParaRPr lang="en-US" altLang="en-US" smtClean="0">
              <a:latin typeface="Times New Roman" pitchFamily="18" charset="0"/>
            </a:endParaRPr>
          </a:p>
        </p:txBody>
      </p:sp>
      <p:sp>
        <p:nvSpPr>
          <p:cNvPr id="63491" name="Rectangle 2"/>
          <p:cNvSpPr>
            <a:spLocks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10956AAE-5BDC-40D3-90B8-9D6E1C99F10C}" type="slidenum">
              <a:rPr lang="en-US" altLang="en-US" smtClean="0">
                <a:latin typeface="Times New Roman" pitchFamily="18" charset="0"/>
              </a:rPr>
              <a:pPr/>
              <a:t>39</a:t>
            </a:fld>
            <a:endParaRPr lang="en-US" altLang="en-US" smtClean="0">
              <a:latin typeface="Times New Roman" pitchFamily="18" charset="0"/>
            </a:endParaRPr>
          </a:p>
        </p:txBody>
      </p:sp>
      <p:sp>
        <p:nvSpPr>
          <p:cNvPr id="64515" name="Rectangle 2"/>
          <p:cNvSpPr>
            <a:spLocks noChangeArrowheads="1" noTextEdit="1"/>
          </p:cNvSpPr>
          <p:nvPr>
            <p:ph type="sldImg"/>
          </p:nvPr>
        </p:nvSpPr>
        <p:spPr>
          <a:ln/>
        </p:spPr>
      </p:sp>
      <p:sp>
        <p:nvSpPr>
          <p:cNvPr id="64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789F2732-9239-4B21-896F-86D37826E0A8}" type="slidenum">
              <a:rPr lang="en-US" altLang="en-US" smtClean="0">
                <a:latin typeface="Times New Roman" pitchFamily="18" charset="0"/>
              </a:rPr>
              <a:pPr/>
              <a:t>40</a:t>
            </a:fld>
            <a:endParaRPr lang="en-US" altLang="en-US" smtClean="0">
              <a:latin typeface="Times New Roman" pitchFamily="18" charset="0"/>
            </a:endParaRPr>
          </a:p>
        </p:txBody>
      </p:sp>
      <p:sp>
        <p:nvSpPr>
          <p:cNvPr id="65539" name="Rectangle 2"/>
          <p:cNvSpPr>
            <a:spLocks noChangeArrowheads="1" noTextEdit="1"/>
          </p:cNvSpPr>
          <p:nvPr>
            <p:ph type="sldImg"/>
          </p:nvPr>
        </p:nvSpPr>
        <p:spPr>
          <a:ln/>
        </p:spPr>
      </p:sp>
      <p:sp>
        <p:nvSpPr>
          <p:cNvPr id="655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8331CC58-57D9-4052-8AE1-2EC70853A61C}" type="slidenum">
              <a:rPr lang="en-US" altLang="en-US" smtClean="0">
                <a:latin typeface="Times New Roman" pitchFamily="18" charset="0"/>
              </a:rPr>
              <a:pPr/>
              <a:t>41</a:t>
            </a:fld>
            <a:endParaRPr lang="en-US" altLang="en-US" smtClean="0">
              <a:latin typeface="Times New Roman" pitchFamily="18" charset="0"/>
            </a:endParaRPr>
          </a:p>
        </p:txBody>
      </p:sp>
      <p:sp>
        <p:nvSpPr>
          <p:cNvPr id="66563" name="Rectangle 2"/>
          <p:cNvSpPr>
            <a:spLocks noChangeArrowheads="1" noTextEdit="1"/>
          </p:cNvSpPr>
          <p:nvPr>
            <p:ph type="sldImg"/>
          </p:nvPr>
        </p:nvSpPr>
        <p:spPr>
          <a:ln/>
        </p:spPr>
      </p:sp>
      <p:sp>
        <p:nvSpPr>
          <p:cNvPr id="66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F980AD99-E56F-49AA-872F-F7C14A36B352}" type="slidenum">
              <a:rPr lang="en-US" altLang="en-US" smtClean="0">
                <a:latin typeface="Times New Roman" pitchFamily="18" charset="0"/>
              </a:rPr>
              <a:pPr/>
              <a:t>42</a:t>
            </a:fld>
            <a:endParaRPr lang="en-US" altLang="en-US" smtClean="0">
              <a:latin typeface="Times New Roman" pitchFamily="18" charset="0"/>
            </a:endParaRPr>
          </a:p>
        </p:txBody>
      </p:sp>
      <p:sp>
        <p:nvSpPr>
          <p:cNvPr id="67587" name="Rectangle 2"/>
          <p:cNvSpPr>
            <a:spLocks noChangeArrowheads="1" noTextEdit="1"/>
          </p:cNvSpPr>
          <p:nvPr>
            <p:ph type="sldImg"/>
          </p:nvPr>
        </p:nvSpPr>
        <p:spPr>
          <a:ln/>
        </p:spPr>
      </p:sp>
      <p:sp>
        <p:nvSpPr>
          <p:cNvPr id="675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35B78DAF-1DA7-44A5-AE0E-D3467F755514}" type="slidenum">
              <a:rPr lang="en-US" altLang="en-US" smtClean="0">
                <a:latin typeface="Times New Roman" pitchFamily="18" charset="0"/>
              </a:rPr>
              <a:pPr/>
              <a:t>43</a:t>
            </a:fld>
            <a:endParaRPr lang="en-US" altLang="en-US" smtClean="0">
              <a:latin typeface="Times New Roman" pitchFamily="18" charset="0"/>
            </a:endParaRPr>
          </a:p>
        </p:txBody>
      </p:sp>
      <p:sp>
        <p:nvSpPr>
          <p:cNvPr id="68611" name="Rectangle 2"/>
          <p:cNvSpPr>
            <a:spLocks noChangeArrowheads="1" noTextEdit="1"/>
          </p:cNvSpPr>
          <p:nvPr>
            <p:ph type="sldImg"/>
          </p:nvPr>
        </p:nvSpPr>
        <p:spPr>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BF19770D-661E-4242-9E96-58FAFDCDCBAC}" type="slidenum">
              <a:rPr lang="en-US" altLang="en-US" smtClean="0">
                <a:latin typeface="Times New Roman" pitchFamily="18" charset="0"/>
              </a:rPr>
              <a:pPr/>
              <a:t>44</a:t>
            </a:fld>
            <a:endParaRPr lang="en-US" altLang="en-US" smtClean="0">
              <a:latin typeface="Times New Roman" pitchFamily="18" charset="0"/>
            </a:endParaRPr>
          </a:p>
        </p:txBody>
      </p:sp>
      <p:sp>
        <p:nvSpPr>
          <p:cNvPr id="69635" name="Rectangle 2"/>
          <p:cNvSpPr>
            <a:spLocks noChangeArrowheads="1" noTextEdit="1"/>
          </p:cNvSpPr>
          <p:nvPr>
            <p:ph type="sldImg"/>
          </p:nvPr>
        </p:nvSpPr>
        <p:spPr>
          <a:ln/>
        </p:spPr>
      </p:sp>
      <p:sp>
        <p:nvSpPr>
          <p:cNvPr id="696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79BD2D16-A8C7-4785-BF39-DCBF7D8252FE}" type="slidenum">
              <a:rPr lang="en-US" altLang="en-US" smtClean="0">
                <a:latin typeface="Times New Roman" pitchFamily="18" charset="0"/>
              </a:rPr>
              <a:pPr/>
              <a:t>45</a:t>
            </a:fld>
            <a:endParaRPr lang="en-US" altLang="en-US" smtClean="0">
              <a:latin typeface="Times New Roman" pitchFamily="18" charset="0"/>
            </a:endParaRPr>
          </a:p>
        </p:txBody>
      </p:sp>
      <p:sp>
        <p:nvSpPr>
          <p:cNvPr id="70659" name="Rectangle 2"/>
          <p:cNvSpPr>
            <a:spLocks noChangeArrowheads="1" noTextEdit="1"/>
          </p:cNvSpPr>
          <p:nvPr>
            <p:ph type="sldImg"/>
          </p:nvPr>
        </p:nvSpPr>
        <p:spPr>
          <a:ln/>
        </p:spPr>
      </p:sp>
      <p:sp>
        <p:nvSpPr>
          <p:cNvPr id="706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974F0D25-2A1E-4058-9BF3-204403ADDC62}" type="slidenum">
              <a:rPr lang="en-US" altLang="en-US" smtClean="0">
                <a:latin typeface="Times New Roman" pitchFamily="18" charset="0"/>
              </a:rPr>
              <a:pPr/>
              <a:t>46</a:t>
            </a:fld>
            <a:endParaRPr lang="en-US" altLang="en-US" smtClean="0">
              <a:latin typeface="Times New Roman" pitchFamily="18" charset="0"/>
            </a:endParaRPr>
          </a:p>
        </p:txBody>
      </p:sp>
      <p:sp>
        <p:nvSpPr>
          <p:cNvPr id="71683" name="Rectangle 2"/>
          <p:cNvSpPr>
            <a:spLocks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5148488B-3265-4D4F-AACC-DD6A04D7BEA8}" type="slidenum">
              <a:rPr lang="en-US" altLang="en-US" smtClean="0">
                <a:latin typeface="Times New Roman" pitchFamily="18" charset="0"/>
              </a:rPr>
              <a:pPr/>
              <a:t>47</a:t>
            </a:fld>
            <a:endParaRPr lang="en-US" altLang="en-US" smtClean="0">
              <a:latin typeface="Times New Roman" pitchFamily="18" charset="0"/>
            </a:endParaRPr>
          </a:p>
        </p:txBody>
      </p:sp>
      <p:sp>
        <p:nvSpPr>
          <p:cNvPr id="72707" name="Rectangle 2"/>
          <p:cNvSpPr>
            <a:spLocks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3FD57690-2955-4E06-A6D6-3909B3710D59}" type="slidenum">
              <a:rPr lang="en-US" altLang="en-US" smtClean="0">
                <a:latin typeface="Times New Roman" pitchFamily="18" charset="0"/>
              </a:rPr>
              <a:pPr/>
              <a:t>48</a:t>
            </a:fld>
            <a:endParaRPr lang="en-US" altLang="en-US" smtClean="0">
              <a:latin typeface="Times New Roman" pitchFamily="18" charset="0"/>
            </a:endParaRPr>
          </a:p>
        </p:txBody>
      </p:sp>
      <p:sp>
        <p:nvSpPr>
          <p:cNvPr id="73731" name="Rectangle 2"/>
          <p:cNvSpPr>
            <a:spLocks noChangeArrowheads="1" noTextEdit="1"/>
          </p:cNvSpPr>
          <p:nvPr>
            <p:ph type="sldImg"/>
          </p:nvPr>
        </p:nvSpPr>
        <p:spPr>
          <a:ln/>
        </p:spPr>
      </p:sp>
      <p:sp>
        <p:nvSpPr>
          <p:cNvPr id="73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E6318496-9690-4DE5-AAED-2EFA6B8B832F}" type="slidenum">
              <a:rPr lang="en-US" altLang="en-US" smtClean="0">
                <a:latin typeface="Times New Roman" pitchFamily="18" charset="0"/>
              </a:rPr>
              <a:pPr/>
              <a:t>49</a:t>
            </a:fld>
            <a:endParaRPr lang="en-US" altLang="en-US" smtClean="0">
              <a:latin typeface="Times New Roman" pitchFamily="18" charset="0"/>
            </a:endParaRPr>
          </a:p>
        </p:txBody>
      </p:sp>
      <p:sp>
        <p:nvSpPr>
          <p:cNvPr id="74755" name="Rectangle 2"/>
          <p:cNvSpPr>
            <a:spLocks noChangeArrowheads="1" noTextEdit="1"/>
          </p:cNvSpPr>
          <p:nvPr>
            <p:ph type="sldImg"/>
          </p:nvPr>
        </p:nvSpPr>
        <p:spPr>
          <a:ln/>
        </p:spPr>
      </p:sp>
      <p:sp>
        <p:nvSpPr>
          <p:cNvPr id="747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E8AD25DC-7B9B-4511-8C2D-508AA8D6C790}" type="slidenum">
              <a:rPr lang="en-US" altLang="en-US" smtClean="0">
                <a:latin typeface="Times New Roman" pitchFamily="18" charset="0"/>
              </a:rPr>
              <a:pPr/>
              <a:t>50</a:t>
            </a:fld>
            <a:endParaRPr lang="en-US" altLang="en-US" smtClean="0">
              <a:latin typeface="Times New Roman" pitchFamily="18" charset="0"/>
            </a:endParaRPr>
          </a:p>
        </p:txBody>
      </p:sp>
      <p:sp>
        <p:nvSpPr>
          <p:cNvPr id="75779" name="Rectangle 2"/>
          <p:cNvSpPr>
            <a:spLocks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CD0DB10D-36B0-426E-932A-65144E95C07A}" type="slidenum">
              <a:rPr lang="en-US" altLang="en-US" smtClean="0">
                <a:latin typeface="Times New Roman" pitchFamily="18" charset="0"/>
              </a:rPr>
              <a:pPr/>
              <a:t>51</a:t>
            </a:fld>
            <a:endParaRPr lang="en-US" altLang="en-US" smtClean="0">
              <a:latin typeface="Times New Roman" pitchFamily="18" charset="0"/>
            </a:endParaRPr>
          </a:p>
        </p:txBody>
      </p:sp>
      <p:sp>
        <p:nvSpPr>
          <p:cNvPr id="76803" name="Rectangle 2"/>
          <p:cNvSpPr>
            <a:spLocks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DED0402F-38A4-4215-A3E3-98FC88BE04E9}" type="slidenum">
              <a:rPr lang="en-US" altLang="en-US" smtClean="0">
                <a:latin typeface="Times New Roman" pitchFamily="18" charset="0"/>
              </a:rPr>
              <a:pPr/>
              <a:t>52</a:t>
            </a:fld>
            <a:endParaRPr lang="en-US" altLang="en-US" smtClean="0">
              <a:latin typeface="Times New Roman" pitchFamily="18" charset="0"/>
            </a:endParaRPr>
          </a:p>
        </p:txBody>
      </p:sp>
      <p:sp>
        <p:nvSpPr>
          <p:cNvPr id="77827" name="Rectangle 2"/>
          <p:cNvSpPr>
            <a:spLocks noChangeArrowheads="1" noTextEdit="1"/>
          </p:cNvSpPr>
          <p:nvPr>
            <p:ph type="sldImg"/>
          </p:nvPr>
        </p:nvSpPr>
        <p:spPr>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547DD6B6-2F07-4DC7-9784-A18C40AF5B98}" type="slidenum">
              <a:rPr lang="en-US" altLang="en-US" smtClean="0">
                <a:latin typeface="Times New Roman" pitchFamily="18" charset="0"/>
              </a:rPr>
              <a:pPr/>
              <a:t>53</a:t>
            </a:fld>
            <a:endParaRPr lang="en-US" altLang="en-US" smtClean="0">
              <a:latin typeface="Times New Roman" pitchFamily="18" charset="0"/>
            </a:endParaRPr>
          </a:p>
        </p:txBody>
      </p:sp>
      <p:sp>
        <p:nvSpPr>
          <p:cNvPr id="78851" name="Rectangle 2"/>
          <p:cNvSpPr>
            <a:spLocks noChangeArrowheads="1" noTextEdit="1"/>
          </p:cNvSpPr>
          <p:nvPr>
            <p:ph type="sldImg"/>
          </p:nvPr>
        </p:nvSpPr>
        <p:spPr>
          <a:ln/>
        </p:spPr>
      </p:sp>
      <p:sp>
        <p:nvSpPr>
          <p:cNvPr id="788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3A71F206-84BD-41E7-A101-0ACD7D59A2CF}" type="slidenum">
              <a:rPr lang="en-US" altLang="en-US" smtClean="0">
                <a:latin typeface="Times New Roman" pitchFamily="18" charset="0"/>
              </a:rPr>
              <a:pPr/>
              <a:t>54</a:t>
            </a:fld>
            <a:endParaRPr lang="en-US" altLang="en-US" smtClean="0">
              <a:latin typeface="Times New Roman" pitchFamily="18" charset="0"/>
            </a:endParaRPr>
          </a:p>
        </p:txBody>
      </p:sp>
      <p:sp>
        <p:nvSpPr>
          <p:cNvPr id="79875" name="Rectangle 2"/>
          <p:cNvSpPr>
            <a:spLocks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BACC2CE3-004E-4940-866E-E85485B289C0}" type="slidenum">
              <a:rPr lang="en-US" altLang="en-US" smtClean="0">
                <a:latin typeface="Times New Roman" pitchFamily="18" charset="0"/>
              </a:rPr>
              <a:pPr/>
              <a:t>55</a:t>
            </a:fld>
            <a:endParaRPr lang="en-US" altLang="en-US" smtClean="0">
              <a:latin typeface="Times New Roman" pitchFamily="18" charset="0"/>
            </a:endParaRPr>
          </a:p>
        </p:txBody>
      </p:sp>
      <p:sp>
        <p:nvSpPr>
          <p:cNvPr id="80899" name="Rectangle 2"/>
          <p:cNvSpPr>
            <a:spLocks noChangeArrowheads="1" noTextEdit="1"/>
          </p:cNvSpPr>
          <p:nvPr>
            <p:ph type="sldImg"/>
          </p:nvPr>
        </p:nvSpPr>
        <p:spPr>
          <a:ln/>
        </p:spPr>
      </p:sp>
      <p:sp>
        <p:nvSpPr>
          <p:cNvPr id="809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4715D498-D4BA-4DCC-A298-53A96303E15E}" type="slidenum">
              <a:rPr lang="en-US" altLang="en-US" smtClean="0">
                <a:latin typeface="Times New Roman" pitchFamily="18" charset="0"/>
              </a:rPr>
              <a:pPr/>
              <a:t>56</a:t>
            </a:fld>
            <a:endParaRPr lang="en-US" altLang="en-US" smtClean="0">
              <a:latin typeface="Times New Roman" pitchFamily="18" charset="0"/>
            </a:endParaRPr>
          </a:p>
        </p:txBody>
      </p:sp>
      <p:sp>
        <p:nvSpPr>
          <p:cNvPr id="81923" name="Rectangle 2"/>
          <p:cNvSpPr>
            <a:spLocks noChangeArrowheads="1" noTextEdit="1"/>
          </p:cNvSpPr>
          <p:nvPr>
            <p:ph type="sldImg"/>
          </p:nvPr>
        </p:nvSpPr>
        <p:spPr>
          <a:ln/>
        </p:spPr>
      </p:sp>
      <p:sp>
        <p:nvSpPr>
          <p:cNvPr id="819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E914A5F4-8403-43C8-8FAF-AD1B4800641E}" type="slidenum">
              <a:rPr lang="en-US" altLang="en-US" smtClean="0">
                <a:latin typeface="Times New Roman" pitchFamily="18" charset="0"/>
              </a:rPr>
              <a:pPr/>
              <a:t>57</a:t>
            </a:fld>
            <a:endParaRPr lang="en-US" altLang="en-US" smtClean="0">
              <a:latin typeface="Times New Roman" pitchFamily="18" charset="0"/>
            </a:endParaRPr>
          </a:p>
        </p:txBody>
      </p:sp>
      <p:sp>
        <p:nvSpPr>
          <p:cNvPr id="82947" name="Rectangle 2"/>
          <p:cNvSpPr>
            <a:spLocks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EA6B1A85-DA62-4432-B302-0F55034875ED}" type="slidenum">
              <a:rPr lang="en-US" altLang="en-US" smtClean="0">
                <a:latin typeface="Times New Roman" pitchFamily="18" charset="0"/>
              </a:rPr>
              <a:pPr/>
              <a:t>58</a:t>
            </a:fld>
            <a:endParaRPr lang="en-US" altLang="en-US" smtClean="0">
              <a:latin typeface="Times New Roman" pitchFamily="18" charset="0"/>
            </a:endParaRPr>
          </a:p>
        </p:txBody>
      </p:sp>
      <p:sp>
        <p:nvSpPr>
          <p:cNvPr id="83971" name="Rectangle 2"/>
          <p:cNvSpPr>
            <a:spLocks noChangeArrowheads="1" noTextEdit="1"/>
          </p:cNvSpPr>
          <p:nvPr>
            <p:ph type="sldImg"/>
          </p:nvPr>
        </p:nvSpPr>
        <p:spPr>
          <a:ln/>
        </p:spPr>
      </p:sp>
      <p:sp>
        <p:nvSpPr>
          <p:cNvPr id="839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31047ADC-079A-4382-876B-7732A878BD4C}" type="slidenum">
              <a:rPr lang="en-US" altLang="en-US" smtClean="0">
                <a:latin typeface="Times New Roman" pitchFamily="18" charset="0"/>
              </a:rPr>
              <a:pPr/>
              <a:t>59</a:t>
            </a:fld>
            <a:endParaRPr lang="en-US" altLang="en-US" smtClean="0">
              <a:latin typeface="Times New Roman" pitchFamily="18" charset="0"/>
            </a:endParaRPr>
          </a:p>
        </p:txBody>
      </p:sp>
      <p:sp>
        <p:nvSpPr>
          <p:cNvPr id="84995" name="Rectangle 2"/>
          <p:cNvSpPr>
            <a:spLocks noChangeArrowheads="1" noTextEdit="1"/>
          </p:cNvSpPr>
          <p:nvPr>
            <p:ph type="sldImg"/>
          </p:nvPr>
        </p:nvSpPr>
        <p:spPr>
          <a:ln/>
        </p:spPr>
      </p:sp>
      <p:sp>
        <p:nvSpPr>
          <p:cNvPr id="849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01285204-EB5B-4E45-8D6C-912937A34D28}" type="slidenum">
              <a:rPr lang="en-US" altLang="en-US" smtClean="0">
                <a:latin typeface="Times New Roman" pitchFamily="18" charset="0"/>
              </a:rPr>
              <a:pPr/>
              <a:t>60</a:t>
            </a:fld>
            <a:endParaRPr lang="en-US" altLang="en-US" smtClean="0">
              <a:latin typeface="Times New Roman" pitchFamily="18" charset="0"/>
            </a:endParaRPr>
          </a:p>
        </p:txBody>
      </p:sp>
      <p:sp>
        <p:nvSpPr>
          <p:cNvPr id="86019" name="Rectangle 2"/>
          <p:cNvSpPr>
            <a:spLocks noChangeArrowheads="1" noTextEdit="1"/>
          </p:cNvSpPr>
          <p:nvPr>
            <p:ph type="sldImg"/>
          </p:nvPr>
        </p:nvSpPr>
        <p:spPr>
          <a:ln/>
        </p:spPr>
      </p:sp>
      <p:sp>
        <p:nvSpPr>
          <p:cNvPr id="860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72614FD4-F241-4BD7-AEA9-8643FAEFCD9B}" type="slidenum">
              <a:rPr lang="en-US" altLang="en-US" smtClean="0">
                <a:latin typeface="Times New Roman" pitchFamily="18" charset="0"/>
              </a:rPr>
              <a:pPr/>
              <a:t>61</a:t>
            </a:fld>
            <a:endParaRPr lang="en-US" altLang="en-US" smtClean="0">
              <a:latin typeface="Times New Roman" pitchFamily="18" charset="0"/>
            </a:endParaRPr>
          </a:p>
        </p:txBody>
      </p:sp>
      <p:sp>
        <p:nvSpPr>
          <p:cNvPr id="87043" name="Rectangle 2"/>
          <p:cNvSpPr>
            <a:spLocks noChangeArrowheads="1" noTextEdit="1"/>
          </p:cNvSpPr>
          <p:nvPr>
            <p:ph type="sldImg"/>
          </p:nvPr>
        </p:nvSpPr>
        <p:spPr>
          <a:ln/>
        </p:spPr>
      </p:sp>
      <p:sp>
        <p:nvSpPr>
          <p:cNvPr id="870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2540B042-9BA7-4031-A3EA-BCD9109ED712}" type="slidenum">
              <a:rPr lang="en-US" altLang="en-US" smtClean="0">
                <a:latin typeface="Times New Roman" pitchFamily="18" charset="0"/>
              </a:rPr>
              <a:pPr/>
              <a:t>62</a:t>
            </a:fld>
            <a:endParaRPr lang="en-US" altLang="en-US" smtClean="0">
              <a:latin typeface="Times New Roman" pitchFamily="18" charset="0"/>
            </a:endParaRPr>
          </a:p>
        </p:txBody>
      </p:sp>
      <p:sp>
        <p:nvSpPr>
          <p:cNvPr id="88067" name="Rectangle 2"/>
          <p:cNvSpPr>
            <a:spLocks noChangeArrowheads="1" noTextEdit="1"/>
          </p:cNvSpPr>
          <p:nvPr>
            <p:ph type="sldImg"/>
          </p:nvPr>
        </p:nvSpPr>
        <p:spPr>
          <a:ln/>
        </p:spPr>
      </p:sp>
      <p:sp>
        <p:nvSpPr>
          <p:cNvPr id="880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1E86C9E0-81A4-40D6-B176-BCA50315C456}" type="slidenum">
              <a:rPr lang="en-US" altLang="en-US" smtClean="0">
                <a:latin typeface="Times New Roman" pitchFamily="18" charset="0"/>
              </a:rPr>
              <a:pPr/>
              <a:t>63</a:t>
            </a:fld>
            <a:endParaRPr lang="en-US" altLang="en-US" smtClean="0">
              <a:latin typeface="Times New Roman" pitchFamily="18" charset="0"/>
            </a:endParaRPr>
          </a:p>
        </p:txBody>
      </p:sp>
      <p:sp>
        <p:nvSpPr>
          <p:cNvPr id="89091" name="Rectangle 2"/>
          <p:cNvSpPr>
            <a:spLocks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EA586B19-15BA-47F1-92D7-B08758E1C22C}" type="slidenum">
              <a:rPr lang="en-US" altLang="en-US" smtClean="0">
                <a:latin typeface="Times New Roman" pitchFamily="18" charset="0"/>
              </a:rPr>
              <a:pPr/>
              <a:t>64</a:t>
            </a:fld>
            <a:endParaRPr lang="en-US" altLang="en-US" smtClean="0">
              <a:latin typeface="Times New Roman" pitchFamily="18" charset="0"/>
            </a:endParaRPr>
          </a:p>
        </p:txBody>
      </p:sp>
      <p:sp>
        <p:nvSpPr>
          <p:cNvPr id="90115" name="Rectangle 2"/>
          <p:cNvSpPr>
            <a:spLocks noChangeArrowheads="1" noTextEdit="1"/>
          </p:cNvSpPr>
          <p:nvPr>
            <p:ph type="sldImg"/>
          </p:nvPr>
        </p:nvSpPr>
        <p:spPr>
          <a:ln/>
        </p:spPr>
      </p:sp>
      <p:sp>
        <p:nvSpPr>
          <p:cNvPr id="901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F44481EB-A8B5-4A36-8D09-B31B06FD0726}" type="slidenum">
              <a:rPr lang="en-US" altLang="en-US" smtClean="0">
                <a:latin typeface="Times New Roman" pitchFamily="18" charset="0"/>
              </a:rPr>
              <a:pPr/>
              <a:t>65</a:t>
            </a:fld>
            <a:endParaRPr lang="en-US" altLang="en-US" smtClean="0">
              <a:latin typeface="Times New Roman" pitchFamily="18" charset="0"/>
            </a:endParaRPr>
          </a:p>
        </p:txBody>
      </p:sp>
      <p:sp>
        <p:nvSpPr>
          <p:cNvPr id="91139" name="Rectangle 2"/>
          <p:cNvSpPr>
            <a:spLocks noChangeArrowheads="1" noTextEdit="1"/>
          </p:cNvSpPr>
          <p:nvPr>
            <p:ph type="sldImg"/>
          </p:nvPr>
        </p:nvSpPr>
        <p:spPr>
          <a:ln/>
        </p:spPr>
      </p:sp>
      <p:sp>
        <p:nvSpPr>
          <p:cNvPr id="911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5CF35DD8-587B-4BB0-B250-1143C5019758}" type="slidenum">
              <a:rPr lang="en-US" altLang="en-US" smtClean="0">
                <a:latin typeface="Times New Roman" pitchFamily="18" charset="0"/>
              </a:rPr>
              <a:pPr/>
              <a:t>66</a:t>
            </a:fld>
            <a:endParaRPr lang="en-US" altLang="en-US" smtClean="0">
              <a:latin typeface="Times New Roman" pitchFamily="18" charset="0"/>
            </a:endParaRPr>
          </a:p>
        </p:txBody>
      </p:sp>
      <p:sp>
        <p:nvSpPr>
          <p:cNvPr id="92163" name="Rectangle 2"/>
          <p:cNvSpPr>
            <a:spLocks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75F2A233-93B3-4F9F-90A1-98A00DE2E1EF}" type="slidenum">
              <a:rPr lang="en-US" altLang="en-US" smtClean="0">
                <a:latin typeface="Times New Roman" pitchFamily="18" charset="0"/>
              </a:rPr>
              <a:pPr/>
              <a:t>67</a:t>
            </a:fld>
            <a:endParaRPr lang="en-US" altLang="en-US" smtClean="0">
              <a:latin typeface="Times New Roman" pitchFamily="18" charset="0"/>
            </a:endParaRPr>
          </a:p>
        </p:txBody>
      </p:sp>
      <p:sp>
        <p:nvSpPr>
          <p:cNvPr id="93187" name="Rectangle 2"/>
          <p:cNvSpPr>
            <a:spLocks noChangeArrowheads="1" noTextEdit="1"/>
          </p:cNvSpPr>
          <p:nvPr>
            <p:ph type="sldImg"/>
          </p:nvPr>
        </p:nvSpPr>
        <p:spPr>
          <a:ln/>
        </p:spPr>
      </p:sp>
      <p:sp>
        <p:nvSpPr>
          <p:cNvPr id="931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55B6A4A6-9420-4C98-B531-CCD7C61AE35F}" type="slidenum">
              <a:rPr lang="en-US" altLang="en-US" smtClean="0">
                <a:latin typeface="Times New Roman" pitchFamily="18" charset="0"/>
              </a:rPr>
              <a:pPr/>
              <a:t>68</a:t>
            </a:fld>
            <a:endParaRPr lang="en-US" altLang="en-US" smtClean="0">
              <a:latin typeface="Times New Roman" pitchFamily="18" charset="0"/>
            </a:endParaRPr>
          </a:p>
        </p:txBody>
      </p:sp>
      <p:sp>
        <p:nvSpPr>
          <p:cNvPr id="94211" name="Rectangle 2"/>
          <p:cNvSpPr>
            <a:spLocks noChangeArrowheads="1" noTextEdit="1"/>
          </p:cNvSpPr>
          <p:nvPr>
            <p:ph type="sldImg"/>
          </p:nvPr>
        </p:nvSpPr>
        <p:spPr>
          <a:ln/>
        </p:spPr>
      </p:sp>
      <p:sp>
        <p:nvSpPr>
          <p:cNvPr id="942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smtClean="0"/>
              <a:t>Click to edit Master title style</a:t>
            </a:r>
            <a:endParaRPr kumimoji="0" lang="en-US"/>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fld id="{5BCAD085-E8A6-8845-BD4E-CB4CCA059FC4}" type="datetimeFigureOut">
              <a:rPr lang="en-US" smtClean="0"/>
              <a:t>4/30/2026</a:t>
            </a:fld>
            <a:endParaRPr lang="en-US"/>
          </a:p>
        </p:txBody>
      </p:sp>
      <p:sp>
        <p:nvSpPr>
          <p:cNvPr id="17" name="Footer Placeholder 16"/>
          <p:cNvSpPr>
            <a:spLocks noGrp="1"/>
          </p:cNvSpPr>
          <p:nvPr>
            <p:ph type="ftr" sz="quarter" idx="11"/>
          </p:nvPr>
        </p:nvSpPr>
        <p:spPr>
          <a:xfrm>
            <a:off x="2898648" y="6355080"/>
            <a:ext cx="3474720" cy="365760"/>
          </a:xfrm>
        </p:spPr>
        <p:txBody>
          <a:bodyPr/>
          <a:lstStyle/>
          <a:p>
            <a:endParaRPr lang="en-US"/>
          </a:p>
        </p:txBody>
      </p:sp>
      <p:sp>
        <p:nvSpPr>
          <p:cNvPr id="29" name="Slide Number Placeholder 28"/>
          <p:cNvSpPr>
            <a:spLocks noGrp="1"/>
          </p:cNvSpPr>
          <p:nvPr>
            <p:ph type="sldNum" sz="quarter" idx="12"/>
          </p:nvPr>
        </p:nvSpPr>
        <p:spPr>
          <a:xfrm>
            <a:off x="1216152" y="6355080"/>
            <a:ext cx="1219200" cy="365760"/>
          </a:xfrm>
        </p:spPr>
        <p:txBody>
          <a:bodyPr/>
          <a:lstStyle/>
          <a:p>
            <a:fld id="{C1FF6DA9-008F-8B48-92A6-B652298478BF}" type="slidenum">
              <a:rPr lang="en-US" smtClean="0"/>
              <a:t>‹#›</a:t>
            </a:fld>
            <a:endParaRPr lang="en-US"/>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a:xfrm>
            <a:off x="2898648" y="6355080"/>
            <a:ext cx="3474720" cy="365760"/>
          </a:xfrm>
        </p:spPr>
        <p:txBody>
          <a:bodyPr/>
          <a:lstStyle/>
          <a:p>
            <a:endParaRPr lang="en-US"/>
          </a:p>
        </p:txBody>
      </p:sp>
      <p:sp>
        <p:nvSpPr>
          <p:cNvPr id="6" name="Slide Number Placeholder 5"/>
          <p:cNvSpPr>
            <a:spLocks noGrp="1"/>
          </p:cNvSpPr>
          <p:nvPr>
            <p:ph type="sldNum" sz="quarter" idx="12"/>
          </p:nvPr>
        </p:nvSpPr>
        <p:spPr>
          <a:xfrm>
            <a:off x="1069848" y="6355080"/>
            <a:ext cx="1520952" cy="365760"/>
          </a:xfrm>
        </p:spPr>
        <p:txBody>
          <a:bodyPr/>
          <a:lstStyle/>
          <a:p>
            <a:fld id="{C1FF6DA9-008F-8B48-92A6-B652298478BF}" type="slidenum">
              <a:rPr lang="en-US" smtClean="0"/>
              <a:t>‹#›</a:t>
            </a:fld>
            <a:endParaRPr lang="en-US"/>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5BCAD085-E8A6-8845-BD4E-CB4CCA059FC4}"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5BCAD085-E8A6-8845-BD4E-CB4CCA059FC4}" type="datetimeFigureOut">
              <a:rPr lang="en-US" smtClean="0"/>
              <a:t>4/30/2026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5BCAD085-E8A6-8845-BD4E-CB4CCA059FC4}" type="datetimeFigureOut">
              <a:rPr lang="en-US" smtClean="0"/>
              <a:t>4/30/2026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5BCAD085-E8A6-8845-BD4E-CB4CCA059FC4}" type="datetimeFigureOut">
              <a:rPr lang="en-US" smtClean="0"/>
              <a:t>4/30/2026</a:t>
            </a:fld>
            <a:endParaRPr lang="en-US"/>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C1FF6DA9-008F-8B48-92A6-B652298478BF}" type="slidenum">
              <a:rPr lang="en-US" smtClean="0"/>
              <a:t>‹#›</a:t>
            </a:fld>
            <a:endParaRPr lang="en-US"/>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7" Type="http://schemas.openxmlformats.org/officeDocument/2006/relationships/image" Target="../media/image9.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8.wmf"/><Relationship Id="rId4" Type="http://schemas.openxmlformats.org/officeDocument/2006/relationships/oleObject" Target="../embeddings/oleObject1.bin"/></Relationships>
</file>

<file path=ppt/slides/_rels/slide15.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smtClean="0"/>
              <a:t>BCSE303L -  </a:t>
            </a:r>
            <a:r>
              <a:rPr dirty="0" smtClean="0"/>
              <a:t>Operating </a:t>
            </a:r>
            <a:r>
              <a:rPr dirty="0"/>
              <a:t>Systems</a:t>
            </a:r>
          </a:p>
        </p:txBody>
      </p:sp>
      <p:sp>
        <p:nvSpPr>
          <p:cNvPr id="3" name="Content Placeholder 2"/>
          <p:cNvSpPr>
            <a:spLocks noGrp="1"/>
          </p:cNvSpPr>
          <p:nvPr>
            <p:ph sz="quarter" idx="1"/>
          </p:nvPr>
        </p:nvSpPr>
        <p:spPr/>
        <p:txBody>
          <a:bodyPr/>
          <a:lstStyle/>
          <a:p>
            <a:r>
              <a:rPr dirty="0"/>
              <a:t>Module </a:t>
            </a:r>
            <a:r>
              <a:rPr lang="en-US" dirty="0" smtClean="0"/>
              <a:t>III</a:t>
            </a:r>
            <a:r>
              <a:rPr dirty="0" smtClean="0"/>
              <a:t>: </a:t>
            </a:r>
            <a:r>
              <a:rPr lang="en-US" dirty="0" smtClean="0"/>
              <a:t>Scheduling</a:t>
            </a:r>
          </a:p>
          <a:p>
            <a:pPr lvl="1"/>
            <a:r>
              <a:rPr lang="en-US" dirty="0"/>
              <a:t>Processes Scheduling -CPU Scheduling: Pre-emptive, non-pre-emptive - Multiprocessor scheduling – Deadlocks - Resource allocation and management - Deadlock handling mechanisms: prevention, avoidance, detection, recovery. </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57200" y="204788"/>
            <a:ext cx="8229600" cy="576262"/>
          </a:xfrm>
        </p:spPr>
        <p:txBody>
          <a:bodyPr>
            <a:normAutofit fontScale="90000"/>
          </a:bodyPr>
          <a:lstStyle/>
          <a:p>
            <a:r>
              <a:rPr lang="en-US" altLang="en-US" dirty="0"/>
              <a:t>CPU Scheduling </a:t>
            </a:r>
            <a:r>
              <a:rPr lang="en-US" altLang="en-US" dirty="0" smtClean="0"/>
              <a:t>: Basic </a:t>
            </a:r>
            <a:r>
              <a:rPr lang="en-US" altLang="en-US" dirty="0" smtClean="0"/>
              <a:t>Concepts</a:t>
            </a:r>
          </a:p>
        </p:txBody>
      </p:sp>
      <p:sp>
        <p:nvSpPr>
          <p:cNvPr id="7171" name="Rectangle 3"/>
          <p:cNvSpPr>
            <a:spLocks noGrp="1" noChangeArrowheads="1"/>
          </p:cNvSpPr>
          <p:nvPr>
            <p:ph type="body" idx="1"/>
          </p:nvPr>
        </p:nvSpPr>
        <p:spPr>
          <a:xfrm>
            <a:off x="841375" y="1274763"/>
            <a:ext cx="3978275" cy="5057775"/>
          </a:xfrm>
        </p:spPr>
        <p:txBody>
          <a:bodyPr>
            <a:normAutofit lnSpcReduction="10000"/>
          </a:bodyPr>
          <a:lstStyle/>
          <a:p>
            <a:r>
              <a:rPr lang="en-US" altLang="en-US" smtClean="0"/>
              <a:t>Maximum CPU utilization obtained with multiprogramming</a:t>
            </a:r>
          </a:p>
          <a:p>
            <a:r>
              <a:rPr lang="en-US" altLang="en-US" smtClean="0"/>
              <a:t>CPU–I/O Burst Cycle – Process execution consists of a </a:t>
            </a:r>
            <a:r>
              <a:rPr lang="en-US" altLang="en-US" b="1" smtClean="0">
                <a:solidFill>
                  <a:srgbClr val="3366FF"/>
                </a:solidFill>
              </a:rPr>
              <a:t>cycle</a:t>
            </a:r>
            <a:r>
              <a:rPr lang="en-US" altLang="en-US" smtClean="0"/>
              <a:t> of CPU execution and I/O wait</a:t>
            </a:r>
          </a:p>
          <a:p>
            <a:r>
              <a:rPr lang="en-US" altLang="en-US" b="1" smtClean="0">
                <a:solidFill>
                  <a:srgbClr val="3366FF"/>
                </a:solidFill>
              </a:rPr>
              <a:t>CPU burst </a:t>
            </a:r>
            <a:r>
              <a:rPr lang="en-US" altLang="en-US" smtClean="0"/>
              <a:t>followed by </a:t>
            </a:r>
            <a:r>
              <a:rPr lang="en-US" altLang="en-US" b="1" smtClean="0">
                <a:solidFill>
                  <a:srgbClr val="3366FF"/>
                </a:solidFill>
              </a:rPr>
              <a:t>I/O burst</a:t>
            </a:r>
            <a:endParaRPr lang="en-US" altLang="en-US" smtClean="0"/>
          </a:p>
          <a:p>
            <a:r>
              <a:rPr lang="en-US" altLang="en-US" smtClean="0"/>
              <a:t>CPU burst distribution is of main concern</a:t>
            </a:r>
          </a:p>
          <a:p>
            <a:pPr>
              <a:buFont typeface="Monotype Sorts" pitchFamily="-84" charset="2"/>
              <a:buNone/>
            </a:pPr>
            <a:endParaRPr lang="en-US" altLang="en-US" smtClean="0"/>
          </a:p>
        </p:txBody>
      </p:sp>
      <p:pic>
        <p:nvPicPr>
          <p:cNvPr id="7172" name="Picture 1" descr="6_01.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381625" y="1143000"/>
            <a:ext cx="2360613" cy="496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7599223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066800" y="176213"/>
            <a:ext cx="7620000" cy="576262"/>
          </a:xfrm>
        </p:spPr>
        <p:txBody>
          <a:bodyPr>
            <a:normAutofit fontScale="90000"/>
          </a:bodyPr>
          <a:lstStyle/>
          <a:p>
            <a:pPr eaLnBrk="1" hangingPunct="1"/>
            <a:r>
              <a:rPr lang="en-US" altLang="en-US" smtClean="0"/>
              <a:t>Histogram of CPU-burst Times</a:t>
            </a:r>
          </a:p>
        </p:txBody>
      </p:sp>
      <p:pic>
        <p:nvPicPr>
          <p:cNvPr id="8195"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4488" y="1525588"/>
            <a:ext cx="5721350" cy="3805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2">
            <a:extLst>
              <a:ext uri="{FF2B5EF4-FFF2-40B4-BE49-F238E27FC236}">
                <a16:creationId xmlns:a16="http://schemas.microsoft.com/office/drawing/2014/main" xmlns="" id="{199A0D9E-EDB0-4B00-B274-814CD65DE927}"/>
              </a:ext>
            </a:extLst>
          </p:cNvPr>
          <p:cNvSpPr txBox="1">
            <a:spLocks noChangeArrowheads="1"/>
          </p:cNvSpPr>
          <p:nvPr/>
        </p:nvSpPr>
        <p:spPr bwMode="auto">
          <a:xfrm>
            <a:off x="848011" y="5495282"/>
            <a:ext cx="3725863"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dirty="0">
                <a:latin typeface="Verdana" panose="020B0604030504040204" pitchFamily="34" charset="0"/>
              </a:rPr>
              <a:t>Large number of short bursts</a:t>
            </a:r>
          </a:p>
          <a:p>
            <a:pPr>
              <a:spcBef>
                <a:spcPct val="0"/>
              </a:spcBef>
              <a:buClrTx/>
              <a:buSzTx/>
              <a:buFontTx/>
              <a:buNone/>
            </a:pPr>
            <a:endParaRPr kumimoji="0" lang="en-US" altLang="en-US" dirty="0">
              <a:latin typeface="Verdana" panose="020B0604030504040204" pitchFamily="34" charset="0"/>
            </a:endParaRPr>
          </a:p>
          <a:p>
            <a:pPr>
              <a:spcBef>
                <a:spcPct val="0"/>
              </a:spcBef>
              <a:buClrTx/>
              <a:buSzTx/>
              <a:buFontTx/>
              <a:buNone/>
            </a:pPr>
            <a:r>
              <a:rPr kumimoji="0" lang="en-US" altLang="en-US" dirty="0">
                <a:latin typeface="Verdana" panose="020B0604030504040204" pitchFamily="34" charset="0"/>
              </a:rPr>
              <a:t>Small number of longer bursts</a:t>
            </a:r>
          </a:p>
        </p:txBody>
      </p:sp>
    </p:spTree>
    <p:extLst>
      <p:ext uri="{BB962C8B-B14F-4D97-AF65-F5344CB8AC3E}">
        <p14:creationId xmlns:p14="http://schemas.microsoft.com/office/powerpoint/2010/main" val="365322965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838200" y="201613"/>
            <a:ext cx="7848600" cy="576262"/>
          </a:xfrm>
        </p:spPr>
        <p:txBody>
          <a:bodyPr>
            <a:normAutofit fontScale="90000"/>
          </a:bodyPr>
          <a:lstStyle/>
          <a:p>
            <a:pPr eaLnBrk="1" hangingPunct="1"/>
            <a:r>
              <a:rPr lang="en-US" altLang="en-US" smtClean="0"/>
              <a:t>CPU Scheduler</a:t>
            </a:r>
          </a:p>
        </p:txBody>
      </p:sp>
      <p:sp>
        <p:nvSpPr>
          <p:cNvPr id="27651" name="Rectangle 3"/>
          <p:cNvSpPr>
            <a:spLocks noGrp="1" noChangeArrowheads="1"/>
          </p:cNvSpPr>
          <p:nvPr>
            <p:ph type="body" idx="1"/>
          </p:nvPr>
        </p:nvSpPr>
        <p:spPr>
          <a:xfrm>
            <a:off x="318499" y="1169988"/>
            <a:ext cx="8486453" cy="4786312"/>
          </a:xfrm>
        </p:spPr>
        <p:txBody>
          <a:bodyPr>
            <a:noAutofit/>
          </a:bodyPr>
          <a:lstStyle/>
          <a:p>
            <a:pPr marL="342815" indent="-342815" algn="just">
              <a:buFont typeface="Monotype Sorts" charset="2"/>
              <a:buChar char="n"/>
              <a:defRPr/>
            </a:pPr>
            <a:r>
              <a:rPr lang="en-US" sz="2400" b="1" dirty="0">
                <a:solidFill>
                  <a:srgbClr val="3366FF"/>
                </a:solidFill>
                <a:ea typeface="ＭＳ Ｐゴシック" charset="0"/>
                <a:cs typeface="ＭＳ Ｐゴシック" charset="0"/>
              </a:rPr>
              <a:t>Short-term scheduler </a:t>
            </a:r>
            <a:r>
              <a:rPr lang="en-US" sz="2400" dirty="0" smtClean="0">
                <a:ea typeface="ＭＳ Ｐゴシック" charset="-128"/>
              </a:rPr>
              <a:t>selects </a:t>
            </a:r>
            <a:r>
              <a:rPr lang="en-US" sz="2400" dirty="0">
                <a:ea typeface="ＭＳ Ｐゴシック" charset="-128"/>
              </a:rPr>
              <a:t>from among the processes in</a:t>
            </a:r>
            <a:r>
              <a:rPr lang="en-US" sz="2400" dirty="0" smtClean="0">
                <a:ea typeface="ＭＳ Ｐゴシック" charset="-128"/>
              </a:rPr>
              <a:t> ready queue, and </a:t>
            </a:r>
            <a:r>
              <a:rPr lang="en-US" sz="2400" dirty="0">
                <a:ea typeface="ＭＳ Ｐゴシック" charset="-128"/>
              </a:rPr>
              <a:t>allocates the CPU to one of </a:t>
            </a:r>
            <a:r>
              <a:rPr lang="en-US" sz="2400" dirty="0" smtClean="0">
                <a:ea typeface="ＭＳ Ｐゴシック" charset="-128"/>
              </a:rPr>
              <a:t>them</a:t>
            </a:r>
          </a:p>
          <a:p>
            <a:pPr marL="742765" lvl="1" indent="-285680" algn="just">
              <a:buFont typeface="Monotype Sorts" charset="2"/>
              <a:buChar char="l"/>
              <a:defRPr/>
            </a:pPr>
            <a:r>
              <a:rPr lang="en-US" sz="2000" dirty="0" smtClean="0">
                <a:ea typeface="ＭＳ Ｐゴシック" charset="-128"/>
              </a:rPr>
              <a:t>Queue may be ordered in various ways</a:t>
            </a:r>
          </a:p>
          <a:p>
            <a:pPr marL="342815" indent="-342815" algn="just">
              <a:buFont typeface="Monotype Sorts" charset="2"/>
              <a:buChar char="n"/>
              <a:defRPr/>
            </a:pPr>
            <a:r>
              <a:rPr lang="en-US" sz="2400" dirty="0">
                <a:ea typeface="ＭＳ Ｐゴシック" charset="-128"/>
              </a:rPr>
              <a:t>CPU scheduling decisions may take place when a process:</a:t>
            </a:r>
          </a:p>
          <a:p>
            <a:pPr marL="799900" lvl="1" indent="-342815" algn="just">
              <a:buFont typeface="Monotype Sorts" pitchFamily="-84" charset="2"/>
              <a:buNone/>
              <a:defRPr/>
            </a:pPr>
            <a:r>
              <a:rPr lang="en-US" sz="2000" dirty="0">
                <a:solidFill>
                  <a:srgbClr val="CC6600"/>
                </a:solidFill>
                <a:ea typeface="ＭＳ Ｐゴシック" charset="-128"/>
              </a:rPr>
              <a:t>1.	</a:t>
            </a:r>
            <a:r>
              <a:rPr lang="en-US" sz="2000" dirty="0">
                <a:ea typeface="ＭＳ Ｐゴシック" charset="-128"/>
              </a:rPr>
              <a:t>Switches from running to waiting state</a:t>
            </a:r>
          </a:p>
          <a:p>
            <a:pPr marL="799900" lvl="1" indent="-342815" algn="just">
              <a:buFont typeface="Monotype Sorts" pitchFamily="-84" charset="2"/>
              <a:buNone/>
              <a:defRPr/>
            </a:pPr>
            <a:r>
              <a:rPr lang="en-US" sz="2000" dirty="0">
                <a:solidFill>
                  <a:srgbClr val="CC6600"/>
                </a:solidFill>
                <a:ea typeface="ＭＳ Ｐゴシック" charset="-128"/>
              </a:rPr>
              <a:t>2.</a:t>
            </a:r>
            <a:r>
              <a:rPr lang="en-US" sz="2000" dirty="0">
                <a:ea typeface="ＭＳ Ｐゴシック" charset="-128"/>
              </a:rPr>
              <a:t>	Switches from running to ready state</a:t>
            </a:r>
          </a:p>
          <a:p>
            <a:pPr marL="799900" lvl="1" indent="-342815" algn="just">
              <a:buFont typeface="Monotype Sorts" pitchFamily="-84" charset="2"/>
              <a:buNone/>
              <a:defRPr/>
            </a:pPr>
            <a:r>
              <a:rPr lang="en-US" sz="2000" dirty="0">
                <a:solidFill>
                  <a:srgbClr val="CC6600"/>
                </a:solidFill>
                <a:ea typeface="ＭＳ Ｐゴシック" charset="-128"/>
              </a:rPr>
              <a:t>3.</a:t>
            </a:r>
            <a:r>
              <a:rPr lang="en-US" sz="2000" dirty="0">
                <a:ea typeface="ＭＳ Ｐゴシック" charset="-128"/>
              </a:rPr>
              <a:t>	Switches from waiting to ready</a:t>
            </a:r>
          </a:p>
          <a:p>
            <a:pPr marL="799900" lvl="1" indent="-342815" algn="just">
              <a:buFont typeface="Monotype Sorts" charset="2"/>
              <a:buAutoNum type="arabicPeriod" startAt="4"/>
              <a:defRPr/>
            </a:pPr>
            <a:r>
              <a:rPr lang="en-US" sz="2000" dirty="0" smtClean="0">
                <a:ea typeface="ＭＳ Ｐゴシック" charset="-128"/>
              </a:rPr>
              <a:t>Terminates</a:t>
            </a:r>
          </a:p>
          <a:p>
            <a:pPr marL="342815" indent="-342815" algn="just">
              <a:buFont typeface="Monotype Sorts" charset="2"/>
              <a:buChar char="n"/>
              <a:defRPr/>
            </a:pPr>
            <a:r>
              <a:rPr lang="en-US" sz="2400" dirty="0">
                <a:ea typeface="ＭＳ Ｐゴシック" charset="-128"/>
              </a:rPr>
              <a:t>Scheduling under 1 and 4 is </a:t>
            </a:r>
            <a:r>
              <a:rPr lang="en-US" sz="2400" b="1" dirty="0" err="1">
                <a:solidFill>
                  <a:srgbClr val="3366FF"/>
                </a:solidFill>
                <a:ea typeface="ＭＳ Ｐゴシック" charset="0"/>
                <a:cs typeface="ＭＳ Ｐゴシック" charset="0"/>
              </a:rPr>
              <a:t>nonpreemptive</a:t>
            </a:r>
            <a:endParaRPr lang="en-US" sz="2400" b="1" dirty="0">
              <a:solidFill>
                <a:srgbClr val="3366FF"/>
              </a:solidFill>
              <a:ea typeface="ＭＳ Ｐゴシック" charset="0"/>
              <a:cs typeface="ＭＳ Ｐゴシック" charset="0"/>
            </a:endParaRPr>
          </a:p>
          <a:p>
            <a:pPr marL="342815" indent="-342815" algn="just">
              <a:buFont typeface="Monotype Sorts" charset="2"/>
              <a:buChar char="n"/>
              <a:defRPr/>
            </a:pPr>
            <a:r>
              <a:rPr lang="en-US" sz="2400" dirty="0">
                <a:ea typeface="ＭＳ Ｐゴシック" charset="-128"/>
              </a:rPr>
              <a:t>All other scheduling is </a:t>
            </a:r>
            <a:r>
              <a:rPr lang="en-US" sz="2400" b="1" dirty="0">
                <a:solidFill>
                  <a:srgbClr val="3366FF"/>
                </a:solidFill>
                <a:ea typeface="ＭＳ Ｐゴシック" charset="0"/>
                <a:cs typeface="ＭＳ Ｐゴシック" charset="0"/>
              </a:rPr>
              <a:t>preemptive</a:t>
            </a:r>
          </a:p>
          <a:p>
            <a:pPr marL="742765" lvl="1" indent="-285680" algn="just">
              <a:buFont typeface="Monotype Sorts" charset="2"/>
              <a:buChar char="l"/>
              <a:defRPr/>
            </a:pPr>
            <a:r>
              <a:rPr lang="en-US" sz="2000" dirty="0" smtClean="0">
                <a:ea typeface="ＭＳ Ｐゴシック" charset="-128"/>
              </a:rPr>
              <a:t>Consider access to shared data</a:t>
            </a:r>
          </a:p>
          <a:p>
            <a:pPr marL="742765" lvl="1" indent="-285680" algn="just">
              <a:buFont typeface="Monotype Sorts" charset="2"/>
              <a:buChar char="l"/>
              <a:defRPr/>
            </a:pPr>
            <a:r>
              <a:rPr lang="en-US" sz="2000" dirty="0" smtClean="0">
                <a:ea typeface="ＭＳ Ｐゴシック" charset="-128"/>
              </a:rPr>
              <a:t>Consider preemption while in kernel mode</a:t>
            </a:r>
          </a:p>
          <a:p>
            <a:pPr marL="742765" lvl="1" indent="-285680" algn="just">
              <a:buFont typeface="Monotype Sorts" charset="2"/>
              <a:buChar char="l"/>
              <a:defRPr/>
            </a:pPr>
            <a:r>
              <a:rPr lang="en-US" sz="2000" dirty="0" smtClean="0">
                <a:ea typeface="ＭＳ Ｐゴシック" charset="-128"/>
              </a:rPr>
              <a:t>Consider interrupts occurring during crucial OS activities</a:t>
            </a:r>
            <a:endParaRPr lang="en-US" sz="2000" dirty="0">
              <a:ea typeface="ＭＳ Ｐゴシック" charset="-128"/>
            </a:endParaRPr>
          </a:p>
        </p:txBody>
      </p:sp>
    </p:spTree>
    <p:extLst>
      <p:ext uri="{BB962C8B-B14F-4D97-AF65-F5344CB8AC3E}">
        <p14:creationId xmlns:p14="http://schemas.microsoft.com/office/powerpoint/2010/main" val="341117988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xmlns="" id="{1EB4A270-3C01-4E70-B6CB-FA456BBCDA90}"/>
              </a:ext>
            </a:extLst>
          </p:cNvPr>
          <p:cNvSpPr>
            <a:spLocks noGrp="1" noChangeArrowheads="1"/>
          </p:cNvSpPr>
          <p:nvPr>
            <p:ph type="title"/>
          </p:nvPr>
        </p:nvSpPr>
        <p:spPr>
          <a:xfrm>
            <a:off x="1236777" y="167086"/>
            <a:ext cx="7848600" cy="576262"/>
          </a:xfrm>
        </p:spPr>
        <p:txBody>
          <a:bodyPr/>
          <a:lstStyle/>
          <a:p>
            <a:pPr eaLnBrk="1" hangingPunct="1"/>
            <a:r>
              <a:rPr lang="en-US" altLang="en-US" sz="2800" dirty="0"/>
              <a:t>Preemptive and Nonpreemptive Scheduling</a:t>
            </a:r>
          </a:p>
        </p:txBody>
      </p:sp>
      <p:sp>
        <p:nvSpPr>
          <p:cNvPr id="27651" name="Rectangle 3">
            <a:extLst>
              <a:ext uri="{FF2B5EF4-FFF2-40B4-BE49-F238E27FC236}">
                <a16:creationId xmlns:a16="http://schemas.microsoft.com/office/drawing/2014/main" xmlns="" id="{6B795676-7DD0-4F16-8B81-4EFFF754D531}"/>
              </a:ext>
            </a:extLst>
          </p:cNvPr>
          <p:cNvSpPr>
            <a:spLocks noGrp="1" noChangeArrowheads="1"/>
          </p:cNvSpPr>
          <p:nvPr>
            <p:ph idx="1"/>
          </p:nvPr>
        </p:nvSpPr>
        <p:spPr>
          <a:xfrm>
            <a:off x="931984" y="1193434"/>
            <a:ext cx="7769103" cy="4707181"/>
          </a:xfrm>
        </p:spPr>
        <p:txBody>
          <a:bodyPr>
            <a:normAutofit/>
          </a:bodyPr>
          <a:lstStyle/>
          <a:p>
            <a:pPr algn="just">
              <a:defRPr/>
            </a:pPr>
            <a:r>
              <a:rPr lang="en-US" sz="2400" dirty="0">
                <a:ea typeface="ＭＳ Ｐゴシック" charset="0"/>
              </a:rPr>
              <a:t>When scheduling takes place only under circumstances 1 and 4, the scheduling scheme is </a:t>
            </a:r>
            <a:r>
              <a:rPr lang="en-US" sz="2400" b="1" dirty="0">
                <a:solidFill>
                  <a:srgbClr val="006699"/>
                </a:solidFill>
                <a:latin typeface="+mj-lt"/>
              </a:rPr>
              <a:t>nonpreemptive</a:t>
            </a:r>
            <a:r>
              <a:rPr lang="en-US" sz="2400" dirty="0">
                <a:ea typeface="ＭＳ Ｐゴシック" charset="0"/>
              </a:rPr>
              <a:t>.</a:t>
            </a:r>
          </a:p>
          <a:p>
            <a:pPr algn="just">
              <a:defRPr/>
            </a:pPr>
            <a:r>
              <a:rPr lang="en-US" sz="2400" dirty="0">
                <a:ea typeface="ＭＳ Ｐゴシック" charset="0"/>
              </a:rPr>
              <a:t>Otherwise, it is </a:t>
            </a:r>
            <a:r>
              <a:rPr lang="en-US" sz="2400" b="1" dirty="0">
                <a:solidFill>
                  <a:srgbClr val="006699"/>
                </a:solidFill>
                <a:latin typeface="+mj-lt"/>
              </a:rPr>
              <a:t>preemptive</a:t>
            </a:r>
            <a:r>
              <a:rPr lang="en-US" sz="2400" dirty="0">
                <a:ea typeface="ＭＳ Ｐゴシック" charset="0"/>
              </a:rPr>
              <a:t>. </a:t>
            </a:r>
          </a:p>
          <a:p>
            <a:pPr algn="just">
              <a:defRPr/>
            </a:pPr>
            <a:r>
              <a:rPr lang="en-US" sz="2400" dirty="0">
                <a:ea typeface="ＭＳ Ｐゴシック" charset="0"/>
              </a:rPr>
              <a:t>Under Nonpreemptive scheduling, once the CPU has been allocated to a process, the process keeps the CPU until it releases it either by terminating or by switching to the waiting state. </a:t>
            </a:r>
          </a:p>
          <a:p>
            <a:pPr algn="just">
              <a:defRPr/>
            </a:pPr>
            <a:r>
              <a:rPr lang="en-US" sz="2400" dirty="0">
                <a:ea typeface="ＭＳ Ｐゴシック" charset="0"/>
              </a:rPr>
              <a:t>Virtually all modern operating systems including Windows, MacOS, Linux, and UNIX use preemptive scheduling algorithms.</a:t>
            </a:r>
            <a:endParaRPr lang="en-US" sz="2400" dirty="0">
              <a:ea typeface="ＭＳ Ｐゴシック" charset="-128"/>
            </a:endParaRPr>
          </a:p>
        </p:txBody>
      </p:sp>
    </p:spTree>
    <p:extLst>
      <p:ext uri="{BB962C8B-B14F-4D97-AF65-F5344CB8AC3E}">
        <p14:creationId xmlns:p14="http://schemas.microsoft.com/office/powerpoint/2010/main" val="30184820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xmlns="" id="{1EB4A270-3C01-4E70-B6CB-FA456BBCDA90}"/>
              </a:ext>
            </a:extLst>
          </p:cNvPr>
          <p:cNvSpPr>
            <a:spLocks noGrp="1" noChangeArrowheads="1"/>
          </p:cNvSpPr>
          <p:nvPr>
            <p:ph type="title"/>
          </p:nvPr>
        </p:nvSpPr>
        <p:spPr>
          <a:xfrm>
            <a:off x="1236777" y="167086"/>
            <a:ext cx="7848600" cy="576262"/>
          </a:xfrm>
        </p:spPr>
        <p:txBody>
          <a:bodyPr>
            <a:normAutofit fontScale="90000"/>
          </a:bodyPr>
          <a:lstStyle/>
          <a:p>
            <a:pPr eaLnBrk="1" hangingPunct="1"/>
            <a:r>
              <a:rPr lang="en-US" altLang="en-US" sz="2800" dirty="0"/>
              <a:t>Preemptive Scheduling and Race Conditions</a:t>
            </a:r>
          </a:p>
        </p:txBody>
      </p:sp>
      <p:sp>
        <p:nvSpPr>
          <p:cNvPr id="27651" name="Rectangle 3">
            <a:extLst>
              <a:ext uri="{FF2B5EF4-FFF2-40B4-BE49-F238E27FC236}">
                <a16:creationId xmlns:a16="http://schemas.microsoft.com/office/drawing/2014/main" xmlns="" id="{6B795676-7DD0-4F16-8B81-4EFFF754D531}"/>
              </a:ext>
            </a:extLst>
          </p:cNvPr>
          <p:cNvSpPr>
            <a:spLocks noGrp="1" noChangeArrowheads="1"/>
          </p:cNvSpPr>
          <p:nvPr>
            <p:ph idx="1"/>
          </p:nvPr>
        </p:nvSpPr>
        <p:spPr>
          <a:xfrm>
            <a:off x="931984" y="1193435"/>
            <a:ext cx="7411915" cy="4621212"/>
          </a:xfrm>
        </p:spPr>
        <p:txBody>
          <a:bodyPr>
            <a:normAutofit/>
          </a:bodyPr>
          <a:lstStyle/>
          <a:p>
            <a:pPr algn="just">
              <a:defRPr/>
            </a:pPr>
            <a:r>
              <a:rPr lang="en-US" sz="2400" dirty="0">
                <a:ea typeface="ＭＳ Ｐゴシック" charset="0"/>
              </a:rPr>
              <a:t>Preemptive scheduling can result in race conditions when data are shared among several processes.</a:t>
            </a:r>
          </a:p>
          <a:p>
            <a:pPr algn="just">
              <a:defRPr/>
            </a:pPr>
            <a:r>
              <a:rPr lang="en-US" sz="2400" dirty="0">
                <a:ea typeface="ＭＳ Ｐゴシック" charset="0"/>
              </a:rPr>
              <a:t>Consider the case of two processes that share data. While one process is updating the data, it is preempted so that the second process can run. The second process then tries to read the data, which are in an inconsistent state. </a:t>
            </a:r>
          </a:p>
        </p:txBody>
      </p:sp>
    </p:spTree>
    <p:extLst>
      <p:ext uri="{BB962C8B-B14F-4D97-AF65-F5344CB8AC3E}">
        <p14:creationId xmlns:p14="http://schemas.microsoft.com/office/powerpoint/2010/main" val="7382217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a:extLst>
              <a:ext uri="{FF2B5EF4-FFF2-40B4-BE49-F238E27FC236}">
                <a16:creationId xmlns:a16="http://schemas.microsoft.com/office/drawing/2014/main" xmlns="" id="{C185CC1F-4F14-4AFD-8E13-6930EBB32CE9}"/>
              </a:ext>
            </a:extLst>
          </p:cNvPr>
          <p:cNvSpPr>
            <a:spLocks noGrp="1" noChangeArrowheads="1"/>
          </p:cNvSpPr>
          <p:nvPr>
            <p:ph type="title"/>
          </p:nvPr>
        </p:nvSpPr>
        <p:spPr>
          <a:xfrm>
            <a:off x="457200" y="217329"/>
            <a:ext cx="8229600" cy="576263"/>
          </a:xfrm>
        </p:spPr>
        <p:txBody>
          <a:bodyPr>
            <a:normAutofit fontScale="90000"/>
          </a:bodyPr>
          <a:lstStyle/>
          <a:p>
            <a:pPr eaLnBrk="1" hangingPunct="1"/>
            <a:r>
              <a:rPr lang="en-US" altLang="en-US" dirty="0"/>
              <a:t>Dispatcher</a:t>
            </a:r>
          </a:p>
        </p:txBody>
      </p:sp>
      <p:sp>
        <p:nvSpPr>
          <p:cNvPr id="17410" name="Rectangle 3">
            <a:extLst>
              <a:ext uri="{FF2B5EF4-FFF2-40B4-BE49-F238E27FC236}">
                <a16:creationId xmlns:a16="http://schemas.microsoft.com/office/drawing/2014/main" xmlns="" id="{E113DAE6-D3A7-45EF-87B5-890976FCB8D4}"/>
              </a:ext>
            </a:extLst>
          </p:cNvPr>
          <p:cNvSpPr>
            <a:spLocks noGrp="1" noChangeArrowheads="1"/>
          </p:cNvSpPr>
          <p:nvPr>
            <p:ph idx="1"/>
          </p:nvPr>
        </p:nvSpPr>
        <p:spPr>
          <a:xfrm>
            <a:off x="849083" y="1119235"/>
            <a:ext cx="4754548" cy="4515661"/>
          </a:xfrm>
        </p:spPr>
        <p:txBody>
          <a:bodyPr>
            <a:normAutofit fontScale="92500"/>
          </a:bodyPr>
          <a:lstStyle/>
          <a:p>
            <a:r>
              <a:rPr lang="en-US" altLang="en-US" sz="2400" dirty="0"/>
              <a:t>Dispatcher module gives control of the CPU to the process selected by the CPU scheduler; this involves:</a:t>
            </a:r>
          </a:p>
          <a:p>
            <a:pPr lvl="1"/>
            <a:r>
              <a:rPr lang="en-US" altLang="en-US" sz="2400" dirty="0"/>
              <a:t>Switching context</a:t>
            </a:r>
          </a:p>
          <a:p>
            <a:pPr lvl="1"/>
            <a:r>
              <a:rPr lang="en-US" altLang="en-US" sz="2400" dirty="0"/>
              <a:t>Switching to user mode</a:t>
            </a:r>
          </a:p>
          <a:p>
            <a:pPr lvl="1"/>
            <a:r>
              <a:rPr lang="en-US" altLang="en-US" sz="2400" dirty="0"/>
              <a:t>Jumping to the proper location in the user program to restart that program</a:t>
            </a:r>
          </a:p>
          <a:p>
            <a:r>
              <a:rPr lang="en-US" altLang="en-US" sz="2400" b="1" dirty="0">
                <a:solidFill>
                  <a:srgbClr val="006699"/>
                </a:solidFill>
                <a:latin typeface="+mj-lt"/>
              </a:rPr>
              <a:t>Dispatch latency </a:t>
            </a:r>
            <a:r>
              <a:rPr lang="en-US" altLang="en-US" sz="2400" dirty="0"/>
              <a:t>– time it takes for the dispatcher to stop one process and start another running</a:t>
            </a:r>
          </a:p>
        </p:txBody>
      </p:sp>
      <p:pic>
        <p:nvPicPr>
          <p:cNvPr id="17411" name="Picture 1">
            <a:extLst>
              <a:ext uri="{FF2B5EF4-FFF2-40B4-BE49-F238E27FC236}">
                <a16:creationId xmlns:a16="http://schemas.microsoft.com/office/drawing/2014/main" xmlns="" id="{4B24D036-ECCD-4EE8-9908-C3EEA54E5CE0}"/>
              </a:ext>
            </a:extLst>
          </p:cNvPr>
          <p:cNvPicPr>
            <a:picLocks noChangeAspect="1"/>
          </p:cNvPicPr>
          <p:nvPr/>
        </p:nvPicPr>
        <p:blipFill rotWithShape="1">
          <a:blip r:embed="rId3">
            <a:extLst>
              <a:ext uri="{28A0092B-C50C-407E-A947-70E740481C1C}">
                <a14:useLocalDpi xmlns:a14="http://schemas.microsoft.com/office/drawing/2010/main" val="0"/>
              </a:ext>
            </a:extLst>
          </a:blip>
          <a:srcRect r="39934"/>
          <a:stretch/>
        </p:blipFill>
        <p:spPr bwMode="auto">
          <a:xfrm>
            <a:off x="5556824" y="1109784"/>
            <a:ext cx="3258564" cy="3648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690409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990600" y="214313"/>
            <a:ext cx="7696200" cy="576262"/>
          </a:xfrm>
        </p:spPr>
        <p:txBody>
          <a:bodyPr>
            <a:normAutofit fontScale="90000"/>
          </a:bodyPr>
          <a:lstStyle/>
          <a:p>
            <a:pPr eaLnBrk="1" hangingPunct="1"/>
            <a:r>
              <a:rPr lang="en-US" altLang="en-US" smtClean="0"/>
              <a:t>Scheduling Criteria</a:t>
            </a:r>
          </a:p>
        </p:txBody>
      </p:sp>
      <p:sp>
        <p:nvSpPr>
          <p:cNvPr id="11267" name="Rectangle 3"/>
          <p:cNvSpPr>
            <a:spLocks noGrp="1" noChangeArrowheads="1"/>
          </p:cNvSpPr>
          <p:nvPr>
            <p:ph type="body" idx="1"/>
          </p:nvPr>
        </p:nvSpPr>
        <p:spPr>
          <a:xfrm>
            <a:off x="933450" y="1246188"/>
            <a:ext cx="7156450" cy="4959350"/>
          </a:xfrm>
        </p:spPr>
        <p:txBody>
          <a:bodyPr>
            <a:normAutofit lnSpcReduction="10000"/>
          </a:bodyPr>
          <a:lstStyle/>
          <a:p>
            <a:pPr algn="just"/>
            <a:r>
              <a:rPr lang="en-US" altLang="en-US" b="1" dirty="0" smtClean="0"/>
              <a:t>CPU utilization </a:t>
            </a:r>
            <a:r>
              <a:rPr lang="en-US" altLang="en-US" dirty="0" smtClean="0"/>
              <a:t>– keep the CPU as busy as possible</a:t>
            </a:r>
          </a:p>
          <a:p>
            <a:pPr algn="just"/>
            <a:r>
              <a:rPr lang="en-US" altLang="en-US" b="1" dirty="0" smtClean="0"/>
              <a:t>Throughput</a:t>
            </a:r>
            <a:r>
              <a:rPr lang="en-US" altLang="en-US" dirty="0" smtClean="0"/>
              <a:t> – # of processes that complete their execution per time unit</a:t>
            </a:r>
          </a:p>
          <a:p>
            <a:pPr algn="just"/>
            <a:r>
              <a:rPr lang="en-US" altLang="en-US" b="1" dirty="0" smtClean="0"/>
              <a:t>Turnaround time </a:t>
            </a:r>
            <a:r>
              <a:rPr lang="en-US" altLang="en-US" dirty="0" smtClean="0"/>
              <a:t>– amount of time to execute a particular process</a:t>
            </a:r>
          </a:p>
          <a:p>
            <a:pPr algn="just"/>
            <a:r>
              <a:rPr lang="en-US" altLang="en-US" b="1" dirty="0" smtClean="0"/>
              <a:t>Waiting time </a:t>
            </a:r>
            <a:r>
              <a:rPr lang="en-US" altLang="en-US" dirty="0" smtClean="0"/>
              <a:t>– amount of time a process has been waiting in the ready queue</a:t>
            </a:r>
          </a:p>
          <a:p>
            <a:pPr algn="just"/>
            <a:r>
              <a:rPr lang="en-US" altLang="en-US" b="1" dirty="0" smtClean="0"/>
              <a:t>Response time </a:t>
            </a:r>
            <a:r>
              <a:rPr lang="en-US" altLang="en-US" dirty="0" smtClean="0"/>
              <a:t>– amount of time it takes from when a request was submitted until the first response is produced, not output  (for time-sharing environment)</a:t>
            </a:r>
          </a:p>
        </p:txBody>
      </p:sp>
    </p:spTree>
    <p:extLst>
      <p:ext uri="{BB962C8B-B14F-4D97-AF65-F5344CB8AC3E}">
        <p14:creationId xmlns:p14="http://schemas.microsoft.com/office/powerpoint/2010/main" val="202650904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554163" y="138113"/>
            <a:ext cx="7513637" cy="576262"/>
          </a:xfrm>
        </p:spPr>
        <p:txBody>
          <a:bodyPr>
            <a:normAutofit fontScale="90000"/>
          </a:bodyPr>
          <a:lstStyle/>
          <a:p>
            <a:pPr eaLnBrk="1" hangingPunct="1"/>
            <a:r>
              <a:rPr lang="en-US" altLang="en-US" sz="2800" smtClean="0"/>
              <a:t>Scheduling Algorithm Optimization Criteria</a:t>
            </a:r>
          </a:p>
        </p:txBody>
      </p:sp>
      <p:sp>
        <p:nvSpPr>
          <p:cNvPr id="12291" name="Rectangle 3"/>
          <p:cNvSpPr>
            <a:spLocks noGrp="1" noChangeArrowheads="1"/>
          </p:cNvSpPr>
          <p:nvPr>
            <p:ph type="body" idx="1"/>
          </p:nvPr>
        </p:nvSpPr>
        <p:spPr>
          <a:xfrm>
            <a:off x="852488" y="1174750"/>
            <a:ext cx="6115050" cy="4483100"/>
          </a:xfrm>
        </p:spPr>
        <p:txBody>
          <a:bodyPr/>
          <a:lstStyle/>
          <a:p>
            <a:r>
              <a:rPr lang="en-US" altLang="en-US" smtClean="0"/>
              <a:t>Max CPU utilization</a:t>
            </a:r>
          </a:p>
          <a:p>
            <a:r>
              <a:rPr lang="en-US" altLang="en-US" smtClean="0"/>
              <a:t>Max throughput</a:t>
            </a:r>
          </a:p>
          <a:p>
            <a:r>
              <a:rPr lang="en-US" altLang="en-US" smtClean="0"/>
              <a:t>Min turnaround time </a:t>
            </a:r>
          </a:p>
          <a:p>
            <a:r>
              <a:rPr lang="en-US" altLang="en-US" smtClean="0"/>
              <a:t>Min waiting time </a:t>
            </a:r>
          </a:p>
          <a:p>
            <a:r>
              <a:rPr lang="en-US" altLang="en-US" smtClean="0"/>
              <a:t>Min response time</a:t>
            </a:r>
          </a:p>
        </p:txBody>
      </p:sp>
    </p:spTree>
    <p:extLst>
      <p:ext uri="{BB962C8B-B14F-4D97-AF65-F5344CB8AC3E}">
        <p14:creationId xmlns:p14="http://schemas.microsoft.com/office/powerpoint/2010/main" val="40153512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1150938" y="268288"/>
            <a:ext cx="7997825" cy="457200"/>
          </a:xfrm>
        </p:spPr>
        <p:txBody>
          <a:bodyPr/>
          <a:lstStyle/>
          <a:p>
            <a:pPr eaLnBrk="1" hangingPunct="1"/>
            <a:r>
              <a:rPr lang="en-US" altLang="en-US" sz="2400" smtClean="0"/>
              <a:t>First- Come, First-Served (FCFS) Scheduling</a:t>
            </a:r>
          </a:p>
        </p:txBody>
      </p:sp>
      <p:sp>
        <p:nvSpPr>
          <p:cNvPr id="13315" name="Rectangle 3"/>
          <p:cNvSpPr>
            <a:spLocks noGrp="1" noChangeArrowheads="1"/>
          </p:cNvSpPr>
          <p:nvPr>
            <p:ph type="body" idx="1"/>
          </p:nvPr>
        </p:nvSpPr>
        <p:spPr>
          <a:xfrm>
            <a:off x="833438" y="1250950"/>
            <a:ext cx="7566025" cy="4114800"/>
          </a:xfrm>
        </p:spPr>
        <p:txBody>
          <a:bodyPr>
            <a:normAutofit fontScale="92500" lnSpcReduction="10000"/>
          </a:bodyPr>
          <a:lstStyle/>
          <a:p>
            <a:pPr>
              <a:lnSpc>
                <a:spcPct val="90000"/>
              </a:lnSpc>
              <a:buFont typeface="Monotype Sorts" pitchFamily="-84" charset="2"/>
              <a:buNone/>
              <a:tabLst>
                <a:tab pos="3028950" algn="ctr"/>
                <a:tab pos="4633913" algn="ctr"/>
              </a:tabLst>
            </a:pPr>
            <a:r>
              <a:rPr lang="en-US" altLang="en-US" sz="1600" smtClean="0"/>
              <a:t>		</a:t>
            </a:r>
            <a:r>
              <a:rPr lang="en-US" altLang="en-US" u="sng" smtClean="0"/>
              <a:t>Process</a:t>
            </a:r>
            <a:r>
              <a:rPr lang="en-US" altLang="en-US" smtClean="0"/>
              <a:t>	</a:t>
            </a:r>
            <a:r>
              <a:rPr lang="en-US" altLang="en-US" u="sng" smtClean="0"/>
              <a:t>Burst Time	</a:t>
            </a:r>
          </a:p>
          <a:p>
            <a:pPr>
              <a:lnSpc>
                <a:spcPct val="90000"/>
              </a:lnSpc>
              <a:buFont typeface="Monotype Sorts" pitchFamily="-84" charset="2"/>
              <a:buNone/>
              <a:tabLst>
                <a:tab pos="3028950" algn="ctr"/>
                <a:tab pos="4633913" algn="ctr"/>
              </a:tabLst>
            </a:pPr>
            <a:r>
              <a:rPr lang="en-US" altLang="en-US" smtClean="0"/>
              <a:t>		 </a:t>
            </a:r>
            <a:r>
              <a:rPr lang="en-US" altLang="en-US" i="1" smtClean="0"/>
              <a:t>P</a:t>
            </a:r>
            <a:r>
              <a:rPr lang="en-US" altLang="en-US" i="1" baseline="-25000" smtClean="0"/>
              <a:t>1</a:t>
            </a:r>
            <a:r>
              <a:rPr lang="en-US" altLang="en-US" smtClean="0"/>
              <a:t>	24</a:t>
            </a:r>
          </a:p>
          <a:p>
            <a:pPr>
              <a:lnSpc>
                <a:spcPct val="90000"/>
              </a:lnSpc>
              <a:buFont typeface="Monotype Sorts" pitchFamily="-84" charset="2"/>
              <a:buNone/>
              <a:tabLst>
                <a:tab pos="3028950" algn="ctr"/>
                <a:tab pos="4633913" algn="ctr"/>
              </a:tabLst>
            </a:pPr>
            <a:r>
              <a:rPr lang="en-US" altLang="en-US" smtClean="0"/>
              <a:t>		 </a:t>
            </a:r>
            <a:r>
              <a:rPr lang="en-US" altLang="en-US" i="1" smtClean="0"/>
              <a:t>P</a:t>
            </a:r>
            <a:r>
              <a:rPr lang="en-US" altLang="en-US" i="1" baseline="-25000" smtClean="0"/>
              <a:t>2</a:t>
            </a:r>
            <a:r>
              <a:rPr lang="en-US" altLang="en-US" smtClean="0"/>
              <a:t> 	3</a:t>
            </a:r>
          </a:p>
          <a:p>
            <a:pPr>
              <a:lnSpc>
                <a:spcPct val="90000"/>
              </a:lnSpc>
              <a:buFont typeface="Monotype Sorts" pitchFamily="-84" charset="2"/>
              <a:buNone/>
              <a:tabLst>
                <a:tab pos="3028950" algn="ctr"/>
                <a:tab pos="4633913" algn="ctr"/>
              </a:tabLst>
            </a:pPr>
            <a:r>
              <a:rPr lang="en-US" altLang="en-US" smtClean="0"/>
              <a:t>		 </a:t>
            </a:r>
            <a:r>
              <a:rPr lang="en-US" altLang="en-US" i="1" smtClean="0"/>
              <a:t>P</a:t>
            </a:r>
            <a:r>
              <a:rPr lang="en-US" altLang="en-US" i="1" baseline="-25000" smtClean="0"/>
              <a:t>3	 </a:t>
            </a:r>
            <a:r>
              <a:rPr lang="en-US" altLang="en-US" smtClean="0"/>
              <a:t>3</a:t>
            </a:r>
            <a:r>
              <a:rPr lang="en-US" altLang="en-US" i="1" baseline="-25000" smtClean="0"/>
              <a:t> </a:t>
            </a:r>
          </a:p>
          <a:p>
            <a:pPr>
              <a:lnSpc>
                <a:spcPct val="90000"/>
              </a:lnSpc>
              <a:tabLst>
                <a:tab pos="3028950" algn="ctr"/>
                <a:tab pos="4633913" algn="ctr"/>
              </a:tabLst>
            </a:pPr>
            <a:r>
              <a:rPr lang="en-US" altLang="en-US" smtClean="0"/>
              <a:t>Suppose that the processes arrive in the order: </a:t>
            </a:r>
            <a:r>
              <a:rPr lang="en-US" altLang="en-US" i="1" smtClean="0"/>
              <a:t>P</a:t>
            </a:r>
            <a:r>
              <a:rPr lang="en-US" altLang="en-US" i="1" baseline="-25000" smtClean="0"/>
              <a:t>1</a:t>
            </a:r>
            <a:r>
              <a:rPr lang="en-US" altLang="en-US" smtClean="0"/>
              <a:t> , </a:t>
            </a:r>
            <a:r>
              <a:rPr lang="en-US" altLang="en-US" i="1" smtClean="0"/>
              <a:t>P</a:t>
            </a:r>
            <a:r>
              <a:rPr lang="en-US" altLang="en-US" i="1" baseline="-25000" smtClean="0"/>
              <a:t>2</a:t>
            </a:r>
            <a:r>
              <a:rPr lang="en-US" altLang="en-US" smtClean="0"/>
              <a:t> , </a:t>
            </a:r>
            <a:r>
              <a:rPr lang="en-US" altLang="en-US" i="1" smtClean="0"/>
              <a:t>P</a:t>
            </a:r>
            <a:r>
              <a:rPr lang="en-US" altLang="en-US" i="1" baseline="-25000" smtClean="0"/>
              <a:t>3  </a:t>
            </a:r>
            <a:br>
              <a:rPr lang="en-US" altLang="en-US" i="1" baseline="-25000" smtClean="0"/>
            </a:br>
            <a:r>
              <a:rPr lang="en-US" altLang="en-US" smtClean="0"/>
              <a:t>The Gantt Chart for the schedule is:</a:t>
            </a:r>
            <a:br>
              <a:rPr lang="en-US" altLang="en-US" smtClean="0"/>
            </a:br>
            <a:r>
              <a:rPr lang="en-US" altLang="en-US" sz="1600" smtClean="0"/>
              <a:t/>
            </a:r>
            <a:br>
              <a:rPr lang="en-US" altLang="en-US" sz="1600" smtClean="0"/>
            </a:br>
            <a:r>
              <a:rPr lang="en-US" altLang="en-US" sz="1600" smtClean="0"/>
              <a:t/>
            </a:r>
            <a:br>
              <a:rPr lang="en-US" altLang="en-US" sz="1600" smtClean="0"/>
            </a:br>
            <a:r>
              <a:rPr lang="en-US" altLang="en-US" sz="1600" smtClean="0"/>
              <a:t/>
            </a:r>
            <a:br>
              <a:rPr lang="en-US" altLang="en-US" sz="1600" smtClean="0"/>
            </a:br>
            <a:r>
              <a:rPr lang="en-US" altLang="en-US" sz="1600" smtClean="0"/>
              <a:t/>
            </a:r>
            <a:br>
              <a:rPr lang="en-US" altLang="en-US" sz="1600" smtClean="0"/>
            </a:br>
            <a:endParaRPr lang="en-US" altLang="en-US" sz="1600" smtClean="0"/>
          </a:p>
          <a:p>
            <a:pPr>
              <a:lnSpc>
                <a:spcPct val="90000"/>
              </a:lnSpc>
              <a:buFont typeface="Monotype Sorts" pitchFamily="-84" charset="2"/>
              <a:buNone/>
              <a:tabLst>
                <a:tab pos="3028950" algn="ctr"/>
                <a:tab pos="4633913" algn="ctr"/>
              </a:tabLst>
            </a:pPr>
            <a:endParaRPr lang="en-US" altLang="en-US" sz="1600" smtClean="0"/>
          </a:p>
          <a:p>
            <a:pPr>
              <a:lnSpc>
                <a:spcPct val="90000"/>
              </a:lnSpc>
              <a:tabLst>
                <a:tab pos="3028950" algn="ctr"/>
                <a:tab pos="4633913" algn="ctr"/>
              </a:tabLst>
            </a:pPr>
            <a:r>
              <a:rPr lang="en-US" altLang="en-US" smtClean="0"/>
              <a:t>Waiting time for </a:t>
            </a:r>
            <a:r>
              <a:rPr lang="en-US" altLang="en-US" i="1" smtClean="0"/>
              <a:t>P</a:t>
            </a:r>
            <a:r>
              <a:rPr lang="en-US" altLang="en-US" i="1" baseline="-25000" smtClean="0"/>
              <a:t>1</a:t>
            </a:r>
            <a:r>
              <a:rPr lang="en-US" altLang="en-US" smtClean="0"/>
              <a:t>  = 0; </a:t>
            </a:r>
            <a:r>
              <a:rPr lang="en-US" altLang="en-US" i="1" smtClean="0"/>
              <a:t>P</a:t>
            </a:r>
            <a:r>
              <a:rPr lang="en-US" altLang="en-US" i="1" baseline="-25000" smtClean="0"/>
              <a:t>2</a:t>
            </a:r>
            <a:r>
              <a:rPr lang="en-US" altLang="en-US" smtClean="0"/>
              <a:t>  = 24; </a:t>
            </a:r>
            <a:r>
              <a:rPr lang="en-US" altLang="en-US" i="1" smtClean="0"/>
              <a:t>P</a:t>
            </a:r>
            <a:r>
              <a:rPr lang="en-US" altLang="en-US" i="1" baseline="-25000" smtClean="0"/>
              <a:t>3 </a:t>
            </a:r>
            <a:r>
              <a:rPr lang="en-US" altLang="en-US" smtClean="0"/>
              <a:t>= 27</a:t>
            </a:r>
          </a:p>
          <a:p>
            <a:pPr>
              <a:lnSpc>
                <a:spcPct val="90000"/>
              </a:lnSpc>
              <a:tabLst>
                <a:tab pos="3028950" algn="ctr"/>
                <a:tab pos="4633913" algn="ctr"/>
              </a:tabLst>
            </a:pPr>
            <a:r>
              <a:rPr lang="en-US" altLang="en-US" smtClean="0"/>
              <a:t>Average waiting time:  (0 + 24 + 27)/3 = 17</a:t>
            </a:r>
          </a:p>
        </p:txBody>
      </p:sp>
      <p:pic>
        <p:nvPicPr>
          <p:cNvPr id="13316"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71575" y="3500348"/>
            <a:ext cx="6954838" cy="80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6964694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982663" y="277813"/>
            <a:ext cx="7704137" cy="576262"/>
          </a:xfrm>
        </p:spPr>
        <p:txBody>
          <a:bodyPr>
            <a:normAutofit fontScale="90000"/>
          </a:bodyPr>
          <a:lstStyle/>
          <a:p>
            <a:pPr eaLnBrk="1" hangingPunct="1"/>
            <a:r>
              <a:rPr lang="en-US" altLang="en-US" smtClean="0"/>
              <a:t>FCFS Scheduling (Cont.)</a:t>
            </a:r>
          </a:p>
        </p:txBody>
      </p:sp>
      <p:sp>
        <p:nvSpPr>
          <p:cNvPr id="13315" name="Rectangle 3"/>
          <p:cNvSpPr>
            <a:spLocks noGrp="1" noChangeArrowheads="1"/>
          </p:cNvSpPr>
          <p:nvPr>
            <p:ph type="body" idx="1"/>
          </p:nvPr>
        </p:nvSpPr>
        <p:spPr>
          <a:xfrm>
            <a:off x="908050" y="1233488"/>
            <a:ext cx="7651750" cy="4530725"/>
          </a:xfrm>
        </p:spPr>
        <p:txBody>
          <a:bodyPr>
            <a:normAutofit fontScale="92500" lnSpcReduction="20000"/>
          </a:bodyPr>
          <a:lstStyle/>
          <a:p>
            <a:pPr>
              <a:buFont typeface="Monotype Sorts" pitchFamily="-84" charset="2"/>
              <a:buNone/>
              <a:tabLst>
                <a:tab pos="3649345" algn="ctr"/>
              </a:tabLst>
              <a:defRPr/>
            </a:pPr>
            <a:r>
              <a:rPr lang="en-US" altLang="en-US" dirty="0" smtClean="0"/>
              <a:t>Suppose that the processes arrive in the order:</a:t>
            </a:r>
          </a:p>
          <a:p>
            <a:pPr>
              <a:buFont typeface="Monotype Sorts" pitchFamily="-84" charset="2"/>
              <a:buNone/>
              <a:tabLst>
                <a:tab pos="3649345" algn="ctr"/>
              </a:tabLst>
              <a:defRPr/>
            </a:pPr>
            <a:r>
              <a:rPr lang="en-US" altLang="en-US" dirty="0" smtClean="0"/>
              <a:t>		 </a:t>
            </a:r>
            <a:r>
              <a:rPr lang="en-US" altLang="en-US" i="1" dirty="0" smtClean="0"/>
              <a:t>P</a:t>
            </a:r>
            <a:r>
              <a:rPr lang="en-US" altLang="en-US" i="1" baseline="-25000" dirty="0" smtClean="0"/>
              <a:t>2</a:t>
            </a:r>
            <a:r>
              <a:rPr lang="en-US" altLang="en-US" dirty="0" smtClean="0"/>
              <a:t> , </a:t>
            </a:r>
            <a:r>
              <a:rPr lang="en-US" altLang="en-US" i="1" dirty="0" smtClean="0"/>
              <a:t>P</a:t>
            </a:r>
            <a:r>
              <a:rPr lang="en-US" altLang="en-US" i="1" baseline="-25000" dirty="0" smtClean="0"/>
              <a:t>3</a:t>
            </a:r>
            <a:r>
              <a:rPr lang="en-US" altLang="en-US" dirty="0" smtClean="0"/>
              <a:t> , </a:t>
            </a:r>
            <a:r>
              <a:rPr lang="en-US" altLang="en-US" i="1" dirty="0" smtClean="0"/>
              <a:t>P</a:t>
            </a:r>
            <a:r>
              <a:rPr lang="en-US" altLang="en-US" i="1" baseline="-25000" dirty="0" smtClean="0"/>
              <a:t>1</a:t>
            </a:r>
            <a:r>
              <a:rPr lang="en-US" altLang="en-US" dirty="0" smtClean="0"/>
              <a:t> </a:t>
            </a:r>
          </a:p>
          <a:p>
            <a:pPr>
              <a:tabLst>
                <a:tab pos="3649345" algn="ctr"/>
              </a:tabLst>
              <a:defRPr/>
            </a:pPr>
            <a:r>
              <a:rPr lang="en-US" altLang="en-US" dirty="0" smtClean="0"/>
              <a:t>The Gantt chart for the schedule is:</a:t>
            </a:r>
            <a:br>
              <a:rPr lang="en-US" altLang="en-US" dirty="0" smtClean="0"/>
            </a:br>
            <a:endParaRPr lang="en-US" altLang="en-US" dirty="0" smtClean="0"/>
          </a:p>
          <a:p>
            <a:pPr>
              <a:tabLst>
                <a:tab pos="3649345" algn="ctr"/>
              </a:tabLst>
              <a:defRPr/>
            </a:pPr>
            <a:endParaRPr lang="en-US" altLang="en-US" dirty="0" smtClean="0"/>
          </a:p>
          <a:p>
            <a:pPr>
              <a:tabLst>
                <a:tab pos="3649345" algn="ctr"/>
              </a:tabLst>
              <a:defRPr/>
            </a:pPr>
            <a:endParaRPr lang="en-US" altLang="en-US" dirty="0" smtClean="0"/>
          </a:p>
          <a:p>
            <a:pPr marL="0" indent="0">
              <a:buFont typeface="Monotype Sorts" pitchFamily="-84" charset="2"/>
              <a:buNone/>
              <a:tabLst>
                <a:tab pos="3649345" algn="ctr"/>
              </a:tabLst>
              <a:defRPr/>
            </a:pPr>
            <a:endParaRPr lang="en-US" altLang="en-US" dirty="0" smtClean="0"/>
          </a:p>
          <a:p>
            <a:pPr>
              <a:tabLst>
                <a:tab pos="3649345" algn="ctr"/>
              </a:tabLst>
              <a:defRPr/>
            </a:pPr>
            <a:r>
              <a:rPr lang="en-US" altLang="en-US" dirty="0" smtClean="0"/>
              <a:t>Waiting time for </a:t>
            </a:r>
            <a:r>
              <a:rPr lang="en-US" altLang="en-US" i="1" dirty="0" smtClean="0"/>
              <a:t>P</a:t>
            </a:r>
            <a:r>
              <a:rPr lang="en-US" altLang="en-US" i="1" baseline="-25000" dirty="0" smtClean="0"/>
              <a:t>1 </a:t>
            </a:r>
            <a:r>
              <a:rPr lang="en-US" altLang="en-US" i="1" dirty="0" smtClean="0"/>
              <a:t>=</a:t>
            </a:r>
            <a:r>
              <a:rPr lang="en-US" altLang="en-US" dirty="0" smtClean="0"/>
              <a:t> 6</a:t>
            </a:r>
            <a:r>
              <a:rPr lang="en-US" altLang="en-US" i="1" dirty="0" smtClean="0"/>
              <a:t>;</a:t>
            </a:r>
            <a:r>
              <a:rPr lang="en-US" altLang="en-US" i="1" baseline="-25000" dirty="0" smtClean="0"/>
              <a:t> </a:t>
            </a:r>
            <a:r>
              <a:rPr lang="en-US" altLang="en-US" i="1" dirty="0" smtClean="0"/>
              <a:t>P</a:t>
            </a:r>
            <a:r>
              <a:rPr lang="en-US" altLang="en-US" i="1" baseline="-25000" dirty="0" smtClean="0"/>
              <a:t>2</a:t>
            </a:r>
            <a:r>
              <a:rPr lang="en-US" altLang="en-US" dirty="0" smtClean="0"/>
              <a:t> = 0</a:t>
            </a:r>
            <a:r>
              <a:rPr lang="en-US" altLang="en-US" i="1" baseline="-25000" dirty="0" smtClean="0"/>
              <a:t>; </a:t>
            </a:r>
            <a:r>
              <a:rPr lang="en-US" altLang="en-US" i="1" dirty="0" smtClean="0"/>
              <a:t>P</a:t>
            </a:r>
            <a:r>
              <a:rPr lang="en-US" altLang="en-US" i="1" baseline="-25000" dirty="0" smtClean="0"/>
              <a:t>3 </a:t>
            </a:r>
            <a:r>
              <a:rPr lang="en-US" altLang="en-US" i="1" dirty="0" smtClean="0"/>
              <a:t>= </a:t>
            </a:r>
            <a:r>
              <a:rPr lang="en-US" altLang="en-US" dirty="0" smtClean="0"/>
              <a:t>3</a:t>
            </a:r>
            <a:endParaRPr lang="en-US" altLang="en-US" i="1" dirty="0" smtClean="0"/>
          </a:p>
          <a:p>
            <a:pPr>
              <a:tabLst>
                <a:tab pos="3649345" algn="ctr"/>
              </a:tabLst>
              <a:defRPr/>
            </a:pPr>
            <a:r>
              <a:rPr lang="en-US" altLang="en-US" dirty="0" smtClean="0"/>
              <a:t>Average waiting time:   (6 + 0 + 3)/3 = 3</a:t>
            </a:r>
          </a:p>
          <a:p>
            <a:pPr>
              <a:tabLst>
                <a:tab pos="3649345" algn="ctr"/>
              </a:tabLst>
              <a:defRPr/>
            </a:pPr>
            <a:r>
              <a:rPr lang="en-US" altLang="en-US" dirty="0" smtClean="0"/>
              <a:t>Much better than previous case</a:t>
            </a:r>
          </a:p>
          <a:p>
            <a:pPr>
              <a:tabLst>
                <a:tab pos="3649345" algn="ctr"/>
              </a:tabLst>
              <a:defRPr/>
            </a:pPr>
            <a:r>
              <a:rPr lang="en-US" altLang="en-US" b="1" dirty="0" smtClean="0">
                <a:solidFill>
                  <a:srgbClr val="3366FF"/>
                </a:solidFill>
              </a:rPr>
              <a:t>Convoy effect </a:t>
            </a:r>
            <a:r>
              <a:rPr lang="en-US" altLang="en-US" dirty="0" smtClean="0"/>
              <a:t>- short process behind long process</a:t>
            </a:r>
          </a:p>
          <a:p>
            <a:pPr lvl="1">
              <a:tabLst>
                <a:tab pos="3649345" algn="ctr"/>
              </a:tabLst>
              <a:defRPr/>
            </a:pPr>
            <a:r>
              <a:rPr lang="en-US" altLang="en-US" dirty="0" smtClean="0"/>
              <a:t>Consider one CPU-bound and many I/O-bound processes</a:t>
            </a:r>
          </a:p>
        </p:txBody>
      </p:sp>
      <p:pic>
        <p:nvPicPr>
          <p:cNvPr id="14340"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70000" y="2632075"/>
            <a:ext cx="7123113" cy="8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7935074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1058863" y="188913"/>
            <a:ext cx="7704137" cy="576262"/>
          </a:xfrm>
        </p:spPr>
        <p:txBody>
          <a:bodyPr>
            <a:normAutofit fontScale="90000"/>
          </a:bodyPr>
          <a:lstStyle/>
          <a:p>
            <a:pPr eaLnBrk="1" hangingPunct="1"/>
            <a:r>
              <a:rPr lang="en-US" altLang="en-US" smtClean="0"/>
              <a:t>Shortest-Job-First (SJF) Scheduling</a:t>
            </a:r>
          </a:p>
        </p:txBody>
      </p:sp>
      <p:sp>
        <p:nvSpPr>
          <p:cNvPr id="15363" name="Rectangle 3"/>
          <p:cNvSpPr>
            <a:spLocks noGrp="1" noChangeArrowheads="1"/>
          </p:cNvSpPr>
          <p:nvPr>
            <p:ph type="body" idx="1"/>
          </p:nvPr>
        </p:nvSpPr>
        <p:spPr>
          <a:xfrm>
            <a:off x="908050" y="1233488"/>
            <a:ext cx="7143750" cy="4530725"/>
          </a:xfrm>
        </p:spPr>
        <p:txBody>
          <a:bodyPr/>
          <a:lstStyle/>
          <a:p>
            <a:r>
              <a:rPr lang="en-US" altLang="en-US" smtClean="0"/>
              <a:t>Associate with each process the length of its next CPU burst</a:t>
            </a:r>
          </a:p>
          <a:p>
            <a:pPr lvl="1"/>
            <a:r>
              <a:rPr lang="en-US" altLang="en-US" smtClean="0"/>
              <a:t> Use these lengths to schedule the process with the shortest time</a:t>
            </a:r>
          </a:p>
          <a:p>
            <a:r>
              <a:rPr lang="en-US" altLang="en-US" smtClean="0"/>
              <a:t>SJF is optimal – gives minimum average waiting time for a given set of processes</a:t>
            </a:r>
          </a:p>
          <a:p>
            <a:pPr lvl="1"/>
            <a:r>
              <a:rPr lang="en-US" altLang="en-US" smtClean="0"/>
              <a:t>The difficulty is knowing the length of the next CPU request</a:t>
            </a:r>
          </a:p>
          <a:p>
            <a:pPr lvl="1"/>
            <a:r>
              <a:rPr lang="en-US" altLang="en-US" smtClean="0"/>
              <a:t>Could ask the user</a:t>
            </a:r>
          </a:p>
        </p:txBody>
      </p:sp>
    </p:spTree>
    <p:extLst>
      <p:ext uri="{BB962C8B-B14F-4D97-AF65-F5344CB8AC3E}">
        <p14:creationId xmlns:p14="http://schemas.microsoft.com/office/powerpoint/2010/main" val="276265629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201613"/>
            <a:ext cx="8229600" cy="576262"/>
          </a:xfrm>
        </p:spPr>
        <p:txBody>
          <a:bodyPr>
            <a:normAutofit fontScale="90000"/>
          </a:bodyPr>
          <a:lstStyle/>
          <a:p>
            <a:pPr eaLnBrk="1" hangingPunct="1"/>
            <a:r>
              <a:rPr lang="en-US" altLang="en-US" smtClean="0"/>
              <a:t>Example of SJF</a:t>
            </a:r>
          </a:p>
        </p:txBody>
      </p:sp>
      <p:sp>
        <p:nvSpPr>
          <p:cNvPr id="16387" name="Rectangle 36"/>
          <p:cNvSpPr>
            <a:spLocks noGrp="1" noChangeArrowheads="1"/>
          </p:cNvSpPr>
          <p:nvPr>
            <p:ph type="body" idx="1"/>
          </p:nvPr>
        </p:nvSpPr>
        <p:spPr>
          <a:noFill/>
        </p:spPr>
        <p:txBody>
          <a:bodyPr>
            <a:normAutofit fontScale="92500" lnSpcReduction="10000"/>
          </a:bodyPr>
          <a:lstStyle/>
          <a:p>
            <a:pPr>
              <a:buFont typeface="Monotype Sorts" pitchFamily="-84" charset="2"/>
              <a:buNone/>
              <a:tabLst>
                <a:tab pos="1600200" algn="ctr"/>
                <a:tab pos="3251200" algn="ctr"/>
                <a:tab pos="5140325" algn="ctr"/>
              </a:tabLst>
            </a:pPr>
            <a:r>
              <a:rPr lang="en-US" altLang="en-US" smtClean="0"/>
              <a:t>	      	                </a:t>
            </a:r>
            <a:r>
              <a:rPr lang="en-US" altLang="en-US" u="sng" smtClean="0"/>
              <a:t>Process</a:t>
            </a:r>
            <a:r>
              <a:rPr lang="en-US" altLang="en-US" u="sng" smtClean="0">
                <a:solidFill>
                  <a:schemeClr val="bg1"/>
                </a:solidFill>
              </a:rPr>
              <a:t>Arriva	l Time</a:t>
            </a:r>
            <a:r>
              <a:rPr lang="en-US" altLang="en-US" smtClean="0"/>
              <a:t>	</a:t>
            </a:r>
            <a:r>
              <a:rPr lang="en-US" altLang="en-US" u="sng" smtClean="0"/>
              <a:t>Burst Time</a:t>
            </a:r>
            <a:endParaRPr lang="en-US" altLang="en-US" smtClean="0"/>
          </a:p>
          <a:p>
            <a:pPr>
              <a:buFont typeface="Monotype Sorts" pitchFamily="-84" charset="2"/>
              <a:buNone/>
              <a:tabLst>
                <a:tab pos="1600200" algn="ctr"/>
                <a:tab pos="3251200" algn="ctr"/>
                <a:tab pos="5140325" algn="ctr"/>
              </a:tabLst>
            </a:pPr>
            <a:r>
              <a:rPr lang="en-US" altLang="en-US" smtClean="0"/>
              <a:t>		             </a:t>
            </a:r>
            <a:r>
              <a:rPr lang="en-US" altLang="en-US" i="1" smtClean="0"/>
              <a:t>P</a:t>
            </a:r>
            <a:r>
              <a:rPr lang="en-US" altLang="en-US" i="1" baseline="-25000" smtClean="0"/>
              <a:t>1</a:t>
            </a:r>
            <a:r>
              <a:rPr lang="en-US" altLang="en-US" smtClean="0"/>
              <a:t>	</a:t>
            </a:r>
            <a:r>
              <a:rPr lang="en-US" altLang="en-US" smtClean="0">
                <a:solidFill>
                  <a:schemeClr val="bg1"/>
                </a:solidFill>
              </a:rPr>
              <a:t>0.0</a:t>
            </a:r>
            <a:r>
              <a:rPr lang="en-US" altLang="en-US" smtClean="0"/>
              <a:t>	6</a:t>
            </a:r>
          </a:p>
          <a:p>
            <a:pPr>
              <a:buFont typeface="Monotype Sorts" pitchFamily="-84" charset="2"/>
              <a:buNone/>
              <a:tabLst>
                <a:tab pos="1600200" algn="ctr"/>
                <a:tab pos="3251200" algn="ctr"/>
                <a:tab pos="5140325" algn="ctr"/>
              </a:tabLst>
            </a:pPr>
            <a:r>
              <a:rPr lang="en-US" altLang="en-US" smtClean="0"/>
              <a:t>		            </a:t>
            </a:r>
            <a:r>
              <a:rPr lang="en-US" altLang="en-US" i="1" smtClean="0"/>
              <a:t>P</a:t>
            </a:r>
            <a:r>
              <a:rPr lang="en-US" altLang="en-US" i="1" baseline="-25000" smtClean="0"/>
              <a:t>2 	</a:t>
            </a:r>
            <a:r>
              <a:rPr lang="en-US" altLang="en-US" smtClean="0">
                <a:solidFill>
                  <a:schemeClr val="bg1"/>
                </a:solidFill>
              </a:rPr>
              <a:t>2.0</a:t>
            </a:r>
            <a:r>
              <a:rPr lang="en-US" altLang="en-US" smtClean="0"/>
              <a:t>	8</a:t>
            </a:r>
          </a:p>
          <a:p>
            <a:pPr>
              <a:buFont typeface="Monotype Sorts" pitchFamily="-84" charset="2"/>
              <a:buNone/>
              <a:tabLst>
                <a:tab pos="1600200" algn="ctr"/>
                <a:tab pos="3251200" algn="ctr"/>
                <a:tab pos="5140325" algn="ctr"/>
              </a:tabLst>
            </a:pPr>
            <a:r>
              <a:rPr lang="en-US" altLang="en-US" smtClean="0"/>
              <a:t>		            </a:t>
            </a:r>
            <a:r>
              <a:rPr lang="en-US" altLang="en-US" i="1" smtClean="0"/>
              <a:t>P</a:t>
            </a:r>
            <a:r>
              <a:rPr lang="en-US" altLang="en-US" i="1" baseline="-25000" smtClean="0"/>
              <a:t>3</a:t>
            </a:r>
            <a:r>
              <a:rPr lang="en-US" altLang="en-US" smtClean="0"/>
              <a:t>	</a:t>
            </a:r>
            <a:r>
              <a:rPr lang="en-US" altLang="en-US" smtClean="0">
                <a:solidFill>
                  <a:schemeClr val="bg1"/>
                </a:solidFill>
              </a:rPr>
              <a:t>4.0</a:t>
            </a:r>
            <a:r>
              <a:rPr lang="en-US" altLang="en-US" smtClean="0"/>
              <a:t>	7</a:t>
            </a:r>
          </a:p>
          <a:p>
            <a:pPr>
              <a:buFont typeface="Monotype Sorts" pitchFamily="-84" charset="2"/>
              <a:buNone/>
              <a:tabLst>
                <a:tab pos="1600200" algn="ctr"/>
                <a:tab pos="3251200" algn="ctr"/>
                <a:tab pos="5140325" algn="ctr"/>
              </a:tabLst>
            </a:pPr>
            <a:r>
              <a:rPr lang="en-US" altLang="en-US" smtClean="0"/>
              <a:t>		            </a:t>
            </a:r>
            <a:r>
              <a:rPr lang="en-US" altLang="en-US" i="1" smtClean="0"/>
              <a:t>P</a:t>
            </a:r>
            <a:r>
              <a:rPr lang="en-US" altLang="en-US" i="1" baseline="-25000" smtClean="0"/>
              <a:t>4</a:t>
            </a:r>
            <a:r>
              <a:rPr lang="en-US" altLang="en-US" smtClean="0"/>
              <a:t>	</a:t>
            </a:r>
            <a:r>
              <a:rPr lang="en-US" altLang="en-US" smtClean="0">
                <a:solidFill>
                  <a:schemeClr val="bg1"/>
                </a:solidFill>
              </a:rPr>
              <a:t>5.0</a:t>
            </a:r>
            <a:r>
              <a:rPr lang="en-US" altLang="en-US" smtClean="0"/>
              <a:t>	3</a:t>
            </a:r>
          </a:p>
          <a:p>
            <a:pPr>
              <a:buFont typeface="Monotype Sorts" pitchFamily="-84" charset="2"/>
              <a:buNone/>
              <a:tabLst>
                <a:tab pos="1600200" algn="ctr"/>
                <a:tab pos="3251200" algn="ctr"/>
                <a:tab pos="5140325" algn="ctr"/>
              </a:tabLst>
            </a:pPr>
            <a:endParaRPr lang="en-US" altLang="en-US" smtClean="0"/>
          </a:p>
          <a:p>
            <a:pPr>
              <a:tabLst>
                <a:tab pos="1600200" algn="ctr"/>
                <a:tab pos="3251200" algn="ctr"/>
                <a:tab pos="5140325" algn="ctr"/>
              </a:tabLst>
            </a:pPr>
            <a:r>
              <a:rPr lang="en-US" altLang="en-US" smtClean="0"/>
              <a:t>SJF scheduling chart</a:t>
            </a:r>
          </a:p>
          <a:p>
            <a:pPr>
              <a:tabLst>
                <a:tab pos="1600200" algn="ctr"/>
                <a:tab pos="3251200" algn="ctr"/>
                <a:tab pos="5140325" algn="ctr"/>
              </a:tabLst>
            </a:pPr>
            <a:endParaRPr lang="en-US" altLang="en-US" smtClean="0"/>
          </a:p>
          <a:p>
            <a:pPr>
              <a:tabLst>
                <a:tab pos="1600200" algn="ctr"/>
                <a:tab pos="3251200" algn="ctr"/>
                <a:tab pos="5140325" algn="ctr"/>
              </a:tabLst>
            </a:pPr>
            <a:endParaRPr lang="en-US" altLang="en-US" smtClean="0"/>
          </a:p>
          <a:p>
            <a:pPr>
              <a:tabLst>
                <a:tab pos="1600200" algn="ctr"/>
                <a:tab pos="3251200" algn="ctr"/>
                <a:tab pos="5140325" algn="ctr"/>
              </a:tabLst>
            </a:pPr>
            <a:endParaRPr lang="en-US" altLang="en-US" smtClean="0"/>
          </a:p>
          <a:p>
            <a:pPr>
              <a:buFont typeface="Monotype Sorts" pitchFamily="-84" charset="2"/>
              <a:buNone/>
              <a:tabLst>
                <a:tab pos="1600200" algn="ctr"/>
                <a:tab pos="3251200" algn="ctr"/>
                <a:tab pos="5140325" algn="ctr"/>
              </a:tabLst>
            </a:pPr>
            <a:endParaRPr lang="en-US" altLang="en-US" smtClean="0"/>
          </a:p>
          <a:p>
            <a:pPr>
              <a:tabLst>
                <a:tab pos="1600200" algn="ctr"/>
                <a:tab pos="3251200" algn="ctr"/>
                <a:tab pos="5140325" algn="ctr"/>
              </a:tabLst>
            </a:pPr>
            <a:r>
              <a:rPr lang="en-US" altLang="en-US" smtClean="0"/>
              <a:t>Average waiting time = (3 + 16 + 9 + 0) / 4 = 7</a:t>
            </a:r>
            <a:endParaRPr lang="en-US" altLang="en-US" i="1" baseline="-25000" smtClean="0"/>
          </a:p>
        </p:txBody>
      </p:sp>
      <p:pic>
        <p:nvPicPr>
          <p:cNvPr id="16388"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87463" y="4076700"/>
            <a:ext cx="6796087"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492980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2"/>
          <p:cNvSpPr>
            <a:spLocks noGrp="1" noChangeArrowheads="1"/>
          </p:cNvSpPr>
          <p:nvPr>
            <p:ph type="title"/>
          </p:nvPr>
        </p:nvSpPr>
        <p:spPr>
          <a:xfrm>
            <a:off x="1279525" y="153988"/>
            <a:ext cx="7772400" cy="611187"/>
          </a:xfrm>
        </p:spPr>
        <p:txBody>
          <a:bodyPr>
            <a:normAutofit fontScale="90000"/>
          </a:bodyPr>
          <a:lstStyle/>
          <a:p>
            <a:pPr eaLnBrk="1" hangingPunct="1"/>
            <a:r>
              <a:rPr lang="en-US" altLang="en-US" smtClean="0"/>
              <a:t>Determining Length of Next CPU Burst</a:t>
            </a:r>
          </a:p>
        </p:txBody>
      </p:sp>
      <p:sp>
        <p:nvSpPr>
          <p:cNvPr id="16387" name="Rectangle 3"/>
          <p:cNvSpPr>
            <a:spLocks noGrp="1" noChangeArrowheads="1"/>
          </p:cNvSpPr>
          <p:nvPr>
            <p:ph type="body" idx="1"/>
          </p:nvPr>
        </p:nvSpPr>
        <p:spPr>
          <a:xfrm>
            <a:off x="1047750" y="1233488"/>
            <a:ext cx="7435850" cy="4935537"/>
          </a:xfrm>
        </p:spPr>
        <p:txBody>
          <a:bodyPr>
            <a:normAutofit fontScale="92500" lnSpcReduction="20000"/>
          </a:bodyPr>
          <a:lstStyle/>
          <a:p>
            <a:pPr>
              <a:defRPr/>
            </a:pPr>
            <a:r>
              <a:rPr lang="en-US" altLang="en-US" dirty="0" smtClean="0"/>
              <a:t>Can only estimate the length – should be similar to the previous one</a:t>
            </a:r>
          </a:p>
          <a:p>
            <a:pPr lvl="1">
              <a:defRPr/>
            </a:pPr>
            <a:r>
              <a:rPr lang="en-US" altLang="en-US" dirty="0" smtClean="0"/>
              <a:t>Then pick process with shortest predicted next CPU burst</a:t>
            </a:r>
          </a:p>
          <a:p>
            <a:pPr>
              <a:defRPr/>
            </a:pPr>
            <a:endParaRPr lang="en-US" altLang="en-US" dirty="0" smtClean="0"/>
          </a:p>
          <a:p>
            <a:pPr>
              <a:defRPr/>
            </a:pPr>
            <a:r>
              <a:rPr lang="en-US" altLang="en-US" dirty="0" smtClean="0"/>
              <a:t>Can be done by using the length of previous CPU bursts, using exponential averaging</a:t>
            </a:r>
          </a:p>
          <a:p>
            <a:pPr>
              <a:defRPr/>
            </a:pPr>
            <a:endParaRPr lang="en-US" altLang="en-US" dirty="0" smtClean="0"/>
          </a:p>
          <a:p>
            <a:pPr>
              <a:defRPr/>
            </a:pPr>
            <a:endParaRPr lang="en-US" altLang="en-US" dirty="0" smtClean="0"/>
          </a:p>
          <a:p>
            <a:pPr>
              <a:defRPr/>
            </a:pPr>
            <a:endParaRPr lang="en-US" altLang="en-US" dirty="0" smtClean="0"/>
          </a:p>
          <a:p>
            <a:pPr marL="0" indent="0">
              <a:buFont typeface="Monotype Sorts" pitchFamily="-84" charset="2"/>
              <a:buNone/>
              <a:defRPr/>
            </a:pPr>
            <a:endParaRPr lang="en-US" altLang="en-US" dirty="0" smtClean="0"/>
          </a:p>
          <a:p>
            <a:pPr>
              <a:defRPr/>
            </a:pPr>
            <a:r>
              <a:rPr lang="en-US" altLang="en-US" dirty="0" smtClean="0"/>
              <a:t>Commonly, </a:t>
            </a:r>
            <a:r>
              <a:rPr lang="en-US" altLang="en-US" dirty="0" smtClean="0">
                <a:latin typeface="Lucida Grande" pitchFamily="-84" charset="0"/>
              </a:rPr>
              <a:t>α </a:t>
            </a:r>
            <a:r>
              <a:rPr lang="en-US" altLang="en-US" dirty="0" smtClean="0"/>
              <a:t>set to ½</a:t>
            </a:r>
          </a:p>
          <a:p>
            <a:pPr>
              <a:defRPr/>
            </a:pPr>
            <a:r>
              <a:rPr lang="en-US" altLang="en-US" dirty="0" smtClean="0"/>
              <a:t>Preemptive version called </a:t>
            </a:r>
            <a:r>
              <a:rPr lang="en-US" altLang="en-US" b="1" dirty="0" smtClean="0">
                <a:solidFill>
                  <a:srgbClr val="3366FF"/>
                </a:solidFill>
              </a:rPr>
              <a:t>shortest-remaining-time-first</a:t>
            </a:r>
          </a:p>
          <a:p>
            <a:pPr lvl="1">
              <a:buFont typeface="Monotype Sorts" pitchFamily="-84" charset="2"/>
              <a:buNone/>
              <a:defRPr/>
            </a:pPr>
            <a:endParaRPr lang="en-US" altLang="en-US" dirty="0" smtClean="0"/>
          </a:p>
          <a:p>
            <a:pPr lvl="1">
              <a:buFont typeface="Monotype Sorts" pitchFamily="-84" charset="2"/>
              <a:buNone/>
              <a:defRPr/>
            </a:pPr>
            <a:endParaRPr lang="en-US" altLang="en-US" dirty="0" smtClean="0"/>
          </a:p>
        </p:txBody>
      </p:sp>
      <p:graphicFrame>
        <p:nvGraphicFramePr>
          <p:cNvPr id="1026" name="Object 2"/>
          <p:cNvGraphicFramePr>
            <a:graphicFrameLocks noChangeAspect="1"/>
          </p:cNvGraphicFramePr>
          <p:nvPr>
            <p:extLst>
              <p:ext uri="{D42A27DB-BD31-4B8C-83A1-F6EECF244321}">
                <p14:modId xmlns:p14="http://schemas.microsoft.com/office/powerpoint/2010/main" val="3023449568"/>
              </p:ext>
            </p:extLst>
          </p:nvPr>
        </p:nvGraphicFramePr>
        <p:xfrm>
          <a:off x="1938516" y="3203147"/>
          <a:ext cx="4427537" cy="1254125"/>
        </p:xfrm>
        <a:graphic>
          <a:graphicData uri="http://schemas.openxmlformats.org/presentationml/2006/ole">
            <mc:AlternateContent xmlns:mc="http://schemas.openxmlformats.org/markup-compatibility/2006">
              <mc:Choice xmlns:v="urn:schemas-microsoft-com:vml" Requires="v">
                <p:oleObj spid="_x0000_s1044" name="Equation" r:id="rId4" imgW="6400800" imgH="1778000" progId="Equation.3">
                  <p:embed/>
                </p:oleObj>
              </mc:Choice>
              <mc:Fallback>
                <p:oleObj name="Equation" r:id="rId4" imgW="6400800" imgH="17780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38516" y="3203147"/>
                        <a:ext cx="4427537" cy="1254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027" name="Object 3"/>
          <p:cNvGraphicFramePr>
            <a:graphicFrameLocks noChangeAspect="1"/>
          </p:cNvGraphicFramePr>
          <p:nvPr/>
        </p:nvGraphicFramePr>
        <p:xfrm>
          <a:off x="3228975" y="4068763"/>
          <a:ext cx="2222500" cy="315912"/>
        </p:xfrm>
        <a:graphic>
          <a:graphicData uri="http://schemas.openxmlformats.org/presentationml/2006/ole">
            <mc:AlternateContent xmlns:mc="http://schemas.openxmlformats.org/markup-compatibility/2006">
              <mc:Choice xmlns:v="urn:schemas-microsoft-com:vml" Requires="v">
                <p:oleObj spid="_x0000_s1045" name="Equation" r:id="rId6" imgW="2221536" imgH="317362" progId="Equation.3">
                  <p:embed/>
                </p:oleObj>
              </mc:Choice>
              <mc:Fallback>
                <p:oleObj name="Equation" r:id="rId6" imgW="2221536" imgH="317362"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28975" y="4068763"/>
                        <a:ext cx="2222500"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369418254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1092200" y="277813"/>
            <a:ext cx="7594600" cy="576262"/>
          </a:xfrm>
        </p:spPr>
        <p:txBody>
          <a:bodyPr/>
          <a:lstStyle/>
          <a:p>
            <a:pPr eaLnBrk="1" hangingPunct="1"/>
            <a:r>
              <a:rPr lang="en-US" altLang="en-US" sz="2800" smtClean="0"/>
              <a:t>Example of Shortest-remaining-time-first</a:t>
            </a:r>
          </a:p>
        </p:txBody>
      </p:sp>
      <p:sp>
        <p:nvSpPr>
          <p:cNvPr id="19459" name="Rectangle 36"/>
          <p:cNvSpPr>
            <a:spLocks noGrp="1" noChangeArrowheads="1"/>
          </p:cNvSpPr>
          <p:nvPr>
            <p:ph type="body" idx="1"/>
          </p:nvPr>
        </p:nvSpPr>
        <p:spPr>
          <a:xfrm>
            <a:off x="1073150" y="1233488"/>
            <a:ext cx="7600950" cy="4530725"/>
          </a:xfrm>
        </p:spPr>
        <p:txBody>
          <a:bodyPr>
            <a:normAutofit fontScale="85000" lnSpcReduction="20000"/>
          </a:bodyPr>
          <a:lstStyle/>
          <a:p>
            <a:pPr>
              <a:tabLst>
                <a:tab pos="1601312" algn="ctr"/>
                <a:tab pos="3252629" algn="ctr"/>
                <a:tab pos="5141754" algn="ctr"/>
              </a:tabLst>
              <a:defRPr/>
            </a:pPr>
            <a:r>
              <a:rPr lang="en-US" altLang="en-US" dirty="0" smtClean="0"/>
              <a:t>Now we add the concepts of varying arrival times and preemption to the analysis</a:t>
            </a:r>
          </a:p>
          <a:p>
            <a:pPr>
              <a:buFont typeface="Monotype Sorts" pitchFamily="-84" charset="2"/>
              <a:buNone/>
              <a:tabLst>
                <a:tab pos="1601312" algn="ctr"/>
                <a:tab pos="3252629" algn="ctr"/>
                <a:tab pos="5141754" algn="ctr"/>
              </a:tabLst>
              <a:defRPr/>
            </a:pPr>
            <a:r>
              <a:rPr lang="en-US" altLang="en-US" dirty="0" smtClean="0"/>
              <a:t>		         </a:t>
            </a:r>
            <a:r>
              <a:rPr lang="en-US" altLang="en-US" u="sng" dirty="0" err="1" smtClean="0"/>
              <a:t>Process</a:t>
            </a:r>
            <a:r>
              <a:rPr lang="en-US" altLang="en-US" u="sng" dirty="0" err="1" smtClean="0">
                <a:solidFill>
                  <a:schemeClr val="bg1"/>
                </a:solidFill>
              </a:rPr>
              <a:t>A</a:t>
            </a:r>
            <a:r>
              <a:rPr lang="en-US" altLang="en-US" u="sng" dirty="0" smtClean="0">
                <a:solidFill>
                  <a:schemeClr val="bg1"/>
                </a:solidFill>
              </a:rPr>
              <a:t>	</a:t>
            </a:r>
            <a:r>
              <a:rPr lang="en-US" altLang="en-US" u="sng" dirty="0" err="1" smtClean="0">
                <a:solidFill>
                  <a:schemeClr val="bg1"/>
                </a:solidFill>
              </a:rPr>
              <a:t>arri</a:t>
            </a:r>
            <a:r>
              <a:rPr lang="en-US" altLang="en-US" u="sng" dirty="0" smtClean="0">
                <a:solidFill>
                  <a:schemeClr val="bg1"/>
                </a:solidFill>
              </a:rPr>
              <a:t> </a:t>
            </a:r>
            <a:r>
              <a:rPr lang="en-US" altLang="en-US" i="1" u="sng" dirty="0" smtClean="0"/>
              <a:t>Arrival </a:t>
            </a:r>
            <a:r>
              <a:rPr lang="en-US" altLang="en-US" u="sng" dirty="0" err="1" smtClean="0"/>
              <a:t>Time</a:t>
            </a:r>
            <a:r>
              <a:rPr lang="en-US" altLang="en-US" u="sng" dirty="0" err="1" smtClean="0">
                <a:solidFill>
                  <a:schemeClr val="bg1"/>
                </a:solidFill>
              </a:rPr>
              <a:t>T</a:t>
            </a:r>
            <a:r>
              <a:rPr lang="en-US" altLang="en-US" dirty="0" smtClean="0"/>
              <a:t>	</a:t>
            </a:r>
            <a:r>
              <a:rPr lang="en-US" altLang="en-US" u="sng" dirty="0" smtClean="0"/>
              <a:t>Burst Time</a:t>
            </a:r>
            <a:endParaRPr lang="en-US" altLang="en-US" dirty="0" smtClean="0"/>
          </a:p>
          <a:p>
            <a:pPr>
              <a:buFont typeface="Monotype Sorts" pitchFamily="-84" charset="2"/>
              <a:buNone/>
              <a:tabLst>
                <a:tab pos="1601312" algn="ctr"/>
                <a:tab pos="3252629" algn="ctr"/>
                <a:tab pos="5141754" algn="ctr"/>
              </a:tabLst>
              <a:defRPr/>
            </a:pPr>
            <a:r>
              <a:rPr lang="en-US" altLang="en-US" dirty="0" smtClean="0"/>
              <a:t>		 </a:t>
            </a:r>
            <a:r>
              <a:rPr lang="en-US" altLang="en-US" i="1" dirty="0" smtClean="0"/>
              <a:t>P</a:t>
            </a:r>
            <a:r>
              <a:rPr lang="en-US" altLang="en-US" i="1" baseline="-25000" dirty="0" smtClean="0"/>
              <a:t>1</a:t>
            </a:r>
            <a:r>
              <a:rPr lang="en-US" altLang="en-US" dirty="0" smtClean="0"/>
              <a:t>	</a:t>
            </a:r>
            <a:r>
              <a:rPr lang="en-US" altLang="en-US" dirty="0" smtClean="0">
                <a:solidFill>
                  <a:srgbClr val="000000"/>
                </a:solidFill>
              </a:rPr>
              <a:t>0</a:t>
            </a:r>
            <a:r>
              <a:rPr lang="en-US" altLang="en-US" dirty="0" smtClean="0"/>
              <a:t>	8</a:t>
            </a:r>
          </a:p>
          <a:p>
            <a:pPr>
              <a:buFont typeface="Monotype Sorts" pitchFamily="-84" charset="2"/>
              <a:buNone/>
              <a:tabLst>
                <a:tab pos="1601312" algn="ctr"/>
                <a:tab pos="3252629" algn="ctr"/>
                <a:tab pos="5141754" algn="ctr"/>
              </a:tabLst>
              <a:defRPr/>
            </a:pPr>
            <a:r>
              <a:rPr lang="en-US" altLang="en-US" dirty="0" smtClean="0"/>
              <a:t>		 </a:t>
            </a:r>
            <a:r>
              <a:rPr lang="en-US" altLang="en-US" i="1" dirty="0" smtClean="0"/>
              <a:t>P</a:t>
            </a:r>
            <a:r>
              <a:rPr lang="en-US" altLang="en-US" i="1" baseline="-25000" dirty="0" smtClean="0"/>
              <a:t>2 	</a:t>
            </a:r>
            <a:r>
              <a:rPr lang="en-US" altLang="en-US" dirty="0" smtClean="0">
                <a:solidFill>
                  <a:srgbClr val="000000"/>
                </a:solidFill>
              </a:rPr>
              <a:t>1</a:t>
            </a:r>
            <a:r>
              <a:rPr lang="en-US" altLang="en-US" dirty="0" smtClean="0"/>
              <a:t>	4</a:t>
            </a:r>
          </a:p>
          <a:p>
            <a:pPr>
              <a:buFont typeface="Monotype Sorts" pitchFamily="-84" charset="2"/>
              <a:buNone/>
              <a:tabLst>
                <a:tab pos="1601312" algn="ctr"/>
                <a:tab pos="3252629" algn="ctr"/>
                <a:tab pos="5141754" algn="ctr"/>
              </a:tabLst>
              <a:defRPr/>
            </a:pPr>
            <a:r>
              <a:rPr lang="en-US" altLang="en-US" dirty="0" smtClean="0"/>
              <a:t>		 </a:t>
            </a:r>
            <a:r>
              <a:rPr lang="en-US" altLang="en-US" i="1" dirty="0" smtClean="0"/>
              <a:t>P</a:t>
            </a:r>
            <a:r>
              <a:rPr lang="en-US" altLang="en-US" i="1" baseline="-25000" dirty="0" smtClean="0"/>
              <a:t>3</a:t>
            </a:r>
            <a:r>
              <a:rPr lang="en-US" altLang="en-US" dirty="0" smtClean="0"/>
              <a:t>	</a:t>
            </a:r>
            <a:r>
              <a:rPr lang="en-US" altLang="en-US" dirty="0" smtClean="0">
                <a:solidFill>
                  <a:srgbClr val="000000"/>
                </a:solidFill>
              </a:rPr>
              <a:t>2</a:t>
            </a:r>
            <a:r>
              <a:rPr lang="en-US" altLang="en-US" dirty="0" smtClean="0"/>
              <a:t>	9</a:t>
            </a:r>
          </a:p>
          <a:p>
            <a:pPr>
              <a:buFont typeface="Monotype Sorts" pitchFamily="-84" charset="2"/>
              <a:buNone/>
              <a:tabLst>
                <a:tab pos="1601312" algn="ctr"/>
                <a:tab pos="3252629" algn="ctr"/>
                <a:tab pos="5141754" algn="ctr"/>
              </a:tabLst>
              <a:defRPr/>
            </a:pPr>
            <a:r>
              <a:rPr lang="en-US" altLang="en-US" dirty="0" smtClean="0"/>
              <a:t>		 </a:t>
            </a:r>
            <a:r>
              <a:rPr lang="en-US" altLang="en-US" i="1" dirty="0" smtClean="0"/>
              <a:t>P</a:t>
            </a:r>
            <a:r>
              <a:rPr lang="en-US" altLang="en-US" i="1" baseline="-25000" dirty="0" smtClean="0"/>
              <a:t>4</a:t>
            </a:r>
            <a:r>
              <a:rPr lang="en-US" altLang="en-US" dirty="0" smtClean="0"/>
              <a:t>	</a:t>
            </a:r>
            <a:r>
              <a:rPr lang="en-US" altLang="en-US" dirty="0" smtClean="0">
                <a:solidFill>
                  <a:srgbClr val="000000"/>
                </a:solidFill>
              </a:rPr>
              <a:t>3</a:t>
            </a:r>
            <a:r>
              <a:rPr lang="en-US" altLang="en-US" dirty="0" smtClean="0"/>
              <a:t>	5</a:t>
            </a:r>
          </a:p>
          <a:p>
            <a:pPr>
              <a:tabLst>
                <a:tab pos="1601312" algn="ctr"/>
                <a:tab pos="3252629" algn="ctr"/>
                <a:tab pos="5141754" algn="ctr"/>
              </a:tabLst>
              <a:defRPr/>
            </a:pPr>
            <a:r>
              <a:rPr lang="en-US" altLang="en-US" i="1" dirty="0" smtClean="0"/>
              <a:t>Preemptive </a:t>
            </a:r>
            <a:r>
              <a:rPr lang="en-US" altLang="en-US" dirty="0" smtClean="0"/>
              <a:t>SJF Gantt Chart</a:t>
            </a:r>
          </a:p>
          <a:p>
            <a:pPr>
              <a:tabLst>
                <a:tab pos="1601312" algn="ctr"/>
                <a:tab pos="3252629" algn="ctr"/>
                <a:tab pos="5141754" algn="ctr"/>
              </a:tabLst>
              <a:defRPr/>
            </a:pPr>
            <a:endParaRPr lang="en-US" altLang="en-US" dirty="0" smtClean="0"/>
          </a:p>
          <a:p>
            <a:pPr>
              <a:tabLst>
                <a:tab pos="1601312" algn="ctr"/>
                <a:tab pos="3252629" algn="ctr"/>
                <a:tab pos="5141754" algn="ctr"/>
              </a:tabLst>
              <a:defRPr/>
            </a:pPr>
            <a:endParaRPr lang="en-US" altLang="en-US" dirty="0" smtClean="0"/>
          </a:p>
          <a:p>
            <a:pPr marL="0" indent="0">
              <a:buFont typeface="Monotype Sorts" pitchFamily="-84" charset="2"/>
              <a:buNone/>
              <a:tabLst>
                <a:tab pos="1601312" algn="ctr"/>
                <a:tab pos="3252629" algn="ctr"/>
                <a:tab pos="5141754" algn="ctr"/>
              </a:tabLst>
              <a:defRPr/>
            </a:pPr>
            <a:endParaRPr lang="en-US" altLang="en-US" dirty="0" smtClean="0"/>
          </a:p>
          <a:p>
            <a:pPr>
              <a:tabLst>
                <a:tab pos="1601312" algn="ctr"/>
                <a:tab pos="3252629" algn="ctr"/>
                <a:tab pos="5141754" algn="ctr"/>
              </a:tabLst>
              <a:defRPr/>
            </a:pPr>
            <a:r>
              <a:rPr lang="en-US" altLang="en-US" dirty="0" smtClean="0"/>
              <a:t>Average waiting time = [(10-1)+(1-1)+(17-2)+5-3)]/4 = 26/4 = 6.5 </a:t>
            </a:r>
            <a:r>
              <a:rPr lang="en-US" altLang="en-US" dirty="0" err="1" smtClean="0"/>
              <a:t>msec</a:t>
            </a:r>
            <a:endParaRPr lang="en-US" altLang="en-US" dirty="0" smtClean="0"/>
          </a:p>
          <a:p>
            <a:pPr>
              <a:tabLst>
                <a:tab pos="1601312" algn="ctr"/>
                <a:tab pos="3252629" algn="ctr"/>
                <a:tab pos="5141754" algn="ctr"/>
              </a:tabLst>
              <a:defRPr/>
            </a:pPr>
            <a:endParaRPr lang="en-US" altLang="en-US" i="1" baseline="-25000" dirty="0" smtClean="0"/>
          </a:p>
          <a:p>
            <a:pPr>
              <a:buFont typeface="Monotype Sorts" pitchFamily="-84" charset="2"/>
              <a:buNone/>
              <a:tabLst>
                <a:tab pos="1601312" algn="ctr"/>
                <a:tab pos="3252629" algn="ctr"/>
                <a:tab pos="5141754" algn="ctr"/>
              </a:tabLst>
              <a:defRPr/>
            </a:pPr>
            <a:endParaRPr lang="en-US" altLang="en-US" i="1" baseline="-25000" dirty="0" smtClean="0"/>
          </a:p>
        </p:txBody>
      </p:sp>
      <p:pic>
        <p:nvPicPr>
          <p:cNvPr id="19460"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46213" y="4284663"/>
            <a:ext cx="6535737"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3067388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963613" y="201613"/>
            <a:ext cx="7723187" cy="576262"/>
          </a:xfrm>
        </p:spPr>
        <p:txBody>
          <a:bodyPr>
            <a:normAutofit fontScale="90000"/>
          </a:bodyPr>
          <a:lstStyle/>
          <a:p>
            <a:pPr eaLnBrk="1" hangingPunct="1"/>
            <a:r>
              <a:rPr lang="en-US" altLang="en-US" smtClean="0"/>
              <a:t>Priority Scheduling</a:t>
            </a:r>
          </a:p>
        </p:txBody>
      </p:sp>
      <p:sp>
        <p:nvSpPr>
          <p:cNvPr id="20483" name="Rectangle 3"/>
          <p:cNvSpPr>
            <a:spLocks noGrp="1" noChangeArrowheads="1"/>
          </p:cNvSpPr>
          <p:nvPr>
            <p:ph type="body" idx="1"/>
          </p:nvPr>
        </p:nvSpPr>
        <p:spPr>
          <a:xfrm>
            <a:off x="882650" y="1233488"/>
            <a:ext cx="7423150" cy="4530725"/>
          </a:xfrm>
        </p:spPr>
        <p:txBody>
          <a:bodyPr>
            <a:normAutofit fontScale="85000" lnSpcReduction="10000"/>
          </a:bodyPr>
          <a:lstStyle/>
          <a:p>
            <a:r>
              <a:rPr lang="en-US" altLang="en-US" smtClean="0"/>
              <a:t>A priority number (integer) is associated with each process</a:t>
            </a:r>
          </a:p>
          <a:p>
            <a:endParaRPr lang="en-US" altLang="en-US" sz="800" smtClean="0"/>
          </a:p>
          <a:p>
            <a:r>
              <a:rPr lang="en-US" altLang="en-US" smtClean="0"/>
              <a:t>The CPU is allocated to the process with the highest priority (smallest integer </a:t>
            </a:r>
            <a:r>
              <a:rPr lang="en-US" altLang="en-US" smtClean="0">
                <a:sym typeface="Symbol" pitchFamily="18" charset="2"/>
              </a:rPr>
              <a:t> highest priority)</a:t>
            </a:r>
          </a:p>
          <a:p>
            <a:pPr lvl="1"/>
            <a:r>
              <a:rPr lang="en-US" altLang="en-US" smtClean="0"/>
              <a:t>Preemptive</a:t>
            </a:r>
          </a:p>
          <a:p>
            <a:pPr lvl="1"/>
            <a:r>
              <a:rPr lang="en-US" altLang="en-US" smtClean="0"/>
              <a:t>Nonpreemptive</a:t>
            </a:r>
          </a:p>
          <a:p>
            <a:pPr lvl="1"/>
            <a:endParaRPr lang="en-US" altLang="en-US" sz="800" smtClean="0"/>
          </a:p>
          <a:p>
            <a:r>
              <a:rPr lang="en-US" altLang="en-US" smtClean="0"/>
              <a:t>SJF is priority scheduling where priority is the inverse of predicted next CPU burst time</a:t>
            </a:r>
          </a:p>
          <a:p>
            <a:endParaRPr lang="en-US" altLang="en-US" sz="800" smtClean="0"/>
          </a:p>
          <a:p>
            <a:r>
              <a:rPr lang="en-US" altLang="en-US" smtClean="0"/>
              <a:t>Problem </a:t>
            </a:r>
            <a:r>
              <a:rPr lang="en-US" altLang="en-US" smtClean="0">
                <a:sym typeface="Symbol" pitchFamily="18" charset="2"/>
              </a:rPr>
              <a:t> </a:t>
            </a:r>
            <a:r>
              <a:rPr lang="en-US" altLang="en-US" b="1" smtClean="0">
                <a:solidFill>
                  <a:srgbClr val="3366FF"/>
                </a:solidFill>
                <a:sym typeface="Symbol" pitchFamily="18" charset="2"/>
              </a:rPr>
              <a:t>Starvation</a:t>
            </a:r>
            <a:r>
              <a:rPr lang="en-US" altLang="en-US" b="1" smtClean="0">
                <a:sym typeface="Symbol" pitchFamily="18" charset="2"/>
              </a:rPr>
              <a:t> </a:t>
            </a:r>
            <a:r>
              <a:rPr lang="en-US" altLang="en-US" smtClean="0">
                <a:sym typeface="Symbol" pitchFamily="18" charset="2"/>
              </a:rPr>
              <a:t>– low priority processes may never execute</a:t>
            </a:r>
          </a:p>
          <a:p>
            <a:endParaRPr lang="en-US" altLang="en-US" sz="800" smtClean="0">
              <a:sym typeface="Symbol" pitchFamily="18" charset="2"/>
            </a:endParaRPr>
          </a:p>
          <a:p>
            <a:r>
              <a:rPr lang="en-US" altLang="en-US" smtClean="0">
                <a:sym typeface="Symbol" pitchFamily="18" charset="2"/>
              </a:rPr>
              <a:t>Solution  </a:t>
            </a:r>
            <a:r>
              <a:rPr lang="en-US" altLang="en-US" b="1" smtClean="0">
                <a:solidFill>
                  <a:srgbClr val="3366FF"/>
                </a:solidFill>
                <a:sym typeface="Symbol" pitchFamily="18" charset="2"/>
              </a:rPr>
              <a:t>Aging</a:t>
            </a:r>
            <a:r>
              <a:rPr lang="en-US" altLang="en-US" b="1" smtClean="0">
                <a:sym typeface="Symbol" pitchFamily="18" charset="2"/>
              </a:rPr>
              <a:t> </a:t>
            </a:r>
            <a:r>
              <a:rPr lang="en-US" altLang="en-US" smtClean="0">
                <a:sym typeface="Symbol" pitchFamily="18" charset="2"/>
              </a:rPr>
              <a:t>– as time progresses increase the priority of the process</a:t>
            </a:r>
          </a:p>
          <a:p>
            <a:pPr>
              <a:buFont typeface="Monotype Sorts" pitchFamily="-84" charset="2"/>
              <a:buNone/>
            </a:pPr>
            <a:endParaRPr lang="en-US" altLang="en-US" b="1" smtClean="0">
              <a:solidFill>
                <a:srgbClr val="3366FF"/>
              </a:solidFill>
              <a:sym typeface="Symbol" pitchFamily="18" charset="2"/>
            </a:endParaRPr>
          </a:p>
        </p:txBody>
      </p:sp>
    </p:spTree>
    <p:extLst>
      <p:ext uri="{BB962C8B-B14F-4D97-AF65-F5344CB8AC3E}">
        <p14:creationId xmlns:p14="http://schemas.microsoft.com/office/powerpoint/2010/main" val="389914790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1406525" y="201613"/>
            <a:ext cx="7280275" cy="576262"/>
          </a:xfrm>
        </p:spPr>
        <p:txBody>
          <a:bodyPr>
            <a:normAutofit fontScale="90000"/>
          </a:bodyPr>
          <a:lstStyle/>
          <a:p>
            <a:pPr eaLnBrk="1" hangingPunct="1"/>
            <a:r>
              <a:rPr lang="en-US" altLang="en-US" smtClean="0"/>
              <a:t>Example of Priority Scheduling</a:t>
            </a:r>
          </a:p>
        </p:txBody>
      </p:sp>
      <p:sp>
        <p:nvSpPr>
          <p:cNvPr id="21507" name="Rectangle 36"/>
          <p:cNvSpPr>
            <a:spLocks noGrp="1" noChangeArrowheads="1"/>
          </p:cNvSpPr>
          <p:nvPr>
            <p:ph type="body" idx="1"/>
          </p:nvPr>
        </p:nvSpPr>
        <p:spPr>
          <a:xfrm>
            <a:off x="806450" y="1233488"/>
            <a:ext cx="8337550" cy="4887912"/>
          </a:xfrm>
          <a:noFill/>
        </p:spPr>
        <p:txBody>
          <a:bodyPr>
            <a:normAutofit fontScale="92500" lnSpcReduction="20000"/>
          </a:bodyPr>
          <a:lstStyle/>
          <a:p>
            <a:pPr>
              <a:buFont typeface="Monotype Sorts" pitchFamily="-84" charset="2"/>
              <a:buNone/>
              <a:tabLst>
                <a:tab pos="1600200" algn="ctr"/>
                <a:tab pos="3251200" algn="ctr"/>
                <a:tab pos="5140325" algn="ctr"/>
              </a:tabLst>
            </a:pPr>
            <a:r>
              <a:rPr lang="en-US" altLang="en-US" smtClean="0"/>
              <a:t>		         </a:t>
            </a:r>
            <a:r>
              <a:rPr lang="en-US" altLang="en-US" u="sng" smtClean="0"/>
              <a:t>Process</a:t>
            </a:r>
            <a:r>
              <a:rPr lang="en-US" altLang="en-US" u="sng" smtClean="0">
                <a:solidFill>
                  <a:schemeClr val="bg1"/>
                </a:solidFill>
              </a:rPr>
              <a:t>A	arri </a:t>
            </a:r>
            <a:r>
              <a:rPr lang="en-US" altLang="en-US" u="sng" smtClean="0"/>
              <a:t>Burst Time</a:t>
            </a:r>
            <a:r>
              <a:rPr lang="en-US" altLang="en-US" u="sng" smtClean="0">
                <a:solidFill>
                  <a:schemeClr val="bg1"/>
                </a:solidFill>
              </a:rPr>
              <a:t>T</a:t>
            </a:r>
            <a:r>
              <a:rPr lang="en-US" altLang="en-US" smtClean="0"/>
              <a:t>	</a:t>
            </a:r>
            <a:r>
              <a:rPr lang="en-US" altLang="en-US" u="sng" smtClean="0"/>
              <a:t>Priority</a:t>
            </a:r>
            <a:endParaRPr lang="en-US" altLang="en-US" smtClean="0"/>
          </a:p>
          <a:p>
            <a:pPr>
              <a:buFont typeface="Monotype Sorts" pitchFamily="-84" charset="2"/>
              <a:buNone/>
              <a:tabLst>
                <a:tab pos="1600200" algn="ctr"/>
                <a:tab pos="3251200" algn="ctr"/>
                <a:tab pos="5140325" algn="ctr"/>
              </a:tabLst>
            </a:pPr>
            <a:r>
              <a:rPr lang="en-US" altLang="en-US" smtClean="0"/>
              <a:t>		 </a:t>
            </a:r>
            <a:r>
              <a:rPr lang="en-US" altLang="en-US" i="1" smtClean="0"/>
              <a:t>P</a:t>
            </a:r>
            <a:r>
              <a:rPr lang="en-US" altLang="en-US" i="1" baseline="-25000" smtClean="0"/>
              <a:t>1</a:t>
            </a:r>
            <a:r>
              <a:rPr lang="en-US" altLang="en-US" smtClean="0"/>
              <a:t>	1</a:t>
            </a:r>
            <a:r>
              <a:rPr lang="en-US" altLang="en-US" smtClean="0">
                <a:solidFill>
                  <a:srgbClr val="000000"/>
                </a:solidFill>
              </a:rPr>
              <a:t>0</a:t>
            </a:r>
            <a:r>
              <a:rPr lang="en-US" altLang="en-US" smtClean="0"/>
              <a:t>	3</a:t>
            </a:r>
          </a:p>
          <a:p>
            <a:pPr>
              <a:buFont typeface="Monotype Sorts" pitchFamily="-84" charset="2"/>
              <a:buNone/>
              <a:tabLst>
                <a:tab pos="1600200" algn="ctr"/>
                <a:tab pos="3251200" algn="ctr"/>
                <a:tab pos="5140325" algn="ctr"/>
              </a:tabLst>
            </a:pPr>
            <a:r>
              <a:rPr lang="en-US" altLang="en-US" smtClean="0"/>
              <a:t>		 </a:t>
            </a:r>
            <a:r>
              <a:rPr lang="en-US" altLang="en-US" i="1" smtClean="0"/>
              <a:t>P</a:t>
            </a:r>
            <a:r>
              <a:rPr lang="en-US" altLang="en-US" i="1" baseline="-25000" smtClean="0"/>
              <a:t>2 	</a:t>
            </a:r>
            <a:r>
              <a:rPr lang="en-US" altLang="en-US" smtClean="0">
                <a:solidFill>
                  <a:srgbClr val="000000"/>
                </a:solidFill>
              </a:rPr>
              <a:t>1</a:t>
            </a:r>
            <a:r>
              <a:rPr lang="en-US" altLang="en-US" smtClean="0"/>
              <a:t>	1</a:t>
            </a:r>
          </a:p>
          <a:p>
            <a:pPr>
              <a:buFont typeface="Monotype Sorts" pitchFamily="-84" charset="2"/>
              <a:buNone/>
              <a:tabLst>
                <a:tab pos="1600200" algn="ctr"/>
                <a:tab pos="3251200" algn="ctr"/>
                <a:tab pos="5140325" algn="ctr"/>
              </a:tabLst>
            </a:pPr>
            <a:r>
              <a:rPr lang="en-US" altLang="en-US" smtClean="0"/>
              <a:t>		 </a:t>
            </a:r>
            <a:r>
              <a:rPr lang="en-US" altLang="en-US" i="1" smtClean="0"/>
              <a:t>P</a:t>
            </a:r>
            <a:r>
              <a:rPr lang="en-US" altLang="en-US" i="1" baseline="-25000" smtClean="0"/>
              <a:t>3</a:t>
            </a:r>
            <a:r>
              <a:rPr lang="en-US" altLang="en-US" smtClean="0"/>
              <a:t>	</a:t>
            </a:r>
            <a:r>
              <a:rPr lang="en-US" altLang="en-US" smtClean="0">
                <a:solidFill>
                  <a:srgbClr val="000000"/>
                </a:solidFill>
              </a:rPr>
              <a:t>2</a:t>
            </a:r>
            <a:r>
              <a:rPr lang="en-US" altLang="en-US" smtClean="0"/>
              <a:t>	4</a:t>
            </a:r>
          </a:p>
          <a:p>
            <a:pPr>
              <a:buFont typeface="Monotype Sorts" pitchFamily="-84" charset="2"/>
              <a:buNone/>
              <a:tabLst>
                <a:tab pos="1600200" algn="ctr"/>
                <a:tab pos="3251200" algn="ctr"/>
                <a:tab pos="5140325" algn="ctr"/>
              </a:tabLst>
            </a:pPr>
            <a:r>
              <a:rPr lang="en-US" altLang="en-US" smtClean="0"/>
              <a:t>		 </a:t>
            </a:r>
            <a:r>
              <a:rPr lang="en-US" altLang="en-US" i="1" smtClean="0"/>
              <a:t>P</a:t>
            </a:r>
            <a:r>
              <a:rPr lang="en-US" altLang="en-US" i="1" baseline="-25000" smtClean="0"/>
              <a:t>4</a:t>
            </a:r>
            <a:r>
              <a:rPr lang="en-US" altLang="en-US" smtClean="0"/>
              <a:t>	</a:t>
            </a:r>
            <a:r>
              <a:rPr lang="en-US" altLang="en-US" smtClean="0">
                <a:solidFill>
                  <a:srgbClr val="000000"/>
                </a:solidFill>
              </a:rPr>
              <a:t>1</a:t>
            </a:r>
            <a:r>
              <a:rPr lang="en-US" altLang="en-US" smtClean="0"/>
              <a:t>	5</a:t>
            </a:r>
          </a:p>
          <a:p>
            <a:pPr>
              <a:buFont typeface="Monotype Sorts" pitchFamily="-84" charset="2"/>
              <a:buNone/>
              <a:tabLst>
                <a:tab pos="1600200" algn="ctr"/>
                <a:tab pos="3251200" algn="ctr"/>
                <a:tab pos="5140325" algn="ctr"/>
              </a:tabLst>
            </a:pPr>
            <a:r>
              <a:rPr lang="en-US" altLang="en-US" smtClean="0"/>
              <a:t>		</a:t>
            </a:r>
            <a:r>
              <a:rPr lang="en-US" altLang="en-US" i="1" smtClean="0"/>
              <a:t>P</a:t>
            </a:r>
            <a:r>
              <a:rPr lang="en-US" altLang="en-US" i="1" baseline="-25000" smtClean="0"/>
              <a:t>5	</a:t>
            </a:r>
            <a:r>
              <a:rPr lang="en-US" altLang="en-US" smtClean="0"/>
              <a:t>5	2</a:t>
            </a:r>
          </a:p>
          <a:p>
            <a:pPr>
              <a:buFont typeface="Monotype Sorts" pitchFamily="-84" charset="2"/>
              <a:buNone/>
              <a:tabLst>
                <a:tab pos="1600200" algn="ctr"/>
                <a:tab pos="3251200" algn="ctr"/>
                <a:tab pos="5140325" algn="ctr"/>
              </a:tabLst>
            </a:pPr>
            <a:endParaRPr lang="en-US" altLang="en-US" baseline="-25000" smtClean="0"/>
          </a:p>
          <a:p>
            <a:pPr>
              <a:tabLst>
                <a:tab pos="1600200" algn="ctr"/>
                <a:tab pos="3251200" algn="ctr"/>
                <a:tab pos="5140325" algn="ctr"/>
              </a:tabLst>
            </a:pPr>
            <a:r>
              <a:rPr lang="en-US" altLang="en-US" smtClean="0"/>
              <a:t>Priority scheduling Gantt Chart</a:t>
            </a:r>
          </a:p>
          <a:p>
            <a:pPr>
              <a:tabLst>
                <a:tab pos="1600200" algn="ctr"/>
                <a:tab pos="3251200" algn="ctr"/>
                <a:tab pos="5140325" algn="ctr"/>
              </a:tabLst>
            </a:pPr>
            <a:endParaRPr lang="en-US" altLang="en-US" smtClean="0"/>
          </a:p>
          <a:p>
            <a:pPr>
              <a:tabLst>
                <a:tab pos="1600200" algn="ctr"/>
                <a:tab pos="3251200" algn="ctr"/>
                <a:tab pos="5140325" algn="ctr"/>
              </a:tabLst>
            </a:pPr>
            <a:endParaRPr lang="en-US" altLang="en-US" smtClean="0"/>
          </a:p>
          <a:p>
            <a:pPr>
              <a:tabLst>
                <a:tab pos="1600200" algn="ctr"/>
                <a:tab pos="3251200" algn="ctr"/>
                <a:tab pos="5140325" algn="ctr"/>
              </a:tabLst>
            </a:pPr>
            <a:endParaRPr lang="en-US" altLang="en-US" smtClean="0"/>
          </a:p>
          <a:p>
            <a:pPr>
              <a:buFont typeface="Monotype Sorts" pitchFamily="-84" charset="2"/>
              <a:buNone/>
              <a:tabLst>
                <a:tab pos="1600200" algn="ctr"/>
                <a:tab pos="3251200" algn="ctr"/>
                <a:tab pos="5140325" algn="ctr"/>
              </a:tabLst>
            </a:pPr>
            <a:endParaRPr lang="en-US" altLang="en-US" smtClean="0"/>
          </a:p>
          <a:p>
            <a:pPr>
              <a:tabLst>
                <a:tab pos="1600200" algn="ctr"/>
                <a:tab pos="3251200" algn="ctr"/>
                <a:tab pos="5140325" algn="ctr"/>
              </a:tabLst>
            </a:pPr>
            <a:r>
              <a:rPr lang="en-US" altLang="en-US" smtClean="0"/>
              <a:t>Average waiting time = 8.2 msec</a:t>
            </a:r>
            <a:endParaRPr lang="en-US" altLang="en-US" i="1" baseline="-25000" smtClean="0"/>
          </a:p>
        </p:txBody>
      </p:sp>
      <p:pic>
        <p:nvPicPr>
          <p:cNvPr id="21508" name="Picture 5" descr="C:\Users\as668\Desktop\in-5_6.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9375" y="4318000"/>
            <a:ext cx="6318250"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9492902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457200" y="176213"/>
            <a:ext cx="8229600" cy="576262"/>
          </a:xfrm>
        </p:spPr>
        <p:txBody>
          <a:bodyPr>
            <a:normAutofit fontScale="90000"/>
          </a:bodyPr>
          <a:lstStyle/>
          <a:p>
            <a:pPr eaLnBrk="1" hangingPunct="1"/>
            <a:r>
              <a:rPr lang="en-US" altLang="en-US" smtClean="0"/>
              <a:t>Round Robin (RR)</a:t>
            </a:r>
          </a:p>
        </p:txBody>
      </p:sp>
      <p:sp>
        <p:nvSpPr>
          <p:cNvPr id="22531" name="Rectangle 3"/>
          <p:cNvSpPr>
            <a:spLocks noGrp="1" noChangeArrowheads="1"/>
          </p:cNvSpPr>
          <p:nvPr>
            <p:ph type="body" idx="1"/>
          </p:nvPr>
        </p:nvSpPr>
        <p:spPr>
          <a:xfrm>
            <a:off x="889000" y="1231900"/>
            <a:ext cx="7150100" cy="4483100"/>
          </a:xfrm>
        </p:spPr>
        <p:txBody>
          <a:bodyPr>
            <a:normAutofit fontScale="92500" lnSpcReduction="20000"/>
          </a:bodyPr>
          <a:lstStyle/>
          <a:p>
            <a:pPr algn="just"/>
            <a:r>
              <a:rPr lang="en-US" altLang="en-US" dirty="0" smtClean="0"/>
              <a:t>Each process gets a small unit of CPU time (</a:t>
            </a:r>
            <a:r>
              <a:rPr lang="en-US" altLang="en-US" b="1" dirty="0" smtClean="0">
                <a:solidFill>
                  <a:srgbClr val="3366FF"/>
                </a:solidFill>
              </a:rPr>
              <a:t>time</a:t>
            </a:r>
            <a:r>
              <a:rPr lang="en-US" altLang="en-US" b="1" dirty="0" smtClean="0"/>
              <a:t> </a:t>
            </a:r>
            <a:r>
              <a:rPr lang="en-US" altLang="en-US" b="1" dirty="0" smtClean="0">
                <a:solidFill>
                  <a:srgbClr val="3366FF"/>
                </a:solidFill>
              </a:rPr>
              <a:t>quantum</a:t>
            </a:r>
            <a:r>
              <a:rPr lang="en-US" altLang="en-US" b="1" dirty="0" smtClean="0"/>
              <a:t> </a:t>
            </a:r>
            <a:r>
              <a:rPr lang="en-US" altLang="en-US" i="1" dirty="0" smtClean="0"/>
              <a:t>q</a:t>
            </a:r>
            <a:r>
              <a:rPr lang="en-US" altLang="en-US" dirty="0" smtClean="0"/>
              <a:t>), usually 10-100 milliseconds.  After this time has elapsed, the process is preempted and added to the end of the ready queue.</a:t>
            </a:r>
          </a:p>
          <a:p>
            <a:pPr algn="just"/>
            <a:r>
              <a:rPr lang="en-US" altLang="en-US" dirty="0" smtClean="0"/>
              <a:t>If there are </a:t>
            </a:r>
            <a:r>
              <a:rPr lang="en-US" altLang="en-US" i="1" dirty="0" smtClean="0"/>
              <a:t>n</a:t>
            </a:r>
            <a:r>
              <a:rPr lang="en-US" altLang="en-US" dirty="0" smtClean="0"/>
              <a:t> processes in the ready queue and the time quantum is </a:t>
            </a:r>
            <a:r>
              <a:rPr lang="en-US" altLang="en-US" i="1" dirty="0" smtClean="0"/>
              <a:t>q</a:t>
            </a:r>
            <a:r>
              <a:rPr lang="en-US" altLang="en-US" dirty="0" smtClean="0"/>
              <a:t>, then each process gets 1/</a:t>
            </a:r>
            <a:r>
              <a:rPr lang="en-US" altLang="en-US" i="1" dirty="0" smtClean="0"/>
              <a:t>n</a:t>
            </a:r>
            <a:r>
              <a:rPr lang="en-US" altLang="en-US" dirty="0" smtClean="0"/>
              <a:t> of the CPU time in chunks of at most </a:t>
            </a:r>
            <a:r>
              <a:rPr lang="en-US" altLang="en-US" i="1" dirty="0" smtClean="0"/>
              <a:t>q</a:t>
            </a:r>
            <a:r>
              <a:rPr lang="en-US" altLang="en-US" dirty="0" smtClean="0"/>
              <a:t> time units at once.  No process waits more than (</a:t>
            </a:r>
            <a:r>
              <a:rPr lang="en-US" altLang="en-US" i="1" dirty="0" smtClean="0"/>
              <a:t>n</a:t>
            </a:r>
            <a:r>
              <a:rPr lang="en-US" altLang="en-US" dirty="0" smtClean="0"/>
              <a:t>-1)</a:t>
            </a:r>
            <a:r>
              <a:rPr lang="en-US" altLang="en-US" i="1" dirty="0" smtClean="0"/>
              <a:t>q </a:t>
            </a:r>
            <a:r>
              <a:rPr lang="en-US" altLang="en-US" dirty="0" smtClean="0"/>
              <a:t>time units.</a:t>
            </a:r>
          </a:p>
          <a:p>
            <a:pPr algn="just"/>
            <a:r>
              <a:rPr lang="en-US" altLang="en-US" dirty="0" smtClean="0"/>
              <a:t>Timer interrupts every quantum to schedule next process</a:t>
            </a:r>
          </a:p>
          <a:p>
            <a:pPr algn="just"/>
            <a:r>
              <a:rPr lang="en-US" altLang="en-US" dirty="0" smtClean="0"/>
              <a:t>Performance</a:t>
            </a:r>
          </a:p>
          <a:p>
            <a:pPr lvl="1" algn="just"/>
            <a:r>
              <a:rPr lang="en-US" altLang="en-US" i="1" dirty="0" smtClean="0"/>
              <a:t>q</a:t>
            </a:r>
            <a:r>
              <a:rPr lang="en-US" altLang="en-US" dirty="0" smtClean="0"/>
              <a:t> large </a:t>
            </a:r>
            <a:r>
              <a:rPr lang="en-US" altLang="en-US" dirty="0" smtClean="0">
                <a:sym typeface="Symbol" pitchFamily="18" charset="2"/>
              </a:rPr>
              <a:t> FIFO</a:t>
            </a:r>
          </a:p>
          <a:p>
            <a:pPr lvl="1" algn="just"/>
            <a:r>
              <a:rPr lang="en-US" altLang="en-US" i="1" dirty="0" smtClean="0">
                <a:sym typeface="Symbol" pitchFamily="18" charset="2"/>
              </a:rPr>
              <a:t>q </a:t>
            </a:r>
            <a:r>
              <a:rPr lang="en-US" altLang="en-US" dirty="0" smtClean="0">
                <a:sym typeface="Symbol" pitchFamily="18" charset="2"/>
              </a:rPr>
              <a:t>small  </a:t>
            </a:r>
            <a:r>
              <a:rPr lang="en-US" altLang="en-US" i="1" dirty="0" smtClean="0">
                <a:sym typeface="Symbol" pitchFamily="18" charset="2"/>
              </a:rPr>
              <a:t>q </a:t>
            </a:r>
            <a:r>
              <a:rPr lang="en-US" altLang="en-US" dirty="0" smtClean="0">
                <a:sym typeface="Symbol" pitchFamily="18" charset="2"/>
              </a:rPr>
              <a:t>must be large with respect to context switch, otherwise overhead is too high</a:t>
            </a:r>
          </a:p>
        </p:txBody>
      </p:sp>
    </p:spTree>
    <p:extLst>
      <p:ext uri="{BB962C8B-B14F-4D97-AF65-F5344CB8AC3E}">
        <p14:creationId xmlns:p14="http://schemas.microsoft.com/office/powerpoint/2010/main" val="338285181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1358900" y="139700"/>
            <a:ext cx="7750175" cy="647700"/>
          </a:xfrm>
        </p:spPr>
        <p:txBody>
          <a:bodyPr>
            <a:normAutofit fontScale="90000"/>
          </a:bodyPr>
          <a:lstStyle/>
          <a:p>
            <a:pPr eaLnBrk="1" hangingPunct="1"/>
            <a:r>
              <a:rPr lang="en-US" altLang="en-US" smtClean="0"/>
              <a:t>Example of RR with Time Quantum = 4</a:t>
            </a:r>
          </a:p>
        </p:txBody>
      </p:sp>
      <p:sp>
        <p:nvSpPr>
          <p:cNvPr id="23555" name="Rectangle 3"/>
          <p:cNvSpPr>
            <a:spLocks noGrp="1" noChangeArrowheads="1"/>
          </p:cNvSpPr>
          <p:nvPr>
            <p:ph type="body" idx="1"/>
          </p:nvPr>
        </p:nvSpPr>
        <p:spPr>
          <a:xfrm>
            <a:off x="954088" y="1193800"/>
            <a:ext cx="7351712" cy="4483100"/>
          </a:xfrm>
        </p:spPr>
        <p:txBody>
          <a:bodyPr>
            <a:normAutofit fontScale="92500" lnSpcReduction="20000"/>
          </a:bodyPr>
          <a:lstStyle/>
          <a:p>
            <a:pPr>
              <a:lnSpc>
                <a:spcPct val="90000"/>
              </a:lnSpc>
              <a:buFont typeface="Monotype Sorts" pitchFamily="-84" charset="2"/>
              <a:buNone/>
              <a:tabLst>
                <a:tab pos="2219325" algn="ctr"/>
                <a:tab pos="3994150" algn="ctr"/>
              </a:tabLst>
            </a:pPr>
            <a:r>
              <a:rPr lang="en-US" altLang="en-US" smtClean="0"/>
              <a:t>		</a:t>
            </a:r>
            <a:r>
              <a:rPr lang="en-US" altLang="en-US" u="sng" smtClean="0"/>
              <a:t>Process</a:t>
            </a:r>
            <a:r>
              <a:rPr lang="en-US" altLang="en-US" smtClean="0"/>
              <a:t>	</a:t>
            </a:r>
            <a:r>
              <a:rPr lang="en-US" altLang="en-US" u="sng" smtClean="0"/>
              <a:t>Burst Time</a:t>
            </a:r>
          </a:p>
          <a:p>
            <a:pPr>
              <a:lnSpc>
                <a:spcPct val="90000"/>
              </a:lnSpc>
              <a:buFont typeface="Monotype Sorts" pitchFamily="-84" charset="2"/>
              <a:buNone/>
              <a:tabLst>
                <a:tab pos="2219325" algn="ctr"/>
                <a:tab pos="3994150" algn="ctr"/>
              </a:tabLst>
            </a:pPr>
            <a:r>
              <a:rPr lang="en-US" altLang="en-US" i="1" smtClean="0"/>
              <a:t>		P</a:t>
            </a:r>
            <a:r>
              <a:rPr lang="en-US" altLang="en-US" i="1" baseline="-25000" smtClean="0"/>
              <a:t>1	</a:t>
            </a:r>
            <a:r>
              <a:rPr lang="en-US" altLang="en-US" smtClean="0"/>
              <a:t>24</a:t>
            </a:r>
          </a:p>
          <a:p>
            <a:pPr>
              <a:lnSpc>
                <a:spcPct val="90000"/>
              </a:lnSpc>
              <a:buFont typeface="Monotype Sorts" pitchFamily="-84" charset="2"/>
              <a:buNone/>
              <a:tabLst>
                <a:tab pos="2219325" algn="ctr"/>
                <a:tab pos="3994150" algn="ctr"/>
              </a:tabLst>
            </a:pPr>
            <a:r>
              <a:rPr lang="en-US" altLang="en-US" smtClean="0"/>
              <a:t>		 </a:t>
            </a:r>
            <a:r>
              <a:rPr lang="en-US" altLang="en-US" i="1" smtClean="0"/>
              <a:t>P</a:t>
            </a:r>
            <a:r>
              <a:rPr lang="en-US" altLang="en-US" i="1" baseline="-25000" smtClean="0"/>
              <a:t>2	 </a:t>
            </a:r>
            <a:r>
              <a:rPr lang="en-US" altLang="en-US" smtClean="0"/>
              <a:t>3</a:t>
            </a:r>
          </a:p>
          <a:p>
            <a:pPr>
              <a:lnSpc>
                <a:spcPct val="90000"/>
              </a:lnSpc>
              <a:buFont typeface="Monotype Sorts" pitchFamily="-84" charset="2"/>
              <a:buNone/>
              <a:tabLst>
                <a:tab pos="2219325" algn="ctr"/>
                <a:tab pos="3994150" algn="ctr"/>
              </a:tabLst>
            </a:pPr>
            <a:r>
              <a:rPr lang="en-US" altLang="en-US" smtClean="0"/>
              <a:t>		 </a:t>
            </a:r>
            <a:r>
              <a:rPr lang="en-US" altLang="en-US" i="1" smtClean="0"/>
              <a:t>P</a:t>
            </a:r>
            <a:r>
              <a:rPr lang="en-US" altLang="en-US" i="1" baseline="-25000" smtClean="0"/>
              <a:t>3	</a:t>
            </a:r>
            <a:r>
              <a:rPr lang="en-US" altLang="en-US" smtClean="0"/>
              <a:t>3	</a:t>
            </a:r>
          </a:p>
          <a:p>
            <a:pPr>
              <a:lnSpc>
                <a:spcPct val="90000"/>
              </a:lnSpc>
              <a:tabLst>
                <a:tab pos="2219325" algn="ctr"/>
                <a:tab pos="3994150" algn="ctr"/>
              </a:tabLst>
            </a:pPr>
            <a:r>
              <a:rPr lang="en-US" altLang="en-US" smtClean="0"/>
              <a:t>The Gantt chart is: </a:t>
            </a:r>
            <a:br>
              <a:rPr lang="en-US" altLang="en-US" smtClean="0"/>
            </a:br>
            <a:r>
              <a:rPr lang="en-US" altLang="en-US" smtClean="0"/>
              <a:t/>
            </a:r>
            <a:br>
              <a:rPr lang="en-US" altLang="en-US" smtClean="0"/>
            </a:br>
            <a:r>
              <a:rPr lang="en-US" altLang="en-US" smtClean="0"/>
              <a:t/>
            </a:r>
            <a:br>
              <a:rPr lang="en-US" altLang="en-US" smtClean="0"/>
            </a:br>
            <a:r>
              <a:rPr lang="en-US" altLang="en-US" smtClean="0"/>
              <a:t/>
            </a:r>
            <a:br>
              <a:rPr lang="en-US" altLang="en-US" smtClean="0"/>
            </a:br>
            <a:r>
              <a:rPr lang="en-US" altLang="en-US" smtClean="0"/>
              <a:t/>
            </a:r>
            <a:br>
              <a:rPr lang="en-US" altLang="en-US" smtClean="0"/>
            </a:br>
            <a:r>
              <a:rPr lang="en-US" altLang="en-US" smtClean="0"/>
              <a:t/>
            </a:r>
            <a:br>
              <a:rPr lang="en-US" altLang="en-US" smtClean="0"/>
            </a:br>
            <a:endParaRPr lang="en-US" altLang="en-US" smtClean="0"/>
          </a:p>
          <a:p>
            <a:pPr>
              <a:lnSpc>
                <a:spcPct val="90000"/>
              </a:lnSpc>
              <a:tabLst>
                <a:tab pos="2219325" algn="ctr"/>
                <a:tab pos="3994150" algn="ctr"/>
              </a:tabLst>
            </a:pPr>
            <a:r>
              <a:rPr lang="en-US" altLang="en-US" smtClean="0"/>
              <a:t>Typically, higher average turnaround than SJF, but better </a:t>
            </a:r>
            <a:r>
              <a:rPr lang="en-US" altLang="en-US" b="1" i="1" smtClean="0"/>
              <a:t>response</a:t>
            </a:r>
          </a:p>
          <a:p>
            <a:pPr>
              <a:lnSpc>
                <a:spcPct val="90000"/>
              </a:lnSpc>
              <a:tabLst>
                <a:tab pos="2219325" algn="ctr"/>
                <a:tab pos="3994150" algn="ctr"/>
              </a:tabLst>
            </a:pPr>
            <a:r>
              <a:rPr lang="en-US" altLang="en-US" smtClean="0"/>
              <a:t>q should be large compared to context switch time</a:t>
            </a:r>
          </a:p>
          <a:p>
            <a:pPr>
              <a:lnSpc>
                <a:spcPct val="90000"/>
              </a:lnSpc>
              <a:tabLst>
                <a:tab pos="2219325" algn="ctr"/>
                <a:tab pos="3994150" algn="ctr"/>
              </a:tabLst>
            </a:pPr>
            <a:r>
              <a:rPr lang="en-US" altLang="en-US" smtClean="0"/>
              <a:t>q usually 10ms to 100ms, context switch &lt; 10 usec</a:t>
            </a:r>
          </a:p>
        </p:txBody>
      </p:sp>
      <p:pic>
        <p:nvPicPr>
          <p:cNvPr id="23556"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98588" y="3227388"/>
            <a:ext cx="6770687" cy="788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2122959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xmlns="" id="{CDE24674-CB1D-4389-9B31-B04F87B0ABF8}"/>
              </a:ext>
            </a:extLst>
          </p:cNvPr>
          <p:cNvSpPr>
            <a:spLocks noGrp="1" noChangeArrowheads="1"/>
          </p:cNvSpPr>
          <p:nvPr>
            <p:ph type="title"/>
          </p:nvPr>
        </p:nvSpPr>
        <p:spPr>
          <a:xfrm>
            <a:off x="1452825" y="137006"/>
            <a:ext cx="7280275" cy="576262"/>
          </a:xfrm>
        </p:spPr>
        <p:txBody>
          <a:bodyPr>
            <a:normAutofit fontScale="90000"/>
          </a:bodyPr>
          <a:lstStyle/>
          <a:p>
            <a:pPr eaLnBrk="1" hangingPunct="1"/>
            <a:r>
              <a:rPr lang="en-US" altLang="en-US" dirty="0"/>
              <a:t>Priority Scheduling w/ Round-Robin</a:t>
            </a:r>
          </a:p>
        </p:txBody>
      </p:sp>
      <p:sp>
        <p:nvSpPr>
          <p:cNvPr id="52226" name="Rectangle 36">
            <a:extLst>
              <a:ext uri="{FF2B5EF4-FFF2-40B4-BE49-F238E27FC236}">
                <a16:creationId xmlns:a16="http://schemas.microsoft.com/office/drawing/2014/main" xmlns="" id="{2105BD44-B36B-488F-9B4A-6D230FFCC50A}"/>
              </a:ext>
            </a:extLst>
          </p:cNvPr>
          <p:cNvSpPr>
            <a:spLocks noGrp="1" noChangeArrowheads="1"/>
          </p:cNvSpPr>
          <p:nvPr>
            <p:ph idx="1"/>
          </p:nvPr>
        </p:nvSpPr>
        <p:spPr>
          <a:xfrm>
            <a:off x="806450" y="1142048"/>
            <a:ext cx="7675077" cy="4887912"/>
          </a:xfrm>
          <a:noFill/>
        </p:spPr>
        <p:txBody>
          <a:bodyPr/>
          <a:lstStyle/>
          <a:p>
            <a:pPr>
              <a:tabLst>
                <a:tab pos="1600200" algn="ctr"/>
                <a:tab pos="3251200" algn="ctr"/>
                <a:tab pos="5140325" algn="ctr"/>
              </a:tabLst>
            </a:pPr>
            <a:r>
              <a:rPr lang="en-US" altLang="en-US" dirty="0"/>
              <a:t>Run the process with the highest priority. Processes with the same priority run round-robin</a:t>
            </a:r>
          </a:p>
          <a:p>
            <a:pPr>
              <a:tabLst>
                <a:tab pos="1600200" algn="ctr"/>
                <a:tab pos="3251200" algn="ctr"/>
                <a:tab pos="5140325" algn="ctr"/>
              </a:tabLst>
            </a:pPr>
            <a:r>
              <a:rPr lang="en-US" altLang="en-US" dirty="0"/>
              <a:t>Example:</a:t>
            </a:r>
          </a:p>
          <a:p>
            <a:pPr>
              <a:buFont typeface="Monotype Sorts" pitchFamily="-84" charset="2"/>
              <a:buNone/>
              <a:tabLst>
                <a:tab pos="1600200" algn="ctr"/>
                <a:tab pos="3251200" algn="ctr"/>
                <a:tab pos="5140325" algn="ctr"/>
              </a:tabLst>
            </a:pPr>
            <a:r>
              <a:rPr lang="en-US" altLang="en-US" dirty="0"/>
              <a:t>                     </a:t>
            </a:r>
            <a:r>
              <a:rPr lang="en-US" altLang="en-US" u="sng" dirty="0"/>
              <a:t>Process</a:t>
            </a:r>
            <a:r>
              <a:rPr lang="en-US" altLang="en-US" u="sng" dirty="0">
                <a:solidFill>
                  <a:schemeClr val="bg1"/>
                </a:solidFill>
              </a:rPr>
              <a:t>	a   </a:t>
            </a:r>
            <a:r>
              <a:rPr lang="en-US" altLang="en-US" u="sng" dirty="0"/>
              <a:t>Burst Time</a:t>
            </a:r>
            <a:r>
              <a:rPr lang="en-US" altLang="en-US" dirty="0"/>
              <a:t>	</a:t>
            </a:r>
            <a:r>
              <a:rPr lang="en-US" altLang="en-US" u="sng" dirty="0"/>
              <a:t>Priority</a:t>
            </a:r>
            <a:endParaRPr lang="en-US" altLang="en-US" dirty="0"/>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1</a:t>
            </a:r>
            <a:r>
              <a:rPr lang="en-US" altLang="en-US" dirty="0"/>
              <a:t>	4	3</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2 	</a:t>
            </a:r>
            <a:r>
              <a:rPr lang="en-US" altLang="en-US" dirty="0">
                <a:solidFill>
                  <a:srgbClr val="000000"/>
                </a:solidFill>
              </a:rPr>
              <a:t>5</a:t>
            </a:r>
            <a:r>
              <a:rPr lang="en-US" altLang="en-US" dirty="0"/>
              <a:t>	2</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3</a:t>
            </a:r>
            <a:r>
              <a:rPr lang="en-US" altLang="en-US" dirty="0"/>
              <a:t>	</a:t>
            </a:r>
            <a:r>
              <a:rPr lang="en-US" altLang="en-US" dirty="0">
                <a:solidFill>
                  <a:srgbClr val="000000"/>
                </a:solidFill>
              </a:rPr>
              <a:t>8</a:t>
            </a:r>
            <a:r>
              <a:rPr lang="en-US" altLang="en-US" dirty="0"/>
              <a:t>	2</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4</a:t>
            </a:r>
            <a:r>
              <a:rPr lang="en-US" altLang="en-US" dirty="0"/>
              <a:t>	</a:t>
            </a:r>
            <a:r>
              <a:rPr lang="en-US" altLang="en-US" dirty="0">
                <a:solidFill>
                  <a:srgbClr val="000000"/>
                </a:solidFill>
              </a:rPr>
              <a:t>7</a:t>
            </a:r>
            <a:r>
              <a:rPr lang="en-US" altLang="en-US" dirty="0"/>
              <a:t>	1</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5	</a:t>
            </a:r>
            <a:r>
              <a:rPr lang="en-US" altLang="en-US" dirty="0"/>
              <a:t>3	3</a:t>
            </a:r>
            <a:endParaRPr lang="en-US" altLang="en-US" baseline="-25000" dirty="0"/>
          </a:p>
          <a:p>
            <a:pPr>
              <a:tabLst>
                <a:tab pos="1600200" algn="ctr"/>
                <a:tab pos="3251200" algn="ctr"/>
                <a:tab pos="5140325" algn="ctr"/>
              </a:tabLst>
            </a:pPr>
            <a:r>
              <a:rPr lang="en-US" altLang="en-US" dirty="0"/>
              <a:t>Gantt Chart with time quantum = 2</a:t>
            </a:r>
          </a:p>
          <a:p>
            <a:pPr>
              <a:tabLst>
                <a:tab pos="1600200" algn="ctr"/>
                <a:tab pos="3251200" algn="ctr"/>
                <a:tab pos="5140325" algn="ctr"/>
              </a:tabLst>
            </a:pPr>
            <a:endParaRPr lang="en-US" altLang="en-US" dirty="0"/>
          </a:p>
          <a:p>
            <a:pPr marL="0" indent="0">
              <a:buNone/>
              <a:tabLst>
                <a:tab pos="1600200" algn="ctr"/>
                <a:tab pos="3251200" algn="ctr"/>
                <a:tab pos="5140325" algn="ctr"/>
              </a:tabLst>
            </a:pPr>
            <a:endParaRPr lang="en-US" altLang="en-US" dirty="0"/>
          </a:p>
          <a:p>
            <a:pPr>
              <a:tabLst>
                <a:tab pos="1600200" algn="ctr"/>
                <a:tab pos="3251200" algn="ctr"/>
                <a:tab pos="5140325" algn="ctr"/>
              </a:tabLst>
            </a:pPr>
            <a:endParaRPr lang="en-US" altLang="en-US" dirty="0"/>
          </a:p>
          <a:p>
            <a:pPr>
              <a:buFont typeface="Monotype Sorts" pitchFamily="-84" charset="2"/>
              <a:buNone/>
              <a:tabLst>
                <a:tab pos="1600200" algn="ctr"/>
                <a:tab pos="3251200" algn="ctr"/>
                <a:tab pos="5140325" algn="ctr"/>
              </a:tabLst>
            </a:pPr>
            <a:endParaRPr lang="en-US" altLang="en-US" dirty="0"/>
          </a:p>
        </p:txBody>
      </p:sp>
      <p:pic>
        <p:nvPicPr>
          <p:cNvPr id="52227" name="Picture 2">
            <a:extLst>
              <a:ext uri="{FF2B5EF4-FFF2-40B4-BE49-F238E27FC236}">
                <a16:creationId xmlns:a16="http://schemas.microsoft.com/office/drawing/2014/main" xmlns="" id="{E776F08C-5E1F-44C8-AB6B-D21CDC72CD1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22755" y="5784550"/>
            <a:ext cx="6200925" cy="724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716438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973138" y="153988"/>
            <a:ext cx="7713662" cy="576262"/>
          </a:xfrm>
        </p:spPr>
        <p:txBody>
          <a:bodyPr>
            <a:normAutofit fontScale="90000"/>
          </a:bodyPr>
          <a:lstStyle/>
          <a:p>
            <a:pPr eaLnBrk="1" hangingPunct="1"/>
            <a:r>
              <a:rPr lang="en-US" altLang="en-US" smtClean="0"/>
              <a:t>Multilevel Queue</a:t>
            </a:r>
          </a:p>
        </p:txBody>
      </p:sp>
      <p:sp>
        <p:nvSpPr>
          <p:cNvPr id="26627" name="Rectangle 3"/>
          <p:cNvSpPr>
            <a:spLocks noGrp="1" noChangeArrowheads="1"/>
          </p:cNvSpPr>
          <p:nvPr>
            <p:ph type="body" idx="1"/>
          </p:nvPr>
        </p:nvSpPr>
        <p:spPr>
          <a:xfrm>
            <a:off x="844550" y="1068388"/>
            <a:ext cx="7537450" cy="5221287"/>
          </a:xfrm>
        </p:spPr>
        <p:txBody>
          <a:bodyPr>
            <a:normAutofit fontScale="92500" lnSpcReduction="10000"/>
          </a:bodyPr>
          <a:lstStyle/>
          <a:p>
            <a:r>
              <a:rPr lang="en-US" altLang="en-US" dirty="0" smtClean="0"/>
              <a:t>Ready queue is partitioned into separate queues, </a:t>
            </a:r>
            <a:r>
              <a:rPr lang="en-US" altLang="en-US" dirty="0" err="1" smtClean="0"/>
              <a:t>eg</a:t>
            </a:r>
            <a:r>
              <a:rPr lang="en-US" altLang="en-US" dirty="0" smtClean="0"/>
              <a:t>:</a:t>
            </a:r>
          </a:p>
          <a:p>
            <a:pPr lvl="1"/>
            <a:r>
              <a:rPr lang="en-US" altLang="en-US" b="1" dirty="0" smtClean="0">
                <a:solidFill>
                  <a:srgbClr val="3366FF"/>
                </a:solidFill>
              </a:rPr>
              <a:t>foreground</a:t>
            </a:r>
            <a:r>
              <a:rPr lang="en-US" altLang="en-US" dirty="0" smtClean="0"/>
              <a:t> (interactive)</a:t>
            </a:r>
          </a:p>
          <a:p>
            <a:pPr lvl="1"/>
            <a:r>
              <a:rPr lang="en-US" altLang="en-US" b="1" dirty="0" smtClean="0">
                <a:solidFill>
                  <a:srgbClr val="3366FF"/>
                </a:solidFill>
              </a:rPr>
              <a:t>background</a:t>
            </a:r>
            <a:r>
              <a:rPr lang="en-US" altLang="en-US" dirty="0" smtClean="0"/>
              <a:t> (batch)</a:t>
            </a:r>
          </a:p>
          <a:p>
            <a:r>
              <a:rPr lang="en-US" altLang="en-US" dirty="0" smtClean="0"/>
              <a:t>Process permanently in a given queue</a:t>
            </a:r>
            <a:endParaRPr lang="en-US" altLang="en-US" sz="800" dirty="0" smtClean="0"/>
          </a:p>
          <a:p>
            <a:r>
              <a:rPr lang="en-US" altLang="en-US" dirty="0" smtClean="0"/>
              <a:t>Each queue has its own scheduling algorithm:</a:t>
            </a:r>
          </a:p>
          <a:p>
            <a:pPr lvl="1"/>
            <a:r>
              <a:rPr lang="en-US" altLang="en-US" dirty="0" smtClean="0"/>
              <a:t>foreground – RR</a:t>
            </a:r>
          </a:p>
          <a:p>
            <a:pPr lvl="1"/>
            <a:r>
              <a:rPr lang="en-US" altLang="en-US" dirty="0" smtClean="0"/>
              <a:t>background – FCFS</a:t>
            </a:r>
            <a:endParaRPr lang="en-US" altLang="en-US" sz="800" dirty="0" smtClean="0"/>
          </a:p>
          <a:p>
            <a:r>
              <a:rPr lang="en-US" altLang="en-US" dirty="0" smtClean="0"/>
              <a:t>Scheduling must be done between the queues:</a:t>
            </a:r>
          </a:p>
          <a:p>
            <a:pPr lvl="1"/>
            <a:r>
              <a:rPr lang="en-US" altLang="en-US" dirty="0" smtClean="0"/>
              <a:t>Fixed priority scheduling; (i.e., serve all from foreground then from background).  Possibility of starvation.</a:t>
            </a:r>
          </a:p>
          <a:p>
            <a:pPr lvl="1"/>
            <a:r>
              <a:rPr lang="en-US" altLang="en-US" dirty="0" smtClean="0"/>
              <a:t>Time slice – each queue gets a certain amount of CPU time which it can schedule amongst its processes; i.e., 80% to foreground in RR</a:t>
            </a:r>
          </a:p>
          <a:p>
            <a:pPr lvl="1"/>
            <a:r>
              <a:rPr lang="en-US" altLang="en-US" dirty="0" smtClean="0"/>
              <a:t>20% to background in FCFS </a:t>
            </a:r>
          </a:p>
        </p:txBody>
      </p:sp>
    </p:spTree>
    <p:extLst>
      <p:ext uri="{BB962C8B-B14F-4D97-AF65-F5344CB8AC3E}">
        <p14:creationId xmlns:p14="http://schemas.microsoft.com/office/powerpoint/2010/main" val="359183021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1090613" y="188913"/>
            <a:ext cx="7596187" cy="576262"/>
          </a:xfrm>
        </p:spPr>
        <p:txBody>
          <a:bodyPr>
            <a:normAutofit fontScale="90000"/>
          </a:bodyPr>
          <a:lstStyle/>
          <a:p>
            <a:pPr eaLnBrk="1" hangingPunct="1"/>
            <a:r>
              <a:rPr lang="en-US" altLang="en-US" smtClean="0"/>
              <a:t>Multilevel Queue Scheduling</a:t>
            </a:r>
          </a:p>
        </p:txBody>
      </p:sp>
      <p:pic>
        <p:nvPicPr>
          <p:cNvPr id="27651" name="Picture 4" descr="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0000" y="1466850"/>
            <a:ext cx="6686550" cy="442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6173016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660400" y="239713"/>
            <a:ext cx="8026400" cy="576262"/>
          </a:xfrm>
        </p:spPr>
        <p:txBody>
          <a:bodyPr>
            <a:normAutofit fontScale="90000"/>
          </a:bodyPr>
          <a:lstStyle/>
          <a:p>
            <a:pPr eaLnBrk="1" hangingPunct="1"/>
            <a:r>
              <a:rPr lang="en-US" altLang="en-US" smtClean="0"/>
              <a:t>Multilevel Feedback Queue</a:t>
            </a:r>
          </a:p>
        </p:txBody>
      </p:sp>
      <p:sp>
        <p:nvSpPr>
          <p:cNvPr id="28675" name="Rectangle 3"/>
          <p:cNvSpPr>
            <a:spLocks noGrp="1" noChangeArrowheads="1"/>
          </p:cNvSpPr>
          <p:nvPr>
            <p:ph type="body" idx="1"/>
          </p:nvPr>
        </p:nvSpPr>
        <p:spPr>
          <a:xfrm>
            <a:off x="979488" y="1468438"/>
            <a:ext cx="7351712" cy="4483100"/>
          </a:xfrm>
        </p:spPr>
        <p:txBody>
          <a:bodyPr/>
          <a:lstStyle/>
          <a:p>
            <a:r>
              <a:rPr lang="en-US" altLang="en-US" smtClean="0"/>
              <a:t>A process can move between the various queues; aging can be implemented this way</a:t>
            </a:r>
          </a:p>
          <a:p>
            <a:r>
              <a:rPr lang="en-US" altLang="en-US" smtClean="0"/>
              <a:t>Multilevel-feedback-queue scheduler defined by the following parameters:</a:t>
            </a:r>
          </a:p>
          <a:p>
            <a:pPr lvl="1"/>
            <a:r>
              <a:rPr lang="en-US" altLang="en-US" smtClean="0"/>
              <a:t>number of queues</a:t>
            </a:r>
          </a:p>
          <a:p>
            <a:pPr lvl="1"/>
            <a:r>
              <a:rPr lang="en-US" altLang="en-US" smtClean="0"/>
              <a:t>scheduling algorithms for each queue</a:t>
            </a:r>
          </a:p>
          <a:p>
            <a:pPr lvl="1"/>
            <a:r>
              <a:rPr lang="en-US" altLang="en-US" smtClean="0"/>
              <a:t>method used to determine when to upgrade a process</a:t>
            </a:r>
          </a:p>
          <a:p>
            <a:pPr lvl="1"/>
            <a:r>
              <a:rPr lang="en-US" altLang="en-US" smtClean="0"/>
              <a:t>method used to determine when to demote a process</a:t>
            </a:r>
          </a:p>
          <a:p>
            <a:pPr lvl="1"/>
            <a:r>
              <a:rPr lang="en-US" altLang="en-US" smtClean="0"/>
              <a:t>method used to determine which queue a process will enter when that process needs service</a:t>
            </a:r>
          </a:p>
        </p:txBody>
      </p:sp>
    </p:spTree>
    <p:extLst>
      <p:ext uri="{BB962C8B-B14F-4D97-AF65-F5344CB8AC3E}">
        <p14:creationId xmlns:p14="http://schemas.microsoft.com/office/powerpoint/2010/main" val="320241808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1371600" y="338472"/>
            <a:ext cx="7710488" cy="679450"/>
          </a:xfrm>
        </p:spPr>
        <p:txBody>
          <a:bodyPr>
            <a:normAutofit fontScale="90000"/>
          </a:bodyPr>
          <a:lstStyle/>
          <a:p>
            <a:pPr eaLnBrk="1" hangingPunct="1"/>
            <a:r>
              <a:rPr lang="en-US" altLang="en-US" dirty="0" smtClean="0"/>
              <a:t>Example of Multilevel Feedback Queue</a:t>
            </a:r>
          </a:p>
        </p:txBody>
      </p:sp>
      <p:sp>
        <p:nvSpPr>
          <p:cNvPr id="29699" name="Rectangle 3"/>
          <p:cNvSpPr>
            <a:spLocks noGrp="1" noChangeArrowheads="1"/>
          </p:cNvSpPr>
          <p:nvPr>
            <p:ph type="body" idx="1"/>
          </p:nvPr>
        </p:nvSpPr>
        <p:spPr>
          <a:xfrm>
            <a:off x="806450" y="1233488"/>
            <a:ext cx="4065588" cy="4530725"/>
          </a:xfrm>
        </p:spPr>
        <p:txBody>
          <a:bodyPr/>
          <a:lstStyle/>
          <a:p>
            <a:r>
              <a:rPr lang="en-US" altLang="en-US" dirty="0" smtClean="0"/>
              <a:t>Three queues: </a:t>
            </a:r>
          </a:p>
          <a:p>
            <a:pPr lvl="1"/>
            <a:r>
              <a:rPr lang="en-US" altLang="en-US" sz="1400" i="1" dirty="0" smtClean="0"/>
              <a:t>Q</a:t>
            </a:r>
            <a:r>
              <a:rPr lang="en-US" altLang="en-US" sz="1400" baseline="-25000" dirty="0" smtClean="0"/>
              <a:t>0</a:t>
            </a:r>
            <a:r>
              <a:rPr lang="en-US" altLang="en-US" sz="1400" dirty="0" smtClean="0"/>
              <a:t> – RR with time quantum 8 milliseconds</a:t>
            </a:r>
          </a:p>
          <a:p>
            <a:pPr lvl="1"/>
            <a:r>
              <a:rPr lang="en-US" altLang="en-US" sz="1400" i="1" dirty="0" smtClean="0"/>
              <a:t>Q</a:t>
            </a:r>
            <a:r>
              <a:rPr lang="en-US" altLang="en-US" sz="1400" baseline="-25000" dirty="0" smtClean="0"/>
              <a:t>1</a:t>
            </a:r>
            <a:r>
              <a:rPr lang="en-US" altLang="en-US" sz="1400" dirty="0" smtClean="0"/>
              <a:t> – RR time quantum 16 milliseconds</a:t>
            </a:r>
          </a:p>
          <a:p>
            <a:pPr lvl="1"/>
            <a:r>
              <a:rPr lang="en-US" altLang="en-US" sz="1400" i="1" dirty="0" smtClean="0"/>
              <a:t>Q</a:t>
            </a:r>
            <a:r>
              <a:rPr lang="en-US" altLang="en-US" sz="1400" baseline="-25000" dirty="0" smtClean="0"/>
              <a:t>2</a:t>
            </a:r>
            <a:r>
              <a:rPr lang="en-US" altLang="en-US" sz="1400" dirty="0" smtClean="0"/>
              <a:t> – FCFS</a:t>
            </a:r>
          </a:p>
          <a:p>
            <a:pPr lvl="1"/>
            <a:endParaRPr lang="en-US" altLang="en-US" sz="1400" dirty="0" smtClean="0"/>
          </a:p>
          <a:p>
            <a:r>
              <a:rPr lang="en-US" altLang="en-US" dirty="0" smtClean="0"/>
              <a:t>Scheduling</a:t>
            </a:r>
          </a:p>
          <a:p>
            <a:pPr lvl="1"/>
            <a:r>
              <a:rPr lang="en-US" altLang="en-US" sz="1400" dirty="0" smtClean="0"/>
              <a:t>A new job enters queue </a:t>
            </a:r>
            <a:r>
              <a:rPr lang="en-US" altLang="en-US" sz="1400" i="1" dirty="0" smtClean="0"/>
              <a:t>Q</a:t>
            </a:r>
            <a:r>
              <a:rPr lang="en-US" altLang="en-US" sz="1400" i="1" baseline="-25000" dirty="0" smtClean="0"/>
              <a:t>0</a:t>
            </a:r>
            <a:r>
              <a:rPr lang="en-US" altLang="en-US" sz="1400" i="1" dirty="0" smtClean="0"/>
              <a:t> </a:t>
            </a:r>
            <a:r>
              <a:rPr lang="en-US" altLang="en-US" sz="1400" dirty="0" smtClean="0"/>
              <a:t>which is served</a:t>
            </a:r>
            <a:r>
              <a:rPr lang="en-US" altLang="en-US" sz="1400" i="1" dirty="0" smtClean="0"/>
              <a:t> </a:t>
            </a:r>
            <a:r>
              <a:rPr lang="en-US" altLang="en-US" sz="1400" dirty="0" smtClean="0"/>
              <a:t>FCFS</a:t>
            </a:r>
          </a:p>
          <a:p>
            <a:pPr lvl="2"/>
            <a:r>
              <a:rPr lang="en-US" altLang="en-US" sz="1400" dirty="0" smtClean="0"/>
              <a:t>When it gains CPU, job receives 8 milliseconds</a:t>
            </a:r>
          </a:p>
          <a:p>
            <a:pPr lvl="2"/>
            <a:r>
              <a:rPr lang="en-US" altLang="en-US" sz="1400" dirty="0" smtClean="0"/>
              <a:t>If it does not finish in 8 milliseconds, job is moved to queue </a:t>
            </a:r>
            <a:r>
              <a:rPr lang="en-US" altLang="en-US" sz="1400" i="1" dirty="0" smtClean="0"/>
              <a:t>Q</a:t>
            </a:r>
            <a:r>
              <a:rPr lang="en-US" altLang="en-US" sz="1400" baseline="-25000" dirty="0" smtClean="0"/>
              <a:t>1</a:t>
            </a:r>
            <a:endParaRPr lang="en-US" altLang="en-US" sz="1400" dirty="0" smtClean="0"/>
          </a:p>
          <a:p>
            <a:pPr lvl="1"/>
            <a:r>
              <a:rPr lang="en-US" altLang="en-US" sz="1400" dirty="0" smtClean="0"/>
              <a:t>At </a:t>
            </a:r>
            <a:r>
              <a:rPr lang="en-US" altLang="en-US" sz="1400" i="1" dirty="0" smtClean="0"/>
              <a:t>Q</a:t>
            </a:r>
            <a:r>
              <a:rPr lang="en-US" altLang="en-US" sz="1400" baseline="-25000" dirty="0" smtClean="0"/>
              <a:t>1</a:t>
            </a:r>
            <a:r>
              <a:rPr lang="en-US" altLang="en-US" sz="1400" dirty="0" smtClean="0"/>
              <a:t> job is again served FCFS and receives 16 additional milliseconds</a:t>
            </a:r>
          </a:p>
          <a:p>
            <a:pPr lvl="2"/>
            <a:r>
              <a:rPr lang="en-US" altLang="en-US" sz="1400" dirty="0" smtClean="0"/>
              <a:t>If it still does not complete, it is preempted and moved to queue </a:t>
            </a:r>
            <a:r>
              <a:rPr lang="en-US" altLang="en-US" sz="1400" i="1" dirty="0" smtClean="0"/>
              <a:t>Q</a:t>
            </a:r>
            <a:r>
              <a:rPr lang="en-US" altLang="en-US" sz="1400" baseline="-25000" dirty="0" smtClean="0"/>
              <a:t>2</a:t>
            </a:r>
            <a:endParaRPr lang="en-US" altLang="en-US" sz="1400" dirty="0" smtClean="0"/>
          </a:p>
        </p:txBody>
      </p:sp>
      <p:pic>
        <p:nvPicPr>
          <p:cNvPr id="29700" name="Picture 4" descr="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72050" y="2159000"/>
            <a:ext cx="3862388" cy="257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4257995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963613" y="163513"/>
            <a:ext cx="7723187" cy="576262"/>
          </a:xfrm>
        </p:spPr>
        <p:txBody>
          <a:bodyPr>
            <a:normAutofit fontScale="90000"/>
          </a:bodyPr>
          <a:lstStyle/>
          <a:p>
            <a:pPr eaLnBrk="1" hangingPunct="1"/>
            <a:r>
              <a:rPr lang="en-US" altLang="en-US" smtClean="0"/>
              <a:t>Multiple-Processor Scheduling</a:t>
            </a:r>
          </a:p>
        </p:txBody>
      </p:sp>
      <p:sp>
        <p:nvSpPr>
          <p:cNvPr id="34819" name="Rectangle 3"/>
          <p:cNvSpPr>
            <a:spLocks noGrp="1" noChangeArrowheads="1"/>
          </p:cNvSpPr>
          <p:nvPr>
            <p:ph type="body" idx="1"/>
          </p:nvPr>
        </p:nvSpPr>
        <p:spPr>
          <a:xfrm>
            <a:off x="915988" y="1122363"/>
            <a:ext cx="7034212" cy="4808537"/>
          </a:xfrm>
        </p:spPr>
        <p:txBody>
          <a:bodyPr>
            <a:normAutofit fontScale="85000" lnSpcReduction="20000"/>
          </a:bodyPr>
          <a:lstStyle/>
          <a:p>
            <a:r>
              <a:rPr lang="en-US" altLang="en-US" dirty="0" smtClean="0"/>
              <a:t>CPU scheduling more complex when multiple CPUs are available</a:t>
            </a:r>
            <a:endParaRPr lang="en-US" altLang="en-US" sz="800" dirty="0" smtClean="0"/>
          </a:p>
          <a:p>
            <a:r>
              <a:rPr lang="en-US" altLang="en-US" b="1" dirty="0" smtClean="0">
                <a:solidFill>
                  <a:srgbClr val="3366FF"/>
                </a:solidFill>
              </a:rPr>
              <a:t>Homogeneous</a:t>
            </a:r>
            <a:r>
              <a:rPr lang="en-US" altLang="en-US" b="1" dirty="0" smtClean="0"/>
              <a:t> </a:t>
            </a:r>
            <a:r>
              <a:rPr lang="en-US" altLang="en-US" b="1" dirty="0" smtClean="0">
                <a:solidFill>
                  <a:srgbClr val="3366FF"/>
                </a:solidFill>
              </a:rPr>
              <a:t>processors</a:t>
            </a:r>
            <a:r>
              <a:rPr lang="en-US" altLang="en-US" b="1" dirty="0" smtClean="0"/>
              <a:t> </a:t>
            </a:r>
            <a:r>
              <a:rPr lang="en-US" altLang="en-US" dirty="0" smtClean="0"/>
              <a:t>within a multiprocessor</a:t>
            </a:r>
            <a:endParaRPr lang="en-US" altLang="en-US" sz="800" dirty="0" smtClean="0"/>
          </a:p>
          <a:p>
            <a:r>
              <a:rPr lang="en-US" altLang="en-US" b="1" dirty="0" smtClean="0">
                <a:solidFill>
                  <a:srgbClr val="3366FF"/>
                </a:solidFill>
              </a:rPr>
              <a:t>Asymmetric multiprocessing </a:t>
            </a:r>
            <a:r>
              <a:rPr lang="en-US" altLang="en-US" dirty="0" smtClean="0"/>
              <a:t>– only one processor accesses the system data structures, alleviating the need for data sharing</a:t>
            </a:r>
            <a:endParaRPr lang="en-US" altLang="en-US" sz="800" dirty="0" smtClean="0"/>
          </a:p>
          <a:p>
            <a:r>
              <a:rPr lang="en-US" altLang="en-US" b="1" dirty="0" smtClean="0">
                <a:solidFill>
                  <a:srgbClr val="3366FF"/>
                </a:solidFill>
              </a:rPr>
              <a:t>Symmetric multiprocessing </a:t>
            </a:r>
            <a:r>
              <a:rPr lang="en-US" altLang="en-US" b="1" dirty="0" smtClean="0"/>
              <a:t>(</a:t>
            </a:r>
            <a:r>
              <a:rPr lang="en-US" altLang="en-US" b="1" dirty="0" smtClean="0">
                <a:solidFill>
                  <a:srgbClr val="3366FF"/>
                </a:solidFill>
              </a:rPr>
              <a:t>SMP</a:t>
            </a:r>
            <a:r>
              <a:rPr lang="en-US" altLang="en-US" b="1" dirty="0" smtClean="0"/>
              <a:t>) </a:t>
            </a:r>
            <a:r>
              <a:rPr lang="en-US" altLang="en-US" dirty="0" smtClean="0"/>
              <a:t>– each processor is self-scheduling, all processes in common ready queue, or each has its own private queue of ready processes</a:t>
            </a:r>
          </a:p>
          <a:p>
            <a:pPr lvl="1"/>
            <a:r>
              <a:rPr lang="en-US" altLang="en-US" dirty="0" smtClean="0"/>
              <a:t>Currently, most common</a:t>
            </a:r>
            <a:endParaRPr lang="en-US" altLang="en-US" sz="800" dirty="0" smtClean="0"/>
          </a:p>
          <a:p>
            <a:r>
              <a:rPr lang="en-US" altLang="en-US" b="1" dirty="0" smtClean="0">
                <a:solidFill>
                  <a:srgbClr val="3366FF"/>
                </a:solidFill>
              </a:rPr>
              <a:t>Processor affinity </a:t>
            </a:r>
            <a:r>
              <a:rPr lang="en-US" altLang="en-US" dirty="0" smtClean="0"/>
              <a:t>– process has affinity for processor on which it is currently running</a:t>
            </a:r>
          </a:p>
          <a:p>
            <a:pPr lvl="1"/>
            <a:r>
              <a:rPr lang="en-US" altLang="en-US" b="1" dirty="0" smtClean="0">
                <a:solidFill>
                  <a:srgbClr val="3366FF"/>
                </a:solidFill>
              </a:rPr>
              <a:t>soft affinity</a:t>
            </a:r>
          </a:p>
          <a:p>
            <a:pPr lvl="1"/>
            <a:r>
              <a:rPr lang="en-US" altLang="en-US" b="1" dirty="0" smtClean="0">
                <a:solidFill>
                  <a:srgbClr val="3366FF"/>
                </a:solidFill>
              </a:rPr>
              <a:t>hard affinity</a:t>
            </a:r>
          </a:p>
          <a:p>
            <a:pPr lvl="1"/>
            <a:r>
              <a:rPr lang="en-US" altLang="en-US" dirty="0" smtClean="0"/>
              <a:t>Variations including </a:t>
            </a:r>
            <a:r>
              <a:rPr lang="en-US" altLang="en-US" b="1" dirty="0" smtClean="0">
                <a:solidFill>
                  <a:srgbClr val="3366FF"/>
                </a:solidFill>
              </a:rPr>
              <a:t>processor sets</a:t>
            </a:r>
          </a:p>
        </p:txBody>
      </p:sp>
    </p:spTree>
    <p:extLst>
      <p:ext uri="{BB962C8B-B14F-4D97-AF65-F5344CB8AC3E}">
        <p14:creationId xmlns:p14="http://schemas.microsoft.com/office/powerpoint/2010/main" val="21327397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xmlns="" id="{BF0D8640-FCB0-4988-9C40-1D8E1028F211}"/>
              </a:ext>
            </a:extLst>
          </p:cNvPr>
          <p:cNvSpPr>
            <a:spLocks noGrp="1" noChangeArrowheads="1"/>
          </p:cNvSpPr>
          <p:nvPr>
            <p:ph type="title"/>
          </p:nvPr>
        </p:nvSpPr>
        <p:spPr>
          <a:xfrm>
            <a:off x="963613" y="121920"/>
            <a:ext cx="7723187" cy="601892"/>
          </a:xfrm>
        </p:spPr>
        <p:txBody>
          <a:bodyPr>
            <a:normAutofit/>
          </a:bodyPr>
          <a:lstStyle/>
          <a:p>
            <a:pPr eaLnBrk="1" hangingPunct="1"/>
            <a:r>
              <a:rPr lang="en-US" altLang="en-US" dirty="0"/>
              <a:t>Multiple-Processor Scheduling</a:t>
            </a:r>
          </a:p>
        </p:txBody>
      </p:sp>
      <p:sp>
        <p:nvSpPr>
          <p:cNvPr id="69634" name="Rectangle 3">
            <a:extLst>
              <a:ext uri="{FF2B5EF4-FFF2-40B4-BE49-F238E27FC236}">
                <a16:creationId xmlns:a16="http://schemas.microsoft.com/office/drawing/2014/main" xmlns="" id="{2B71E613-2379-4021-8ED5-E283592561A9}"/>
              </a:ext>
            </a:extLst>
          </p:cNvPr>
          <p:cNvSpPr>
            <a:spLocks noGrp="1" noChangeArrowheads="1"/>
          </p:cNvSpPr>
          <p:nvPr>
            <p:ph idx="1"/>
          </p:nvPr>
        </p:nvSpPr>
        <p:spPr>
          <a:xfrm>
            <a:off x="774441" y="1122363"/>
            <a:ext cx="7788501" cy="4808537"/>
          </a:xfrm>
        </p:spPr>
        <p:txBody>
          <a:bodyPr/>
          <a:lstStyle/>
          <a:p>
            <a:r>
              <a:rPr lang="en-US" altLang="en-US" dirty="0"/>
              <a:t>CPU scheduling more complex when multiple CPUs are available</a:t>
            </a:r>
          </a:p>
          <a:p>
            <a:r>
              <a:rPr lang="en-US" altLang="en-US" dirty="0" err="1"/>
              <a:t>Multiprocess</a:t>
            </a:r>
            <a:r>
              <a:rPr lang="en-US" altLang="en-US" dirty="0"/>
              <a:t> may be any one of the following architectures:</a:t>
            </a:r>
            <a:endParaRPr lang="en-US" altLang="en-US" sz="800" dirty="0"/>
          </a:p>
          <a:p>
            <a:pPr lvl="1"/>
            <a:r>
              <a:rPr lang="en-US" altLang="en-US" dirty="0"/>
              <a:t>Multicore CPUs</a:t>
            </a:r>
          </a:p>
          <a:p>
            <a:pPr lvl="1"/>
            <a:r>
              <a:rPr lang="en-US" altLang="en-US" dirty="0"/>
              <a:t>Multithreaded cores</a:t>
            </a:r>
          </a:p>
          <a:p>
            <a:pPr lvl="1"/>
            <a:r>
              <a:rPr lang="en-US" altLang="en-US" dirty="0"/>
              <a:t>NUMA systems</a:t>
            </a:r>
          </a:p>
          <a:p>
            <a:pPr lvl="1"/>
            <a:r>
              <a:rPr lang="en-US" altLang="en-US" dirty="0"/>
              <a:t>Heterogeneous multiprocessing</a:t>
            </a:r>
          </a:p>
          <a:p>
            <a:pPr lvl="1"/>
            <a:endParaRPr lang="en-US" altLang="en-US" b="1" dirty="0">
              <a:solidFill>
                <a:srgbClr val="3366FF"/>
              </a:solidFill>
            </a:endParaRPr>
          </a:p>
        </p:txBody>
      </p:sp>
    </p:spTree>
    <p:extLst>
      <p:ext uri="{BB962C8B-B14F-4D97-AF65-F5344CB8AC3E}">
        <p14:creationId xmlns:p14="http://schemas.microsoft.com/office/powerpoint/2010/main" val="20470312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Title 1">
            <a:extLst>
              <a:ext uri="{FF2B5EF4-FFF2-40B4-BE49-F238E27FC236}">
                <a16:creationId xmlns:a16="http://schemas.microsoft.com/office/drawing/2014/main" xmlns="" id="{C7F1E55F-983C-47F8-ADBE-54E15FEFD9AB}"/>
              </a:ext>
            </a:extLst>
          </p:cNvPr>
          <p:cNvSpPr>
            <a:spLocks noGrp="1"/>
          </p:cNvSpPr>
          <p:nvPr>
            <p:ph type="title"/>
          </p:nvPr>
        </p:nvSpPr>
        <p:spPr>
          <a:xfrm>
            <a:off x="894080" y="173722"/>
            <a:ext cx="8229600" cy="576262"/>
          </a:xfrm>
        </p:spPr>
        <p:txBody>
          <a:bodyPr>
            <a:normAutofit fontScale="90000"/>
          </a:bodyPr>
          <a:lstStyle/>
          <a:p>
            <a:r>
              <a:rPr lang="en-US" altLang="en-US" dirty="0"/>
              <a:t>Multiple-Processor Scheduling</a:t>
            </a:r>
          </a:p>
        </p:txBody>
      </p:sp>
      <p:sp>
        <p:nvSpPr>
          <p:cNvPr id="71682" name="Content Placeholder 2">
            <a:extLst>
              <a:ext uri="{FF2B5EF4-FFF2-40B4-BE49-F238E27FC236}">
                <a16:creationId xmlns:a16="http://schemas.microsoft.com/office/drawing/2014/main" xmlns="" id="{7A08C823-220F-4189-B103-BC03391E7F6B}"/>
              </a:ext>
            </a:extLst>
          </p:cNvPr>
          <p:cNvSpPr>
            <a:spLocks noGrp="1"/>
          </p:cNvSpPr>
          <p:nvPr>
            <p:ph idx="1"/>
          </p:nvPr>
        </p:nvSpPr>
        <p:spPr>
          <a:xfrm>
            <a:off x="894080" y="1270952"/>
            <a:ext cx="7290055" cy="4023360"/>
          </a:xfrm>
        </p:spPr>
        <p:txBody>
          <a:bodyPr/>
          <a:lstStyle/>
          <a:p>
            <a:r>
              <a:rPr lang="en-US" altLang="en-US" dirty="0"/>
              <a:t>Symmetric multiprocessing (SMP) is where each processor is self scheduling.</a:t>
            </a:r>
          </a:p>
          <a:p>
            <a:r>
              <a:rPr lang="en-US" altLang="en-US" dirty="0"/>
              <a:t>All threads may be in a common ready queue (a)</a:t>
            </a:r>
          </a:p>
          <a:p>
            <a:r>
              <a:rPr lang="en-US" altLang="en-US" dirty="0"/>
              <a:t>Each processor may have its own private queue of threads (b)</a:t>
            </a:r>
          </a:p>
        </p:txBody>
      </p:sp>
      <p:pic>
        <p:nvPicPr>
          <p:cNvPr id="71683" name="Picture 3">
            <a:extLst>
              <a:ext uri="{FF2B5EF4-FFF2-40B4-BE49-F238E27FC236}">
                <a16:creationId xmlns:a16="http://schemas.microsoft.com/office/drawing/2014/main" xmlns="" id="{4F31D85D-3236-4616-BD79-8F32A1CE24E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39913" y="3902075"/>
            <a:ext cx="5381625" cy="27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636862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a:extLst>
              <a:ext uri="{FF2B5EF4-FFF2-40B4-BE49-F238E27FC236}">
                <a16:creationId xmlns:a16="http://schemas.microsoft.com/office/drawing/2014/main" xmlns="" id="{54839094-C3D3-496D-831C-D61F7F14A2B2}"/>
              </a:ext>
            </a:extLst>
          </p:cNvPr>
          <p:cNvSpPr>
            <a:spLocks noGrp="1" noChangeArrowheads="1"/>
          </p:cNvSpPr>
          <p:nvPr>
            <p:ph type="title"/>
          </p:nvPr>
        </p:nvSpPr>
        <p:spPr>
          <a:xfrm>
            <a:off x="1075512" y="121920"/>
            <a:ext cx="7917024" cy="566312"/>
          </a:xfrm>
        </p:spPr>
        <p:txBody>
          <a:bodyPr/>
          <a:lstStyle/>
          <a:p>
            <a:pPr eaLnBrk="1" hangingPunct="1"/>
            <a:r>
              <a:rPr lang="en-US" altLang="en-US" sz="2400" dirty="0"/>
              <a:t>Multiple-Processor Scheduling – Load Balancing</a:t>
            </a:r>
          </a:p>
        </p:txBody>
      </p:sp>
      <p:sp>
        <p:nvSpPr>
          <p:cNvPr id="78850" name="Rectangle 3">
            <a:extLst>
              <a:ext uri="{FF2B5EF4-FFF2-40B4-BE49-F238E27FC236}">
                <a16:creationId xmlns:a16="http://schemas.microsoft.com/office/drawing/2014/main" xmlns="" id="{820781A6-111F-4348-AA18-D0475B89840C}"/>
              </a:ext>
            </a:extLst>
          </p:cNvPr>
          <p:cNvSpPr>
            <a:spLocks noGrp="1" noChangeArrowheads="1"/>
          </p:cNvSpPr>
          <p:nvPr>
            <p:ph idx="1"/>
          </p:nvPr>
        </p:nvSpPr>
        <p:spPr>
          <a:xfrm>
            <a:off x="765109" y="1030289"/>
            <a:ext cx="7200331" cy="4699952"/>
          </a:xfrm>
        </p:spPr>
        <p:txBody>
          <a:bodyPr/>
          <a:lstStyle/>
          <a:p>
            <a:r>
              <a:rPr lang="en-US" altLang="en-US" dirty="0"/>
              <a:t>If SMP, need to keep all CPUs loaded for efficiency</a:t>
            </a:r>
          </a:p>
          <a:p>
            <a:r>
              <a:rPr lang="en-US" altLang="en-US" b="1" dirty="0">
                <a:solidFill>
                  <a:srgbClr val="006699"/>
                </a:solidFill>
                <a:latin typeface="+mj-lt"/>
              </a:rPr>
              <a:t>Load</a:t>
            </a:r>
            <a:r>
              <a:rPr lang="en-US" altLang="en-US" b="1" dirty="0">
                <a:solidFill>
                  <a:srgbClr val="3366FF"/>
                </a:solidFill>
              </a:rPr>
              <a:t> </a:t>
            </a:r>
            <a:r>
              <a:rPr lang="en-US" altLang="en-US" b="1" dirty="0">
                <a:solidFill>
                  <a:srgbClr val="006699"/>
                </a:solidFill>
                <a:latin typeface="+mj-lt"/>
              </a:rPr>
              <a:t>balancing</a:t>
            </a:r>
            <a:r>
              <a:rPr lang="en-US" altLang="en-US" b="1" dirty="0">
                <a:solidFill>
                  <a:srgbClr val="3366FF"/>
                </a:solidFill>
              </a:rPr>
              <a:t> </a:t>
            </a:r>
            <a:r>
              <a:rPr lang="en-US" altLang="en-US" dirty="0"/>
              <a:t>attempts to keep workload evenly distributed</a:t>
            </a:r>
          </a:p>
          <a:p>
            <a:r>
              <a:rPr lang="en-US" altLang="en-US" b="1" dirty="0">
                <a:solidFill>
                  <a:srgbClr val="006699"/>
                </a:solidFill>
                <a:latin typeface="+mj-lt"/>
              </a:rPr>
              <a:t>Push</a:t>
            </a:r>
            <a:r>
              <a:rPr lang="en-US" altLang="en-US" b="1" dirty="0">
                <a:solidFill>
                  <a:srgbClr val="3366FF"/>
                </a:solidFill>
              </a:rPr>
              <a:t> </a:t>
            </a:r>
            <a:r>
              <a:rPr lang="en-US" altLang="en-US" b="1" dirty="0">
                <a:solidFill>
                  <a:srgbClr val="006699"/>
                </a:solidFill>
                <a:latin typeface="+mj-lt"/>
              </a:rPr>
              <a:t>migration</a:t>
            </a:r>
            <a:r>
              <a:rPr lang="en-US" altLang="en-US" b="1" dirty="0">
                <a:solidFill>
                  <a:srgbClr val="3366FF"/>
                </a:solidFill>
              </a:rPr>
              <a:t> </a:t>
            </a:r>
            <a:r>
              <a:rPr lang="en-US" altLang="en-US" dirty="0"/>
              <a:t>– periodic task checks load on each processor, and if found pushes task from overloaded CPU to other CPUs</a:t>
            </a:r>
            <a:endParaRPr lang="en-US" altLang="en-US" b="1" dirty="0">
              <a:solidFill>
                <a:srgbClr val="3366FF"/>
              </a:solidFill>
            </a:endParaRPr>
          </a:p>
          <a:p>
            <a:r>
              <a:rPr lang="en-US" altLang="en-US" b="1" dirty="0">
                <a:solidFill>
                  <a:srgbClr val="006699"/>
                </a:solidFill>
                <a:latin typeface="+mj-lt"/>
              </a:rPr>
              <a:t>Pull</a:t>
            </a:r>
            <a:r>
              <a:rPr lang="en-US" altLang="en-US" b="1" dirty="0">
                <a:solidFill>
                  <a:srgbClr val="3366FF"/>
                </a:solidFill>
              </a:rPr>
              <a:t> </a:t>
            </a:r>
            <a:r>
              <a:rPr lang="en-US" altLang="en-US" b="1" dirty="0">
                <a:solidFill>
                  <a:srgbClr val="006699"/>
                </a:solidFill>
                <a:latin typeface="+mj-lt"/>
              </a:rPr>
              <a:t>migration</a:t>
            </a:r>
            <a:r>
              <a:rPr lang="en-US" altLang="en-US" b="1" dirty="0">
                <a:solidFill>
                  <a:srgbClr val="3366FF"/>
                </a:solidFill>
              </a:rPr>
              <a:t> </a:t>
            </a:r>
            <a:r>
              <a:rPr lang="en-US" altLang="en-US" dirty="0"/>
              <a:t>– idle processors pulls waiting task from busy processor</a:t>
            </a:r>
          </a:p>
          <a:p>
            <a:endParaRPr lang="en-US" altLang="en-US" sz="800" dirty="0"/>
          </a:p>
        </p:txBody>
      </p:sp>
    </p:spTree>
    <p:extLst>
      <p:ext uri="{BB962C8B-B14F-4D97-AF65-F5344CB8AC3E}">
        <p14:creationId xmlns:p14="http://schemas.microsoft.com/office/powerpoint/2010/main" val="7945229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457200" y="176213"/>
            <a:ext cx="8229600" cy="576262"/>
          </a:xfrm>
        </p:spPr>
        <p:txBody>
          <a:bodyPr>
            <a:normAutofit fontScale="90000"/>
          </a:bodyPr>
          <a:lstStyle/>
          <a:p>
            <a:pPr eaLnBrk="1" hangingPunct="1"/>
            <a:r>
              <a:rPr lang="en-US" altLang="en-US" smtClean="0"/>
              <a:t>System Model</a:t>
            </a:r>
          </a:p>
        </p:txBody>
      </p:sp>
      <p:sp>
        <p:nvSpPr>
          <p:cNvPr id="6147" name="Rectangle 3"/>
          <p:cNvSpPr>
            <a:spLocks noGrp="1" noChangeArrowheads="1"/>
          </p:cNvSpPr>
          <p:nvPr>
            <p:ph type="body" idx="1"/>
          </p:nvPr>
        </p:nvSpPr>
        <p:spPr>
          <a:xfrm>
            <a:off x="941388" y="1158875"/>
            <a:ext cx="7351712" cy="4483100"/>
          </a:xfrm>
        </p:spPr>
        <p:txBody>
          <a:bodyPr/>
          <a:lstStyle/>
          <a:p>
            <a:r>
              <a:rPr lang="en-US" altLang="en-US" smtClean="0"/>
              <a:t>System consists of resources</a:t>
            </a:r>
          </a:p>
          <a:p>
            <a:r>
              <a:rPr lang="en-US" altLang="en-US" smtClean="0"/>
              <a:t>Resource types </a:t>
            </a:r>
            <a:r>
              <a:rPr lang="en-US" altLang="en-US" i="1" smtClean="0"/>
              <a:t>R</a:t>
            </a:r>
            <a:r>
              <a:rPr lang="en-US" altLang="en-US" baseline="-25000" smtClean="0"/>
              <a:t>1</a:t>
            </a:r>
            <a:r>
              <a:rPr lang="en-US" altLang="en-US" smtClean="0"/>
              <a:t>, </a:t>
            </a:r>
            <a:r>
              <a:rPr lang="en-US" altLang="en-US" i="1" smtClean="0"/>
              <a:t>R</a:t>
            </a:r>
            <a:r>
              <a:rPr lang="en-US" altLang="en-US" baseline="-25000" smtClean="0"/>
              <a:t>2</a:t>
            </a:r>
            <a:r>
              <a:rPr lang="en-US" altLang="en-US" smtClean="0"/>
              <a:t>, . . ., </a:t>
            </a:r>
            <a:r>
              <a:rPr lang="en-US" altLang="en-US" i="1" smtClean="0"/>
              <a:t>R</a:t>
            </a:r>
            <a:r>
              <a:rPr lang="en-US" altLang="en-US" baseline="-25000" smtClean="0"/>
              <a:t>m</a:t>
            </a:r>
          </a:p>
          <a:p>
            <a:pPr lvl="2">
              <a:buFont typeface="Webdings" pitchFamily="18" charset="2"/>
              <a:buNone/>
            </a:pPr>
            <a:r>
              <a:rPr lang="en-US" altLang="en-US" i="1" smtClean="0"/>
              <a:t>CPU cycles, memory space, I/O devices</a:t>
            </a:r>
          </a:p>
          <a:p>
            <a:r>
              <a:rPr lang="en-US" altLang="en-US" smtClean="0"/>
              <a:t>Each resource type </a:t>
            </a:r>
            <a:r>
              <a:rPr lang="en-US" altLang="en-US" i="1" smtClean="0"/>
              <a:t>R</a:t>
            </a:r>
            <a:r>
              <a:rPr lang="en-US" altLang="en-US" baseline="-25000" smtClean="0"/>
              <a:t>i</a:t>
            </a:r>
            <a:r>
              <a:rPr lang="en-US" altLang="en-US" smtClean="0"/>
              <a:t> has </a:t>
            </a:r>
            <a:r>
              <a:rPr lang="en-US" altLang="en-US" i="1" smtClean="0"/>
              <a:t>W</a:t>
            </a:r>
            <a:r>
              <a:rPr lang="en-US" altLang="en-US" baseline="-25000" smtClean="0"/>
              <a:t>i</a:t>
            </a:r>
            <a:r>
              <a:rPr lang="en-US" altLang="en-US" smtClean="0"/>
              <a:t> instances.</a:t>
            </a:r>
          </a:p>
          <a:p>
            <a:r>
              <a:rPr lang="en-US" altLang="en-US" smtClean="0"/>
              <a:t>Each process utilizes a resource as follows:</a:t>
            </a:r>
          </a:p>
          <a:p>
            <a:pPr lvl="1"/>
            <a:r>
              <a:rPr lang="en-US" altLang="en-US" b="1" smtClean="0"/>
              <a:t>request </a:t>
            </a:r>
          </a:p>
          <a:p>
            <a:pPr lvl="1"/>
            <a:r>
              <a:rPr lang="en-US" altLang="en-US" b="1" smtClean="0"/>
              <a:t>use </a:t>
            </a:r>
          </a:p>
          <a:p>
            <a:pPr lvl="1"/>
            <a:r>
              <a:rPr lang="en-US" altLang="en-US" b="1" smtClean="0"/>
              <a:t>release</a:t>
            </a:r>
          </a:p>
        </p:txBody>
      </p:sp>
    </p:spTree>
    <p:extLst>
      <p:ext uri="{BB962C8B-B14F-4D97-AF65-F5344CB8AC3E}">
        <p14:creationId xmlns:p14="http://schemas.microsoft.com/office/powerpoint/2010/main" val="215549298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749300" y="182563"/>
            <a:ext cx="7937500" cy="576262"/>
          </a:xfrm>
        </p:spPr>
        <p:txBody>
          <a:bodyPr>
            <a:normAutofit fontScale="90000"/>
          </a:bodyPr>
          <a:lstStyle/>
          <a:p>
            <a:pPr eaLnBrk="1" hangingPunct="1"/>
            <a:r>
              <a:rPr lang="en-US" altLang="en-US" smtClean="0"/>
              <a:t>Deadlock Characterization</a:t>
            </a:r>
          </a:p>
        </p:txBody>
      </p:sp>
      <p:sp>
        <p:nvSpPr>
          <p:cNvPr id="7171" name="Rectangle 3"/>
          <p:cNvSpPr>
            <a:spLocks noGrp="1" noChangeArrowheads="1"/>
          </p:cNvSpPr>
          <p:nvPr>
            <p:ph type="body" idx="1"/>
          </p:nvPr>
        </p:nvSpPr>
        <p:spPr>
          <a:xfrm>
            <a:off x="1335088" y="1541463"/>
            <a:ext cx="6691312" cy="4668837"/>
          </a:xfrm>
        </p:spPr>
        <p:txBody>
          <a:bodyPr>
            <a:normAutofit fontScale="92500" lnSpcReduction="20000"/>
          </a:bodyPr>
          <a:lstStyle/>
          <a:p>
            <a:r>
              <a:rPr lang="en-US" altLang="en-US" b="1" smtClean="0">
                <a:solidFill>
                  <a:srgbClr val="3366FF"/>
                </a:solidFill>
              </a:rPr>
              <a:t>Mutual exclusion</a:t>
            </a:r>
            <a:r>
              <a:rPr lang="en-US" altLang="en-US" b="1" smtClean="0"/>
              <a:t>:</a:t>
            </a:r>
            <a:r>
              <a:rPr lang="en-US" altLang="en-US" smtClean="0"/>
              <a:t>  only one process at a time can use a resource</a:t>
            </a:r>
            <a:endParaRPr lang="en-US" altLang="en-US" sz="800" smtClean="0"/>
          </a:p>
          <a:p>
            <a:r>
              <a:rPr lang="en-US" altLang="en-US" b="1" smtClean="0">
                <a:solidFill>
                  <a:srgbClr val="3366FF"/>
                </a:solidFill>
              </a:rPr>
              <a:t>Hold and wait</a:t>
            </a:r>
            <a:r>
              <a:rPr lang="en-US" altLang="en-US" b="1" smtClean="0"/>
              <a:t>:</a:t>
            </a:r>
            <a:r>
              <a:rPr lang="en-US" altLang="en-US" smtClean="0"/>
              <a:t>  a process holding at least one resource is waiting to acquire additional resources held by other processes</a:t>
            </a:r>
            <a:endParaRPr lang="en-US" altLang="en-US" sz="800" smtClean="0"/>
          </a:p>
          <a:p>
            <a:r>
              <a:rPr lang="en-US" altLang="en-US" b="1" smtClean="0">
                <a:solidFill>
                  <a:srgbClr val="3366FF"/>
                </a:solidFill>
              </a:rPr>
              <a:t>No preemption</a:t>
            </a:r>
            <a:r>
              <a:rPr lang="en-US" altLang="en-US" b="1" smtClean="0"/>
              <a:t>:</a:t>
            </a:r>
            <a:r>
              <a:rPr lang="en-US" altLang="en-US" smtClean="0"/>
              <a:t>  a resource can be released only voluntarily by the process holding it, after that process has completed its task</a:t>
            </a:r>
            <a:endParaRPr lang="en-US" altLang="en-US" sz="800" smtClean="0"/>
          </a:p>
          <a:p>
            <a:r>
              <a:rPr lang="en-US" altLang="en-US" b="1" smtClean="0">
                <a:solidFill>
                  <a:srgbClr val="3366FF"/>
                </a:solidFill>
              </a:rPr>
              <a:t>Circular wait</a:t>
            </a:r>
            <a:r>
              <a:rPr lang="en-US" altLang="en-US" b="1" smtClean="0"/>
              <a:t>:</a:t>
            </a:r>
            <a:r>
              <a:rPr lang="en-US" altLang="en-US" smtClean="0"/>
              <a:t>  there exists a set {</a:t>
            </a:r>
            <a:r>
              <a:rPr lang="en-US" altLang="en-US" i="1" smtClean="0"/>
              <a:t>P</a:t>
            </a:r>
            <a:r>
              <a:rPr lang="en-US" altLang="en-US" baseline="-25000" smtClean="0"/>
              <a:t>0</a:t>
            </a:r>
            <a:r>
              <a:rPr lang="en-US" altLang="en-US" smtClean="0"/>
              <a:t>, </a:t>
            </a:r>
            <a:r>
              <a:rPr lang="en-US" altLang="en-US" i="1" smtClean="0"/>
              <a:t>P</a:t>
            </a:r>
            <a:r>
              <a:rPr lang="en-US" altLang="en-US" baseline="-25000" smtClean="0"/>
              <a:t>1</a:t>
            </a:r>
            <a:r>
              <a:rPr lang="en-US" altLang="en-US" smtClean="0"/>
              <a:t>, …, </a:t>
            </a:r>
            <a:r>
              <a:rPr lang="en-US" altLang="en-US" i="1" smtClean="0"/>
              <a:t>P</a:t>
            </a:r>
            <a:r>
              <a:rPr lang="en-US" altLang="en-US" baseline="-25000" smtClean="0"/>
              <a:t>n</a:t>
            </a:r>
            <a:r>
              <a:rPr lang="en-US" altLang="en-US" smtClean="0"/>
              <a:t>} of waiting processes such that </a:t>
            </a:r>
            <a:r>
              <a:rPr lang="en-US" altLang="en-US" i="1" smtClean="0"/>
              <a:t>P</a:t>
            </a:r>
            <a:r>
              <a:rPr lang="en-US" altLang="en-US" baseline="-25000" smtClean="0"/>
              <a:t>0 </a:t>
            </a:r>
            <a:r>
              <a:rPr lang="en-US" altLang="en-US" smtClean="0"/>
              <a:t>is waiting for a resource that is held by </a:t>
            </a:r>
            <a:r>
              <a:rPr lang="en-US" altLang="en-US" i="1" smtClean="0"/>
              <a:t>P</a:t>
            </a:r>
            <a:r>
              <a:rPr lang="en-US" altLang="en-US" baseline="-25000" smtClean="0"/>
              <a:t>1</a:t>
            </a:r>
            <a:r>
              <a:rPr lang="en-US" altLang="en-US" smtClean="0"/>
              <a:t>, </a:t>
            </a:r>
            <a:r>
              <a:rPr lang="en-US" altLang="en-US" i="1" smtClean="0"/>
              <a:t>P</a:t>
            </a:r>
            <a:r>
              <a:rPr lang="en-US" altLang="en-US" baseline="-25000" smtClean="0"/>
              <a:t>1</a:t>
            </a:r>
            <a:r>
              <a:rPr lang="en-US" altLang="en-US" smtClean="0"/>
              <a:t> is waiting for a resource that is held by </a:t>
            </a:r>
            <a:r>
              <a:rPr lang="en-US" altLang="en-US" i="1" smtClean="0"/>
              <a:t>P</a:t>
            </a:r>
            <a:r>
              <a:rPr lang="en-US" altLang="en-US" baseline="-25000" smtClean="0"/>
              <a:t>2</a:t>
            </a:r>
            <a:r>
              <a:rPr lang="en-US" altLang="en-US" smtClean="0"/>
              <a:t>, …, </a:t>
            </a:r>
            <a:r>
              <a:rPr lang="en-US" altLang="en-US" i="1" smtClean="0"/>
              <a:t>P</a:t>
            </a:r>
            <a:r>
              <a:rPr lang="en-US" altLang="en-US" i="1" baseline="-25000" smtClean="0"/>
              <a:t>n</a:t>
            </a:r>
            <a:r>
              <a:rPr lang="en-US" altLang="en-US" baseline="-25000" smtClean="0"/>
              <a:t>–1</a:t>
            </a:r>
            <a:r>
              <a:rPr lang="en-US" altLang="en-US" smtClean="0"/>
              <a:t> is waiting for a resource that is held by </a:t>
            </a:r>
            <a:r>
              <a:rPr lang="en-US" altLang="en-US" i="1" smtClean="0"/>
              <a:t>P</a:t>
            </a:r>
            <a:r>
              <a:rPr lang="en-US" altLang="en-US" baseline="-25000" smtClean="0"/>
              <a:t>n</a:t>
            </a:r>
            <a:r>
              <a:rPr lang="en-US" altLang="en-US" smtClean="0"/>
              <a:t>, and </a:t>
            </a:r>
            <a:r>
              <a:rPr lang="en-US" altLang="en-US" i="1" smtClean="0"/>
              <a:t>P</a:t>
            </a:r>
            <a:r>
              <a:rPr lang="en-US" altLang="en-US" baseline="-25000" smtClean="0"/>
              <a:t>n</a:t>
            </a:r>
            <a:r>
              <a:rPr lang="en-US" altLang="en-US" smtClean="0"/>
              <a:t> is waiting for a resource that is held by </a:t>
            </a:r>
            <a:r>
              <a:rPr lang="en-US" altLang="en-US" i="1" smtClean="0"/>
              <a:t>P</a:t>
            </a:r>
            <a:r>
              <a:rPr lang="en-US" altLang="en-US" baseline="-25000" smtClean="0"/>
              <a:t>0</a:t>
            </a:r>
            <a:r>
              <a:rPr lang="en-US" altLang="en-US" smtClean="0"/>
              <a:t>.</a:t>
            </a:r>
          </a:p>
          <a:p>
            <a:endParaRPr lang="en-US" altLang="en-US" smtClean="0"/>
          </a:p>
        </p:txBody>
      </p:sp>
      <p:sp>
        <p:nvSpPr>
          <p:cNvPr id="7172" name="Text Box 5"/>
          <p:cNvSpPr txBox="1">
            <a:spLocks noChangeArrowheads="1"/>
          </p:cNvSpPr>
          <p:nvPr/>
        </p:nvSpPr>
        <p:spPr bwMode="auto">
          <a:xfrm>
            <a:off x="825500" y="1049338"/>
            <a:ext cx="63531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pPr>
            <a:r>
              <a:rPr lang="en-US" altLang="en-US">
                <a:latin typeface="Helvetica" pitchFamily="-84" charset="0"/>
              </a:rPr>
              <a:t>Deadlock can arise if four conditions hold simultaneously.</a:t>
            </a:r>
          </a:p>
        </p:txBody>
      </p:sp>
    </p:spTree>
    <p:extLst>
      <p:ext uri="{BB962C8B-B14F-4D97-AF65-F5344CB8AC3E}">
        <p14:creationId xmlns:p14="http://schemas.microsoft.com/office/powerpoint/2010/main" val="263530013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003300" y="166688"/>
            <a:ext cx="7683500" cy="576262"/>
          </a:xfrm>
        </p:spPr>
        <p:txBody>
          <a:bodyPr>
            <a:normAutofit fontScale="90000"/>
          </a:bodyPr>
          <a:lstStyle/>
          <a:p>
            <a:pPr eaLnBrk="1" hangingPunct="1"/>
            <a:r>
              <a:rPr lang="en-US" altLang="en-US" smtClean="0"/>
              <a:t>Resource-Allocation Graph</a:t>
            </a:r>
          </a:p>
        </p:txBody>
      </p:sp>
      <p:sp>
        <p:nvSpPr>
          <p:cNvPr id="9219" name="Rectangle 3"/>
          <p:cNvSpPr>
            <a:spLocks noGrp="1" noChangeArrowheads="1"/>
          </p:cNvSpPr>
          <p:nvPr>
            <p:ph type="body" idx="1"/>
          </p:nvPr>
        </p:nvSpPr>
        <p:spPr>
          <a:xfrm>
            <a:off x="1184275" y="1557338"/>
            <a:ext cx="6808788" cy="4019550"/>
          </a:xfrm>
        </p:spPr>
        <p:txBody>
          <a:bodyPr/>
          <a:lstStyle/>
          <a:p>
            <a:r>
              <a:rPr lang="en-US" altLang="en-US" smtClean="0"/>
              <a:t>V is partitioned into two types:</a:t>
            </a:r>
          </a:p>
          <a:p>
            <a:pPr lvl="1"/>
            <a:r>
              <a:rPr lang="en-US" altLang="en-US" i="1" smtClean="0"/>
              <a:t>P</a:t>
            </a:r>
            <a:r>
              <a:rPr lang="en-US" altLang="en-US" smtClean="0"/>
              <a:t> = {</a:t>
            </a:r>
            <a:r>
              <a:rPr lang="en-US" altLang="en-US" i="1" smtClean="0"/>
              <a:t>P</a:t>
            </a:r>
            <a:r>
              <a:rPr lang="en-US" altLang="en-US" baseline="-25000" smtClean="0"/>
              <a:t>1</a:t>
            </a:r>
            <a:r>
              <a:rPr lang="en-US" altLang="en-US" smtClean="0"/>
              <a:t>, </a:t>
            </a:r>
            <a:r>
              <a:rPr lang="en-US" altLang="en-US" i="1" smtClean="0"/>
              <a:t>P</a:t>
            </a:r>
            <a:r>
              <a:rPr lang="en-US" altLang="en-US" baseline="-25000" smtClean="0"/>
              <a:t>2</a:t>
            </a:r>
            <a:r>
              <a:rPr lang="en-US" altLang="en-US" smtClean="0"/>
              <a:t>, …, </a:t>
            </a:r>
            <a:r>
              <a:rPr lang="en-US" altLang="en-US" i="1" smtClean="0"/>
              <a:t>P</a:t>
            </a:r>
            <a:r>
              <a:rPr lang="en-US" altLang="en-US" i="1" baseline="-25000" smtClean="0"/>
              <a:t>n</a:t>
            </a:r>
            <a:r>
              <a:rPr lang="en-US" altLang="en-US" smtClean="0"/>
              <a:t>}, the set consisting of all the processes in the system</a:t>
            </a:r>
            <a:br>
              <a:rPr lang="en-US" altLang="en-US" smtClean="0"/>
            </a:br>
            <a:endParaRPr lang="en-US" altLang="en-US" smtClean="0"/>
          </a:p>
          <a:p>
            <a:pPr lvl="1"/>
            <a:r>
              <a:rPr lang="en-US" altLang="en-US" i="1" smtClean="0"/>
              <a:t>R</a:t>
            </a:r>
            <a:r>
              <a:rPr lang="en-US" altLang="en-US" smtClean="0"/>
              <a:t> = {</a:t>
            </a:r>
            <a:r>
              <a:rPr lang="en-US" altLang="en-US" i="1" smtClean="0"/>
              <a:t>R</a:t>
            </a:r>
            <a:r>
              <a:rPr lang="en-US" altLang="en-US" baseline="-25000" smtClean="0"/>
              <a:t>1</a:t>
            </a:r>
            <a:r>
              <a:rPr lang="en-US" altLang="en-US" smtClean="0"/>
              <a:t>, </a:t>
            </a:r>
            <a:r>
              <a:rPr lang="en-US" altLang="en-US" i="1" smtClean="0"/>
              <a:t>R</a:t>
            </a:r>
            <a:r>
              <a:rPr lang="en-US" altLang="en-US" baseline="-25000" smtClean="0"/>
              <a:t>2</a:t>
            </a:r>
            <a:r>
              <a:rPr lang="en-US" altLang="en-US" smtClean="0"/>
              <a:t>, …, </a:t>
            </a:r>
            <a:r>
              <a:rPr lang="en-US" altLang="en-US" i="1" smtClean="0"/>
              <a:t>R</a:t>
            </a:r>
            <a:r>
              <a:rPr lang="en-US" altLang="en-US" i="1" baseline="-25000" smtClean="0"/>
              <a:t>m</a:t>
            </a:r>
            <a:r>
              <a:rPr lang="en-US" altLang="en-US" smtClean="0"/>
              <a:t>}, the set consisting of all resource types in the system</a:t>
            </a:r>
          </a:p>
          <a:p>
            <a:pPr lvl="1"/>
            <a:endParaRPr lang="en-US" altLang="en-US" sz="900" smtClean="0"/>
          </a:p>
          <a:p>
            <a:r>
              <a:rPr lang="en-US" altLang="en-US" b="1" smtClean="0">
                <a:solidFill>
                  <a:srgbClr val="3366FF"/>
                </a:solidFill>
              </a:rPr>
              <a:t>request edge</a:t>
            </a:r>
            <a:r>
              <a:rPr lang="en-US" altLang="en-US" smtClean="0">
                <a:solidFill>
                  <a:srgbClr val="3366FF"/>
                </a:solidFill>
              </a:rPr>
              <a:t> </a:t>
            </a:r>
            <a:r>
              <a:rPr lang="en-US" altLang="en-US" smtClean="0"/>
              <a:t>– directed edge </a:t>
            </a:r>
            <a:r>
              <a:rPr lang="en-US" altLang="en-US" i="1" smtClean="0"/>
              <a:t>P</a:t>
            </a:r>
            <a:r>
              <a:rPr lang="en-US" altLang="en-US" i="1" baseline="-25000" smtClean="0"/>
              <a:t>i </a:t>
            </a:r>
            <a:r>
              <a:rPr lang="en-US" altLang="en-US" smtClean="0">
                <a:sym typeface="Symbol" pitchFamily="18" charset="2"/>
              </a:rPr>
              <a:t> </a:t>
            </a:r>
            <a:r>
              <a:rPr lang="en-US" altLang="en-US" i="1" smtClean="0">
                <a:sym typeface="Symbol" pitchFamily="18" charset="2"/>
              </a:rPr>
              <a:t>R</a:t>
            </a:r>
            <a:r>
              <a:rPr lang="en-US" altLang="en-US" i="1" baseline="-25000" smtClean="0">
                <a:sym typeface="Symbol" pitchFamily="18" charset="2"/>
              </a:rPr>
              <a:t>j</a:t>
            </a:r>
          </a:p>
          <a:p>
            <a:endParaRPr lang="en-US" altLang="en-US" sz="800" i="1" baseline="-25000" smtClean="0">
              <a:sym typeface="Symbol" pitchFamily="18" charset="2"/>
            </a:endParaRPr>
          </a:p>
          <a:p>
            <a:r>
              <a:rPr lang="en-US" altLang="en-US" b="1" smtClean="0">
                <a:solidFill>
                  <a:srgbClr val="3366FF"/>
                </a:solidFill>
                <a:sym typeface="Symbol" pitchFamily="18" charset="2"/>
              </a:rPr>
              <a:t>assignment edge</a:t>
            </a:r>
            <a:r>
              <a:rPr lang="en-US" altLang="en-US" smtClean="0">
                <a:solidFill>
                  <a:srgbClr val="3366FF"/>
                </a:solidFill>
                <a:sym typeface="Symbol" pitchFamily="18" charset="2"/>
              </a:rPr>
              <a:t> </a:t>
            </a:r>
            <a:r>
              <a:rPr lang="en-US" altLang="en-US" smtClean="0"/>
              <a:t>– directed edge </a:t>
            </a:r>
            <a:r>
              <a:rPr lang="en-US" altLang="en-US" i="1" smtClean="0"/>
              <a:t>R</a:t>
            </a:r>
            <a:r>
              <a:rPr lang="en-US" altLang="en-US" i="1" baseline="-25000" smtClean="0"/>
              <a:t>j</a:t>
            </a:r>
            <a:r>
              <a:rPr lang="en-US" altLang="en-US" i="1" smtClean="0"/>
              <a:t> </a:t>
            </a:r>
            <a:r>
              <a:rPr lang="en-US" altLang="en-US" smtClean="0">
                <a:sym typeface="Symbol" pitchFamily="18" charset="2"/>
              </a:rPr>
              <a:t> </a:t>
            </a:r>
            <a:r>
              <a:rPr lang="en-US" altLang="en-US" i="1" smtClean="0">
                <a:sym typeface="Symbol" pitchFamily="18" charset="2"/>
              </a:rPr>
              <a:t>P</a:t>
            </a:r>
            <a:r>
              <a:rPr lang="en-US" altLang="en-US" i="1" baseline="-25000" smtClean="0">
                <a:sym typeface="Symbol" pitchFamily="18" charset="2"/>
              </a:rPr>
              <a:t>i</a:t>
            </a:r>
            <a:endParaRPr lang="en-US" altLang="en-US" smtClean="0">
              <a:sym typeface="Symbol" pitchFamily="18" charset="2"/>
            </a:endParaRPr>
          </a:p>
        </p:txBody>
      </p:sp>
      <p:sp>
        <p:nvSpPr>
          <p:cNvPr id="9220" name="Text Box 4"/>
          <p:cNvSpPr txBox="1">
            <a:spLocks noChangeArrowheads="1"/>
          </p:cNvSpPr>
          <p:nvPr/>
        </p:nvSpPr>
        <p:spPr bwMode="auto">
          <a:xfrm>
            <a:off x="822325" y="1035050"/>
            <a:ext cx="4692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pPr>
            <a:r>
              <a:rPr lang="en-US" altLang="en-US" sz="2000">
                <a:latin typeface="Helvetica" pitchFamily="-84" charset="0"/>
              </a:rPr>
              <a:t>A set of vertices </a:t>
            </a:r>
            <a:r>
              <a:rPr lang="en-US" altLang="en-US" sz="2000" i="1">
                <a:latin typeface="Helvetica" pitchFamily="-84" charset="0"/>
              </a:rPr>
              <a:t>V</a:t>
            </a:r>
            <a:r>
              <a:rPr lang="en-US" altLang="en-US" sz="2000">
                <a:latin typeface="Helvetica" pitchFamily="-84" charset="0"/>
              </a:rPr>
              <a:t> and a set of edges </a:t>
            </a:r>
            <a:r>
              <a:rPr lang="en-US" altLang="en-US" sz="2000" i="1">
                <a:latin typeface="Helvetica" pitchFamily="-84" charset="0"/>
              </a:rPr>
              <a:t>E</a:t>
            </a:r>
            <a:r>
              <a:rPr lang="en-US" altLang="en-US" sz="2000">
                <a:latin typeface="Helvetica" pitchFamily="-84" charset="0"/>
              </a:rPr>
              <a:t>.</a:t>
            </a:r>
          </a:p>
        </p:txBody>
      </p:sp>
    </p:spTree>
    <p:extLst>
      <p:ext uri="{BB962C8B-B14F-4D97-AF65-F5344CB8AC3E}">
        <p14:creationId xmlns:p14="http://schemas.microsoft.com/office/powerpoint/2010/main" val="42203988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1128713" y="182563"/>
            <a:ext cx="7810500" cy="576262"/>
          </a:xfrm>
        </p:spPr>
        <p:txBody>
          <a:bodyPr>
            <a:normAutofit fontScale="90000"/>
          </a:bodyPr>
          <a:lstStyle/>
          <a:p>
            <a:pPr eaLnBrk="1" hangingPunct="1"/>
            <a:r>
              <a:rPr lang="en-US" altLang="en-US" smtClean="0"/>
              <a:t>Resource-Allocation Graph (Cont.)</a:t>
            </a:r>
          </a:p>
        </p:txBody>
      </p:sp>
      <p:sp>
        <p:nvSpPr>
          <p:cNvPr id="10243" name="Rectangle 3"/>
          <p:cNvSpPr>
            <a:spLocks noGrp="1" noChangeArrowheads="1"/>
          </p:cNvSpPr>
          <p:nvPr>
            <p:ph type="body" idx="1"/>
          </p:nvPr>
        </p:nvSpPr>
        <p:spPr>
          <a:xfrm>
            <a:off x="885825" y="1138238"/>
            <a:ext cx="7343775" cy="4530725"/>
          </a:xfrm>
        </p:spPr>
        <p:txBody>
          <a:bodyPr>
            <a:normAutofit fontScale="92500" lnSpcReduction="10000"/>
          </a:bodyPr>
          <a:lstStyle/>
          <a:p>
            <a:r>
              <a:rPr lang="en-US" altLang="en-US" dirty="0" smtClean="0"/>
              <a:t>Process</a:t>
            </a:r>
            <a:br>
              <a:rPr lang="en-US" altLang="en-US" dirty="0" smtClean="0"/>
            </a:br>
            <a:r>
              <a:rPr lang="en-US" altLang="en-US" dirty="0" smtClean="0"/>
              <a:t/>
            </a:r>
            <a:br>
              <a:rPr lang="en-US" altLang="en-US" dirty="0" smtClean="0"/>
            </a:br>
            <a:r>
              <a:rPr lang="en-US" altLang="en-US" dirty="0" smtClean="0"/>
              <a:t/>
            </a:r>
            <a:br>
              <a:rPr lang="en-US" altLang="en-US" dirty="0" smtClean="0"/>
            </a:br>
            <a:endParaRPr lang="en-US" altLang="en-US" dirty="0" smtClean="0"/>
          </a:p>
          <a:p>
            <a:r>
              <a:rPr lang="en-US" altLang="en-US" dirty="0" smtClean="0"/>
              <a:t>Resource Type with 4 instances</a:t>
            </a:r>
          </a:p>
          <a:p>
            <a:pPr>
              <a:buFont typeface="Monotype Sorts" pitchFamily="-84" charset="2"/>
              <a:buNone/>
            </a:pPr>
            <a:endParaRPr lang="en-US" altLang="en-US" dirty="0" smtClean="0"/>
          </a:p>
          <a:p>
            <a:endParaRPr lang="en-US" altLang="en-US" dirty="0" smtClean="0"/>
          </a:p>
          <a:p>
            <a:r>
              <a:rPr lang="en-US" altLang="en-US" i="1" dirty="0" smtClean="0"/>
              <a:t>P</a:t>
            </a:r>
            <a:r>
              <a:rPr lang="en-US" altLang="en-US" i="1" baseline="-25000" dirty="0" smtClean="0"/>
              <a:t>i</a:t>
            </a:r>
            <a:r>
              <a:rPr lang="en-US" altLang="en-US" i="1" dirty="0" smtClean="0"/>
              <a:t> </a:t>
            </a:r>
            <a:r>
              <a:rPr lang="en-US" altLang="en-US" dirty="0" smtClean="0"/>
              <a:t>requests instance of </a:t>
            </a:r>
            <a:r>
              <a:rPr lang="en-US" altLang="en-US" i="1" dirty="0" err="1" smtClean="0"/>
              <a:t>R</a:t>
            </a:r>
            <a:r>
              <a:rPr lang="en-US" altLang="en-US" i="1" baseline="-25000" dirty="0" err="1" smtClean="0"/>
              <a:t>j</a:t>
            </a:r>
            <a:endParaRPr lang="en-US" altLang="en-US" dirty="0" smtClean="0"/>
          </a:p>
          <a:p>
            <a:endParaRPr lang="en-US" altLang="en-US" dirty="0" smtClean="0"/>
          </a:p>
          <a:p>
            <a:pPr>
              <a:buFont typeface="Monotype Sorts" pitchFamily="-84" charset="2"/>
              <a:buNone/>
            </a:pPr>
            <a:endParaRPr lang="en-US" altLang="en-US" dirty="0" smtClean="0"/>
          </a:p>
          <a:p>
            <a:r>
              <a:rPr lang="en-US" altLang="en-US" i="1" dirty="0" smtClean="0"/>
              <a:t>P</a:t>
            </a:r>
            <a:r>
              <a:rPr lang="en-US" altLang="en-US" i="1" baseline="-25000" dirty="0" smtClean="0"/>
              <a:t>i</a:t>
            </a:r>
            <a:r>
              <a:rPr lang="en-US" altLang="en-US" dirty="0" smtClean="0"/>
              <a:t> is holding an instance of </a:t>
            </a:r>
            <a:r>
              <a:rPr lang="en-US" altLang="en-US" i="1" dirty="0" err="1" smtClean="0"/>
              <a:t>R</a:t>
            </a:r>
            <a:r>
              <a:rPr lang="en-US" altLang="en-US" i="1" baseline="-25000" dirty="0" err="1" smtClean="0"/>
              <a:t>j</a:t>
            </a:r>
            <a:endParaRPr lang="en-US" altLang="en-US" i="1" dirty="0" smtClean="0"/>
          </a:p>
        </p:txBody>
      </p:sp>
      <p:sp>
        <p:nvSpPr>
          <p:cNvPr id="10244" name="Oval 4"/>
          <p:cNvSpPr>
            <a:spLocks noChangeArrowheads="1"/>
          </p:cNvSpPr>
          <p:nvPr/>
        </p:nvSpPr>
        <p:spPr bwMode="auto">
          <a:xfrm>
            <a:off x="4143375" y="1493838"/>
            <a:ext cx="495300" cy="495300"/>
          </a:xfrm>
          <a:prstGeom prst="ellipse">
            <a:avLst/>
          </a:prstGeom>
          <a:solidFill>
            <a:srgbClr val="CCECFF"/>
          </a:solidFill>
          <a:ln w="9525">
            <a:solidFill>
              <a:schemeClr val="tx1"/>
            </a:solidFill>
            <a:round/>
            <a:headEnd/>
            <a:tailEnd/>
          </a:ln>
        </p:spPr>
        <p:txBody>
          <a:bodyPr wrap="none" anchor="ctr"/>
          <a:lstStyle/>
          <a:p>
            <a:endParaRPr lang="en-US" altLang="en-US"/>
          </a:p>
        </p:txBody>
      </p:sp>
      <p:sp>
        <p:nvSpPr>
          <p:cNvPr id="10245" name="Oval 5"/>
          <p:cNvSpPr>
            <a:spLocks noChangeArrowheads="1"/>
          </p:cNvSpPr>
          <p:nvPr/>
        </p:nvSpPr>
        <p:spPr bwMode="auto">
          <a:xfrm>
            <a:off x="3876675" y="5316538"/>
            <a:ext cx="495300" cy="495300"/>
          </a:xfrm>
          <a:prstGeom prst="ellipse">
            <a:avLst/>
          </a:prstGeom>
          <a:solidFill>
            <a:srgbClr val="CCECFF"/>
          </a:solidFill>
          <a:ln w="9525">
            <a:solidFill>
              <a:schemeClr val="tx1"/>
            </a:solidFill>
            <a:round/>
            <a:headEnd/>
            <a:tailEnd/>
          </a:ln>
        </p:spPr>
        <p:txBody>
          <a:bodyPr wrap="none" anchor="ctr"/>
          <a:lstStyle/>
          <a:p>
            <a:pPr algn="ctr"/>
            <a:r>
              <a:rPr lang="en-US" altLang="en-US" i="1">
                <a:latin typeface="Helvetica" pitchFamily="-84" charset="0"/>
              </a:rPr>
              <a:t>P</a:t>
            </a:r>
            <a:r>
              <a:rPr lang="en-US" altLang="en-US" i="1" baseline="-25000">
                <a:latin typeface="Helvetica" pitchFamily="-84" charset="0"/>
              </a:rPr>
              <a:t>i</a:t>
            </a:r>
            <a:endParaRPr lang="en-US" altLang="en-US">
              <a:latin typeface="Helvetica" pitchFamily="-84" charset="0"/>
            </a:endParaRPr>
          </a:p>
        </p:txBody>
      </p:sp>
      <p:sp>
        <p:nvSpPr>
          <p:cNvPr id="10246" name="Oval 6"/>
          <p:cNvSpPr>
            <a:spLocks noChangeArrowheads="1"/>
          </p:cNvSpPr>
          <p:nvPr/>
        </p:nvSpPr>
        <p:spPr bwMode="auto">
          <a:xfrm>
            <a:off x="3860800" y="3914775"/>
            <a:ext cx="495300" cy="495300"/>
          </a:xfrm>
          <a:prstGeom prst="ellipse">
            <a:avLst/>
          </a:prstGeom>
          <a:solidFill>
            <a:srgbClr val="CCECFF"/>
          </a:solidFill>
          <a:ln w="9525">
            <a:solidFill>
              <a:schemeClr val="tx1"/>
            </a:solidFill>
            <a:round/>
            <a:headEnd/>
            <a:tailEnd/>
          </a:ln>
        </p:spPr>
        <p:txBody>
          <a:bodyPr wrap="none" anchor="ctr"/>
          <a:lstStyle/>
          <a:p>
            <a:pPr algn="ctr"/>
            <a:r>
              <a:rPr lang="en-US" altLang="en-US" i="1">
                <a:latin typeface="Helvetica" pitchFamily="-84" charset="0"/>
              </a:rPr>
              <a:t>P</a:t>
            </a:r>
            <a:r>
              <a:rPr lang="en-US" altLang="en-US" i="1" baseline="-25000">
                <a:latin typeface="Helvetica" pitchFamily="-84" charset="0"/>
              </a:rPr>
              <a:t>i</a:t>
            </a:r>
            <a:endParaRPr lang="en-US" altLang="en-US" i="1">
              <a:latin typeface="Helvetica" pitchFamily="-84" charset="0"/>
            </a:endParaRPr>
          </a:p>
        </p:txBody>
      </p:sp>
      <p:grpSp>
        <p:nvGrpSpPr>
          <p:cNvPr id="2" name="Group 12"/>
          <p:cNvGrpSpPr>
            <a:grpSpLocks/>
          </p:cNvGrpSpPr>
          <p:nvPr/>
        </p:nvGrpSpPr>
        <p:grpSpPr bwMode="auto">
          <a:xfrm>
            <a:off x="4232275" y="2862263"/>
            <a:ext cx="438150" cy="419100"/>
            <a:chOff x="2666" y="1966"/>
            <a:chExt cx="276" cy="264"/>
          </a:xfrm>
          <a:solidFill>
            <a:srgbClr val="CCECFF"/>
          </a:solidFill>
        </p:grpSpPr>
        <p:sp>
          <p:nvSpPr>
            <p:cNvPr id="10264" name="Rectangle 7"/>
            <p:cNvSpPr>
              <a:spLocks noChangeArrowheads="1"/>
            </p:cNvSpPr>
            <p:nvPr/>
          </p:nvSpPr>
          <p:spPr bwMode="auto">
            <a:xfrm>
              <a:off x="2666" y="1966"/>
              <a:ext cx="276" cy="264"/>
            </a:xfrm>
            <a:prstGeom prst="rect">
              <a:avLst/>
            </a:prstGeom>
            <a:grpFill/>
            <a:ln w="9525">
              <a:solidFill>
                <a:schemeClr val="tx1"/>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smtClean="0"/>
            </a:p>
          </p:txBody>
        </p:sp>
        <p:sp>
          <p:nvSpPr>
            <p:cNvPr id="10265" name="Rectangle 8"/>
            <p:cNvSpPr>
              <a:spLocks noChangeArrowheads="1"/>
            </p:cNvSpPr>
            <p:nvPr/>
          </p:nvSpPr>
          <p:spPr bwMode="auto">
            <a:xfrm>
              <a:off x="2736" y="2026"/>
              <a:ext cx="47" cy="47"/>
            </a:xfrm>
            <a:prstGeom prst="rect">
              <a:avLst/>
            </a:prstGeom>
            <a:grpFill/>
            <a:ln w="9525">
              <a:solidFill>
                <a:schemeClr val="tx1"/>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smtClean="0"/>
            </a:p>
          </p:txBody>
        </p:sp>
        <p:sp>
          <p:nvSpPr>
            <p:cNvPr id="10266" name="Rectangle 9"/>
            <p:cNvSpPr>
              <a:spLocks noChangeArrowheads="1"/>
            </p:cNvSpPr>
            <p:nvPr/>
          </p:nvSpPr>
          <p:spPr bwMode="auto">
            <a:xfrm>
              <a:off x="2832" y="2026"/>
              <a:ext cx="47" cy="47"/>
            </a:xfrm>
            <a:prstGeom prst="rect">
              <a:avLst/>
            </a:prstGeom>
            <a:grpFill/>
            <a:ln w="9525">
              <a:solidFill>
                <a:schemeClr val="tx1"/>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smtClean="0"/>
            </a:p>
          </p:txBody>
        </p:sp>
        <p:sp>
          <p:nvSpPr>
            <p:cNvPr id="10267" name="Rectangle 10"/>
            <p:cNvSpPr>
              <a:spLocks noChangeArrowheads="1"/>
            </p:cNvSpPr>
            <p:nvPr/>
          </p:nvSpPr>
          <p:spPr bwMode="auto">
            <a:xfrm>
              <a:off x="2736" y="2108"/>
              <a:ext cx="47" cy="47"/>
            </a:xfrm>
            <a:prstGeom prst="rect">
              <a:avLst/>
            </a:prstGeom>
            <a:grpFill/>
            <a:ln w="9525">
              <a:solidFill>
                <a:schemeClr val="tx1"/>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smtClean="0"/>
            </a:p>
          </p:txBody>
        </p:sp>
        <p:sp>
          <p:nvSpPr>
            <p:cNvPr id="10268" name="Rectangle 11"/>
            <p:cNvSpPr>
              <a:spLocks noChangeArrowheads="1"/>
            </p:cNvSpPr>
            <p:nvPr/>
          </p:nvSpPr>
          <p:spPr bwMode="auto">
            <a:xfrm>
              <a:off x="2832" y="2108"/>
              <a:ext cx="47" cy="47"/>
            </a:xfrm>
            <a:prstGeom prst="rect">
              <a:avLst/>
            </a:prstGeom>
            <a:grpFill/>
            <a:ln w="9525">
              <a:solidFill>
                <a:schemeClr val="tx1"/>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smtClean="0"/>
            </a:p>
          </p:txBody>
        </p:sp>
      </p:grpSp>
      <p:grpSp>
        <p:nvGrpSpPr>
          <p:cNvPr id="3" name="Group 13"/>
          <p:cNvGrpSpPr>
            <a:grpSpLocks/>
          </p:cNvGrpSpPr>
          <p:nvPr/>
        </p:nvGrpSpPr>
        <p:grpSpPr bwMode="auto">
          <a:xfrm>
            <a:off x="4692650" y="3978275"/>
            <a:ext cx="438150" cy="419100"/>
            <a:chOff x="2666" y="1966"/>
            <a:chExt cx="276" cy="264"/>
          </a:xfrm>
          <a:solidFill>
            <a:srgbClr val="CCECFF"/>
          </a:solidFill>
        </p:grpSpPr>
        <p:sp>
          <p:nvSpPr>
            <p:cNvPr id="10259" name="Rectangle 14"/>
            <p:cNvSpPr>
              <a:spLocks noChangeArrowheads="1"/>
            </p:cNvSpPr>
            <p:nvPr/>
          </p:nvSpPr>
          <p:spPr bwMode="auto">
            <a:xfrm>
              <a:off x="2666" y="1966"/>
              <a:ext cx="276" cy="264"/>
            </a:xfrm>
            <a:prstGeom prst="rect">
              <a:avLst/>
            </a:prstGeom>
            <a:grpFill/>
            <a:ln w="9525">
              <a:solidFill>
                <a:schemeClr val="tx1"/>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smtClean="0"/>
            </a:p>
          </p:txBody>
        </p:sp>
        <p:sp>
          <p:nvSpPr>
            <p:cNvPr id="10260" name="Rectangle 15"/>
            <p:cNvSpPr>
              <a:spLocks noChangeArrowheads="1"/>
            </p:cNvSpPr>
            <p:nvPr/>
          </p:nvSpPr>
          <p:spPr bwMode="auto">
            <a:xfrm>
              <a:off x="2736" y="2026"/>
              <a:ext cx="47" cy="47"/>
            </a:xfrm>
            <a:prstGeom prst="rect">
              <a:avLst/>
            </a:prstGeom>
            <a:grpFill/>
            <a:ln w="9525">
              <a:solidFill>
                <a:schemeClr val="tx1"/>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smtClean="0"/>
            </a:p>
          </p:txBody>
        </p:sp>
        <p:sp>
          <p:nvSpPr>
            <p:cNvPr id="10261" name="Rectangle 16"/>
            <p:cNvSpPr>
              <a:spLocks noChangeArrowheads="1"/>
            </p:cNvSpPr>
            <p:nvPr/>
          </p:nvSpPr>
          <p:spPr bwMode="auto">
            <a:xfrm>
              <a:off x="2832" y="2026"/>
              <a:ext cx="47" cy="47"/>
            </a:xfrm>
            <a:prstGeom prst="rect">
              <a:avLst/>
            </a:prstGeom>
            <a:grpFill/>
            <a:ln w="9525">
              <a:solidFill>
                <a:schemeClr val="tx1"/>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smtClean="0"/>
            </a:p>
          </p:txBody>
        </p:sp>
        <p:sp>
          <p:nvSpPr>
            <p:cNvPr id="10262" name="Rectangle 17"/>
            <p:cNvSpPr>
              <a:spLocks noChangeArrowheads="1"/>
            </p:cNvSpPr>
            <p:nvPr/>
          </p:nvSpPr>
          <p:spPr bwMode="auto">
            <a:xfrm>
              <a:off x="2736" y="2108"/>
              <a:ext cx="47" cy="47"/>
            </a:xfrm>
            <a:prstGeom prst="rect">
              <a:avLst/>
            </a:prstGeom>
            <a:grpFill/>
            <a:ln w="9525">
              <a:solidFill>
                <a:schemeClr val="tx1"/>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smtClean="0"/>
            </a:p>
          </p:txBody>
        </p:sp>
        <p:sp>
          <p:nvSpPr>
            <p:cNvPr id="10263" name="Rectangle 18"/>
            <p:cNvSpPr>
              <a:spLocks noChangeArrowheads="1"/>
            </p:cNvSpPr>
            <p:nvPr/>
          </p:nvSpPr>
          <p:spPr bwMode="auto">
            <a:xfrm>
              <a:off x="2832" y="2108"/>
              <a:ext cx="47" cy="47"/>
            </a:xfrm>
            <a:prstGeom prst="rect">
              <a:avLst/>
            </a:prstGeom>
            <a:grpFill/>
            <a:ln w="9525">
              <a:solidFill>
                <a:schemeClr val="tx1"/>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smtClean="0"/>
            </a:p>
          </p:txBody>
        </p:sp>
      </p:grpSp>
      <p:sp>
        <p:nvSpPr>
          <p:cNvPr id="10249" name="Line 19"/>
          <p:cNvSpPr>
            <a:spLocks noChangeShapeType="1"/>
          </p:cNvSpPr>
          <p:nvPr/>
        </p:nvSpPr>
        <p:spPr bwMode="auto">
          <a:xfrm>
            <a:off x="4365625" y="4181475"/>
            <a:ext cx="3048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250" name="Text Box 20"/>
          <p:cNvSpPr txBox="1">
            <a:spLocks noChangeArrowheads="1"/>
          </p:cNvSpPr>
          <p:nvPr/>
        </p:nvSpPr>
        <p:spPr bwMode="auto">
          <a:xfrm>
            <a:off x="4752975" y="4395788"/>
            <a:ext cx="3381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pPr>
            <a:r>
              <a:rPr lang="en-US" altLang="en-US" sz="1400" i="1">
                <a:latin typeface="Helvetica" pitchFamily="-84" charset="0"/>
              </a:rPr>
              <a:t>R</a:t>
            </a:r>
            <a:r>
              <a:rPr lang="en-US" altLang="en-US" sz="1400" i="1" baseline="-25000">
                <a:latin typeface="Helvetica" pitchFamily="-84" charset="0"/>
              </a:rPr>
              <a:t>j</a:t>
            </a:r>
            <a:endParaRPr lang="en-US" altLang="en-US" sz="1400" i="1">
              <a:latin typeface="Helvetica" pitchFamily="-84" charset="0"/>
            </a:endParaRPr>
          </a:p>
        </p:txBody>
      </p:sp>
      <p:grpSp>
        <p:nvGrpSpPr>
          <p:cNvPr id="4" name="Group 21"/>
          <p:cNvGrpSpPr>
            <a:grpSpLocks/>
          </p:cNvGrpSpPr>
          <p:nvPr/>
        </p:nvGrpSpPr>
        <p:grpSpPr bwMode="auto">
          <a:xfrm>
            <a:off x="4670425" y="5380038"/>
            <a:ext cx="438150" cy="419100"/>
            <a:chOff x="2666" y="1966"/>
            <a:chExt cx="276" cy="264"/>
          </a:xfrm>
          <a:solidFill>
            <a:srgbClr val="CCECFF"/>
          </a:solidFill>
        </p:grpSpPr>
        <p:sp>
          <p:nvSpPr>
            <p:cNvPr id="10254" name="Rectangle 22"/>
            <p:cNvSpPr>
              <a:spLocks noChangeArrowheads="1"/>
            </p:cNvSpPr>
            <p:nvPr/>
          </p:nvSpPr>
          <p:spPr bwMode="auto">
            <a:xfrm>
              <a:off x="2666" y="1966"/>
              <a:ext cx="276" cy="264"/>
            </a:xfrm>
            <a:prstGeom prst="rect">
              <a:avLst/>
            </a:prstGeom>
            <a:grpFill/>
            <a:ln w="9525">
              <a:solidFill>
                <a:schemeClr val="tx1"/>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smtClean="0"/>
            </a:p>
          </p:txBody>
        </p:sp>
        <p:sp>
          <p:nvSpPr>
            <p:cNvPr id="10255" name="Rectangle 23"/>
            <p:cNvSpPr>
              <a:spLocks noChangeArrowheads="1"/>
            </p:cNvSpPr>
            <p:nvPr/>
          </p:nvSpPr>
          <p:spPr bwMode="auto">
            <a:xfrm>
              <a:off x="2736" y="2026"/>
              <a:ext cx="47" cy="47"/>
            </a:xfrm>
            <a:prstGeom prst="rect">
              <a:avLst/>
            </a:prstGeom>
            <a:grpFill/>
            <a:ln w="9525">
              <a:solidFill>
                <a:schemeClr val="tx1"/>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smtClean="0"/>
            </a:p>
          </p:txBody>
        </p:sp>
        <p:sp>
          <p:nvSpPr>
            <p:cNvPr id="10256" name="Rectangle 24"/>
            <p:cNvSpPr>
              <a:spLocks noChangeArrowheads="1"/>
            </p:cNvSpPr>
            <p:nvPr/>
          </p:nvSpPr>
          <p:spPr bwMode="auto">
            <a:xfrm>
              <a:off x="2832" y="2026"/>
              <a:ext cx="47" cy="47"/>
            </a:xfrm>
            <a:prstGeom prst="rect">
              <a:avLst/>
            </a:prstGeom>
            <a:grpFill/>
            <a:ln w="9525">
              <a:solidFill>
                <a:schemeClr val="tx1"/>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smtClean="0"/>
            </a:p>
          </p:txBody>
        </p:sp>
        <p:sp>
          <p:nvSpPr>
            <p:cNvPr id="10257" name="Rectangle 25"/>
            <p:cNvSpPr>
              <a:spLocks noChangeArrowheads="1"/>
            </p:cNvSpPr>
            <p:nvPr/>
          </p:nvSpPr>
          <p:spPr bwMode="auto">
            <a:xfrm>
              <a:off x="2736" y="2108"/>
              <a:ext cx="47" cy="47"/>
            </a:xfrm>
            <a:prstGeom prst="rect">
              <a:avLst/>
            </a:prstGeom>
            <a:grpFill/>
            <a:ln w="9525">
              <a:solidFill>
                <a:schemeClr val="tx1"/>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smtClean="0"/>
            </a:p>
          </p:txBody>
        </p:sp>
        <p:sp>
          <p:nvSpPr>
            <p:cNvPr id="10258" name="Rectangle 26"/>
            <p:cNvSpPr>
              <a:spLocks noChangeArrowheads="1"/>
            </p:cNvSpPr>
            <p:nvPr/>
          </p:nvSpPr>
          <p:spPr bwMode="auto">
            <a:xfrm>
              <a:off x="2832" y="2108"/>
              <a:ext cx="47" cy="47"/>
            </a:xfrm>
            <a:prstGeom prst="rect">
              <a:avLst/>
            </a:prstGeom>
            <a:grpFill/>
            <a:ln w="9525">
              <a:solidFill>
                <a:schemeClr val="tx1"/>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smtClean="0"/>
            </a:p>
          </p:txBody>
        </p:sp>
      </p:grpSp>
      <p:sp>
        <p:nvSpPr>
          <p:cNvPr id="10252" name="Line 27"/>
          <p:cNvSpPr>
            <a:spLocks noChangeShapeType="1"/>
          </p:cNvSpPr>
          <p:nvPr/>
        </p:nvSpPr>
        <p:spPr bwMode="auto">
          <a:xfrm flipH="1">
            <a:off x="4343400" y="5526088"/>
            <a:ext cx="476250" cy="1047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253" name="Text Box 28"/>
          <p:cNvSpPr txBox="1">
            <a:spLocks noChangeArrowheads="1"/>
          </p:cNvSpPr>
          <p:nvPr/>
        </p:nvSpPr>
        <p:spPr bwMode="auto">
          <a:xfrm>
            <a:off x="4721225" y="5768975"/>
            <a:ext cx="3381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pPr>
            <a:r>
              <a:rPr lang="en-US" altLang="en-US" sz="1400" i="1">
                <a:latin typeface="Helvetica" pitchFamily="-84" charset="0"/>
              </a:rPr>
              <a:t>R</a:t>
            </a:r>
            <a:r>
              <a:rPr lang="en-US" altLang="en-US" sz="1400" i="1" baseline="-25000">
                <a:latin typeface="Helvetica" pitchFamily="-84" charset="0"/>
              </a:rPr>
              <a:t>j</a:t>
            </a:r>
            <a:endParaRPr lang="en-US" altLang="en-US" sz="1400" i="1">
              <a:latin typeface="Helvetica" pitchFamily="-84" charset="0"/>
            </a:endParaRPr>
          </a:p>
        </p:txBody>
      </p:sp>
    </p:spTree>
    <p:extLst>
      <p:ext uri="{BB962C8B-B14F-4D97-AF65-F5344CB8AC3E}">
        <p14:creationId xmlns:p14="http://schemas.microsoft.com/office/powerpoint/2010/main" val="39375004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1026"/>
          <p:cNvSpPr>
            <a:spLocks noGrp="1" noChangeArrowheads="1"/>
          </p:cNvSpPr>
          <p:nvPr>
            <p:ph type="title"/>
          </p:nvPr>
        </p:nvSpPr>
        <p:spPr>
          <a:xfrm>
            <a:off x="1076325" y="207963"/>
            <a:ext cx="8150225" cy="512762"/>
          </a:xfrm>
        </p:spPr>
        <p:txBody>
          <a:bodyPr>
            <a:normAutofit fontScale="90000"/>
          </a:bodyPr>
          <a:lstStyle/>
          <a:p>
            <a:pPr eaLnBrk="1" hangingPunct="1"/>
            <a:r>
              <a:rPr lang="en-US" altLang="en-US" sz="2800" smtClean="0"/>
              <a:t>Example of a Resource Allocation Graph</a:t>
            </a:r>
          </a:p>
        </p:txBody>
      </p:sp>
      <p:pic>
        <p:nvPicPr>
          <p:cNvPr id="11267" name="Picture 1032"/>
          <p:cNvPicPr>
            <a:picLocks noChangeAspect="1" noChangeArrowheads="1"/>
          </p:cNvPicPr>
          <p:nvPr/>
        </p:nvPicPr>
        <p:blipFill>
          <a:blip r:embed="rId3">
            <a:extLst>
              <a:ext uri="{28A0092B-C50C-407E-A947-70E740481C1C}">
                <a14:useLocalDpi xmlns:a14="http://schemas.microsoft.com/office/drawing/2010/main" val="0"/>
              </a:ext>
            </a:extLst>
          </a:blip>
          <a:srcRect l="25287" t="926" r="25287" b="1532"/>
          <a:stretch>
            <a:fillRect/>
          </a:stretch>
        </p:blipFill>
        <p:spPr bwMode="auto">
          <a:xfrm>
            <a:off x="2941638" y="1316038"/>
            <a:ext cx="2741612" cy="4059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pic>
    </p:spTree>
    <p:extLst>
      <p:ext uri="{BB962C8B-B14F-4D97-AF65-F5344CB8AC3E}">
        <p14:creationId xmlns:p14="http://schemas.microsoft.com/office/powerpoint/2010/main" val="10710582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033463" y="273050"/>
            <a:ext cx="8378825" cy="469900"/>
          </a:xfrm>
        </p:spPr>
        <p:txBody>
          <a:bodyPr>
            <a:normAutofit fontScale="90000"/>
          </a:bodyPr>
          <a:lstStyle/>
          <a:p>
            <a:pPr eaLnBrk="1" hangingPunct="1"/>
            <a:r>
              <a:rPr lang="en-US" altLang="en-US" sz="2800" smtClean="0"/>
              <a:t>Resource Allocation Graph With A Deadlock</a:t>
            </a:r>
          </a:p>
        </p:txBody>
      </p:sp>
      <p:pic>
        <p:nvPicPr>
          <p:cNvPr id="12291"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3075" y="1212850"/>
            <a:ext cx="2781300" cy="409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787392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1241425" y="304800"/>
            <a:ext cx="7954963" cy="457200"/>
          </a:xfrm>
        </p:spPr>
        <p:txBody>
          <a:bodyPr>
            <a:normAutofit fontScale="90000"/>
          </a:bodyPr>
          <a:lstStyle/>
          <a:p>
            <a:pPr eaLnBrk="1" hangingPunct="1"/>
            <a:r>
              <a:rPr lang="en-US" altLang="en-US" smtClean="0"/>
              <a:t>Graph With A Cycle But No Deadlock</a:t>
            </a:r>
          </a:p>
        </p:txBody>
      </p:sp>
      <p:pic>
        <p:nvPicPr>
          <p:cNvPr id="13315" name="Picture 4" descr="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16275" y="1208088"/>
            <a:ext cx="2952750" cy="3767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787663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457200" y="152400"/>
            <a:ext cx="8229600" cy="576263"/>
          </a:xfrm>
        </p:spPr>
        <p:txBody>
          <a:bodyPr>
            <a:normAutofit fontScale="90000"/>
          </a:bodyPr>
          <a:lstStyle/>
          <a:p>
            <a:pPr eaLnBrk="1" hangingPunct="1"/>
            <a:r>
              <a:rPr lang="en-US" altLang="en-US" smtClean="0"/>
              <a:t>Basic Facts</a:t>
            </a:r>
          </a:p>
        </p:txBody>
      </p:sp>
      <p:sp>
        <p:nvSpPr>
          <p:cNvPr id="14339" name="Rectangle 3"/>
          <p:cNvSpPr>
            <a:spLocks noGrp="1" noChangeArrowheads="1"/>
          </p:cNvSpPr>
          <p:nvPr>
            <p:ph type="body" idx="1"/>
          </p:nvPr>
        </p:nvSpPr>
        <p:spPr>
          <a:xfrm>
            <a:off x="865188" y="1217613"/>
            <a:ext cx="6284912" cy="4400550"/>
          </a:xfrm>
        </p:spPr>
        <p:txBody>
          <a:bodyPr/>
          <a:lstStyle/>
          <a:p>
            <a:r>
              <a:rPr lang="en-US" altLang="en-US" smtClean="0"/>
              <a:t>If graph contains no cycles </a:t>
            </a:r>
            <a:r>
              <a:rPr lang="en-US" altLang="en-US" smtClean="0">
                <a:sym typeface="Symbol" pitchFamily="18" charset="2"/>
              </a:rPr>
              <a:t> no deadlock</a:t>
            </a:r>
          </a:p>
          <a:p>
            <a:r>
              <a:rPr lang="en-US" altLang="en-US" smtClean="0">
                <a:sym typeface="Symbol" pitchFamily="18" charset="2"/>
              </a:rPr>
              <a:t>If graph contains a cycle </a:t>
            </a:r>
          </a:p>
          <a:p>
            <a:pPr lvl="1"/>
            <a:r>
              <a:rPr lang="en-US" altLang="en-US" smtClean="0">
                <a:sym typeface="Symbol" pitchFamily="18" charset="2"/>
              </a:rPr>
              <a:t>if only one instance per resource type, then deadlock</a:t>
            </a:r>
          </a:p>
          <a:p>
            <a:pPr lvl="1"/>
            <a:r>
              <a:rPr lang="en-US" altLang="en-US" smtClean="0">
                <a:sym typeface="Symbol" pitchFamily="18" charset="2"/>
              </a:rPr>
              <a:t>if several instances per resource type, possibility of deadlock</a:t>
            </a:r>
          </a:p>
        </p:txBody>
      </p:sp>
    </p:spTree>
    <p:extLst>
      <p:ext uri="{BB962C8B-B14F-4D97-AF65-F5344CB8AC3E}">
        <p14:creationId xmlns:p14="http://schemas.microsoft.com/office/powerpoint/2010/main" val="4326730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1109663" y="214313"/>
            <a:ext cx="7577137" cy="576262"/>
          </a:xfrm>
        </p:spPr>
        <p:txBody>
          <a:bodyPr>
            <a:normAutofit fontScale="90000"/>
          </a:bodyPr>
          <a:lstStyle/>
          <a:p>
            <a:pPr eaLnBrk="1" hangingPunct="1"/>
            <a:r>
              <a:rPr lang="en-US" altLang="en-US" smtClean="0"/>
              <a:t>Methods for Handling Deadlocks</a:t>
            </a:r>
          </a:p>
        </p:txBody>
      </p:sp>
      <p:sp>
        <p:nvSpPr>
          <p:cNvPr id="15363" name="Rectangle 3"/>
          <p:cNvSpPr>
            <a:spLocks noGrp="1" noChangeArrowheads="1"/>
          </p:cNvSpPr>
          <p:nvPr>
            <p:ph type="body" idx="1"/>
          </p:nvPr>
        </p:nvSpPr>
        <p:spPr>
          <a:xfrm>
            <a:off x="882650" y="1198563"/>
            <a:ext cx="6153150" cy="3295650"/>
          </a:xfrm>
        </p:spPr>
        <p:txBody>
          <a:bodyPr>
            <a:normAutofit fontScale="92500" lnSpcReduction="10000"/>
          </a:bodyPr>
          <a:lstStyle/>
          <a:p>
            <a:r>
              <a:rPr lang="en-US" altLang="en-US" smtClean="0"/>
              <a:t>Ensure that the system will </a:t>
            </a:r>
            <a:r>
              <a:rPr lang="en-US" altLang="en-US" b="1" i="1" smtClean="0">
                <a:solidFill>
                  <a:srgbClr val="FF0066"/>
                </a:solidFill>
              </a:rPr>
              <a:t>never</a:t>
            </a:r>
            <a:r>
              <a:rPr lang="en-US" altLang="en-US" smtClean="0"/>
              <a:t> enter a deadlock state:</a:t>
            </a:r>
          </a:p>
          <a:p>
            <a:pPr lvl="1"/>
            <a:r>
              <a:rPr lang="en-US" altLang="en-US" smtClean="0"/>
              <a:t>Deadlock prevention</a:t>
            </a:r>
          </a:p>
          <a:p>
            <a:pPr lvl="1"/>
            <a:r>
              <a:rPr lang="en-US" altLang="en-US" smtClean="0"/>
              <a:t>Deadlock avoidence</a:t>
            </a:r>
          </a:p>
          <a:p>
            <a:r>
              <a:rPr lang="en-US" altLang="en-US" smtClean="0"/>
              <a:t>Allow the system to enter a deadlock state and then recover</a:t>
            </a:r>
          </a:p>
          <a:p>
            <a:r>
              <a:rPr lang="en-US" altLang="en-US" smtClean="0"/>
              <a:t>Ignore the problem and pretend that deadlocks never occur in the system; used by most operating systems, including UNIX</a:t>
            </a:r>
          </a:p>
        </p:txBody>
      </p:sp>
    </p:spTree>
    <p:extLst>
      <p:ext uri="{BB962C8B-B14F-4D97-AF65-F5344CB8AC3E}">
        <p14:creationId xmlns:p14="http://schemas.microsoft.com/office/powerpoint/2010/main" val="373258252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026"/>
          <p:cNvSpPr>
            <a:spLocks noGrp="1" noChangeArrowheads="1"/>
          </p:cNvSpPr>
          <p:nvPr>
            <p:ph type="title"/>
          </p:nvPr>
        </p:nvSpPr>
        <p:spPr>
          <a:xfrm>
            <a:off x="885825" y="198438"/>
            <a:ext cx="7800975" cy="576262"/>
          </a:xfrm>
        </p:spPr>
        <p:txBody>
          <a:bodyPr>
            <a:normAutofit fontScale="90000"/>
          </a:bodyPr>
          <a:lstStyle/>
          <a:p>
            <a:pPr eaLnBrk="1" hangingPunct="1"/>
            <a:r>
              <a:rPr lang="en-US" altLang="en-US" smtClean="0"/>
              <a:t>Deadlock Prevention</a:t>
            </a:r>
          </a:p>
        </p:txBody>
      </p:sp>
      <p:sp>
        <p:nvSpPr>
          <p:cNvPr id="16387" name="Rectangle 1027"/>
          <p:cNvSpPr>
            <a:spLocks noGrp="1" noChangeArrowheads="1"/>
          </p:cNvSpPr>
          <p:nvPr>
            <p:ph type="body" idx="1"/>
          </p:nvPr>
        </p:nvSpPr>
        <p:spPr>
          <a:xfrm>
            <a:off x="1160463" y="1633538"/>
            <a:ext cx="6523037" cy="3822700"/>
          </a:xfrm>
        </p:spPr>
        <p:txBody>
          <a:bodyPr>
            <a:normAutofit fontScale="92500" lnSpcReduction="10000"/>
          </a:bodyPr>
          <a:lstStyle/>
          <a:p>
            <a:pPr algn="just"/>
            <a:r>
              <a:rPr lang="en-US" altLang="en-US" b="1" dirty="0" smtClean="0"/>
              <a:t>Mutual Exclusion</a:t>
            </a:r>
            <a:r>
              <a:rPr lang="en-US" altLang="en-US" dirty="0" smtClean="0"/>
              <a:t> – not required for sharable resources (e.g., read-only files); must hold for non-sharable resources</a:t>
            </a:r>
          </a:p>
          <a:p>
            <a:pPr algn="just"/>
            <a:r>
              <a:rPr lang="en-US" altLang="en-US" b="1" dirty="0" smtClean="0"/>
              <a:t>Hold and Wait</a:t>
            </a:r>
            <a:r>
              <a:rPr lang="en-US" altLang="en-US" dirty="0" smtClean="0"/>
              <a:t> – must guarantee that whenever a process requests a resource, it does not hold any other resources</a:t>
            </a:r>
          </a:p>
          <a:p>
            <a:pPr lvl="1" algn="just"/>
            <a:r>
              <a:rPr lang="en-US" altLang="en-US" dirty="0" smtClean="0"/>
              <a:t>Require process to request and be allocated all its resources before it begins execution, or allow process to request resources only when the process has none allocated to it.</a:t>
            </a:r>
          </a:p>
          <a:p>
            <a:pPr lvl="1" algn="just"/>
            <a:r>
              <a:rPr lang="en-US" altLang="en-US" dirty="0" smtClean="0"/>
              <a:t>Low resource utilization; starvation possible</a:t>
            </a:r>
          </a:p>
        </p:txBody>
      </p:sp>
      <p:sp>
        <p:nvSpPr>
          <p:cNvPr id="16388" name="Text Box 1028"/>
          <p:cNvSpPr txBox="1">
            <a:spLocks noChangeArrowheads="1"/>
          </p:cNvSpPr>
          <p:nvPr/>
        </p:nvSpPr>
        <p:spPr bwMode="auto">
          <a:xfrm>
            <a:off x="819150" y="1116013"/>
            <a:ext cx="4273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pPr>
            <a:r>
              <a:rPr lang="en-US" altLang="en-US">
                <a:latin typeface="Helvetica" pitchFamily="-84" charset="0"/>
              </a:rPr>
              <a:t>Restrain the ways request can be made</a:t>
            </a:r>
          </a:p>
        </p:txBody>
      </p:sp>
    </p:spTree>
    <p:extLst>
      <p:ext uri="{BB962C8B-B14F-4D97-AF65-F5344CB8AC3E}">
        <p14:creationId xmlns:p14="http://schemas.microsoft.com/office/powerpoint/2010/main" val="76163908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1026"/>
          <p:cNvSpPr>
            <a:spLocks noGrp="1" noChangeArrowheads="1"/>
          </p:cNvSpPr>
          <p:nvPr>
            <p:ph type="title"/>
          </p:nvPr>
        </p:nvSpPr>
        <p:spPr>
          <a:xfrm>
            <a:off x="1003300" y="166688"/>
            <a:ext cx="7683500" cy="576262"/>
          </a:xfrm>
        </p:spPr>
        <p:txBody>
          <a:bodyPr>
            <a:normAutofit fontScale="90000"/>
          </a:bodyPr>
          <a:lstStyle/>
          <a:p>
            <a:pPr eaLnBrk="1" hangingPunct="1"/>
            <a:r>
              <a:rPr lang="en-US" altLang="en-US" smtClean="0"/>
              <a:t>Deadlock Prevention (Cont.)</a:t>
            </a:r>
          </a:p>
        </p:txBody>
      </p:sp>
      <p:sp>
        <p:nvSpPr>
          <p:cNvPr id="17411" name="Rectangle 1027"/>
          <p:cNvSpPr>
            <a:spLocks noGrp="1" noChangeArrowheads="1"/>
          </p:cNvSpPr>
          <p:nvPr>
            <p:ph type="body" idx="1"/>
          </p:nvPr>
        </p:nvSpPr>
        <p:spPr>
          <a:xfrm>
            <a:off x="838200" y="1076325"/>
            <a:ext cx="6705600" cy="4446588"/>
          </a:xfrm>
        </p:spPr>
        <p:txBody>
          <a:bodyPr>
            <a:normAutofit fontScale="92500" lnSpcReduction="20000"/>
          </a:bodyPr>
          <a:lstStyle/>
          <a:p>
            <a:pPr algn="just"/>
            <a:r>
              <a:rPr lang="en-US" altLang="en-US" b="1" dirty="0" smtClean="0"/>
              <a:t>No Preemption</a:t>
            </a:r>
            <a:r>
              <a:rPr lang="en-US" altLang="en-US" dirty="0" smtClean="0"/>
              <a:t> –</a:t>
            </a:r>
          </a:p>
          <a:p>
            <a:pPr lvl="1" algn="just"/>
            <a:r>
              <a:rPr lang="en-US" altLang="en-US" dirty="0" smtClean="0"/>
              <a:t>If a process that is holding some resources requests another resource that cannot be immediately allocated to it, then all resources currently being held are released</a:t>
            </a:r>
          </a:p>
          <a:p>
            <a:pPr lvl="1" algn="just"/>
            <a:r>
              <a:rPr lang="en-US" altLang="en-US" dirty="0" smtClean="0"/>
              <a:t>Preempted resources are added to the list of resources for which the process is waiting</a:t>
            </a:r>
          </a:p>
          <a:p>
            <a:pPr lvl="1" algn="just"/>
            <a:r>
              <a:rPr lang="en-US" altLang="en-US" dirty="0" smtClean="0"/>
              <a:t>Process will be restarted only when it can regain its old resources, as well as the new ones that it is requesting</a:t>
            </a:r>
          </a:p>
          <a:p>
            <a:pPr algn="just"/>
            <a:r>
              <a:rPr lang="en-US" altLang="en-US" b="1" dirty="0" smtClean="0"/>
              <a:t>Circular Wait</a:t>
            </a:r>
            <a:r>
              <a:rPr lang="en-US" altLang="en-US" dirty="0" smtClean="0"/>
              <a:t> – impose a total ordering of all resource types, and require that each process requests resources in an increasing order of enumeration</a:t>
            </a:r>
          </a:p>
          <a:p>
            <a:pPr lvl="1" algn="just"/>
            <a:endParaRPr lang="en-US" altLang="en-US" dirty="0" smtClean="0"/>
          </a:p>
        </p:txBody>
      </p:sp>
    </p:spTree>
    <p:extLst>
      <p:ext uri="{BB962C8B-B14F-4D97-AF65-F5344CB8AC3E}">
        <p14:creationId xmlns:p14="http://schemas.microsoft.com/office/powerpoint/2010/main" val="12539552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026"/>
          <p:cNvSpPr>
            <a:spLocks noGrp="1" noChangeArrowheads="1"/>
          </p:cNvSpPr>
          <p:nvPr>
            <p:ph type="title"/>
          </p:nvPr>
        </p:nvSpPr>
        <p:spPr>
          <a:xfrm>
            <a:off x="1003300" y="103188"/>
            <a:ext cx="7683500" cy="576262"/>
          </a:xfrm>
        </p:spPr>
        <p:txBody>
          <a:bodyPr>
            <a:normAutofit fontScale="90000"/>
          </a:bodyPr>
          <a:lstStyle/>
          <a:p>
            <a:pPr eaLnBrk="1" hangingPunct="1"/>
            <a:r>
              <a:rPr lang="en-US" altLang="en-US" smtClean="0"/>
              <a:t>Deadlock Example</a:t>
            </a:r>
          </a:p>
        </p:txBody>
      </p:sp>
      <p:sp>
        <p:nvSpPr>
          <p:cNvPr id="18435" name="Rectangle 1027"/>
          <p:cNvSpPr>
            <a:spLocks noGrp="1" noChangeArrowheads="1"/>
          </p:cNvSpPr>
          <p:nvPr>
            <p:ph type="body" idx="1"/>
          </p:nvPr>
        </p:nvSpPr>
        <p:spPr>
          <a:xfrm>
            <a:off x="1355725" y="1076325"/>
            <a:ext cx="6746875" cy="5167313"/>
          </a:xfrm>
        </p:spPr>
        <p:txBody>
          <a:bodyPr>
            <a:normAutofit lnSpcReduction="10000"/>
          </a:bodyPr>
          <a:lstStyle/>
          <a:p>
            <a:pPr marL="0" indent="0">
              <a:buFont typeface="Monotype Sorts" pitchFamily="-84" charset="2"/>
              <a:buNone/>
            </a:pPr>
            <a:r>
              <a:rPr lang="en-US" altLang="en-US" sz="1400" smtClean="0">
                <a:solidFill>
                  <a:srgbClr val="000000"/>
                </a:solidFill>
                <a:latin typeface="Courier New" pitchFamily="49" charset="0"/>
                <a:cs typeface="Courier New" pitchFamily="49" charset="0"/>
              </a:rPr>
              <a:t>/* thread one runs in this function */ </a:t>
            </a:r>
          </a:p>
          <a:p>
            <a:pPr marL="0" indent="0">
              <a:buFont typeface="Monotype Sorts" pitchFamily="-84" charset="2"/>
              <a:buNone/>
            </a:pPr>
            <a:r>
              <a:rPr lang="en-US" altLang="en-US" sz="1400" smtClean="0">
                <a:solidFill>
                  <a:srgbClr val="000000"/>
                </a:solidFill>
                <a:latin typeface="Courier New" pitchFamily="49" charset="0"/>
                <a:cs typeface="Courier New" pitchFamily="49" charset="0"/>
              </a:rPr>
              <a:t>void *do_work_one(void *param)</a:t>
            </a:r>
            <a:br>
              <a:rPr lang="en-US" altLang="en-US" sz="1400" smtClean="0">
                <a:solidFill>
                  <a:srgbClr val="000000"/>
                </a:solidFill>
                <a:latin typeface="Courier New" pitchFamily="49" charset="0"/>
                <a:cs typeface="Courier New" pitchFamily="49" charset="0"/>
              </a:rPr>
            </a:br>
            <a:r>
              <a:rPr lang="en-US" altLang="en-US" sz="1100" smtClean="0">
                <a:solidFill>
                  <a:srgbClr val="000000"/>
                </a:solidFill>
                <a:latin typeface="Courier New" pitchFamily="49" charset="0"/>
                <a:cs typeface="Courier New" pitchFamily="49" charset="0"/>
              </a:rPr>
              <a:t>{ </a:t>
            </a:r>
            <a:endParaRPr lang="en-US" altLang="en-US" sz="1400" smtClean="0">
              <a:solidFill>
                <a:srgbClr val="000000"/>
              </a:solidFill>
              <a:latin typeface="Courier New" pitchFamily="49" charset="0"/>
              <a:cs typeface="Courier New" pitchFamily="49" charset="0"/>
            </a:endParaRPr>
          </a:p>
          <a:p>
            <a:pPr marL="0" indent="0">
              <a:buFont typeface="Monotype Sorts" pitchFamily="-84" charset="2"/>
              <a:buNone/>
            </a:pPr>
            <a:r>
              <a:rPr lang="en-US" altLang="en-US" sz="1400" smtClean="0">
                <a:solidFill>
                  <a:srgbClr val="000000"/>
                </a:solidFill>
                <a:latin typeface="Courier New" pitchFamily="49" charset="0"/>
                <a:cs typeface="Courier New" pitchFamily="49" charset="0"/>
              </a:rPr>
              <a:t>   pthread_mutex_lock(&amp;first_mutex); </a:t>
            </a:r>
          </a:p>
          <a:p>
            <a:pPr marL="0" indent="0">
              <a:buFont typeface="Monotype Sorts" pitchFamily="-84" charset="2"/>
              <a:buNone/>
            </a:pPr>
            <a:r>
              <a:rPr lang="en-US" altLang="en-US" sz="1400" smtClean="0">
                <a:solidFill>
                  <a:srgbClr val="000000"/>
                </a:solidFill>
                <a:latin typeface="Courier New" pitchFamily="49" charset="0"/>
                <a:cs typeface="Courier New" pitchFamily="49" charset="0"/>
              </a:rPr>
              <a:t>   pthread_mutex_lock(&amp;second_mutex); </a:t>
            </a:r>
          </a:p>
          <a:p>
            <a:pPr marL="0" indent="0">
              <a:buFont typeface="Monotype Sorts" pitchFamily="-84" charset="2"/>
              <a:buNone/>
            </a:pPr>
            <a:r>
              <a:rPr lang="en-US" altLang="en-US" sz="1400" smtClean="0">
                <a:solidFill>
                  <a:srgbClr val="000000"/>
                </a:solidFill>
                <a:latin typeface="Courier New" pitchFamily="49" charset="0"/>
                <a:cs typeface="Courier New" pitchFamily="49" charset="0"/>
              </a:rPr>
              <a:t>   /** * Do some work */</a:t>
            </a:r>
            <a:br>
              <a:rPr lang="en-US" altLang="en-US" sz="1400" smtClean="0">
                <a:solidFill>
                  <a:srgbClr val="000000"/>
                </a:solidFill>
                <a:latin typeface="Courier New" pitchFamily="49" charset="0"/>
                <a:cs typeface="Courier New" pitchFamily="49" charset="0"/>
              </a:rPr>
            </a:br>
            <a:r>
              <a:rPr lang="en-US" altLang="en-US" sz="1400" smtClean="0">
                <a:solidFill>
                  <a:srgbClr val="000000"/>
                </a:solidFill>
                <a:latin typeface="Courier New" pitchFamily="49" charset="0"/>
                <a:cs typeface="Courier New" pitchFamily="49" charset="0"/>
              </a:rPr>
              <a:t>   pthread_mutex_unlock(&amp;second_mutex); </a:t>
            </a:r>
          </a:p>
          <a:p>
            <a:pPr marL="0" indent="0">
              <a:buFont typeface="Monotype Sorts" pitchFamily="-84" charset="2"/>
              <a:buNone/>
            </a:pPr>
            <a:r>
              <a:rPr lang="en-US" altLang="en-US" sz="1400" smtClean="0">
                <a:solidFill>
                  <a:srgbClr val="000000"/>
                </a:solidFill>
                <a:latin typeface="Courier New" pitchFamily="49" charset="0"/>
                <a:cs typeface="Courier New" pitchFamily="49" charset="0"/>
              </a:rPr>
              <a:t>   pthread_mutex_unlock(&amp;first_mutex); </a:t>
            </a:r>
          </a:p>
          <a:p>
            <a:pPr marL="0" indent="0">
              <a:buFont typeface="Monotype Sorts" pitchFamily="-84" charset="2"/>
              <a:buNone/>
            </a:pPr>
            <a:r>
              <a:rPr lang="en-US" altLang="en-US" sz="1400" smtClean="0">
                <a:solidFill>
                  <a:srgbClr val="000000"/>
                </a:solidFill>
                <a:latin typeface="Courier New" pitchFamily="49" charset="0"/>
                <a:cs typeface="Courier New" pitchFamily="49" charset="0"/>
              </a:rPr>
              <a:t>   pthread_exit(0); </a:t>
            </a:r>
          </a:p>
          <a:p>
            <a:pPr marL="0" indent="0">
              <a:buFont typeface="Monotype Sorts" pitchFamily="-84" charset="2"/>
              <a:buNone/>
            </a:pPr>
            <a:r>
              <a:rPr lang="en-US" altLang="en-US" sz="1400" smtClean="0">
                <a:solidFill>
                  <a:srgbClr val="000000"/>
                </a:solidFill>
                <a:latin typeface="Courier New" pitchFamily="49" charset="0"/>
                <a:cs typeface="Courier New" pitchFamily="49" charset="0"/>
              </a:rPr>
              <a:t>} </a:t>
            </a:r>
          </a:p>
          <a:p>
            <a:pPr marL="0" indent="0">
              <a:buFont typeface="Monotype Sorts" pitchFamily="-84" charset="2"/>
              <a:buNone/>
            </a:pPr>
            <a:r>
              <a:rPr lang="en-US" altLang="en-US" sz="1400" smtClean="0">
                <a:solidFill>
                  <a:srgbClr val="000000"/>
                </a:solidFill>
                <a:latin typeface="Courier New" pitchFamily="49" charset="0"/>
                <a:cs typeface="Courier New" pitchFamily="49" charset="0"/>
              </a:rPr>
              <a:t>/* thread two runs in this function */ </a:t>
            </a:r>
          </a:p>
          <a:p>
            <a:pPr marL="0" indent="0">
              <a:buFont typeface="Monotype Sorts" pitchFamily="-84" charset="2"/>
              <a:buNone/>
            </a:pPr>
            <a:r>
              <a:rPr lang="en-US" altLang="en-US" sz="1400" smtClean="0">
                <a:solidFill>
                  <a:srgbClr val="000000"/>
                </a:solidFill>
                <a:latin typeface="Courier New" pitchFamily="49" charset="0"/>
                <a:cs typeface="Courier New" pitchFamily="49" charset="0"/>
              </a:rPr>
              <a:t>void *do_work_two(void *param)</a:t>
            </a:r>
            <a:br>
              <a:rPr lang="en-US" altLang="en-US" sz="1400" smtClean="0">
                <a:solidFill>
                  <a:srgbClr val="000000"/>
                </a:solidFill>
                <a:latin typeface="Courier New" pitchFamily="49" charset="0"/>
                <a:cs typeface="Courier New" pitchFamily="49" charset="0"/>
              </a:rPr>
            </a:br>
            <a:r>
              <a:rPr lang="en-US" altLang="en-US" sz="1100" smtClean="0">
                <a:solidFill>
                  <a:srgbClr val="000000"/>
                </a:solidFill>
                <a:latin typeface="Courier New" pitchFamily="49" charset="0"/>
                <a:cs typeface="Courier New" pitchFamily="49" charset="0"/>
              </a:rPr>
              <a:t>{ </a:t>
            </a:r>
            <a:endParaRPr lang="en-US" altLang="en-US" sz="1400" smtClean="0">
              <a:solidFill>
                <a:srgbClr val="000000"/>
              </a:solidFill>
              <a:latin typeface="Courier New" pitchFamily="49" charset="0"/>
              <a:cs typeface="Courier New" pitchFamily="49" charset="0"/>
            </a:endParaRPr>
          </a:p>
          <a:p>
            <a:pPr marL="0" indent="0">
              <a:buFont typeface="Monotype Sorts" pitchFamily="-84" charset="2"/>
              <a:buNone/>
            </a:pPr>
            <a:r>
              <a:rPr lang="en-US" altLang="en-US" sz="1400" smtClean="0">
                <a:solidFill>
                  <a:srgbClr val="000000"/>
                </a:solidFill>
                <a:latin typeface="Courier New" pitchFamily="49" charset="0"/>
                <a:cs typeface="Courier New" pitchFamily="49" charset="0"/>
              </a:rPr>
              <a:t>   pthread_mutex_lock(&amp;second_mutex); </a:t>
            </a:r>
          </a:p>
          <a:p>
            <a:pPr marL="0" indent="0">
              <a:buFont typeface="Monotype Sorts" pitchFamily="-84" charset="2"/>
              <a:buNone/>
            </a:pPr>
            <a:r>
              <a:rPr lang="en-US" altLang="en-US" sz="1400" smtClean="0">
                <a:solidFill>
                  <a:srgbClr val="000000"/>
                </a:solidFill>
                <a:latin typeface="Courier New" pitchFamily="49" charset="0"/>
                <a:cs typeface="Courier New" pitchFamily="49" charset="0"/>
              </a:rPr>
              <a:t>   pthread_mutex_lock(&amp;first_mutex); </a:t>
            </a:r>
          </a:p>
          <a:p>
            <a:pPr marL="0" indent="0">
              <a:buFont typeface="Monotype Sorts" pitchFamily="-84" charset="2"/>
              <a:buNone/>
            </a:pPr>
            <a:r>
              <a:rPr lang="en-US" altLang="en-US" sz="1400" smtClean="0">
                <a:solidFill>
                  <a:srgbClr val="000000"/>
                </a:solidFill>
                <a:latin typeface="Courier New" pitchFamily="49" charset="0"/>
                <a:cs typeface="Courier New" pitchFamily="49" charset="0"/>
              </a:rPr>
              <a:t>   /** * Do some work */</a:t>
            </a:r>
            <a:br>
              <a:rPr lang="en-US" altLang="en-US" sz="1400" smtClean="0">
                <a:solidFill>
                  <a:srgbClr val="000000"/>
                </a:solidFill>
                <a:latin typeface="Courier New" pitchFamily="49" charset="0"/>
                <a:cs typeface="Courier New" pitchFamily="49" charset="0"/>
              </a:rPr>
            </a:br>
            <a:r>
              <a:rPr lang="en-US" altLang="en-US" sz="1400" smtClean="0">
                <a:solidFill>
                  <a:srgbClr val="000000"/>
                </a:solidFill>
                <a:latin typeface="Courier New" pitchFamily="49" charset="0"/>
                <a:cs typeface="Courier New" pitchFamily="49" charset="0"/>
              </a:rPr>
              <a:t>   pthread_mutex_unlock(&amp;first_mutex); </a:t>
            </a:r>
          </a:p>
          <a:p>
            <a:pPr marL="0" indent="0">
              <a:buFont typeface="Monotype Sorts" pitchFamily="-84" charset="2"/>
              <a:buNone/>
            </a:pPr>
            <a:r>
              <a:rPr lang="en-US" altLang="en-US" sz="1400" smtClean="0">
                <a:solidFill>
                  <a:srgbClr val="000000"/>
                </a:solidFill>
                <a:latin typeface="Courier New" pitchFamily="49" charset="0"/>
                <a:cs typeface="Courier New" pitchFamily="49" charset="0"/>
              </a:rPr>
              <a:t>   pthread_mutex_unlock(&amp;second_mutex); </a:t>
            </a:r>
          </a:p>
          <a:p>
            <a:pPr marL="0" indent="0">
              <a:buFont typeface="Monotype Sorts" pitchFamily="-84" charset="2"/>
              <a:buNone/>
            </a:pPr>
            <a:r>
              <a:rPr lang="en-US" altLang="en-US" sz="1400" smtClean="0">
                <a:solidFill>
                  <a:srgbClr val="000000"/>
                </a:solidFill>
                <a:latin typeface="Courier New" pitchFamily="49" charset="0"/>
                <a:cs typeface="Courier New" pitchFamily="49" charset="0"/>
              </a:rPr>
              <a:t>   pthread_exit(0); </a:t>
            </a:r>
          </a:p>
          <a:p>
            <a:pPr marL="0" indent="0">
              <a:buFont typeface="Monotype Sorts" pitchFamily="-84" charset="2"/>
              <a:buNone/>
            </a:pPr>
            <a:r>
              <a:rPr lang="en-US" altLang="en-US" sz="1400" smtClean="0">
                <a:solidFill>
                  <a:srgbClr val="000000"/>
                </a:solidFill>
                <a:latin typeface="Courier New" pitchFamily="49" charset="0"/>
                <a:cs typeface="Courier New" pitchFamily="49" charset="0"/>
              </a:rPr>
              <a:t>} </a:t>
            </a:r>
          </a:p>
        </p:txBody>
      </p:sp>
    </p:spTree>
    <p:extLst>
      <p:ext uri="{BB962C8B-B14F-4D97-AF65-F5344CB8AC3E}">
        <p14:creationId xmlns:p14="http://schemas.microsoft.com/office/powerpoint/2010/main" val="11080743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026"/>
          <p:cNvSpPr>
            <a:spLocks noGrp="1" noChangeArrowheads="1"/>
          </p:cNvSpPr>
          <p:nvPr>
            <p:ph type="title"/>
          </p:nvPr>
        </p:nvSpPr>
        <p:spPr>
          <a:xfrm>
            <a:off x="1385888" y="122238"/>
            <a:ext cx="7724775" cy="576262"/>
          </a:xfrm>
        </p:spPr>
        <p:txBody>
          <a:bodyPr/>
          <a:lstStyle/>
          <a:p>
            <a:pPr eaLnBrk="1" hangingPunct="1"/>
            <a:r>
              <a:rPr lang="en-US" altLang="en-US" sz="2800" smtClean="0"/>
              <a:t>Deadlock Example with Lock Ordering</a:t>
            </a:r>
          </a:p>
        </p:txBody>
      </p:sp>
      <p:sp>
        <p:nvSpPr>
          <p:cNvPr id="19459" name="Rectangle 1027"/>
          <p:cNvSpPr>
            <a:spLocks noGrp="1" noChangeArrowheads="1"/>
          </p:cNvSpPr>
          <p:nvPr>
            <p:ph type="body" idx="1"/>
          </p:nvPr>
        </p:nvSpPr>
        <p:spPr>
          <a:xfrm>
            <a:off x="1184275" y="1060450"/>
            <a:ext cx="7639050" cy="3638550"/>
          </a:xfrm>
        </p:spPr>
        <p:txBody>
          <a:bodyPr/>
          <a:lstStyle/>
          <a:p>
            <a:pPr marL="0" indent="0">
              <a:buFont typeface="Monotype Sorts" pitchFamily="-84" charset="2"/>
              <a:buNone/>
            </a:pPr>
            <a:r>
              <a:rPr lang="en-US" altLang="en-US" sz="1400" smtClean="0">
                <a:latin typeface="Courier New" pitchFamily="49" charset="0"/>
                <a:cs typeface="Courier New" pitchFamily="49" charset="0"/>
              </a:rPr>
              <a:t>void transaction(Account from, Account to, double amount) </a:t>
            </a:r>
          </a:p>
          <a:p>
            <a:pPr marL="0" indent="0">
              <a:buFont typeface="Monotype Sorts" pitchFamily="-84" charset="2"/>
              <a:buNone/>
            </a:pPr>
            <a:r>
              <a:rPr lang="en-US" altLang="en-US" sz="1400" smtClean="0">
                <a:latin typeface="Courier New" pitchFamily="49" charset="0"/>
                <a:cs typeface="Courier New" pitchFamily="49" charset="0"/>
              </a:rPr>
              <a:t>{ </a:t>
            </a:r>
          </a:p>
          <a:p>
            <a:pPr marL="0" indent="0">
              <a:buFont typeface="Monotype Sorts" pitchFamily="-84" charset="2"/>
              <a:buNone/>
            </a:pPr>
            <a:r>
              <a:rPr lang="en-US" altLang="en-US" sz="1400" smtClean="0">
                <a:latin typeface="Courier New" pitchFamily="49" charset="0"/>
                <a:cs typeface="Courier New" pitchFamily="49" charset="0"/>
              </a:rPr>
              <a:t>   mutex lock1, lock2; </a:t>
            </a:r>
          </a:p>
          <a:p>
            <a:pPr marL="0" indent="0">
              <a:buFont typeface="Monotype Sorts" pitchFamily="-84" charset="2"/>
              <a:buNone/>
            </a:pPr>
            <a:r>
              <a:rPr lang="en-US" altLang="en-US" sz="1400" smtClean="0">
                <a:latin typeface="Courier New" pitchFamily="49" charset="0"/>
                <a:cs typeface="Courier New" pitchFamily="49" charset="0"/>
              </a:rPr>
              <a:t>   lock1 = get_lock(from); </a:t>
            </a:r>
          </a:p>
          <a:p>
            <a:pPr marL="0" indent="0">
              <a:buFont typeface="Monotype Sorts" pitchFamily="-84" charset="2"/>
              <a:buNone/>
            </a:pPr>
            <a:r>
              <a:rPr lang="en-US" altLang="en-US" sz="1400" smtClean="0">
                <a:latin typeface="Courier New" pitchFamily="49" charset="0"/>
                <a:cs typeface="Courier New" pitchFamily="49" charset="0"/>
              </a:rPr>
              <a:t>   lock2 = get_lock(to); </a:t>
            </a:r>
          </a:p>
          <a:p>
            <a:pPr marL="0" indent="0">
              <a:buFont typeface="Monotype Sorts" pitchFamily="-84" charset="2"/>
              <a:buNone/>
            </a:pPr>
            <a:r>
              <a:rPr lang="en-US" altLang="en-US" sz="1400" smtClean="0">
                <a:latin typeface="Courier New" pitchFamily="49" charset="0"/>
                <a:cs typeface="Courier New" pitchFamily="49" charset="0"/>
              </a:rPr>
              <a:t>   acquire(lock1); </a:t>
            </a:r>
          </a:p>
          <a:p>
            <a:pPr marL="0" indent="0">
              <a:buFont typeface="Monotype Sorts" pitchFamily="-84" charset="2"/>
              <a:buNone/>
            </a:pPr>
            <a:r>
              <a:rPr lang="en-US" altLang="en-US" sz="1400" smtClean="0">
                <a:latin typeface="Courier New" pitchFamily="49" charset="0"/>
                <a:cs typeface="Courier New" pitchFamily="49" charset="0"/>
              </a:rPr>
              <a:t>      acquire(lock2); </a:t>
            </a:r>
          </a:p>
          <a:p>
            <a:pPr marL="0" indent="0">
              <a:buFont typeface="Monotype Sorts" pitchFamily="-84" charset="2"/>
              <a:buNone/>
            </a:pPr>
            <a:r>
              <a:rPr lang="en-US" altLang="en-US" sz="1400" smtClean="0">
                <a:latin typeface="Courier New" pitchFamily="49" charset="0"/>
                <a:cs typeface="Courier New" pitchFamily="49" charset="0"/>
              </a:rPr>
              <a:t>         withdraw(from, amount); </a:t>
            </a:r>
          </a:p>
          <a:p>
            <a:pPr marL="0" indent="0">
              <a:buFont typeface="Monotype Sorts" pitchFamily="-84" charset="2"/>
              <a:buNone/>
            </a:pPr>
            <a:r>
              <a:rPr lang="en-US" altLang="en-US" sz="1400" smtClean="0">
                <a:latin typeface="Courier New" pitchFamily="49" charset="0"/>
                <a:cs typeface="Courier New" pitchFamily="49" charset="0"/>
              </a:rPr>
              <a:t>         deposit(to, amount); </a:t>
            </a:r>
          </a:p>
          <a:p>
            <a:pPr marL="0" indent="0">
              <a:buFont typeface="Monotype Sorts" pitchFamily="-84" charset="2"/>
              <a:buNone/>
            </a:pPr>
            <a:r>
              <a:rPr lang="en-US" altLang="en-US" sz="1400" smtClean="0">
                <a:latin typeface="Courier New" pitchFamily="49" charset="0"/>
                <a:cs typeface="Courier New" pitchFamily="49" charset="0"/>
              </a:rPr>
              <a:t>      release(lock2); </a:t>
            </a:r>
          </a:p>
          <a:p>
            <a:pPr marL="0" indent="0">
              <a:buFont typeface="Monotype Sorts" pitchFamily="-84" charset="2"/>
              <a:buNone/>
            </a:pPr>
            <a:r>
              <a:rPr lang="en-US" altLang="en-US" sz="1400" smtClean="0">
                <a:latin typeface="Courier New" pitchFamily="49" charset="0"/>
                <a:cs typeface="Courier New" pitchFamily="49" charset="0"/>
              </a:rPr>
              <a:t>   release(lock1); </a:t>
            </a:r>
          </a:p>
          <a:p>
            <a:pPr marL="0" indent="0">
              <a:buFont typeface="Monotype Sorts" pitchFamily="-84" charset="2"/>
              <a:buNone/>
            </a:pPr>
            <a:r>
              <a:rPr lang="en-US" altLang="en-US" sz="1400" smtClean="0">
                <a:latin typeface="Courier New" pitchFamily="49" charset="0"/>
                <a:cs typeface="Courier New" pitchFamily="49" charset="0"/>
              </a:rPr>
              <a:t>} </a:t>
            </a:r>
          </a:p>
        </p:txBody>
      </p:sp>
      <p:sp>
        <p:nvSpPr>
          <p:cNvPr id="19460" name="Rectangle 3"/>
          <p:cNvSpPr>
            <a:spLocks noChangeArrowheads="1"/>
          </p:cNvSpPr>
          <p:nvPr/>
        </p:nvSpPr>
        <p:spPr bwMode="auto">
          <a:xfrm>
            <a:off x="1181100" y="4618038"/>
            <a:ext cx="70485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en-US" sz="1600">
                <a:latin typeface="Helvetica" pitchFamily="-84" charset="0"/>
              </a:rPr>
              <a:t>Transactions 1 and 2 execute concurrently.  Transaction  1 transfers $25 from account A to account B, and Transaction 2 transfers $50 from account B to account A</a:t>
            </a:r>
            <a:endParaRPr lang="en-US" sz="1600"/>
          </a:p>
          <a:p>
            <a:pPr>
              <a:spcBef>
                <a:spcPct val="50000"/>
              </a:spcBef>
            </a:pPr>
            <a:r>
              <a:rPr lang="en-US" altLang="en-US" sz="1600">
                <a:latin typeface="Helvetica" pitchFamily="-84" charset="0"/>
              </a:rPr>
              <a:t>    </a:t>
            </a:r>
          </a:p>
        </p:txBody>
      </p:sp>
    </p:spTree>
    <p:extLst>
      <p:ext uri="{BB962C8B-B14F-4D97-AF65-F5344CB8AC3E}">
        <p14:creationId xmlns:p14="http://schemas.microsoft.com/office/powerpoint/2010/main" val="14716740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923925" y="198438"/>
            <a:ext cx="7762875" cy="576262"/>
          </a:xfrm>
        </p:spPr>
        <p:txBody>
          <a:bodyPr>
            <a:normAutofit fontScale="90000"/>
          </a:bodyPr>
          <a:lstStyle/>
          <a:p>
            <a:pPr eaLnBrk="1" hangingPunct="1"/>
            <a:r>
              <a:rPr lang="en-US" altLang="en-US" smtClean="0"/>
              <a:t>Deadlock Avoidance</a:t>
            </a:r>
          </a:p>
        </p:txBody>
      </p:sp>
      <p:sp>
        <p:nvSpPr>
          <p:cNvPr id="20483" name="Rectangle 3"/>
          <p:cNvSpPr>
            <a:spLocks noGrp="1" noChangeArrowheads="1"/>
          </p:cNvSpPr>
          <p:nvPr>
            <p:ph type="body" idx="1"/>
          </p:nvPr>
        </p:nvSpPr>
        <p:spPr>
          <a:xfrm>
            <a:off x="1397000" y="1814513"/>
            <a:ext cx="6629400" cy="3783012"/>
          </a:xfrm>
        </p:spPr>
        <p:txBody>
          <a:bodyPr>
            <a:normAutofit fontScale="92500"/>
          </a:bodyPr>
          <a:lstStyle/>
          <a:p>
            <a:pPr algn="just"/>
            <a:r>
              <a:rPr lang="en-US" altLang="en-US" dirty="0" smtClean="0"/>
              <a:t>Simplest and most useful model requires that each process declare the </a:t>
            </a:r>
            <a:r>
              <a:rPr lang="en-US" altLang="en-US" b="1" i="1" dirty="0" smtClean="0"/>
              <a:t>maximum number</a:t>
            </a:r>
            <a:r>
              <a:rPr lang="en-US" altLang="en-US" b="1" dirty="0" smtClean="0"/>
              <a:t> </a:t>
            </a:r>
            <a:r>
              <a:rPr lang="en-US" altLang="en-US" dirty="0" smtClean="0"/>
              <a:t>of resources of each type that it may need</a:t>
            </a:r>
          </a:p>
          <a:p>
            <a:pPr algn="just"/>
            <a:r>
              <a:rPr lang="en-US" altLang="en-US" dirty="0" smtClean="0"/>
              <a:t>The deadlock-avoidance algorithm dynamically examines the resource-allocation state to ensure that there can never be a circular-wait condition</a:t>
            </a:r>
          </a:p>
          <a:p>
            <a:pPr algn="just"/>
            <a:r>
              <a:rPr lang="en-US" altLang="en-US" dirty="0" smtClean="0"/>
              <a:t>Resource-allocation </a:t>
            </a:r>
            <a:r>
              <a:rPr lang="en-US" altLang="en-US" i="1" dirty="0" smtClean="0"/>
              <a:t>state</a:t>
            </a:r>
            <a:r>
              <a:rPr lang="en-US" altLang="en-US" dirty="0" smtClean="0"/>
              <a:t> is defined by the number of available and allocated resources, and the maximum demands of the processes</a:t>
            </a:r>
          </a:p>
        </p:txBody>
      </p:sp>
      <p:sp>
        <p:nvSpPr>
          <p:cNvPr id="20484" name="Text Box 4"/>
          <p:cNvSpPr txBox="1">
            <a:spLocks noChangeArrowheads="1"/>
          </p:cNvSpPr>
          <p:nvPr/>
        </p:nvSpPr>
        <p:spPr bwMode="auto">
          <a:xfrm>
            <a:off x="1154113" y="1098550"/>
            <a:ext cx="77692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50000"/>
              </a:spcBef>
            </a:pPr>
            <a:r>
              <a:rPr lang="en-US" altLang="en-US">
                <a:latin typeface="Helvetica" pitchFamily="-84" charset="0"/>
              </a:rPr>
              <a:t>Requires that the system has some additional </a:t>
            </a:r>
            <a:r>
              <a:rPr lang="en-US" altLang="en-US" b="1" i="1">
                <a:latin typeface="Helvetica" pitchFamily="-84" charset="0"/>
              </a:rPr>
              <a:t>a priori </a:t>
            </a:r>
            <a:r>
              <a:rPr lang="en-US" altLang="en-US">
                <a:latin typeface="Helvetica" pitchFamily="-84" charset="0"/>
              </a:rPr>
              <a:t>information </a:t>
            </a:r>
            <a:br>
              <a:rPr lang="en-US" altLang="en-US">
                <a:latin typeface="Helvetica" pitchFamily="-84" charset="0"/>
              </a:rPr>
            </a:br>
            <a:r>
              <a:rPr lang="en-US" altLang="en-US">
                <a:latin typeface="Helvetica" pitchFamily="-84" charset="0"/>
              </a:rPr>
              <a:t>available</a:t>
            </a:r>
          </a:p>
        </p:txBody>
      </p:sp>
    </p:spTree>
    <p:extLst>
      <p:ext uri="{BB962C8B-B14F-4D97-AF65-F5344CB8AC3E}">
        <p14:creationId xmlns:p14="http://schemas.microsoft.com/office/powerpoint/2010/main" val="16342529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457200" y="136525"/>
            <a:ext cx="8229600" cy="576263"/>
          </a:xfrm>
        </p:spPr>
        <p:txBody>
          <a:bodyPr>
            <a:normAutofit fontScale="90000"/>
          </a:bodyPr>
          <a:lstStyle/>
          <a:p>
            <a:pPr eaLnBrk="1" hangingPunct="1"/>
            <a:r>
              <a:rPr lang="en-US" altLang="en-US" smtClean="0"/>
              <a:t>Safe State</a:t>
            </a:r>
          </a:p>
        </p:txBody>
      </p:sp>
      <p:sp>
        <p:nvSpPr>
          <p:cNvPr id="21507" name="Rectangle 3"/>
          <p:cNvSpPr>
            <a:spLocks noGrp="1" noChangeArrowheads="1"/>
          </p:cNvSpPr>
          <p:nvPr>
            <p:ph type="body" idx="1"/>
          </p:nvPr>
        </p:nvSpPr>
        <p:spPr>
          <a:xfrm>
            <a:off x="919163" y="1165225"/>
            <a:ext cx="7358062" cy="4997450"/>
          </a:xfrm>
        </p:spPr>
        <p:txBody>
          <a:bodyPr>
            <a:normAutofit fontScale="92500" lnSpcReduction="20000"/>
          </a:bodyPr>
          <a:lstStyle/>
          <a:p>
            <a:pPr algn="just"/>
            <a:r>
              <a:rPr lang="en-US" altLang="en-US" dirty="0" smtClean="0"/>
              <a:t>When a process requests an available resource, system must decide if immediate allocation leaves the system in a safe state</a:t>
            </a:r>
          </a:p>
          <a:p>
            <a:pPr algn="just"/>
            <a:r>
              <a:rPr lang="en-US" altLang="en-US" dirty="0" smtClean="0"/>
              <a:t>System is in </a:t>
            </a:r>
            <a:r>
              <a:rPr lang="en-US" altLang="en-US" b="1" dirty="0" smtClean="0">
                <a:solidFill>
                  <a:srgbClr val="3366FF"/>
                </a:solidFill>
              </a:rPr>
              <a:t>safe state</a:t>
            </a:r>
            <a:r>
              <a:rPr lang="en-US" altLang="en-US" dirty="0" smtClean="0">
                <a:solidFill>
                  <a:srgbClr val="3366FF"/>
                </a:solidFill>
              </a:rPr>
              <a:t> </a:t>
            </a:r>
            <a:r>
              <a:rPr lang="en-US" altLang="en-US" dirty="0" smtClean="0"/>
              <a:t>if there exists a sequence &lt;</a:t>
            </a:r>
            <a:r>
              <a:rPr lang="en-US" altLang="en-US" i="1" dirty="0" smtClean="0"/>
              <a:t>P</a:t>
            </a:r>
            <a:r>
              <a:rPr lang="en-US" altLang="en-US" i="1" baseline="-25000" dirty="0" smtClean="0"/>
              <a:t>1</a:t>
            </a:r>
            <a:r>
              <a:rPr lang="en-US" altLang="en-US" i="1" dirty="0" smtClean="0"/>
              <a:t>, P</a:t>
            </a:r>
            <a:r>
              <a:rPr lang="en-US" altLang="en-US" i="1" baseline="-25000" dirty="0" smtClean="0"/>
              <a:t>2</a:t>
            </a:r>
            <a:r>
              <a:rPr lang="en-US" altLang="en-US" i="1" dirty="0" smtClean="0"/>
              <a:t>, …, </a:t>
            </a:r>
            <a:r>
              <a:rPr lang="en-US" altLang="en-US" i="1" dirty="0" err="1" smtClean="0"/>
              <a:t>P</a:t>
            </a:r>
            <a:r>
              <a:rPr lang="en-US" altLang="en-US" i="1" baseline="-25000" dirty="0" err="1" smtClean="0"/>
              <a:t>n</a:t>
            </a:r>
            <a:r>
              <a:rPr lang="en-US" altLang="en-US" dirty="0" smtClean="0"/>
              <a:t>&gt; of ALL the  processes  in the systems such that  for each P</a:t>
            </a:r>
            <a:r>
              <a:rPr lang="en-US" altLang="en-US" baseline="-25000" dirty="0" smtClean="0"/>
              <a:t>i</a:t>
            </a:r>
            <a:r>
              <a:rPr lang="en-US" altLang="en-US" dirty="0" smtClean="0"/>
              <a:t>, the resources that P</a:t>
            </a:r>
            <a:r>
              <a:rPr lang="en-US" altLang="en-US" baseline="-25000" dirty="0" smtClean="0"/>
              <a:t>i </a:t>
            </a:r>
            <a:r>
              <a:rPr lang="en-US" altLang="en-US" dirty="0" smtClean="0"/>
              <a:t>can still request can be satisfied by currently available resources + resources held by all the </a:t>
            </a:r>
            <a:r>
              <a:rPr lang="en-US" altLang="en-US" i="1" dirty="0" err="1" smtClean="0"/>
              <a:t>P</a:t>
            </a:r>
            <a:r>
              <a:rPr lang="en-US" altLang="en-US" i="1" baseline="-25000" dirty="0" err="1" smtClean="0"/>
              <a:t>j</a:t>
            </a:r>
            <a:r>
              <a:rPr lang="en-US" altLang="en-US" dirty="0" smtClean="0"/>
              <a:t>, with</a:t>
            </a:r>
            <a:r>
              <a:rPr lang="en-US" altLang="en-US" i="1" dirty="0" smtClean="0"/>
              <a:t> j </a:t>
            </a:r>
            <a:r>
              <a:rPr lang="en-US" altLang="en-US" dirty="0" smtClean="0"/>
              <a:t>&lt; </a:t>
            </a:r>
            <a:r>
              <a:rPr lang="en-US" altLang="en-US" i="1" dirty="0" smtClean="0"/>
              <a:t>I</a:t>
            </a:r>
            <a:endParaRPr lang="en-US" altLang="en-US" dirty="0" smtClean="0"/>
          </a:p>
          <a:p>
            <a:pPr algn="just"/>
            <a:r>
              <a:rPr lang="en-US" altLang="en-US" dirty="0" smtClean="0"/>
              <a:t>That is:</a:t>
            </a:r>
          </a:p>
          <a:p>
            <a:pPr lvl="1" algn="just"/>
            <a:r>
              <a:rPr lang="en-US" altLang="en-US" dirty="0" smtClean="0"/>
              <a:t>If P</a:t>
            </a:r>
            <a:r>
              <a:rPr lang="en-US" altLang="en-US" baseline="-25000" dirty="0" smtClean="0"/>
              <a:t>i</a:t>
            </a:r>
            <a:r>
              <a:rPr lang="en-US" altLang="en-US" dirty="0" smtClean="0"/>
              <a:t> resource needs are not immediately available, then </a:t>
            </a:r>
            <a:r>
              <a:rPr lang="en-US" altLang="en-US" i="1" dirty="0" smtClean="0"/>
              <a:t>P</a:t>
            </a:r>
            <a:r>
              <a:rPr lang="en-US" altLang="en-US" i="1" baseline="-25000" dirty="0" smtClean="0"/>
              <a:t>i</a:t>
            </a:r>
            <a:r>
              <a:rPr lang="en-US" altLang="en-US" dirty="0" smtClean="0"/>
              <a:t> can wait until all </a:t>
            </a:r>
            <a:r>
              <a:rPr lang="en-US" altLang="en-US" i="1" dirty="0" err="1" smtClean="0"/>
              <a:t>P</a:t>
            </a:r>
            <a:r>
              <a:rPr lang="en-US" altLang="en-US" i="1" baseline="-25000" dirty="0" err="1" smtClean="0"/>
              <a:t>j</a:t>
            </a:r>
            <a:r>
              <a:rPr lang="en-US" altLang="en-US" i="1" dirty="0" smtClean="0"/>
              <a:t> </a:t>
            </a:r>
            <a:r>
              <a:rPr lang="en-US" altLang="en-US" dirty="0" smtClean="0"/>
              <a:t>have finished</a:t>
            </a:r>
          </a:p>
          <a:p>
            <a:pPr lvl="1" algn="just"/>
            <a:r>
              <a:rPr lang="en-US" altLang="en-US" dirty="0" smtClean="0"/>
              <a:t>When </a:t>
            </a:r>
            <a:r>
              <a:rPr lang="en-US" altLang="en-US" i="1" dirty="0" err="1" smtClean="0"/>
              <a:t>P</a:t>
            </a:r>
            <a:r>
              <a:rPr lang="en-US" altLang="en-US" i="1" baseline="-25000" dirty="0" err="1" smtClean="0"/>
              <a:t>j</a:t>
            </a:r>
            <a:r>
              <a:rPr lang="en-US" altLang="en-US" dirty="0" smtClean="0"/>
              <a:t> is finished, </a:t>
            </a:r>
            <a:r>
              <a:rPr lang="en-US" altLang="en-US" i="1" dirty="0" smtClean="0"/>
              <a:t>P</a:t>
            </a:r>
            <a:r>
              <a:rPr lang="en-US" altLang="en-US" i="1" baseline="-25000" dirty="0" smtClean="0"/>
              <a:t>i</a:t>
            </a:r>
            <a:r>
              <a:rPr lang="en-US" altLang="en-US" dirty="0" smtClean="0"/>
              <a:t> can obtain needed resources, execute, return allocated resources, and terminate</a:t>
            </a:r>
          </a:p>
          <a:p>
            <a:pPr lvl="1" algn="just"/>
            <a:r>
              <a:rPr lang="en-US" altLang="en-US" dirty="0" smtClean="0"/>
              <a:t>When </a:t>
            </a:r>
            <a:r>
              <a:rPr lang="en-US" altLang="en-US" i="1" dirty="0" smtClean="0"/>
              <a:t>P</a:t>
            </a:r>
            <a:r>
              <a:rPr lang="en-US" altLang="en-US" i="1" baseline="-25000" dirty="0" smtClean="0"/>
              <a:t>i</a:t>
            </a:r>
            <a:r>
              <a:rPr lang="en-US" altLang="en-US" dirty="0" smtClean="0"/>
              <a:t> terminates, </a:t>
            </a:r>
            <a:r>
              <a:rPr lang="en-US" altLang="en-US" i="1" dirty="0" smtClean="0"/>
              <a:t>P</a:t>
            </a:r>
            <a:r>
              <a:rPr lang="en-US" altLang="en-US" i="1" baseline="-25000" dirty="0" smtClean="0"/>
              <a:t>i </a:t>
            </a:r>
            <a:r>
              <a:rPr lang="en-US" altLang="en-US" baseline="-25000" dirty="0" smtClean="0"/>
              <a:t>+1</a:t>
            </a:r>
            <a:r>
              <a:rPr lang="en-US" altLang="en-US" dirty="0" smtClean="0"/>
              <a:t> can obtain its needed resources, and so on </a:t>
            </a:r>
          </a:p>
        </p:txBody>
      </p:sp>
    </p:spTree>
    <p:extLst>
      <p:ext uri="{BB962C8B-B14F-4D97-AF65-F5344CB8AC3E}">
        <p14:creationId xmlns:p14="http://schemas.microsoft.com/office/powerpoint/2010/main" val="135217332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457200" y="152400"/>
            <a:ext cx="8229600" cy="576263"/>
          </a:xfrm>
        </p:spPr>
        <p:txBody>
          <a:bodyPr>
            <a:normAutofit fontScale="90000"/>
          </a:bodyPr>
          <a:lstStyle/>
          <a:p>
            <a:pPr eaLnBrk="1" hangingPunct="1"/>
            <a:r>
              <a:rPr lang="en-US" altLang="en-US" smtClean="0"/>
              <a:t>Basic Facts</a:t>
            </a:r>
          </a:p>
        </p:txBody>
      </p:sp>
      <p:sp>
        <p:nvSpPr>
          <p:cNvPr id="22531" name="Rectangle 3"/>
          <p:cNvSpPr>
            <a:spLocks noGrp="1" noChangeArrowheads="1"/>
          </p:cNvSpPr>
          <p:nvPr>
            <p:ph type="body" idx="1"/>
          </p:nvPr>
        </p:nvSpPr>
        <p:spPr>
          <a:xfrm>
            <a:off x="922338" y="1190625"/>
            <a:ext cx="6597650" cy="4414838"/>
          </a:xfrm>
        </p:spPr>
        <p:txBody>
          <a:bodyPr/>
          <a:lstStyle/>
          <a:p>
            <a:r>
              <a:rPr lang="en-US" altLang="en-US" smtClean="0"/>
              <a:t>If a system is in safe state </a:t>
            </a:r>
            <a:r>
              <a:rPr lang="en-US" altLang="en-US" smtClean="0">
                <a:sym typeface="Symbol" pitchFamily="18" charset="2"/>
              </a:rPr>
              <a:t> no deadlocks</a:t>
            </a:r>
            <a:br>
              <a:rPr lang="en-US" altLang="en-US" smtClean="0">
                <a:sym typeface="Symbol" pitchFamily="18" charset="2"/>
              </a:rPr>
            </a:br>
            <a:endParaRPr lang="en-US" altLang="en-US" smtClean="0">
              <a:sym typeface="Symbol" pitchFamily="18" charset="2"/>
            </a:endParaRPr>
          </a:p>
          <a:p>
            <a:r>
              <a:rPr lang="en-US" altLang="en-US" smtClean="0">
                <a:sym typeface="Symbol" pitchFamily="18" charset="2"/>
              </a:rPr>
              <a:t>If a system is in unsafe state  possibility of deadlock</a:t>
            </a:r>
            <a:br>
              <a:rPr lang="en-US" altLang="en-US" smtClean="0">
                <a:sym typeface="Symbol" pitchFamily="18" charset="2"/>
              </a:rPr>
            </a:br>
            <a:endParaRPr lang="en-US" altLang="en-US" smtClean="0">
              <a:sym typeface="Symbol" pitchFamily="18" charset="2"/>
            </a:endParaRPr>
          </a:p>
          <a:p>
            <a:r>
              <a:rPr lang="en-US" altLang="en-US" smtClean="0">
                <a:sym typeface="Symbol" pitchFamily="18" charset="2"/>
              </a:rPr>
              <a:t>Avoidance  ensure that a system will never enter an unsafe state.</a:t>
            </a:r>
          </a:p>
        </p:txBody>
      </p:sp>
    </p:spTree>
    <p:extLst>
      <p:ext uri="{BB962C8B-B14F-4D97-AF65-F5344CB8AC3E}">
        <p14:creationId xmlns:p14="http://schemas.microsoft.com/office/powerpoint/2010/main" val="92234181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846138" y="150813"/>
            <a:ext cx="7840662" cy="576262"/>
          </a:xfrm>
        </p:spPr>
        <p:txBody>
          <a:bodyPr>
            <a:normAutofit fontScale="90000"/>
          </a:bodyPr>
          <a:lstStyle/>
          <a:p>
            <a:pPr eaLnBrk="1" hangingPunct="1"/>
            <a:r>
              <a:rPr lang="en-US" altLang="en-US" smtClean="0"/>
              <a:t>Safe, Unsafe, Deadlock State </a:t>
            </a:r>
          </a:p>
        </p:txBody>
      </p:sp>
      <p:pic>
        <p:nvPicPr>
          <p:cNvPr id="23555" name="Picture 4"/>
          <p:cNvPicPr>
            <a:picLocks noChangeAspect="1" noChangeArrowheads="1"/>
          </p:cNvPicPr>
          <p:nvPr/>
        </p:nvPicPr>
        <p:blipFill>
          <a:blip r:embed="rId3">
            <a:extLst>
              <a:ext uri="{28A0092B-C50C-407E-A947-70E740481C1C}">
                <a14:useLocalDpi xmlns:a14="http://schemas.microsoft.com/office/drawing/2010/main" val="0"/>
              </a:ext>
            </a:extLst>
          </a:blip>
          <a:srcRect l="13437" t="1572" r="13683" b="2194"/>
          <a:stretch>
            <a:fillRect/>
          </a:stretch>
        </p:blipFill>
        <p:spPr bwMode="auto">
          <a:xfrm>
            <a:off x="2446338" y="1308100"/>
            <a:ext cx="4022725" cy="398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pic>
    </p:spTree>
    <p:extLst>
      <p:ext uri="{BB962C8B-B14F-4D97-AF65-F5344CB8AC3E}">
        <p14:creationId xmlns:p14="http://schemas.microsoft.com/office/powerpoint/2010/main" val="13643935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1041400" y="166688"/>
            <a:ext cx="7645400" cy="576262"/>
          </a:xfrm>
        </p:spPr>
        <p:txBody>
          <a:bodyPr>
            <a:normAutofit fontScale="90000"/>
          </a:bodyPr>
          <a:lstStyle/>
          <a:p>
            <a:pPr eaLnBrk="1" hangingPunct="1"/>
            <a:r>
              <a:rPr lang="en-US" altLang="en-US" smtClean="0"/>
              <a:t>Avoidance Algorithms</a:t>
            </a:r>
          </a:p>
        </p:txBody>
      </p:sp>
      <p:sp>
        <p:nvSpPr>
          <p:cNvPr id="24579" name="Rectangle 3"/>
          <p:cNvSpPr>
            <a:spLocks noGrp="1" noChangeArrowheads="1"/>
          </p:cNvSpPr>
          <p:nvPr>
            <p:ph type="body" idx="1"/>
          </p:nvPr>
        </p:nvSpPr>
        <p:spPr>
          <a:xfrm>
            <a:off x="906463" y="1171575"/>
            <a:ext cx="6659562" cy="4483100"/>
          </a:xfrm>
        </p:spPr>
        <p:txBody>
          <a:bodyPr/>
          <a:lstStyle/>
          <a:p>
            <a:r>
              <a:rPr lang="en-US" altLang="en-US" smtClean="0"/>
              <a:t>Single instance of a resource type</a:t>
            </a:r>
          </a:p>
          <a:p>
            <a:pPr lvl="1"/>
            <a:r>
              <a:rPr lang="en-US" altLang="en-US" smtClean="0"/>
              <a:t>Use a resource-allocation graph</a:t>
            </a:r>
          </a:p>
          <a:p>
            <a:pPr lvl="1">
              <a:buFont typeface="Monotype Sorts" pitchFamily="-84" charset="2"/>
              <a:buNone/>
            </a:pPr>
            <a:endParaRPr lang="en-US" altLang="en-US" smtClean="0"/>
          </a:p>
          <a:p>
            <a:r>
              <a:rPr lang="en-US" altLang="en-US" smtClean="0"/>
              <a:t>Multiple instances of a resource type</a:t>
            </a:r>
          </a:p>
          <a:p>
            <a:pPr lvl="1"/>
            <a:r>
              <a:rPr lang="en-US" altLang="en-US" smtClean="0"/>
              <a:t> Use the banker</a:t>
            </a:r>
            <a:r>
              <a:rPr lang="ja-JP" altLang="en-US" smtClean="0"/>
              <a:t>’</a:t>
            </a:r>
            <a:r>
              <a:rPr lang="en-US" altLang="ja-JP" smtClean="0"/>
              <a:t>s algorithm</a:t>
            </a:r>
            <a:endParaRPr lang="en-US" altLang="en-US" smtClean="0"/>
          </a:p>
        </p:txBody>
      </p:sp>
    </p:spTree>
    <p:extLst>
      <p:ext uri="{BB962C8B-B14F-4D97-AF65-F5344CB8AC3E}">
        <p14:creationId xmlns:p14="http://schemas.microsoft.com/office/powerpoint/2010/main" val="24314137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1123950" y="198438"/>
            <a:ext cx="7831138" cy="576262"/>
          </a:xfrm>
        </p:spPr>
        <p:txBody>
          <a:bodyPr>
            <a:normAutofit fontScale="90000"/>
          </a:bodyPr>
          <a:lstStyle/>
          <a:p>
            <a:pPr eaLnBrk="1" hangingPunct="1"/>
            <a:r>
              <a:rPr lang="en-US" altLang="en-US" smtClean="0"/>
              <a:t>Resource-Allocation Graph Scheme</a:t>
            </a:r>
          </a:p>
        </p:txBody>
      </p:sp>
      <p:sp>
        <p:nvSpPr>
          <p:cNvPr id="25603" name="Rectangle 3"/>
          <p:cNvSpPr>
            <a:spLocks noGrp="1" noChangeArrowheads="1"/>
          </p:cNvSpPr>
          <p:nvPr>
            <p:ph type="body" idx="1"/>
          </p:nvPr>
        </p:nvSpPr>
        <p:spPr>
          <a:xfrm>
            <a:off x="858838" y="1155700"/>
            <a:ext cx="6989762" cy="4483100"/>
          </a:xfrm>
        </p:spPr>
        <p:txBody>
          <a:bodyPr/>
          <a:lstStyle/>
          <a:p>
            <a:pPr algn="just"/>
            <a:r>
              <a:rPr lang="en-US" altLang="en-US" b="1" dirty="0" smtClean="0">
                <a:solidFill>
                  <a:srgbClr val="3366FF"/>
                </a:solidFill>
              </a:rPr>
              <a:t>Claim edge</a:t>
            </a:r>
            <a:r>
              <a:rPr lang="en-US" altLang="en-US" dirty="0" smtClean="0">
                <a:solidFill>
                  <a:srgbClr val="3366FF"/>
                </a:solidFill>
              </a:rPr>
              <a:t> </a:t>
            </a:r>
            <a:r>
              <a:rPr lang="en-US" altLang="en-US" i="1" dirty="0" smtClean="0"/>
              <a:t>P</a:t>
            </a:r>
            <a:r>
              <a:rPr lang="en-US" altLang="en-US" i="1" baseline="-25000" dirty="0" smtClean="0"/>
              <a:t>i</a:t>
            </a:r>
            <a:r>
              <a:rPr lang="en-US" altLang="en-US" dirty="0" smtClean="0"/>
              <a:t> </a:t>
            </a:r>
            <a:r>
              <a:rPr lang="en-US" altLang="en-US" dirty="0" smtClean="0">
                <a:sym typeface="Symbol" pitchFamily="18" charset="2"/>
              </a:rPr>
              <a:t> </a:t>
            </a:r>
            <a:r>
              <a:rPr lang="en-US" altLang="en-US" i="1" dirty="0" err="1" smtClean="0">
                <a:sym typeface="Symbol" pitchFamily="18" charset="2"/>
              </a:rPr>
              <a:t>R</a:t>
            </a:r>
            <a:r>
              <a:rPr lang="en-US" altLang="en-US" i="1" baseline="-25000" dirty="0" err="1" smtClean="0">
                <a:sym typeface="Symbol" pitchFamily="18" charset="2"/>
              </a:rPr>
              <a:t>j</a:t>
            </a:r>
            <a:r>
              <a:rPr lang="en-US" altLang="en-US" dirty="0" smtClean="0">
                <a:sym typeface="Symbol" pitchFamily="18" charset="2"/>
              </a:rPr>
              <a:t> indicated that process </a:t>
            </a:r>
            <a:r>
              <a:rPr lang="en-US" altLang="en-US" i="1" dirty="0" err="1" smtClean="0">
                <a:sym typeface="Symbol" pitchFamily="18" charset="2"/>
              </a:rPr>
              <a:t>P</a:t>
            </a:r>
            <a:r>
              <a:rPr lang="en-US" altLang="en-US" i="1" baseline="-25000" dirty="0" err="1" smtClean="0">
                <a:sym typeface="Symbol" pitchFamily="18" charset="2"/>
              </a:rPr>
              <a:t>j</a:t>
            </a:r>
            <a:r>
              <a:rPr lang="en-US" altLang="en-US" dirty="0" smtClean="0">
                <a:sym typeface="Symbol" pitchFamily="18" charset="2"/>
              </a:rPr>
              <a:t> may request resource </a:t>
            </a:r>
            <a:r>
              <a:rPr lang="en-US" altLang="en-US" i="1" dirty="0" err="1" smtClean="0">
                <a:sym typeface="Symbol" pitchFamily="18" charset="2"/>
              </a:rPr>
              <a:t>R</a:t>
            </a:r>
            <a:r>
              <a:rPr lang="en-US" altLang="en-US" i="1" baseline="-25000" dirty="0" err="1" smtClean="0">
                <a:sym typeface="Symbol" pitchFamily="18" charset="2"/>
              </a:rPr>
              <a:t>j</a:t>
            </a:r>
            <a:r>
              <a:rPr lang="en-US" altLang="en-US" dirty="0" smtClean="0">
                <a:sym typeface="Symbol" pitchFamily="18" charset="2"/>
              </a:rPr>
              <a:t>; represented by a dashed line</a:t>
            </a:r>
          </a:p>
          <a:p>
            <a:pPr algn="just"/>
            <a:r>
              <a:rPr lang="en-US" altLang="en-US" dirty="0" smtClean="0">
                <a:sym typeface="Symbol" pitchFamily="18" charset="2"/>
              </a:rPr>
              <a:t>Claim edge converts to request edge when a process requests a resource</a:t>
            </a:r>
          </a:p>
          <a:p>
            <a:pPr algn="just"/>
            <a:r>
              <a:rPr lang="en-US" altLang="en-US" dirty="0" smtClean="0">
                <a:sym typeface="Symbol" pitchFamily="18" charset="2"/>
              </a:rPr>
              <a:t>Request edge converted to an assignment edge when the  resource is allocated to the process</a:t>
            </a:r>
          </a:p>
          <a:p>
            <a:pPr algn="just"/>
            <a:r>
              <a:rPr lang="en-US" altLang="en-US" dirty="0" smtClean="0">
                <a:sym typeface="Symbol" pitchFamily="18" charset="2"/>
              </a:rPr>
              <a:t>When a resource is released by a process, assignment edge reconverts to a claim edge</a:t>
            </a:r>
          </a:p>
          <a:p>
            <a:pPr algn="just"/>
            <a:r>
              <a:rPr lang="en-US" altLang="en-US" dirty="0" smtClean="0">
                <a:sym typeface="Symbol" pitchFamily="18" charset="2"/>
              </a:rPr>
              <a:t>Resources must be claimed </a:t>
            </a:r>
            <a:r>
              <a:rPr lang="en-US" altLang="en-US" i="1" dirty="0" smtClean="0">
                <a:sym typeface="Symbol" pitchFamily="18" charset="2"/>
              </a:rPr>
              <a:t>a priori</a:t>
            </a:r>
            <a:r>
              <a:rPr lang="en-US" altLang="en-US" dirty="0" smtClean="0">
                <a:sym typeface="Symbol" pitchFamily="18" charset="2"/>
              </a:rPr>
              <a:t> in the system</a:t>
            </a:r>
            <a:endParaRPr lang="en-US" altLang="en-US" dirty="0" smtClean="0"/>
          </a:p>
        </p:txBody>
      </p:sp>
    </p:spTree>
    <p:extLst>
      <p:ext uri="{BB962C8B-B14F-4D97-AF65-F5344CB8AC3E}">
        <p14:creationId xmlns:p14="http://schemas.microsoft.com/office/powerpoint/2010/main" val="21694971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741363" y="280988"/>
            <a:ext cx="8224837" cy="457200"/>
          </a:xfrm>
        </p:spPr>
        <p:txBody>
          <a:bodyPr>
            <a:normAutofit fontScale="90000"/>
          </a:bodyPr>
          <a:lstStyle/>
          <a:p>
            <a:pPr eaLnBrk="1" hangingPunct="1"/>
            <a:r>
              <a:rPr lang="en-US" altLang="en-US" sz="2800" smtClean="0"/>
              <a:t>Resource-Allocation Graph</a:t>
            </a:r>
          </a:p>
        </p:txBody>
      </p:sp>
      <p:pic>
        <p:nvPicPr>
          <p:cNvPr id="26627" name="Picture 4" descr="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8588" y="1409700"/>
            <a:ext cx="3681412" cy="373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0968271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1131888" y="260350"/>
            <a:ext cx="8243887" cy="457200"/>
          </a:xfrm>
        </p:spPr>
        <p:txBody>
          <a:bodyPr>
            <a:normAutofit fontScale="90000"/>
          </a:bodyPr>
          <a:lstStyle/>
          <a:p>
            <a:pPr eaLnBrk="1" hangingPunct="1"/>
            <a:r>
              <a:rPr lang="en-US" altLang="en-US" sz="2800" smtClean="0"/>
              <a:t>Unsafe State In Resource-Allocation Graph</a:t>
            </a:r>
          </a:p>
        </p:txBody>
      </p:sp>
      <p:pic>
        <p:nvPicPr>
          <p:cNvPr id="27651" name="Picture 4" descr="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800" y="1282700"/>
            <a:ext cx="3360738" cy="340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80843185"/>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1303338" y="150813"/>
            <a:ext cx="7656512" cy="576262"/>
          </a:xfrm>
        </p:spPr>
        <p:txBody>
          <a:bodyPr/>
          <a:lstStyle/>
          <a:p>
            <a:pPr eaLnBrk="1" hangingPunct="1"/>
            <a:r>
              <a:rPr lang="en-US" altLang="en-US" sz="2800" smtClean="0"/>
              <a:t>Resource-Allocation Graph Algorithm</a:t>
            </a:r>
          </a:p>
        </p:txBody>
      </p:sp>
      <p:sp>
        <p:nvSpPr>
          <p:cNvPr id="28675" name="Rectangle 3"/>
          <p:cNvSpPr>
            <a:spLocks noGrp="1" noChangeArrowheads="1"/>
          </p:cNvSpPr>
          <p:nvPr>
            <p:ph type="body" idx="1"/>
          </p:nvPr>
        </p:nvSpPr>
        <p:spPr>
          <a:xfrm>
            <a:off x="933450" y="1187450"/>
            <a:ext cx="5962650" cy="4303713"/>
          </a:xfrm>
        </p:spPr>
        <p:txBody>
          <a:bodyPr/>
          <a:lstStyle/>
          <a:p>
            <a:r>
              <a:rPr lang="en-US" altLang="en-US" smtClean="0"/>
              <a:t>Suppose that process</a:t>
            </a:r>
            <a:r>
              <a:rPr lang="en-US" altLang="en-US" i="1" smtClean="0"/>
              <a:t> P</a:t>
            </a:r>
            <a:r>
              <a:rPr lang="en-US" altLang="en-US" i="1" baseline="-25000" smtClean="0"/>
              <a:t>i</a:t>
            </a:r>
            <a:r>
              <a:rPr lang="en-US" altLang="en-US" smtClean="0"/>
              <a:t> requests a resource </a:t>
            </a:r>
            <a:r>
              <a:rPr lang="en-US" altLang="en-US" i="1" smtClean="0">
                <a:sym typeface="Symbol" pitchFamily="18" charset="2"/>
              </a:rPr>
              <a:t>R</a:t>
            </a:r>
            <a:r>
              <a:rPr lang="en-US" altLang="en-US" i="1" baseline="-25000" smtClean="0">
                <a:sym typeface="Symbol" pitchFamily="18" charset="2"/>
              </a:rPr>
              <a:t>j</a:t>
            </a:r>
          </a:p>
          <a:p>
            <a:r>
              <a:rPr lang="en-US" altLang="en-US" smtClean="0">
                <a:sym typeface="Symbol" pitchFamily="18" charset="2"/>
              </a:rPr>
              <a:t>The request can be granted only if converting the request edge to an assignment edge does not result in the formation of a cycle in the resource allocation graph</a:t>
            </a:r>
          </a:p>
        </p:txBody>
      </p:sp>
    </p:spTree>
    <p:extLst>
      <p:ext uri="{BB962C8B-B14F-4D97-AF65-F5344CB8AC3E}">
        <p14:creationId xmlns:p14="http://schemas.microsoft.com/office/powerpoint/2010/main" val="428775566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914400" y="182563"/>
            <a:ext cx="7772400" cy="576262"/>
          </a:xfrm>
        </p:spPr>
        <p:txBody>
          <a:bodyPr>
            <a:normAutofit fontScale="90000"/>
          </a:bodyPr>
          <a:lstStyle/>
          <a:p>
            <a:pPr eaLnBrk="1" hangingPunct="1"/>
            <a:r>
              <a:rPr lang="en-US" altLang="en-US" smtClean="0"/>
              <a:t>Banker’s Algorithm</a:t>
            </a:r>
          </a:p>
        </p:txBody>
      </p:sp>
      <p:sp>
        <p:nvSpPr>
          <p:cNvPr id="29699" name="Rectangle 3"/>
          <p:cNvSpPr>
            <a:spLocks noGrp="1" noChangeArrowheads="1"/>
          </p:cNvSpPr>
          <p:nvPr>
            <p:ph type="body" idx="1"/>
          </p:nvPr>
        </p:nvSpPr>
        <p:spPr>
          <a:xfrm>
            <a:off x="858838" y="1128713"/>
            <a:ext cx="6756400" cy="4441825"/>
          </a:xfrm>
        </p:spPr>
        <p:txBody>
          <a:bodyPr/>
          <a:lstStyle/>
          <a:p>
            <a:r>
              <a:rPr lang="en-US" altLang="en-US" smtClean="0"/>
              <a:t>Multiple instances</a:t>
            </a:r>
            <a:br>
              <a:rPr lang="en-US" altLang="en-US" smtClean="0"/>
            </a:br>
            <a:endParaRPr lang="en-US" altLang="en-US" smtClean="0"/>
          </a:p>
          <a:p>
            <a:r>
              <a:rPr lang="en-US" altLang="en-US" smtClean="0"/>
              <a:t>Each process must a priori claim maximum use</a:t>
            </a:r>
            <a:br>
              <a:rPr lang="en-US" altLang="en-US" smtClean="0"/>
            </a:br>
            <a:endParaRPr lang="en-US" altLang="en-US" smtClean="0"/>
          </a:p>
          <a:p>
            <a:r>
              <a:rPr lang="en-US" altLang="en-US" smtClean="0"/>
              <a:t>When a process requests a resource it may have to wait  </a:t>
            </a:r>
            <a:br>
              <a:rPr lang="en-US" altLang="en-US" smtClean="0"/>
            </a:br>
            <a:endParaRPr lang="en-US" altLang="en-US" smtClean="0"/>
          </a:p>
          <a:p>
            <a:r>
              <a:rPr lang="en-US" altLang="en-US" smtClean="0"/>
              <a:t>When a process gets all its resources it must return them in a finite amount of time</a:t>
            </a:r>
          </a:p>
        </p:txBody>
      </p:sp>
    </p:spTree>
    <p:extLst>
      <p:ext uri="{BB962C8B-B14F-4D97-AF65-F5344CB8AC3E}">
        <p14:creationId xmlns:p14="http://schemas.microsoft.com/office/powerpoint/2010/main" val="320998349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1474788" y="327025"/>
            <a:ext cx="7586662" cy="431800"/>
          </a:xfrm>
        </p:spPr>
        <p:txBody>
          <a:bodyPr>
            <a:normAutofit fontScale="90000"/>
          </a:bodyPr>
          <a:lstStyle/>
          <a:p>
            <a:pPr eaLnBrk="1" hangingPunct="1"/>
            <a:r>
              <a:rPr lang="en-US" altLang="en-US" sz="2800" smtClean="0"/>
              <a:t>Data Structures for the Banker</a:t>
            </a:r>
            <a:r>
              <a:rPr lang="ja-JP" altLang="en-US" sz="2800" smtClean="0"/>
              <a:t>’</a:t>
            </a:r>
            <a:r>
              <a:rPr lang="en-US" altLang="ja-JP" sz="2800" smtClean="0"/>
              <a:t>s Algorithm </a:t>
            </a:r>
            <a:endParaRPr lang="en-US" altLang="en-US" sz="2800" smtClean="0"/>
          </a:p>
        </p:txBody>
      </p:sp>
      <p:sp>
        <p:nvSpPr>
          <p:cNvPr id="30723" name="Rectangle 3"/>
          <p:cNvSpPr>
            <a:spLocks noGrp="1" noChangeArrowheads="1"/>
          </p:cNvSpPr>
          <p:nvPr>
            <p:ph type="body" idx="1"/>
          </p:nvPr>
        </p:nvSpPr>
        <p:spPr>
          <a:xfrm>
            <a:off x="1192213" y="1654175"/>
            <a:ext cx="7370762" cy="4387850"/>
          </a:xfrm>
        </p:spPr>
        <p:txBody>
          <a:bodyPr>
            <a:normAutofit lnSpcReduction="10000"/>
          </a:bodyPr>
          <a:lstStyle/>
          <a:p>
            <a:r>
              <a:rPr lang="en-US" altLang="en-US" b="1" smtClean="0"/>
              <a:t>Available</a:t>
            </a:r>
            <a:r>
              <a:rPr lang="en-US" altLang="en-US" i="1" smtClean="0"/>
              <a:t>:</a:t>
            </a:r>
            <a:r>
              <a:rPr lang="en-US" altLang="en-US" smtClean="0"/>
              <a:t>  Vector of length </a:t>
            </a:r>
            <a:r>
              <a:rPr lang="en-US" altLang="en-US" i="1" smtClean="0"/>
              <a:t>m</a:t>
            </a:r>
            <a:r>
              <a:rPr lang="en-US" altLang="en-US" smtClean="0"/>
              <a:t>. If available [</a:t>
            </a:r>
            <a:r>
              <a:rPr lang="en-US" altLang="en-US" i="1" smtClean="0"/>
              <a:t>j</a:t>
            </a:r>
            <a:r>
              <a:rPr lang="en-US" altLang="en-US" smtClean="0"/>
              <a:t>] = </a:t>
            </a:r>
            <a:r>
              <a:rPr lang="en-US" altLang="en-US" i="1" smtClean="0"/>
              <a:t>k</a:t>
            </a:r>
            <a:r>
              <a:rPr lang="en-US" altLang="en-US" smtClean="0"/>
              <a:t>, there are</a:t>
            </a:r>
            <a:r>
              <a:rPr lang="en-US" altLang="en-US" i="1" smtClean="0"/>
              <a:t> k</a:t>
            </a:r>
            <a:r>
              <a:rPr lang="en-US" altLang="en-US" smtClean="0"/>
              <a:t> instances of resource type </a:t>
            </a:r>
            <a:r>
              <a:rPr lang="en-US" altLang="en-US" i="1" smtClean="0"/>
              <a:t>R</a:t>
            </a:r>
            <a:r>
              <a:rPr lang="en-US" altLang="en-US" i="1" baseline="-25000" smtClean="0"/>
              <a:t>j</a:t>
            </a:r>
            <a:r>
              <a:rPr lang="en-US" altLang="en-US" baseline="-25000" smtClean="0"/>
              <a:t>  </a:t>
            </a:r>
            <a:r>
              <a:rPr lang="en-US" altLang="en-US" smtClean="0"/>
              <a:t>available</a:t>
            </a:r>
          </a:p>
          <a:p>
            <a:endParaRPr lang="en-US" altLang="en-US" sz="800" smtClean="0"/>
          </a:p>
          <a:p>
            <a:r>
              <a:rPr lang="en-US" altLang="en-US" b="1" smtClean="0">
                <a:solidFill>
                  <a:srgbClr val="000000"/>
                </a:solidFill>
              </a:rPr>
              <a:t>Max</a:t>
            </a:r>
            <a:r>
              <a:rPr lang="en-US" altLang="en-US" i="1" smtClean="0"/>
              <a:t>: n x m</a:t>
            </a:r>
            <a:r>
              <a:rPr lang="en-US" altLang="en-US" smtClean="0"/>
              <a:t> matrix.  If </a:t>
            </a:r>
            <a:r>
              <a:rPr lang="en-US" altLang="en-US" i="1" smtClean="0"/>
              <a:t>Max </a:t>
            </a:r>
            <a:r>
              <a:rPr lang="en-US" altLang="en-US" smtClean="0"/>
              <a:t>[</a:t>
            </a:r>
            <a:r>
              <a:rPr lang="en-US" altLang="en-US" i="1" smtClean="0"/>
              <a:t>i,j</a:t>
            </a:r>
            <a:r>
              <a:rPr lang="en-US" altLang="en-US" smtClean="0"/>
              <a:t>] = </a:t>
            </a:r>
            <a:r>
              <a:rPr lang="en-US" altLang="en-US" i="1" smtClean="0"/>
              <a:t>k</a:t>
            </a:r>
            <a:r>
              <a:rPr lang="en-US" altLang="en-US" smtClean="0"/>
              <a:t>, then process </a:t>
            </a:r>
            <a:r>
              <a:rPr lang="en-US" altLang="en-US" i="1" smtClean="0"/>
              <a:t>P</a:t>
            </a:r>
            <a:r>
              <a:rPr lang="en-US" altLang="en-US" i="1" baseline="-25000" smtClean="0"/>
              <a:t>i</a:t>
            </a:r>
            <a:r>
              <a:rPr lang="en-US" altLang="en-US" i="1" smtClean="0"/>
              <a:t> </a:t>
            </a:r>
            <a:r>
              <a:rPr lang="en-US" altLang="en-US" smtClean="0"/>
              <a:t>may request at most</a:t>
            </a:r>
            <a:r>
              <a:rPr lang="en-US" altLang="en-US" i="1" smtClean="0"/>
              <a:t> k </a:t>
            </a:r>
            <a:r>
              <a:rPr lang="en-US" altLang="en-US" smtClean="0"/>
              <a:t>instances of resource type </a:t>
            </a:r>
            <a:r>
              <a:rPr lang="en-US" altLang="en-US" i="1" smtClean="0"/>
              <a:t>R</a:t>
            </a:r>
            <a:r>
              <a:rPr lang="en-US" altLang="en-US" i="1" baseline="-25000" smtClean="0"/>
              <a:t>j</a:t>
            </a:r>
          </a:p>
          <a:p>
            <a:endParaRPr lang="en-US" altLang="en-US" sz="800" i="1" baseline="-25000" smtClean="0"/>
          </a:p>
          <a:p>
            <a:r>
              <a:rPr lang="en-US" altLang="en-US" b="1" smtClean="0">
                <a:solidFill>
                  <a:srgbClr val="000000"/>
                </a:solidFill>
              </a:rPr>
              <a:t>Allocation</a:t>
            </a:r>
            <a:r>
              <a:rPr lang="en-US" altLang="en-US" i="1" smtClean="0"/>
              <a:t>:  n </a:t>
            </a:r>
            <a:r>
              <a:rPr lang="en-US" altLang="en-US" smtClean="0"/>
              <a:t>x</a:t>
            </a:r>
            <a:r>
              <a:rPr lang="en-US" altLang="en-US" i="1" smtClean="0"/>
              <a:t> m</a:t>
            </a:r>
            <a:r>
              <a:rPr lang="en-US" altLang="en-US" smtClean="0"/>
              <a:t> matrix.  If Allocation[</a:t>
            </a:r>
            <a:r>
              <a:rPr lang="en-US" altLang="en-US" i="1" smtClean="0"/>
              <a:t>i,j</a:t>
            </a:r>
            <a:r>
              <a:rPr lang="en-US" altLang="en-US" smtClean="0"/>
              <a:t>] = </a:t>
            </a:r>
            <a:r>
              <a:rPr lang="en-US" altLang="en-US" i="1" smtClean="0"/>
              <a:t>k</a:t>
            </a:r>
            <a:r>
              <a:rPr lang="en-US" altLang="en-US" smtClean="0"/>
              <a:t> then</a:t>
            </a:r>
            <a:r>
              <a:rPr lang="en-US" altLang="en-US" i="1" smtClean="0"/>
              <a:t> P</a:t>
            </a:r>
            <a:r>
              <a:rPr lang="en-US" altLang="en-US" i="1" baseline="-25000" smtClean="0"/>
              <a:t>i</a:t>
            </a:r>
            <a:r>
              <a:rPr lang="en-US" altLang="en-US" smtClean="0"/>
              <a:t> is currently allocated </a:t>
            </a:r>
            <a:r>
              <a:rPr lang="en-US" altLang="en-US" i="1" smtClean="0"/>
              <a:t>k</a:t>
            </a:r>
            <a:r>
              <a:rPr lang="en-US" altLang="en-US" smtClean="0"/>
              <a:t> instances of </a:t>
            </a:r>
            <a:r>
              <a:rPr lang="en-US" altLang="en-US" i="1" smtClean="0"/>
              <a:t>R</a:t>
            </a:r>
            <a:r>
              <a:rPr lang="en-US" altLang="en-US" i="1" baseline="-25000" smtClean="0"/>
              <a:t>j</a:t>
            </a:r>
          </a:p>
          <a:p>
            <a:endParaRPr lang="en-US" altLang="en-US" sz="800" i="1" baseline="-25000" smtClean="0"/>
          </a:p>
          <a:p>
            <a:r>
              <a:rPr lang="en-US" altLang="en-US" b="1" smtClean="0">
                <a:solidFill>
                  <a:srgbClr val="000000"/>
                </a:solidFill>
              </a:rPr>
              <a:t>Need</a:t>
            </a:r>
            <a:r>
              <a:rPr lang="en-US" altLang="en-US" i="1" smtClean="0"/>
              <a:t>:  n </a:t>
            </a:r>
            <a:r>
              <a:rPr lang="en-US" altLang="en-US" smtClean="0"/>
              <a:t>x</a:t>
            </a:r>
            <a:r>
              <a:rPr lang="en-US" altLang="en-US" i="1" smtClean="0"/>
              <a:t> m</a:t>
            </a:r>
            <a:r>
              <a:rPr lang="en-US" altLang="en-US" smtClean="0"/>
              <a:t> matrix. If </a:t>
            </a:r>
            <a:r>
              <a:rPr lang="en-US" altLang="en-US" i="1" smtClean="0"/>
              <a:t>Need</a:t>
            </a:r>
            <a:r>
              <a:rPr lang="en-US" altLang="en-US" smtClean="0"/>
              <a:t>[</a:t>
            </a:r>
            <a:r>
              <a:rPr lang="en-US" altLang="en-US" i="1" smtClean="0"/>
              <a:t>i,j</a:t>
            </a:r>
            <a:r>
              <a:rPr lang="en-US" altLang="en-US" smtClean="0"/>
              <a:t>] =</a:t>
            </a:r>
            <a:r>
              <a:rPr lang="en-US" altLang="en-US" i="1" smtClean="0"/>
              <a:t> k</a:t>
            </a:r>
            <a:r>
              <a:rPr lang="en-US" altLang="en-US" smtClean="0"/>
              <a:t>, then</a:t>
            </a:r>
            <a:r>
              <a:rPr lang="en-US" altLang="en-US" i="1" smtClean="0"/>
              <a:t> P</a:t>
            </a:r>
            <a:r>
              <a:rPr lang="en-US" altLang="en-US" i="1" baseline="-25000" smtClean="0"/>
              <a:t>i</a:t>
            </a:r>
            <a:r>
              <a:rPr lang="en-US" altLang="en-US" smtClean="0"/>
              <a:t> may need </a:t>
            </a:r>
            <a:r>
              <a:rPr lang="en-US" altLang="en-US" i="1" smtClean="0"/>
              <a:t>k</a:t>
            </a:r>
            <a:r>
              <a:rPr lang="en-US" altLang="en-US" smtClean="0"/>
              <a:t> more instances of </a:t>
            </a:r>
            <a:r>
              <a:rPr lang="en-US" altLang="en-US" i="1" smtClean="0"/>
              <a:t>R</a:t>
            </a:r>
            <a:r>
              <a:rPr lang="en-US" altLang="en-US" i="1" baseline="-25000" smtClean="0"/>
              <a:t>j</a:t>
            </a:r>
            <a:r>
              <a:rPr lang="en-US" altLang="en-US" baseline="-25000" smtClean="0"/>
              <a:t> </a:t>
            </a:r>
            <a:r>
              <a:rPr lang="en-US" altLang="en-US" smtClean="0"/>
              <a:t>to complete its task</a:t>
            </a:r>
          </a:p>
          <a:p>
            <a:pPr lvl="2">
              <a:buFont typeface="Webdings" pitchFamily="18" charset="2"/>
              <a:buNone/>
            </a:pPr>
            <a:r>
              <a:rPr lang="en-US" altLang="en-US" smtClean="0"/>
              <a:t/>
            </a:r>
            <a:br>
              <a:rPr lang="en-US" altLang="en-US" smtClean="0"/>
            </a:br>
            <a:r>
              <a:rPr lang="en-US" altLang="en-US" i="1" smtClean="0"/>
              <a:t>Need</a:t>
            </a:r>
            <a:r>
              <a:rPr lang="en-US" altLang="en-US" smtClean="0"/>
              <a:t> [</a:t>
            </a:r>
            <a:r>
              <a:rPr lang="en-US" altLang="en-US" i="1" smtClean="0"/>
              <a:t>i,j]</a:t>
            </a:r>
            <a:r>
              <a:rPr lang="en-US" altLang="en-US" smtClean="0"/>
              <a:t> = </a:t>
            </a:r>
            <a:r>
              <a:rPr lang="en-US" altLang="en-US" i="1" smtClean="0"/>
              <a:t>Max</a:t>
            </a:r>
            <a:r>
              <a:rPr lang="en-US" altLang="en-US" smtClean="0"/>
              <a:t>[</a:t>
            </a:r>
            <a:r>
              <a:rPr lang="en-US" altLang="en-US" i="1" smtClean="0"/>
              <a:t>i,j</a:t>
            </a:r>
            <a:r>
              <a:rPr lang="en-US" altLang="en-US" smtClean="0"/>
              <a:t>] – </a:t>
            </a:r>
            <a:r>
              <a:rPr lang="en-US" altLang="en-US" i="1" smtClean="0"/>
              <a:t>Allocation</a:t>
            </a:r>
            <a:r>
              <a:rPr lang="en-US" altLang="en-US" smtClean="0"/>
              <a:t> [</a:t>
            </a:r>
            <a:r>
              <a:rPr lang="en-US" altLang="en-US" i="1" smtClean="0"/>
              <a:t>i,j</a:t>
            </a:r>
            <a:r>
              <a:rPr lang="en-US" altLang="en-US" smtClean="0"/>
              <a:t>]</a:t>
            </a:r>
          </a:p>
        </p:txBody>
      </p:sp>
      <p:sp>
        <p:nvSpPr>
          <p:cNvPr id="30724" name="Text Box 4"/>
          <p:cNvSpPr txBox="1">
            <a:spLocks noChangeArrowheads="1"/>
          </p:cNvSpPr>
          <p:nvPr/>
        </p:nvSpPr>
        <p:spPr bwMode="auto">
          <a:xfrm>
            <a:off x="950913" y="1108075"/>
            <a:ext cx="6934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50000"/>
              </a:spcBef>
            </a:pPr>
            <a:r>
              <a:rPr lang="en-US" altLang="en-US">
                <a:latin typeface="Helvetica" pitchFamily="-84" charset="0"/>
              </a:rPr>
              <a:t>Let </a:t>
            </a:r>
            <a:r>
              <a:rPr lang="en-US" altLang="en-US" i="1">
                <a:latin typeface="Helvetica" pitchFamily="-84" charset="0"/>
              </a:rPr>
              <a:t>n</a:t>
            </a:r>
            <a:r>
              <a:rPr lang="en-US" altLang="en-US">
                <a:latin typeface="Helvetica" pitchFamily="-84" charset="0"/>
              </a:rPr>
              <a:t> = number of processes, and </a:t>
            </a:r>
            <a:r>
              <a:rPr lang="en-US" altLang="en-US" i="1">
                <a:latin typeface="Helvetica" pitchFamily="-84" charset="0"/>
              </a:rPr>
              <a:t>m </a:t>
            </a:r>
            <a:r>
              <a:rPr lang="en-US" altLang="en-US">
                <a:latin typeface="Helvetica" pitchFamily="-84" charset="0"/>
              </a:rPr>
              <a:t>= number of resources types. </a:t>
            </a:r>
          </a:p>
        </p:txBody>
      </p:sp>
    </p:spTree>
    <p:extLst>
      <p:ext uri="{BB962C8B-B14F-4D97-AF65-F5344CB8AC3E}">
        <p14:creationId xmlns:p14="http://schemas.microsoft.com/office/powerpoint/2010/main" val="294392362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457200" y="166688"/>
            <a:ext cx="8229600" cy="576262"/>
          </a:xfrm>
        </p:spPr>
        <p:txBody>
          <a:bodyPr>
            <a:normAutofit fontScale="90000"/>
          </a:bodyPr>
          <a:lstStyle/>
          <a:p>
            <a:pPr eaLnBrk="1" hangingPunct="1"/>
            <a:r>
              <a:rPr lang="en-US" altLang="en-US" smtClean="0"/>
              <a:t>Safety Algorithm</a:t>
            </a:r>
          </a:p>
        </p:txBody>
      </p:sp>
      <p:sp>
        <p:nvSpPr>
          <p:cNvPr id="31747" name="Rectangle 3"/>
          <p:cNvSpPr>
            <a:spLocks noGrp="1" noChangeArrowheads="1"/>
          </p:cNvSpPr>
          <p:nvPr>
            <p:ph type="body" idx="1"/>
          </p:nvPr>
        </p:nvSpPr>
        <p:spPr>
          <a:xfrm>
            <a:off x="908050" y="1157288"/>
            <a:ext cx="7372350" cy="4943475"/>
          </a:xfrm>
        </p:spPr>
        <p:txBody>
          <a:bodyPr>
            <a:normAutofit lnSpcReduction="10000"/>
          </a:bodyPr>
          <a:lstStyle/>
          <a:p>
            <a:pPr>
              <a:lnSpc>
                <a:spcPct val="90000"/>
              </a:lnSpc>
              <a:buFont typeface="Monotype Sorts" pitchFamily="-84" charset="2"/>
              <a:buNone/>
            </a:pPr>
            <a:r>
              <a:rPr lang="en-US" altLang="en-US" smtClean="0"/>
              <a:t>1.	Let </a:t>
            </a:r>
            <a:r>
              <a:rPr lang="en-US" altLang="en-US" b="1" i="1" smtClean="0">
                <a:solidFill>
                  <a:srgbClr val="000000"/>
                </a:solidFill>
              </a:rPr>
              <a:t>Work</a:t>
            </a:r>
            <a:r>
              <a:rPr lang="en-US" altLang="en-US" i="1" smtClean="0">
                <a:solidFill>
                  <a:srgbClr val="000000"/>
                </a:solidFill>
              </a:rPr>
              <a:t> </a:t>
            </a:r>
            <a:r>
              <a:rPr lang="en-US" altLang="en-US" smtClean="0"/>
              <a:t>and </a:t>
            </a:r>
            <a:r>
              <a:rPr lang="en-US" altLang="en-US" b="1" i="1" smtClean="0">
                <a:solidFill>
                  <a:srgbClr val="000000"/>
                </a:solidFill>
              </a:rPr>
              <a:t>Finish</a:t>
            </a:r>
            <a:r>
              <a:rPr lang="en-US" altLang="en-US" smtClean="0">
                <a:solidFill>
                  <a:srgbClr val="000000"/>
                </a:solidFill>
              </a:rPr>
              <a:t> </a:t>
            </a:r>
            <a:r>
              <a:rPr lang="en-US" altLang="en-US" smtClean="0"/>
              <a:t>be vectors of length</a:t>
            </a:r>
            <a:r>
              <a:rPr lang="en-US" altLang="en-US" i="1" smtClean="0"/>
              <a:t> m</a:t>
            </a:r>
            <a:r>
              <a:rPr lang="en-US" altLang="en-US" smtClean="0"/>
              <a:t> and</a:t>
            </a:r>
            <a:r>
              <a:rPr lang="en-US" altLang="en-US" i="1" smtClean="0"/>
              <a:t> n</a:t>
            </a:r>
            <a:r>
              <a:rPr lang="en-US" altLang="en-US" smtClean="0"/>
              <a:t>, respectively.  Initialize:</a:t>
            </a:r>
          </a:p>
          <a:p>
            <a:pPr marL="1543050" lvl="3" indent="-342900">
              <a:lnSpc>
                <a:spcPct val="90000"/>
              </a:lnSpc>
              <a:buFontTx/>
              <a:buNone/>
            </a:pPr>
            <a:r>
              <a:rPr lang="en-US" altLang="en-US" b="1" i="1" smtClean="0"/>
              <a:t>Work </a:t>
            </a:r>
            <a:r>
              <a:rPr lang="en-US" altLang="en-US" b="1" smtClean="0"/>
              <a:t>= </a:t>
            </a:r>
            <a:r>
              <a:rPr lang="en-US" altLang="en-US" b="1" i="1" smtClean="0"/>
              <a:t>Available</a:t>
            </a:r>
          </a:p>
          <a:p>
            <a:pPr marL="1543050" lvl="3" indent="-342900">
              <a:lnSpc>
                <a:spcPct val="90000"/>
              </a:lnSpc>
              <a:buFontTx/>
              <a:buNone/>
            </a:pPr>
            <a:r>
              <a:rPr lang="en-US" altLang="en-US" b="1" i="1" smtClean="0"/>
              <a:t>Finish </a:t>
            </a:r>
            <a:r>
              <a:rPr lang="en-US" altLang="en-US" b="1" smtClean="0"/>
              <a:t>[</a:t>
            </a:r>
            <a:r>
              <a:rPr lang="en-US" altLang="en-US" b="1" i="1" smtClean="0"/>
              <a:t>i</a:t>
            </a:r>
            <a:r>
              <a:rPr lang="en-US" altLang="en-US" b="1" smtClean="0"/>
              <a:t>] =</a:t>
            </a:r>
            <a:r>
              <a:rPr lang="en-US" altLang="en-US" b="1" i="1" smtClean="0"/>
              <a:t> false </a:t>
            </a:r>
            <a:r>
              <a:rPr lang="en-US" altLang="en-US" b="1" smtClean="0"/>
              <a:t>for</a:t>
            </a:r>
            <a:r>
              <a:rPr lang="en-US" altLang="en-US" b="1" i="1" smtClean="0"/>
              <a:t> i</a:t>
            </a:r>
            <a:r>
              <a:rPr lang="en-US" altLang="en-US" b="1" smtClean="0"/>
              <a:t> = 0, 1, …, </a:t>
            </a:r>
            <a:r>
              <a:rPr lang="en-US" altLang="en-US" b="1" i="1" smtClean="0"/>
              <a:t>n- </a:t>
            </a:r>
            <a:r>
              <a:rPr lang="en-US" altLang="en-US" b="1" smtClean="0"/>
              <a:t>1</a:t>
            </a:r>
          </a:p>
          <a:p>
            <a:pPr marL="1543050" lvl="3" indent="-342900">
              <a:lnSpc>
                <a:spcPct val="90000"/>
              </a:lnSpc>
              <a:buFontTx/>
              <a:buNone/>
            </a:pPr>
            <a:endParaRPr lang="en-US" altLang="en-US" sz="800" smtClean="0"/>
          </a:p>
          <a:p>
            <a:pPr>
              <a:lnSpc>
                <a:spcPct val="90000"/>
              </a:lnSpc>
              <a:buFont typeface="Monotype Sorts" pitchFamily="-84" charset="2"/>
              <a:buNone/>
            </a:pPr>
            <a:r>
              <a:rPr lang="en-US" altLang="en-US" smtClean="0"/>
              <a:t>2.	Find an </a:t>
            </a:r>
            <a:r>
              <a:rPr lang="en-US" altLang="en-US" b="1" i="1" smtClean="0"/>
              <a:t>i</a:t>
            </a:r>
            <a:r>
              <a:rPr lang="en-US" altLang="en-US" i="1" smtClean="0"/>
              <a:t> </a:t>
            </a:r>
            <a:r>
              <a:rPr lang="en-US" altLang="en-US" smtClean="0"/>
              <a:t>such that both: </a:t>
            </a:r>
          </a:p>
          <a:p>
            <a:pPr marL="800100" lvl="1" indent="-342900">
              <a:lnSpc>
                <a:spcPct val="90000"/>
              </a:lnSpc>
              <a:buFont typeface="Monotype Sorts" pitchFamily="-84" charset="2"/>
              <a:buNone/>
            </a:pPr>
            <a:r>
              <a:rPr lang="en-US" altLang="en-US" smtClean="0"/>
              <a:t>(a) </a:t>
            </a:r>
            <a:r>
              <a:rPr lang="en-US" altLang="en-US" b="1" i="1" smtClean="0"/>
              <a:t>Finish</a:t>
            </a:r>
            <a:r>
              <a:rPr lang="en-US" altLang="en-US" b="1" smtClean="0"/>
              <a:t> [</a:t>
            </a:r>
            <a:r>
              <a:rPr lang="en-US" altLang="en-US" b="1" i="1" smtClean="0"/>
              <a:t>i</a:t>
            </a:r>
            <a:r>
              <a:rPr lang="en-US" altLang="en-US" b="1" smtClean="0"/>
              <a:t>] = </a:t>
            </a:r>
            <a:r>
              <a:rPr lang="en-US" altLang="en-US" b="1" i="1" smtClean="0"/>
              <a:t>false</a:t>
            </a:r>
            <a:endParaRPr lang="en-US" altLang="en-US" b="1" smtClean="0"/>
          </a:p>
          <a:p>
            <a:pPr marL="800100" lvl="1" indent="-342900">
              <a:lnSpc>
                <a:spcPct val="90000"/>
              </a:lnSpc>
              <a:buFont typeface="Monotype Sorts" pitchFamily="-84" charset="2"/>
              <a:buNone/>
            </a:pPr>
            <a:r>
              <a:rPr lang="en-US" altLang="en-US" smtClean="0"/>
              <a:t>(b) </a:t>
            </a:r>
            <a:r>
              <a:rPr lang="en-US" altLang="en-US" b="1" i="1" smtClean="0"/>
              <a:t>Need</a:t>
            </a:r>
            <a:r>
              <a:rPr lang="en-US" altLang="en-US" b="1" i="1" baseline="-25000" smtClean="0"/>
              <a:t>i</a:t>
            </a:r>
            <a:r>
              <a:rPr lang="en-US" altLang="en-US" b="1" smtClean="0"/>
              <a:t> </a:t>
            </a:r>
            <a:r>
              <a:rPr lang="en-US" altLang="en-US" b="1" smtClean="0">
                <a:sym typeface="Symbol" pitchFamily="18" charset="2"/>
              </a:rPr>
              <a:t> </a:t>
            </a:r>
            <a:r>
              <a:rPr lang="en-US" altLang="en-US" b="1" i="1" smtClean="0">
                <a:sym typeface="Symbol" pitchFamily="18" charset="2"/>
              </a:rPr>
              <a:t>Work</a:t>
            </a:r>
          </a:p>
          <a:p>
            <a:pPr marL="800100" lvl="1" indent="-342900">
              <a:lnSpc>
                <a:spcPct val="90000"/>
              </a:lnSpc>
              <a:buFont typeface="Monotype Sorts" pitchFamily="-84" charset="2"/>
              <a:buNone/>
            </a:pPr>
            <a:r>
              <a:rPr lang="en-US" altLang="en-US" smtClean="0">
                <a:sym typeface="Symbol" pitchFamily="18" charset="2"/>
              </a:rPr>
              <a:t>If no such</a:t>
            </a:r>
            <a:r>
              <a:rPr lang="en-US" altLang="en-US" b="1" smtClean="0">
                <a:sym typeface="Symbol" pitchFamily="18" charset="2"/>
              </a:rPr>
              <a:t> </a:t>
            </a:r>
            <a:r>
              <a:rPr lang="en-US" altLang="en-US" b="1" i="1" smtClean="0">
                <a:sym typeface="Symbol" pitchFamily="18" charset="2"/>
              </a:rPr>
              <a:t>i </a:t>
            </a:r>
            <a:r>
              <a:rPr lang="en-US" altLang="en-US" smtClean="0">
                <a:sym typeface="Symbol" pitchFamily="18" charset="2"/>
              </a:rPr>
              <a:t>exists, go to step 4</a:t>
            </a:r>
          </a:p>
          <a:p>
            <a:pPr marL="800100" lvl="1" indent="-342900">
              <a:lnSpc>
                <a:spcPct val="90000"/>
              </a:lnSpc>
              <a:buFont typeface="Monotype Sorts" pitchFamily="-84" charset="2"/>
              <a:buNone/>
            </a:pPr>
            <a:endParaRPr lang="en-US" altLang="en-US" sz="800" smtClean="0">
              <a:sym typeface="Symbol" pitchFamily="18" charset="2"/>
            </a:endParaRPr>
          </a:p>
          <a:p>
            <a:pPr>
              <a:lnSpc>
                <a:spcPct val="90000"/>
              </a:lnSpc>
              <a:buFont typeface="Monotype Sorts" pitchFamily="-84" charset="2"/>
              <a:buNone/>
            </a:pPr>
            <a:r>
              <a:rPr lang="en-US" altLang="en-US" i="1" smtClean="0"/>
              <a:t>3.  </a:t>
            </a:r>
            <a:r>
              <a:rPr lang="en-US" altLang="en-US" b="1" i="1" smtClean="0"/>
              <a:t>Work</a:t>
            </a:r>
            <a:r>
              <a:rPr lang="en-US" altLang="en-US" b="1" smtClean="0"/>
              <a:t> = </a:t>
            </a:r>
            <a:r>
              <a:rPr lang="en-US" altLang="en-US" b="1" i="1" smtClean="0"/>
              <a:t>Work </a:t>
            </a:r>
            <a:r>
              <a:rPr lang="en-US" altLang="en-US" b="1" smtClean="0"/>
              <a:t>+ </a:t>
            </a:r>
            <a:r>
              <a:rPr lang="en-US" altLang="en-US" b="1" i="1" smtClean="0"/>
              <a:t>Allocation</a:t>
            </a:r>
            <a:r>
              <a:rPr lang="en-US" altLang="en-US" b="1" i="1" baseline="-25000" smtClean="0"/>
              <a:t>i</a:t>
            </a:r>
            <a:r>
              <a:rPr lang="en-US" altLang="en-US" b="1" smtClean="0"/>
              <a:t/>
            </a:r>
            <a:br>
              <a:rPr lang="en-US" altLang="en-US" b="1" smtClean="0"/>
            </a:br>
            <a:r>
              <a:rPr lang="en-US" altLang="en-US" b="1" i="1" smtClean="0"/>
              <a:t>Finish</a:t>
            </a:r>
            <a:r>
              <a:rPr lang="en-US" altLang="en-US" b="1" smtClean="0"/>
              <a:t>[</a:t>
            </a:r>
            <a:r>
              <a:rPr lang="en-US" altLang="en-US" b="1" i="1" smtClean="0"/>
              <a:t>i</a:t>
            </a:r>
            <a:r>
              <a:rPr lang="en-US" altLang="en-US" b="1" smtClean="0"/>
              <a:t>] =</a:t>
            </a:r>
            <a:r>
              <a:rPr lang="en-US" altLang="en-US" b="1" i="1" smtClean="0"/>
              <a:t> true</a:t>
            </a:r>
            <a:r>
              <a:rPr lang="en-US" altLang="en-US" b="1" smtClean="0"/>
              <a:t/>
            </a:r>
            <a:br>
              <a:rPr lang="en-US" altLang="en-US" b="1" smtClean="0"/>
            </a:br>
            <a:r>
              <a:rPr lang="en-US" altLang="en-US" smtClean="0"/>
              <a:t>go to step 2</a:t>
            </a:r>
          </a:p>
          <a:p>
            <a:pPr>
              <a:lnSpc>
                <a:spcPct val="90000"/>
              </a:lnSpc>
            </a:pPr>
            <a:endParaRPr lang="en-US" altLang="en-US" sz="800" smtClean="0"/>
          </a:p>
          <a:p>
            <a:pPr>
              <a:lnSpc>
                <a:spcPct val="90000"/>
              </a:lnSpc>
              <a:buFont typeface="Monotype Sorts" pitchFamily="-84" charset="2"/>
              <a:buNone/>
            </a:pPr>
            <a:r>
              <a:rPr lang="en-US" altLang="en-US" smtClean="0"/>
              <a:t>4.	If </a:t>
            </a:r>
            <a:r>
              <a:rPr lang="en-US" altLang="en-US" b="1" i="1" smtClean="0"/>
              <a:t>Finish</a:t>
            </a:r>
            <a:r>
              <a:rPr lang="en-US" altLang="en-US" b="1" smtClean="0"/>
              <a:t> [</a:t>
            </a:r>
            <a:r>
              <a:rPr lang="en-US" altLang="en-US" b="1" i="1" smtClean="0"/>
              <a:t>i</a:t>
            </a:r>
            <a:r>
              <a:rPr lang="en-US" altLang="en-US" b="1" smtClean="0"/>
              <a:t>] == </a:t>
            </a:r>
            <a:r>
              <a:rPr lang="en-US" altLang="en-US" b="1" i="1" smtClean="0"/>
              <a:t>true</a:t>
            </a:r>
            <a:r>
              <a:rPr lang="en-US" altLang="en-US" b="1" smtClean="0"/>
              <a:t> </a:t>
            </a:r>
            <a:r>
              <a:rPr lang="en-US" altLang="en-US" smtClean="0"/>
              <a:t>for all </a:t>
            </a:r>
            <a:r>
              <a:rPr lang="en-US" altLang="en-US" b="1" i="1" smtClean="0"/>
              <a:t>i</a:t>
            </a:r>
            <a:r>
              <a:rPr lang="en-US" altLang="en-US" smtClean="0"/>
              <a:t>, then the system is in a safe state</a:t>
            </a:r>
          </a:p>
        </p:txBody>
      </p:sp>
    </p:spTree>
    <p:extLst>
      <p:ext uri="{BB962C8B-B14F-4D97-AF65-F5344CB8AC3E}">
        <p14:creationId xmlns:p14="http://schemas.microsoft.com/office/powerpoint/2010/main" val="4074662730"/>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1273175" y="231775"/>
            <a:ext cx="7924800" cy="457200"/>
          </a:xfrm>
        </p:spPr>
        <p:txBody>
          <a:bodyPr>
            <a:normAutofit fontScale="90000"/>
          </a:bodyPr>
          <a:lstStyle/>
          <a:p>
            <a:pPr eaLnBrk="1" hangingPunct="1"/>
            <a:r>
              <a:rPr lang="en-US" altLang="en-US" sz="2800" smtClean="0"/>
              <a:t>Resource-Request Algorithm for Process </a:t>
            </a:r>
            <a:r>
              <a:rPr lang="en-US" altLang="en-US" sz="2800" i="1" smtClean="0"/>
              <a:t>P</a:t>
            </a:r>
            <a:r>
              <a:rPr lang="en-US" altLang="en-US" sz="2800" i="1" baseline="-25000" smtClean="0"/>
              <a:t>i</a:t>
            </a:r>
            <a:endParaRPr lang="en-US" altLang="en-US" sz="2800" smtClean="0"/>
          </a:p>
        </p:txBody>
      </p:sp>
      <p:sp>
        <p:nvSpPr>
          <p:cNvPr id="32771" name="Rectangle 3"/>
          <p:cNvSpPr>
            <a:spLocks noGrp="1" noChangeArrowheads="1"/>
          </p:cNvSpPr>
          <p:nvPr>
            <p:ph type="body" idx="1"/>
          </p:nvPr>
        </p:nvSpPr>
        <p:spPr>
          <a:xfrm>
            <a:off x="822325" y="1114425"/>
            <a:ext cx="7642225" cy="4686300"/>
          </a:xfrm>
        </p:spPr>
        <p:txBody>
          <a:bodyPr>
            <a:normAutofit lnSpcReduction="10000"/>
          </a:bodyPr>
          <a:lstStyle/>
          <a:p>
            <a:pPr>
              <a:lnSpc>
                <a:spcPct val="90000"/>
              </a:lnSpc>
              <a:buFont typeface="Monotype Sorts" pitchFamily="-84" charset="2"/>
              <a:buNone/>
            </a:pPr>
            <a:r>
              <a:rPr lang="en-US" altLang="en-US" i="1" smtClean="0"/>
              <a:t>     </a:t>
            </a:r>
            <a:r>
              <a:rPr lang="en-US" altLang="en-US" b="1" i="1" smtClean="0"/>
              <a:t>Request</a:t>
            </a:r>
            <a:r>
              <a:rPr lang="en-US" altLang="en-US" b="1" i="1" baseline="-25000" smtClean="0"/>
              <a:t>i</a:t>
            </a:r>
            <a:r>
              <a:rPr lang="en-US" altLang="en-US" smtClean="0"/>
              <a:t> = request vector for process </a:t>
            </a:r>
            <a:r>
              <a:rPr lang="en-US" altLang="en-US" b="1" i="1" smtClean="0"/>
              <a:t>P</a:t>
            </a:r>
            <a:r>
              <a:rPr lang="en-US" altLang="en-US" b="1" i="1" baseline="-25000" smtClean="0"/>
              <a:t>i</a:t>
            </a:r>
            <a:r>
              <a:rPr lang="en-US" altLang="en-US" smtClean="0"/>
              <a:t>.  If </a:t>
            </a:r>
            <a:r>
              <a:rPr lang="en-US" altLang="en-US" b="1" i="1" smtClean="0"/>
              <a:t>Request</a:t>
            </a:r>
            <a:r>
              <a:rPr lang="en-US" altLang="en-US" b="1" i="1" baseline="-25000" smtClean="0"/>
              <a:t>i</a:t>
            </a:r>
            <a:r>
              <a:rPr lang="en-US" altLang="en-US" b="1" baseline="-25000" smtClean="0"/>
              <a:t> </a:t>
            </a:r>
            <a:r>
              <a:rPr lang="en-US" altLang="en-US" b="1" smtClean="0"/>
              <a:t>[</a:t>
            </a:r>
            <a:r>
              <a:rPr lang="en-US" altLang="en-US" b="1" i="1" smtClean="0"/>
              <a:t>j</a:t>
            </a:r>
            <a:r>
              <a:rPr lang="en-US" altLang="en-US" b="1" smtClean="0"/>
              <a:t>] = </a:t>
            </a:r>
            <a:r>
              <a:rPr lang="en-US" altLang="en-US" b="1" i="1" smtClean="0"/>
              <a:t>k</a:t>
            </a:r>
            <a:r>
              <a:rPr lang="en-US" altLang="en-US" b="1" smtClean="0"/>
              <a:t> </a:t>
            </a:r>
            <a:r>
              <a:rPr lang="en-US" altLang="en-US" smtClean="0"/>
              <a:t>then process </a:t>
            </a:r>
            <a:r>
              <a:rPr lang="en-US" altLang="en-US" b="1" i="1" smtClean="0"/>
              <a:t>P</a:t>
            </a:r>
            <a:r>
              <a:rPr lang="en-US" altLang="en-US" b="1" i="1" baseline="-25000" smtClean="0"/>
              <a:t>i</a:t>
            </a:r>
            <a:r>
              <a:rPr lang="en-US" altLang="en-US" smtClean="0"/>
              <a:t> wants </a:t>
            </a:r>
            <a:r>
              <a:rPr lang="en-US" altLang="en-US" b="1" i="1" smtClean="0"/>
              <a:t>k</a:t>
            </a:r>
            <a:r>
              <a:rPr lang="en-US" altLang="en-US" smtClean="0"/>
              <a:t> instances of resource type </a:t>
            </a:r>
            <a:r>
              <a:rPr lang="en-US" altLang="en-US" b="1" i="1" smtClean="0"/>
              <a:t>R</a:t>
            </a:r>
            <a:r>
              <a:rPr lang="en-US" altLang="en-US" b="1" i="1" baseline="-25000" smtClean="0"/>
              <a:t>j</a:t>
            </a:r>
            <a:endParaRPr lang="en-US" altLang="en-US" b="1" baseline="-25000" smtClean="0"/>
          </a:p>
          <a:p>
            <a:pPr lvl="1">
              <a:lnSpc>
                <a:spcPct val="90000"/>
              </a:lnSpc>
              <a:buFont typeface="Monotype Sorts" pitchFamily="-84" charset="2"/>
              <a:buNone/>
            </a:pPr>
            <a:r>
              <a:rPr lang="en-US" altLang="en-US" smtClean="0"/>
              <a:t>1.	If </a:t>
            </a:r>
            <a:r>
              <a:rPr lang="en-US" altLang="en-US" b="1" i="1" smtClean="0"/>
              <a:t>Request</a:t>
            </a:r>
            <a:r>
              <a:rPr lang="en-US" altLang="en-US" b="1" i="1" baseline="-25000" smtClean="0"/>
              <a:t>i</a:t>
            </a:r>
            <a:r>
              <a:rPr lang="en-US" altLang="en-US" b="1" i="1" smtClean="0"/>
              <a:t> </a:t>
            </a:r>
            <a:r>
              <a:rPr lang="en-US" altLang="en-US" b="1" smtClean="0">
                <a:sym typeface="Symbol" pitchFamily="18" charset="2"/>
              </a:rPr>
              <a:t> </a:t>
            </a:r>
            <a:r>
              <a:rPr lang="en-US" altLang="en-US" b="1" i="1" smtClean="0">
                <a:sym typeface="Symbol" pitchFamily="18" charset="2"/>
              </a:rPr>
              <a:t>Need</a:t>
            </a:r>
            <a:r>
              <a:rPr lang="en-US" altLang="en-US" b="1" i="1" baseline="-25000" smtClean="0">
                <a:sym typeface="Symbol" pitchFamily="18" charset="2"/>
              </a:rPr>
              <a:t>i</a:t>
            </a:r>
            <a:r>
              <a:rPr lang="en-US" altLang="en-US" b="1" i="1" smtClean="0">
                <a:sym typeface="Symbol" pitchFamily="18" charset="2"/>
              </a:rPr>
              <a:t> </a:t>
            </a:r>
            <a:r>
              <a:rPr lang="en-US" altLang="en-US" smtClean="0">
                <a:sym typeface="Symbol" pitchFamily="18" charset="2"/>
              </a:rPr>
              <a:t>go to step 2.  Otherwise, raise error condition, since process has exceeded its maximum claim</a:t>
            </a:r>
          </a:p>
          <a:p>
            <a:pPr lvl="1">
              <a:lnSpc>
                <a:spcPct val="90000"/>
              </a:lnSpc>
              <a:buFont typeface="Monotype Sorts" pitchFamily="-84" charset="2"/>
              <a:buNone/>
            </a:pPr>
            <a:r>
              <a:rPr lang="en-US" altLang="en-US" smtClean="0">
                <a:sym typeface="Symbol" pitchFamily="18" charset="2"/>
              </a:rPr>
              <a:t>2.	If </a:t>
            </a:r>
            <a:r>
              <a:rPr lang="en-US" altLang="en-US" b="1" i="1" smtClean="0"/>
              <a:t>Request</a:t>
            </a:r>
            <a:r>
              <a:rPr lang="en-US" altLang="en-US" b="1" i="1" baseline="-25000" smtClean="0"/>
              <a:t>i</a:t>
            </a:r>
            <a:r>
              <a:rPr lang="en-US" altLang="en-US" b="1" smtClean="0"/>
              <a:t> </a:t>
            </a:r>
            <a:r>
              <a:rPr lang="en-US" altLang="en-US" b="1" smtClean="0">
                <a:sym typeface="Symbol" pitchFamily="18" charset="2"/>
              </a:rPr>
              <a:t> </a:t>
            </a:r>
            <a:r>
              <a:rPr lang="en-US" altLang="en-US" b="1" i="1" smtClean="0">
                <a:sym typeface="Symbol" pitchFamily="18" charset="2"/>
              </a:rPr>
              <a:t>Available</a:t>
            </a:r>
            <a:r>
              <a:rPr lang="en-US" altLang="en-US" smtClean="0">
                <a:sym typeface="Symbol" pitchFamily="18" charset="2"/>
              </a:rPr>
              <a:t>, go to step 3.  Otherwise </a:t>
            </a:r>
            <a:r>
              <a:rPr lang="en-US" altLang="en-US" b="1" i="1" smtClean="0">
                <a:sym typeface="Symbol" pitchFamily="18" charset="2"/>
              </a:rPr>
              <a:t>P</a:t>
            </a:r>
            <a:r>
              <a:rPr lang="en-US" altLang="en-US" b="1" i="1" baseline="-25000" smtClean="0">
                <a:sym typeface="Symbol" pitchFamily="18" charset="2"/>
              </a:rPr>
              <a:t>i</a:t>
            </a:r>
            <a:r>
              <a:rPr lang="en-US" altLang="en-US" smtClean="0">
                <a:sym typeface="Symbol" pitchFamily="18" charset="2"/>
              </a:rPr>
              <a:t>  must wait, since resources are not available</a:t>
            </a:r>
          </a:p>
          <a:p>
            <a:pPr lvl="1">
              <a:lnSpc>
                <a:spcPct val="90000"/>
              </a:lnSpc>
              <a:buFont typeface="Monotype Sorts" pitchFamily="-84" charset="2"/>
              <a:buNone/>
            </a:pPr>
            <a:r>
              <a:rPr lang="en-US" altLang="en-US" smtClean="0">
                <a:sym typeface="Symbol" pitchFamily="18" charset="2"/>
              </a:rPr>
              <a:t>3.	Pretend to allocate requested resources to </a:t>
            </a:r>
            <a:r>
              <a:rPr lang="en-US" altLang="en-US" b="1" i="1" smtClean="0">
                <a:sym typeface="Symbol" pitchFamily="18" charset="2"/>
              </a:rPr>
              <a:t>P</a:t>
            </a:r>
            <a:r>
              <a:rPr lang="en-US" altLang="en-US" b="1" i="1" baseline="-25000" smtClean="0">
                <a:sym typeface="Symbol" pitchFamily="18" charset="2"/>
              </a:rPr>
              <a:t>i</a:t>
            </a:r>
            <a:r>
              <a:rPr lang="en-US" altLang="en-US" smtClean="0">
                <a:sym typeface="Symbol" pitchFamily="18" charset="2"/>
              </a:rPr>
              <a:t> by modifying the state as follows:</a:t>
            </a:r>
          </a:p>
          <a:p>
            <a:pPr lvl="3">
              <a:lnSpc>
                <a:spcPct val="90000"/>
              </a:lnSpc>
              <a:buFontTx/>
              <a:buNone/>
            </a:pPr>
            <a:r>
              <a:rPr lang="en-US" altLang="en-US" smtClean="0">
                <a:sym typeface="Symbol" pitchFamily="18" charset="2"/>
              </a:rPr>
              <a:t>		</a:t>
            </a:r>
            <a:r>
              <a:rPr lang="en-US" altLang="en-US" b="1" i="1" smtClean="0">
                <a:sym typeface="Symbol" pitchFamily="18" charset="2"/>
              </a:rPr>
              <a:t>Available</a:t>
            </a:r>
            <a:r>
              <a:rPr lang="en-US" altLang="en-US" b="1" smtClean="0">
                <a:sym typeface="Symbol" pitchFamily="18" charset="2"/>
              </a:rPr>
              <a:t> = </a:t>
            </a:r>
            <a:r>
              <a:rPr lang="en-US" altLang="en-US" b="1" i="1" smtClean="0">
                <a:sym typeface="Symbol" pitchFamily="18" charset="2"/>
              </a:rPr>
              <a:t>Available  </a:t>
            </a:r>
            <a:r>
              <a:rPr lang="en-US" altLang="en-US" b="1" smtClean="0">
                <a:sym typeface="Symbol" pitchFamily="18" charset="2"/>
              </a:rPr>
              <a:t>–</a:t>
            </a:r>
            <a:r>
              <a:rPr lang="en-US" altLang="en-US" b="1" i="1" smtClean="0">
                <a:sym typeface="Symbol" pitchFamily="18" charset="2"/>
              </a:rPr>
              <a:t> Request</a:t>
            </a:r>
            <a:r>
              <a:rPr lang="en-US" altLang="en-US" b="1" i="1" baseline="-25000" smtClean="0">
                <a:sym typeface="Symbol" pitchFamily="18" charset="2"/>
              </a:rPr>
              <a:t>i</a:t>
            </a:r>
            <a:r>
              <a:rPr lang="en-US" altLang="en-US" b="1" i="1" smtClean="0">
                <a:sym typeface="Symbol" pitchFamily="18" charset="2"/>
              </a:rPr>
              <a:t>;</a:t>
            </a:r>
          </a:p>
          <a:p>
            <a:pPr lvl="3">
              <a:lnSpc>
                <a:spcPct val="90000"/>
              </a:lnSpc>
              <a:buFontTx/>
              <a:buNone/>
            </a:pPr>
            <a:r>
              <a:rPr lang="en-US" altLang="en-US" b="1" smtClean="0">
                <a:sym typeface="Symbol" pitchFamily="18" charset="2"/>
              </a:rPr>
              <a:t>		</a:t>
            </a:r>
            <a:r>
              <a:rPr lang="en-US" altLang="en-US" b="1" i="1" smtClean="0">
                <a:sym typeface="Symbol" pitchFamily="18" charset="2"/>
              </a:rPr>
              <a:t>Allocation</a:t>
            </a:r>
            <a:r>
              <a:rPr lang="en-US" altLang="en-US" b="1" i="1" baseline="-25000" smtClean="0">
                <a:sym typeface="Symbol" pitchFamily="18" charset="2"/>
              </a:rPr>
              <a:t>i</a:t>
            </a:r>
            <a:r>
              <a:rPr lang="en-US" altLang="en-US" b="1" baseline="-25000" smtClean="0">
                <a:sym typeface="Symbol" pitchFamily="18" charset="2"/>
              </a:rPr>
              <a:t> </a:t>
            </a:r>
            <a:r>
              <a:rPr lang="en-US" altLang="en-US" b="1" smtClean="0">
                <a:sym typeface="Symbol" pitchFamily="18" charset="2"/>
              </a:rPr>
              <a:t>= </a:t>
            </a:r>
            <a:r>
              <a:rPr lang="en-US" altLang="en-US" b="1" i="1" smtClean="0">
                <a:sym typeface="Symbol" pitchFamily="18" charset="2"/>
              </a:rPr>
              <a:t>Allocation</a:t>
            </a:r>
            <a:r>
              <a:rPr lang="en-US" altLang="en-US" b="1" i="1" baseline="-25000" smtClean="0">
                <a:sym typeface="Symbol" pitchFamily="18" charset="2"/>
              </a:rPr>
              <a:t>i</a:t>
            </a:r>
            <a:r>
              <a:rPr lang="en-US" altLang="en-US" b="1" smtClean="0">
                <a:sym typeface="Symbol" pitchFamily="18" charset="2"/>
              </a:rPr>
              <a:t> + </a:t>
            </a:r>
            <a:r>
              <a:rPr lang="en-US" altLang="en-US" b="1" i="1" smtClean="0">
                <a:sym typeface="Symbol" pitchFamily="18" charset="2"/>
              </a:rPr>
              <a:t>Request</a:t>
            </a:r>
            <a:r>
              <a:rPr lang="en-US" altLang="en-US" b="1" i="1" baseline="-25000" smtClean="0">
                <a:sym typeface="Symbol" pitchFamily="18" charset="2"/>
              </a:rPr>
              <a:t>i</a:t>
            </a:r>
            <a:r>
              <a:rPr lang="en-US" altLang="en-US" b="1" smtClean="0">
                <a:sym typeface="Symbol" pitchFamily="18" charset="2"/>
              </a:rPr>
              <a:t>;</a:t>
            </a:r>
          </a:p>
          <a:p>
            <a:pPr lvl="3">
              <a:lnSpc>
                <a:spcPct val="90000"/>
              </a:lnSpc>
              <a:buFontTx/>
              <a:buNone/>
            </a:pPr>
            <a:r>
              <a:rPr lang="en-US" altLang="en-US" b="1" smtClean="0">
                <a:sym typeface="Symbol" pitchFamily="18" charset="2"/>
              </a:rPr>
              <a:t>		</a:t>
            </a:r>
            <a:r>
              <a:rPr lang="en-US" altLang="en-US" b="1" i="1" smtClean="0">
                <a:sym typeface="Symbol" pitchFamily="18" charset="2"/>
              </a:rPr>
              <a:t>Need</a:t>
            </a:r>
            <a:r>
              <a:rPr lang="en-US" altLang="en-US" b="1" i="1" baseline="-25000" smtClean="0">
                <a:sym typeface="Symbol" pitchFamily="18" charset="2"/>
              </a:rPr>
              <a:t>i</a:t>
            </a:r>
            <a:r>
              <a:rPr lang="en-US" altLang="en-US" b="1" i="1" smtClean="0">
                <a:sym typeface="Symbol" pitchFamily="18" charset="2"/>
              </a:rPr>
              <a:t> </a:t>
            </a:r>
            <a:r>
              <a:rPr lang="en-US" altLang="en-US" b="1" smtClean="0">
                <a:sym typeface="Symbol" pitchFamily="18" charset="2"/>
              </a:rPr>
              <a:t>=</a:t>
            </a:r>
            <a:r>
              <a:rPr lang="en-US" altLang="en-US" b="1" i="1" smtClean="0">
                <a:sym typeface="Symbol" pitchFamily="18" charset="2"/>
              </a:rPr>
              <a:t> Need</a:t>
            </a:r>
            <a:r>
              <a:rPr lang="en-US" altLang="en-US" b="1" i="1" baseline="-25000" smtClean="0">
                <a:sym typeface="Symbol" pitchFamily="18" charset="2"/>
              </a:rPr>
              <a:t>i</a:t>
            </a:r>
            <a:r>
              <a:rPr lang="en-US" altLang="en-US" b="1" smtClean="0">
                <a:sym typeface="Symbol" pitchFamily="18" charset="2"/>
              </a:rPr>
              <a:t> – </a:t>
            </a:r>
            <a:r>
              <a:rPr lang="en-US" altLang="en-US" b="1" i="1" smtClean="0">
                <a:sym typeface="Symbol" pitchFamily="18" charset="2"/>
              </a:rPr>
              <a:t>Request</a:t>
            </a:r>
            <a:r>
              <a:rPr lang="en-US" altLang="en-US" b="1" i="1" baseline="-25000" smtClean="0">
                <a:sym typeface="Symbol" pitchFamily="18" charset="2"/>
              </a:rPr>
              <a:t>i</a:t>
            </a:r>
            <a:r>
              <a:rPr lang="en-US" altLang="en-US" b="1" i="1" smtClean="0">
                <a:sym typeface="Symbol" pitchFamily="18" charset="2"/>
              </a:rPr>
              <a:t>;</a:t>
            </a:r>
          </a:p>
          <a:p>
            <a:pPr lvl="2">
              <a:lnSpc>
                <a:spcPct val="90000"/>
              </a:lnSpc>
              <a:buClr>
                <a:srgbClr val="CC6600"/>
              </a:buClr>
              <a:buSzPct val="80000"/>
              <a:buFont typeface="Monotype Sorts" pitchFamily="-84" charset="2"/>
              <a:buChar char="l"/>
            </a:pPr>
            <a:r>
              <a:rPr lang="en-US" altLang="en-US" smtClean="0">
                <a:sym typeface="Symbol" pitchFamily="18" charset="2"/>
              </a:rPr>
              <a:t>If safe  the resources are allocated to </a:t>
            </a:r>
            <a:r>
              <a:rPr lang="en-US" altLang="en-US" b="1" i="1" smtClean="0">
                <a:sym typeface="Symbol" pitchFamily="18" charset="2"/>
              </a:rPr>
              <a:t>P</a:t>
            </a:r>
            <a:r>
              <a:rPr lang="en-US" altLang="en-US" b="1" i="1" baseline="-25000" smtClean="0">
                <a:sym typeface="Symbol" pitchFamily="18" charset="2"/>
              </a:rPr>
              <a:t>i</a:t>
            </a:r>
          </a:p>
          <a:p>
            <a:pPr lvl="2">
              <a:lnSpc>
                <a:spcPct val="90000"/>
              </a:lnSpc>
              <a:buClr>
                <a:srgbClr val="CC6600"/>
              </a:buClr>
              <a:buSzPct val="80000"/>
              <a:buFont typeface="Monotype Sorts" pitchFamily="-84" charset="2"/>
              <a:buChar char="l"/>
            </a:pPr>
            <a:r>
              <a:rPr lang="en-US" altLang="en-US" smtClean="0">
                <a:sym typeface="Symbol" pitchFamily="18" charset="2"/>
              </a:rPr>
              <a:t>If unsafe  </a:t>
            </a:r>
            <a:r>
              <a:rPr lang="en-US" altLang="en-US" b="1" i="1" smtClean="0">
                <a:sym typeface="Symbol" pitchFamily="18" charset="2"/>
              </a:rPr>
              <a:t>P</a:t>
            </a:r>
            <a:r>
              <a:rPr lang="en-US" altLang="en-US" b="1" i="1" baseline="-25000" smtClean="0">
                <a:sym typeface="Symbol" pitchFamily="18" charset="2"/>
              </a:rPr>
              <a:t>i</a:t>
            </a:r>
            <a:r>
              <a:rPr lang="en-US" altLang="en-US" smtClean="0">
                <a:sym typeface="Symbol" pitchFamily="18" charset="2"/>
              </a:rPr>
              <a:t> must wait, and the old resource-allocation state is restored</a:t>
            </a:r>
          </a:p>
        </p:txBody>
      </p:sp>
    </p:spTree>
    <p:extLst>
      <p:ext uri="{BB962C8B-B14F-4D97-AF65-F5344CB8AC3E}">
        <p14:creationId xmlns:p14="http://schemas.microsoft.com/office/powerpoint/2010/main" val="17770338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1022350" y="152400"/>
            <a:ext cx="7664450" cy="576263"/>
          </a:xfrm>
        </p:spPr>
        <p:txBody>
          <a:bodyPr>
            <a:normAutofit fontScale="90000"/>
          </a:bodyPr>
          <a:lstStyle/>
          <a:p>
            <a:pPr eaLnBrk="1" hangingPunct="1"/>
            <a:r>
              <a:rPr lang="en-US" altLang="en-US" smtClean="0"/>
              <a:t>Example of Banker</a:t>
            </a:r>
            <a:r>
              <a:rPr lang="ja-JP" altLang="en-US" smtClean="0"/>
              <a:t>’</a:t>
            </a:r>
            <a:r>
              <a:rPr lang="en-US" altLang="ja-JP" smtClean="0"/>
              <a:t>s Algorithm</a:t>
            </a:r>
            <a:endParaRPr lang="en-US" altLang="en-US" smtClean="0"/>
          </a:p>
        </p:txBody>
      </p:sp>
      <p:sp>
        <p:nvSpPr>
          <p:cNvPr id="33795" name="Rectangle 3"/>
          <p:cNvSpPr>
            <a:spLocks noGrp="1" noChangeArrowheads="1"/>
          </p:cNvSpPr>
          <p:nvPr>
            <p:ph type="body" idx="1"/>
          </p:nvPr>
        </p:nvSpPr>
        <p:spPr>
          <a:xfrm>
            <a:off x="852488" y="1360488"/>
            <a:ext cx="7923212" cy="4540250"/>
          </a:xfrm>
        </p:spPr>
        <p:txBody>
          <a:bodyPr>
            <a:normAutofit fontScale="92500" lnSpcReduction="10000"/>
          </a:bodyPr>
          <a:lstStyle/>
          <a:p>
            <a:pPr>
              <a:tabLst>
                <a:tab pos="1371600" algn="l"/>
                <a:tab pos="2395538" algn="ctr"/>
                <a:tab pos="3594100" algn="ctr"/>
                <a:tab pos="4805363" algn="ctr"/>
              </a:tabLst>
            </a:pPr>
            <a:r>
              <a:rPr lang="en-US" altLang="en-US" smtClean="0"/>
              <a:t>5 processes </a:t>
            </a:r>
            <a:r>
              <a:rPr lang="en-US" altLang="en-US" i="1" smtClean="0"/>
              <a:t>P</a:t>
            </a:r>
            <a:r>
              <a:rPr lang="en-US" altLang="en-US" baseline="-25000" smtClean="0"/>
              <a:t>0  </a:t>
            </a:r>
            <a:r>
              <a:rPr lang="en-US" altLang="en-US" smtClean="0"/>
              <a:t>through </a:t>
            </a:r>
            <a:r>
              <a:rPr lang="en-US" altLang="en-US" i="1" smtClean="0"/>
              <a:t>P</a:t>
            </a:r>
            <a:r>
              <a:rPr lang="en-US" altLang="en-US" baseline="-25000" smtClean="0"/>
              <a:t>4</a:t>
            </a:r>
            <a:r>
              <a:rPr lang="en-US" altLang="en-US" smtClean="0"/>
              <a:t>; </a:t>
            </a:r>
          </a:p>
          <a:p>
            <a:pPr>
              <a:buFont typeface="Monotype Sorts" pitchFamily="-84" charset="2"/>
              <a:buNone/>
              <a:tabLst>
                <a:tab pos="1371600" algn="l"/>
                <a:tab pos="2395538" algn="ctr"/>
                <a:tab pos="3594100" algn="ctr"/>
                <a:tab pos="4805363" algn="ctr"/>
              </a:tabLst>
            </a:pPr>
            <a:r>
              <a:rPr lang="en-US" altLang="en-US" smtClean="0"/>
              <a:t>      3 resource types:</a:t>
            </a:r>
          </a:p>
          <a:p>
            <a:pPr>
              <a:buFont typeface="Monotype Sorts" pitchFamily="-84" charset="2"/>
              <a:buNone/>
              <a:tabLst>
                <a:tab pos="1371600" algn="l"/>
                <a:tab pos="2395538" algn="ctr"/>
                <a:tab pos="3594100" algn="ctr"/>
                <a:tab pos="4805363" algn="ctr"/>
              </a:tabLst>
            </a:pPr>
            <a:r>
              <a:rPr lang="en-US" altLang="en-US" smtClean="0"/>
              <a:t>              </a:t>
            </a:r>
            <a:r>
              <a:rPr lang="en-US" altLang="en-US" i="1" smtClean="0"/>
              <a:t>A</a:t>
            </a:r>
            <a:r>
              <a:rPr lang="en-US" altLang="en-US" smtClean="0"/>
              <a:t> (10 instances),  </a:t>
            </a:r>
            <a:r>
              <a:rPr lang="en-US" altLang="en-US" i="1" smtClean="0"/>
              <a:t>B</a:t>
            </a:r>
            <a:r>
              <a:rPr lang="en-US" altLang="en-US" smtClean="0"/>
              <a:t> (5instances), and </a:t>
            </a:r>
            <a:r>
              <a:rPr lang="en-US" altLang="en-US" i="1" smtClean="0"/>
              <a:t>C</a:t>
            </a:r>
            <a:r>
              <a:rPr lang="en-US" altLang="en-US" smtClean="0"/>
              <a:t> (7 instances)</a:t>
            </a:r>
          </a:p>
          <a:p>
            <a:pPr>
              <a:tabLst>
                <a:tab pos="1371600" algn="l"/>
                <a:tab pos="2395538" algn="ctr"/>
                <a:tab pos="3594100" algn="ctr"/>
                <a:tab pos="4805363" algn="ctr"/>
              </a:tabLst>
            </a:pPr>
            <a:r>
              <a:rPr lang="en-US" altLang="en-US" smtClean="0"/>
              <a:t>Snapshot at time </a:t>
            </a:r>
            <a:r>
              <a:rPr lang="en-US" altLang="en-US" i="1" smtClean="0"/>
              <a:t>T</a:t>
            </a:r>
            <a:r>
              <a:rPr lang="en-US" altLang="en-US" baseline="-25000" smtClean="0"/>
              <a:t>0</a:t>
            </a:r>
            <a:r>
              <a:rPr lang="en-US" altLang="en-US" smtClean="0"/>
              <a:t>:</a:t>
            </a:r>
          </a:p>
          <a:p>
            <a:pPr>
              <a:buFont typeface="Monotype Sorts" pitchFamily="-84" charset="2"/>
              <a:buNone/>
              <a:tabLst>
                <a:tab pos="1371600" algn="l"/>
                <a:tab pos="2395538" algn="ctr"/>
                <a:tab pos="3594100" algn="ctr"/>
                <a:tab pos="4805363" algn="ctr"/>
              </a:tabLst>
            </a:pPr>
            <a:r>
              <a:rPr lang="en-US" altLang="en-US" smtClean="0"/>
              <a:t>			</a:t>
            </a:r>
            <a:r>
              <a:rPr lang="en-US" altLang="en-US" i="1" u="sng" smtClean="0"/>
              <a:t>Allocation</a:t>
            </a:r>
            <a:r>
              <a:rPr lang="en-US" altLang="en-US" i="1" smtClean="0"/>
              <a:t>	  </a:t>
            </a:r>
            <a:r>
              <a:rPr lang="en-US" altLang="en-US" i="1" u="sng" smtClean="0"/>
              <a:t>Max</a:t>
            </a:r>
            <a:r>
              <a:rPr lang="en-US" altLang="en-US" i="1" smtClean="0"/>
              <a:t>	</a:t>
            </a:r>
            <a:r>
              <a:rPr lang="en-US" altLang="en-US" i="1" u="sng" smtClean="0"/>
              <a:t>Available</a:t>
            </a:r>
            <a:endParaRPr lang="en-US" altLang="en-US" i="1" smtClean="0"/>
          </a:p>
          <a:p>
            <a:pPr>
              <a:buFont typeface="Monotype Sorts" pitchFamily="-84" charset="2"/>
              <a:buNone/>
              <a:tabLst>
                <a:tab pos="1371600" algn="l"/>
                <a:tab pos="2395538" algn="ctr"/>
                <a:tab pos="3594100" algn="ctr"/>
                <a:tab pos="4805363" algn="ctr"/>
              </a:tabLst>
            </a:pPr>
            <a:r>
              <a:rPr lang="en-US" altLang="en-US" i="1" smtClean="0"/>
              <a:t>			A B C	       A B C 	A B C</a:t>
            </a:r>
          </a:p>
          <a:p>
            <a:pPr>
              <a:buFont typeface="Monotype Sorts" pitchFamily="-84" charset="2"/>
              <a:buNone/>
              <a:tabLst>
                <a:tab pos="1371600" algn="l"/>
                <a:tab pos="2395538" algn="ctr"/>
                <a:tab pos="3594100" algn="ctr"/>
                <a:tab pos="4805363" algn="ctr"/>
              </a:tabLst>
            </a:pPr>
            <a:r>
              <a:rPr lang="en-US" altLang="en-US" smtClean="0"/>
              <a:t>		</a:t>
            </a:r>
            <a:r>
              <a:rPr lang="en-US" altLang="en-US" i="1" smtClean="0"/>
              <a:t>P</a:t>
            </a:r>
            <a:r>
              <a:rPr lang="en-US" altLang="en-US" baseline="-25000" smtClean="0"/>
              <a:t>0	</a:t>
            </a:r>
            <a:r>
              <a:rPr lang="en-US" altLang="en-US" smtClean="0"/>
              <a:t>0 1 0	         7 5 3 	3 3 2</a:t>
            </a:r>
          </a:p>
          <a:p>
            <a:pPr>
              <a:buFont typeface="Monotype Sorts" pitchFamily="-84" charset="2"/>
              <a:buNone/>
              <a:tabLst>
                <a:tab pos="1371600" algn="l"/>
                <a:tab pos="2395538" algn="ctr"/>
                <a:tab pos="3594100" algn="ctr"/>
                <a:tab pos="4805363" algn="ctr"/>
              </a:tabLst>
            </a:pPr>
            <a:r>
              <a:rPr lang="en-US" altLang="en-US" smtClean="0"/>
              <a:t>		 </a:t>
            </a:r>
            <a:r>
              <a:rPr lang="en-US" altLang="en-US" i="1" smtClean="0"/>
              <a:t>P</a:t>
            </a:r>
            <a:r>
              <a:rPr lang="en-US" altLang="en-US" baseline="-25000" smtClean="0"/>
              <a:t>1	</a:t>
            </a:r>
            <a:r>
              <a:rPr lang="en-US" altLang="en-US" smtClean="0"/>
              <a:t>2 0 0 	        3 2 2  </a:t>
            </a:r>
          </a:p>
          <a:p>
            <a:pPr>
              <a:buFont typeface="Monotype Sorts" pitchFamily="-84" charset="2"/>
              <a:buNone/>
              <a:tabLst>
                <a:tab pos="1371600" algn="l"/>
                <a:tab pos="2395538" algn="ctr"/>
                <a:tab pos="3594100" algn="ctr"/>
                <a:tab pos="4805363" algn="ctr"/>
              </a:tabLst>
            </a:pPr>
            <a:r>
              <a:rPr lang="en-US" altLang="en-US" smtClean="0"/>
              <a:t>		 </a:t>
            </a:r>
            <a:r>
              <a:rPr lang="en-US" altLang="en-US" i="1" smtClean="0"/>
              <a:t>P</a:t>
            </a:r>
            <a:r>
              <a:rPr lang="en-US" altLang="en-US" baseline="-25000" smtClean="0"/>
              <a:t>2</a:t>
            </a:r>
            <a:r>
              <a:rPr lang="en-US" altLang="en-US" smtClean="0"/>
              <a:t>	3 0 2 	        9 0 2</a:t>
            </a:r>
          </a:p>
          <a:p>
            <a:pPr>
              <a:buFont typeface="Monotype Sorts" pitchFamily="-84" charset="2"/>
              <a:buNone/>
              <a:tabLst>
                <a:tab pos="1371600" algn="l"/>
                <a:tab pos="2395538" algn="ctr"/>
                <a:tab pos="3594100" algn="ctr"/>
                <a:tab pos="4805363" algn="ctr"/>
              </a:tabLst>
            </a:pPr>
            <a:r>
              <a:rPr lang="en-US" altLang="en-US" smtClean="0"/>
              <a:t>		 </a:t>
            </a:r>
            <a:r>
              <a:rPr lang="en-US" altLang="en-US" i="1" smtClean="0"/>
              <a:t>P</a:t>
            </a:r>
            <a:r>
              <a:rPr lang="en-US" altLang="en-US" baseline="-25000" smtClean="0"/>
              <a:t>3</a:t>
            </a:r>
            <a:r>
              <a:rPr lang="en-US" altLang="en-US" smtClean="0"/>
              <a:t>	2 1 1 	        2 2 2</a:t>
            </a:r>
          </a:p>
          <a:p>
            <a:pPr>
              <a:buFont typeface="Monotype Sorts" pitchFamily="-84" charset="2"/>
              <a:buNone/>
              <a:tabLst>
                <a:tab pos="1371600" algn="l"/>
                <a:tab pos="2395538" algn="ctr"/>
                <a:tab pos="3594100" algn="ctr"/>
                <a:tab pos="4805363" algn="ctr"/>
              </a:tabLst>
            </a:pPr>
            <a:r>
              <a:rPr lang="en-US" altLang="en-US" smtClean="0"/>
              <a:t>		 </a:t>
            </a:r>
            <a:r>
              <a:rPr lang="en-US" altLang="en-US" i="1" smtClean="0"/>
              <a:t>P</a:t>
            </a:r>
            <a:r>
              <a:rPr lang="en-US" altLang="en-US" baseline="-25000" smtClean="0"/>
              <a:t>4</a:t>
            </a:r>
            <a:r>
              <a:rPr lang="en-US" altLang="en-US" smtClean="0"/>
              <a:t>	0 0 2	         4 3 3  		</a:t>
            </a:r>
          </a:p>
        </p:txBody>
      </p:sp>
    </p:spTree>
    <p:extLst>
      <p:ext uri="{BB962C8B-B14F-4D97-AF65-F5344CB8AC3E}">
        <p14:creationId xmlns:p14="http://schemas.microsoft.com/office/powerpoint/2010/main" val="2503389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US" altLang="en-US" smtClean="0"/>
              <a:t>Example (Cont.)</a:t>
            </a:r>
          </a:p>
        </p:txBody>
      </p:sp>
      <p:sp>
        <p:nvSpPr>
          <p:cNvPr id="34819" name="Rectangle 3"/>
          <p:cNvSpPr>
            <a:spLocks noGrp="1" noChangeArrowheads="1"/>
          </p:cNvSpPr>
          <p:nvPr>
            <p:ph type="body" idx="1"/>
          </p:nvPr>
        </p:nvSpPr>
        <p:spPr>
          <a:xfrm>
            <a:off x="931863" y="1136650"/>
            <a:ext cx="7724775" cy="4640263"/>
          </a:xfrm>
        </p:spPr>
        <p:txBody>
          <a:bodyPr>
            <a:normAutofit fontScale="92500" lnSpcReduction="20000"/>
          </a:bodyPr>
          <a:lstStyle/>
          <a:p>
            <a:pPr>
              <a:tabLst>
                <a:tab pos="2452688" algn="l"/>
                <a:tab pos="3492500" algn="ctr"/>
              </a:tabLst>
            </a:pPr>
            <a:r>
              <a:rPr lang="en-US" altLang="en-US" dirty="0" smtClean="0"/>
              <a:t>The content of the matrix </a:t>
            </a:r>
            <a:r>
              <a:rPr lang="en-US" altLang="en-US" b="1" i="1" dirty="0" smtClean="0"/>
              <a:t>Need</a:t>
            </a:r>
            <a:r>
              <a:rPr lang="en-US" altLang="en-US" dirty="0" smtClean="0"/>
              <a:t> is defined to be </a:t>
            </a:r>
            <a:r>
              <a:rPr lang="en-US" altLang="en-US" b="1" i="1" dirty="0" smtClean="0"/>
              <a:t>Max</a:t>
            </a:r>
            <a:r>
              <a:rPr lang="en-US" altLang="en-US" b="1" dirty="0" smtClean="0"/>
              <a:t> – </a:t>
            </a:r>
            <a:r>
              <a:rPr lang="en-US" altLang="en-US" b="1" i="1" dirty="0" smtClean="0"/>
              <a:t>Allocation</a:t>
            </a:r>
            <a:endParaRPr lang="en-US" altLang="en-US" b="1" dirty="0" smtClean="0"/>
          </a:p>
          <a:p>
            <a:pPr>
              <a:buFont typeface="Monotype Sorts" pitchFamily="-84" charset="2"/>
              <a:buNone/>
              <a:tabLst>
                <a:tab pos="2452688" algn="l"/>
                <a:tab pos="3492500" algn="ctr"/>
              </a:tabLst>
            </a:pPr>
            <a:r>
              <a:rPr lang="en-US" altLang="en-US" dirty="0" smtClean="0"/>
              <a:t>			</a:t>
            </a:r>
            <a:r>
              <a:rPr lang="en-US" altLang="en-US" i="1" u="sng" dirty="0" smtClean="0"/>
              <a:t>Need</a:t>
            </a:r>
            <a:endParaRPr lang="en-US" altLang="en-US" u="sng" dirty="0" smtClean="0"/>
          </a:p>
          <a:p>
            <a:pPr>
              <a:buFont typeface="Monotype Sorts" pitchFamily="-84" charset="2"/>
              <a:buNone/>
              <a:tabLst>
                <a:tab pos="2452688" algn="l"/>
                <a:tab pos="3492500" algn="ctr"/>
              </a:tabLst>
            </a:pPr>
            <a:r>
              <a:rPr lang="en-US" altLang="en-US" dirty="0" smtClean="0"/>
              <a:t>			</a:t>
            </a:r>
            <a:r>
              <a:rPr lang="en-US" altLang="en-US" i="1" dirty="0" smtClean="0"/>
              <a:t>A B C</a:t>
            </a:r>
          </a:p>
          <a:p>
            <a:pPr>
              <a:buFont typeface="Monotype Sorts" pitchFamily="-84" charset="2"/>
              <a:buNone/>
              <a:tabLst>
                <a:tab pos="2452688" algn="l"/>
                <a:tab pos="3492500" algn="ctr"/>
              </a:tabLst>
            </a:pPr>
            <a:r>
              <a:rPr lang="en-US" altLang="en-US" dirty="0" smtClean="0"/>
              <a:t>		 </a:t>
            </a:r>
            <a:r>
              <a:rPr lang="en-US" altLang="en-US" i="1" dirty="0" smtClean="0"/>
              <a:t>P</a:t>
            </a:r>
            <a:r>
              <a:rPr lang="en-US" altLang="en-US" baseline="-25000" dirty="0" smtClean="0"/>
              <a:t>0	</a:t>
            </a:r>
            <a:r>
              <a:rPr lang="en-US" altLang="en-US" dirty="0" smtClean="0"/>
              <a:t>7 4 3 </a:t>
            </a:r>
          </a:p>
          <a:p>
            <a:pPr>
              <a:buFont typeface="Monotype Sorts" pitchFamily="-84" charset="2"/>
              <a:buNone/>
              <a:tabLst>
                <a:tab pos="2452688" algn="l"/>
                <a:tab pos="3492500" algn="ctr"/>
              </a:tabLst>
            </a:pPr>
            <a:r>
              <a:rPr lang="en-US" altLang="en-US" dirty="0" smtClean="0"/>
              <a:t>		 </a:t>
            </a:r>
            <a:r>
              <a:rPr lang="en-US" altLang="en-US" i="1" dirty="0" smtClean="0"/>
              <a:t>P</a:t>
            </a:r>
            <a:r>
              <a:rPr lang="en-US" altLang="en-US" baseline="-25000" dirty="0" smtClean="0"/>
              <a:t>1	</a:t>
            </a:r>
            <a:r>
              <a:rPr lang="en-US" altLang="en-US" dirty="0" smtClean="0"/>
              <a:t>1 2 2 </a:t>
            </a:r>
          </a:p>
          <a:p>
            <a:pPr>
              <a:buFont typeface="Monotype Sorts" pitchFamily="-84" charset="2"/>
              <a:buNone/>
              <a:tabLst>
                <a:tab pos="2452688" algn="l"/>
                <a:tab pos="3492500" algn="ctr"/>
              </a:tabLst>
            </a:pPr>
            <a:r>
              <a:rPr lang="en-US" altLang="en-US" dirty="0" smtClean="0"/>
              <a:t>		 </a:t>
            </a:r>
            <a:r>
              <a:rPr lang="en-US" altLang="en-US" i="1" dirty="0" smtClean="0"/>
              <a:t>P</a:t>
            </a:r>
            <a:r>
              <a:rPr lang="en-US" altLang="en-US" baseline="-25000" dirty="0" smtClean="0"/>
              <a:t>2</a:t>
            </a:r>
            <a:r>
              <a:rPr lang="en-US" altLang="en-US" dirty="0" smtClean="0"/>
              <a:t>	6 0 0 </a:t>
            </a:r>
          </a:p>
          <a:p>
            <a:pPr>
              <a:buFont typeface="Monotype Sorts" pitchFamily="-84" charset="2"/>
              <a:buNone/>
              <a:tabLst>
                <a:tab pos="2452688" algn="l"/>
                <a:tab pos="3492500" algn="ctr"/>
              </a:tabLst>
            </a:pPr>
            <a:r>
              <a:rPr lang="en-US" altLang="en-US" dirty="0" smtClean="0"/>
              <a:t>		 </a:t>
            </a:r>
            <a:r>
              <a:rPr lang="en-US" altLang="en-US" i="1" dirty="0" smtClean="0"/>
              <a:t>P</a:t>
            </a:r>
            <a:r>
              <a:rPr lang="en-US" altLang="en-US" baseline="-25000" dirty="0" smtClean="0"/>
              <a:t>3</a:t>
            </a:r>
            <a:r>
              <a:rPr lang="en-US" altLang="en-US" dirty="0" smtClean="0"/>
              <a:t>	0 1 1</a:t>
            </a:r>
          </a:p>
          <a:p>
            <a:pPr>
              <a:buFont typeface="Monotype Sorts" pitchFamily="-84" charset="2"/>
              <a:buNone/>
              <a:tabLst>
                <a:tab pos="2452688" algn="l"/>
                <a:tab pos="3492500" algn="ctr"/>
              </a:tabLst>
            </a:pPr>
            <a:r>
              <a:rPr lang="en-US" altLang="en-US" dirty="0" smtClean="0"/>
              <a:t>		 </a:t>
            </a:r>
            <a:r>
              <a:rPr lang="en-US" altLang="en-US" i="1" dirty="0" smtClean="0"/>
              <a:t>P</a:t>
            </a:r>
            <a:r>
              <a:rPr lang="en-US" altLang="en-US" baseline="-25000" dirty="0" smtClean="0"/>
              <a:t>4</a:t>
            </a:r>
            <a:r>
              <a:rPr lang="en-US" altLang="en-US" dirty="0" smtClean="0"/>
              <a:t>	4 3 1 </a:t>
            </a:r>
            <a:br>
              <a:rPr lang="en-US" altLang="en-US" dirty="0" smtClean="0"/>
            </a:br>
            <a:endParaRPr lang="en-US" altLang="en-US" dirty="0" smtClean="0"/>
          </a:p>
          <a:p>
            <a:pPr>
              <a:tabLst>
                <a:tab pos="2452688" algn="l"/>
                <a:tab pos="3492500" algn="ctr"/>
              </a:tabLst>
            </a:pPr>
            <a:r>
              <a:rPr lang="en-US" altLang="en-US" dirty="0" smtClean="0"/>
              <a:t>The system is in a safe state since the sequence &lt; </a:t>
            </a:r>
            <a:r>
              <a:rPr lang="en-US" altLang="en-US" i="1" dirty="0" smtClean="0"/>
              <a:t>P</a:t>
            </a:r>
            <a:r>
              <a:rPr lang="en-US" altLang="en-US" baseline="-25000" dirty="0" smtClean="0"/>
              <a:t>1</a:t>
            </a:r>
            <a:r>
              <a:rPr lang="en-US" altLang="en-US" dirty="0" smtClean="0"/>
              <a:t>, </a:t>
            </a:r>
            <a:r>
              <a:rPr lang="en-US" altLang="en-US" i="1" dirty="0" smtClean="0"/>
              <a:t>P</a:t>
            </a:r>
            <a:r>
              <a:rPr lang="en-US" altLang="en-US" baseline="-25000" dirty="0" smtClean="0"/>
              <a:t>3</a:t>
            </a:r>
            <a:r>
              <a:rPr lang="en-US" altLang="en-US" dirty="0" smtClean="0"/>
              <a:t>, </a:t>
            </a:r>
            <a:r>
              <a:rPr lang="en-US" altLang="en-US" i="1" dirty="0" smtClean="0"/>
              <a:t>P</a:t>
            </a:r>
            <a:r>
              <a:rPr lang="en-US" altLang="en-US" baseline="-25000" dirty="0" smtClean="0"/>
              <a:t>4</a:t>
            </a:r>
            <a:r>
              <a:rPr lang="en-US" altLang="en-US" dirty="0" smtClean="0"/>
              <a:t>, </a:t>
            </a:r>
            <a:r>
              <a:rPr lang="en-US" altLang="en-US" i="1" dirty="0" smtClean="0"/>
              <a:t>P</a:t>
            </a:r>
            <a:r>
              <a:rPr lang="en-US" altLang="en-US" baseline="-25000" dirty="0" smtClean="0"/>
              <a:t>2</a:t>
            </a:r>
            <a:r>
              <a:rPr lang="en-US" altLang="en-US" dirty="0" smtClean="0"/>
              <a:t>, </a:t>
            </a:r>
            <a:r>
              <a:rPr lang="en-US" altLang="en-US" i="1" dirty="0" smtClean="0"/>
              <a:t>P</a:t>
            </a:r>
            <a:r>
              <a:rPr lang="en-US" altLang="en-US" baseline="-25000" dirty="0" smtClean="0"/>
              <a:t>0</a:t>
            </a:r>
            <a:r>
              <a:rPr lang="en-US" altLang="en-US" dirty="0" smtClean="0"/>
              <a:t>&gt; satisfies safety criteria</a:t>
            </a:r>
            <a:endParaRPr lang="en-US" altLang="en-US" baseline="-25000" dirty="0" smtClean="0"/>
          </a:p>
        </p:txBody>
      </p:sp>
    </p:spTree>
    <p:extLst>
      <p:ext uri="{BB962C8B-B14F-4D97-AF65-F5344CB8AC3E}">
        <p14:creationId xmlns:p14="http://schemas.microsoft.com/office/powerpoint/2010/main" val="232656562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817563" y="214313"/>
            <a:ext cx="7869237" cy="576262"/>
          </a:xfrm>
        </p:spPr>
        <p:txBody>
          <a:bodyPr>
            <a:normAutofit fontScale="90000"/>
          </a:bodyPr>
          <a:lstStyle/>
          <a:p>
            <a:pPr eaLnBrk="1" hangingPunct="1"/>
            <a:r>
              <a:rPr lang="en-US" altLang="en-US" smtClean="0"/>
              <a:t>Example:  </a:t>
            </a:r>
            <a:r>
              <a:rPr lang="en-US" altLang="en-US" i="1" smtClean="0"/>
              <a:t>P</a:t>
            </a:r>
            <a:r>
              <a:rPr lang="en-US" altLang="en-US" baseline="-25000" smtClean="0"/>
              <a:t>1</a:t>
            </a:r>
            <a:r>
              <a:rPr lang="en-US" altLang="en-US" smtClean="0"/>
              <a:t> Request (1,0,2)</a:t>
            </a:r>
          </a:p>
        </p:txBody>
      </p:sp>
      <p:sp>
        <p:nvSpPr>
          <p:cNvPr id="35843" name="Rectangle 3"/>
          <p:cNvSpPr>
            <a:spLocks noGrp="1" noChangeArrowheads="1"/>
          </p:cNvSpPr>
          <p:nvPr>
            <p:ph type="body" idx="1"/>
          </p:nvPr>
        </p:nvSpPr>
        <p:spPr>
          <a:xfrm>
            <a:off x="896938" y="1103313"/>
            <a:ext cx="7766050" cy="5103812"/>
          </a:xfrm>
        </p:spPr>
        <p:txBody>
          <a:bodyPr>
            <a:normAutofit fontScale="85000" lnSpcReduction="10000"/>
          </a:bodyPr>
          <a:lstStyle/>
          <a:p>
            <a:pPr>
              <a:tabLst>
                <a:tab pos="1544638" algn="l"/>
                <a:tab pos="2452688" algn="ctr"/>
                <a:tab pos="3767138" algn="ctr"/>
                <a:tab pos="5022850" algn="ctr"/>
              </a:tabLst>
            </a:pPr>
            <a:r>
              <a:rPr lang="en-US" altLang="en-US" smtClean="0"/>
              <a:t>Check that Request </a:t>
            </a:r>
            <a:r>
              <a:rPr lang="en-US" altLang="en-US" smtClean="0">
                <a:sym typeface="Symbol" pitchFamily="18" charset="2"/>
              </a:rPr>
              <a:t> Available (that is, (1,0,2)  (3,3,2)  true</a:t>
            </a:r>
            <a:endParaRPr lang="en-US" altLang="en-US" i="1" smtClean="0">
              <a:sym typeface="Symbol" pitchFamily="18" charset="2"/>
            </a:endParaRPr>
          </a:p>
          <a:p>
            <a:pPr>
              <a:buFont typeface="Monotype Sorts" pitchFamily="-84" charset="2"/>
              <a:buNone/>
              <a:tabLst>
                <a:tab pos="1544638" algn="l"/>
                <a:tab pos="2452688" algn="ctr"/>
                <a:tab pos="3767138" algn="ctr"/>
                <a:tab pos="5022850" algn="ctr"/>
              </a:tabLst>
            </a:pPr>
            <a:r>
              <a:rPr lang="en-US" altLang="en-US" i="1" smtClean="0"/>
              <a:t>			</a:t>
            </a:r>
            <a:r>
              <a:rPr lang="en-US" altLang="en-US" i="1" u="sng" smtClean="0"/>
              <a:t>Allocation</a:t>
            </a:r>
            <a:r>
              <a:rPr lang="en-US" altLang="en-US" i="1" smtClean="0"/>
              <a:t>	</a:t>
            </a:r>
            <a:r>
              <a:rPr lang="en-US" altLang="en-US" i="1" u="sng" smtClean="0"/>
              <a:t>Need</a:t>
            </a:r>
            <a:r>
              <a:rPr lang="en-US" altLang="en-US" i="1" smtClean="0"/>
              <a:t>	   </a:t>
            </a:r>
            <a:r>
              <a:rPr lang="en-US" altLang="en-US" i="1" u="sng" smtClean="0"/>
              <a:t>Available</a:t>
            </a:r>
            <a:endParaRPr lang="en-US" altLang="en-US" i="1" smtClean="0"/>
          </a:p>
          <a:p>
            <a:pPr>
              <a:buFont typeface="Monotype Sorts" pitchFamily="-84" charset="2"/>
              <a:buNone/>
              <a:tabLst>
                <a:tab pos="1544638" algn="l"/>
                <a:tab pos="2452688" algn="ctr"/>
                <a:tab pos="3767138" algn="ctr"/>
                <a:tab pos="5022850" algn="ctr"/>
              </a:tabLst>
            </a:pPr>
            <a:r>
              <a:rPr lang="en-US" altLang="en-US" i="1" smtClean="0"/>
              <a:t>			A B C	A B C	 A B C </a:t>
            </a:r>
          </a:p>
          <a:p>
            <a:pPr>
              <a:buFont typeface="Monotype Sorts" pitchFamily="-84" charset="2"/>
              <a:buNone/>
              <a:tabLst>
                <a:tab pos="1544638" algn="l"/>
                <a:tab pos="2452688" algn="ctr"/>
                <a:tab pos="3767138" algn="ctr"/>
                <a:tab pos="5022850" algn="ctr"/>
              </a:tabLst>
            </a:pPr>
            <a:r>
              <a:rPr lang="en-US" altLang="en-US" smtClean="0"/>
              <a:t>		</a:t>
            </a:r>
            <a:r>
              <a:rPr lang="en-US" altLang="en-US" i="1" smtClean="0"/>
              <a:t>P</a:t>
            </a:r>
            <a:r>
              <a:rPr lang="en-US" altLang="en-US" baseline="-25000" smtClean="0"/>
              <a:t>0</a:t>
            </a:r>
            <a:r>
              <a:rPr lang="en-US" altLang="en-US" smtClean="0"/>
              <a:t>	0 1 0 	7 4 3 	2 3 0</a:t>
            </a:r>
          </a:p>
          <a:p>
            <a:pPr>
              <a:buFont typeface="Monotype Sorts" pitchFamily="-84" charset="2"/>
              <a:buNone/>
              <a:tabLst>
                <a:tab pos="1544638" algn="l"/>
                <a:tab pos="2452688" algn="ctr"/>
                <a:tab pos="3767138" algn="ctr"/>
                <a:tab pos="5022850" algn="ctr"/>
              </a:tabLst>
            </a:pPr>
            <a:r>
              <a:rPr lang="en-US" altLang="en-US" smtClean="0"/>
              <a:t>		</a:t>
            </a:r>
            <a:r>
              <a:rPr lang="en-US" altLang="en-US" i="1" smtClean="0"/>
              <a:t>P</a:t>
            </a:r>
            <a:r>
              <a:rPr lang="en-US" altLang="en-US" baseline="-25000" smtClean="0"/>
              <a:t>1</a:t>
            </a:r>
            <a:r>
              <a:rPr lang="en-US" altLang="en-US" smtClean="0"/>
              <a:t>	      3 0 2             0 2 0 	</a:t>
            </a:r>
          </a:p>
          <a:p>
            <a:pPr>
              <a:buFont typeface="Monotype Sorts" pitchFamily="-84" charset="2"/>
              <a:buNone/>
              <a:tabLst>
                <a:tab pos="1544638" algn="l"/>
                <a:tab pos="2452688" algn="ctr"/>
                <a:tab pos="3767138" algn="ctr"/>
                <a:tab pos="5022850" algn="ctr"/>
              </a:tabLst>
            </a:pPr>
            <a:r>
              <a:rPr lang="en-US" altLang="en-US" smtClean="0"/>
              <a:t>		</a:t>
            </a:r>
            <a:r>
              <a:rPr lang="en-US" altLang="en-US" i="1" smtClean="0"/>
              <a:t>P</a:t>
            </a:r>
            <a:r>
              <a:rPr lang="en-US" altLang="en-US" baseline="-25000" smtClean="0"/>
              <a:t>2</a:t>
            </a:r>
            <a:r>
              <a:rPr lang="en-US" altLang="en-US" smtClean="0"/>
              <a:t>	3 0 2 	 6 0 0 </a:t>
            </a:r>
          </a:p>
          <a:p>
            <a:pPr>
              <a:buFont typeface="Monotype Sorts" pitchFamily="-84" charset="2"/>
              <a:buNone/>
              <a:tabLst>
                <a:tab pos="1544638" algn="l"/>
                <a:tab pos="2452688" algn="ctr"/>
                <a:tab pos="3767138" algn="ctr"/>
                <a:tab pos="5022850" algn="ctr"/>
              </a:tabLst>
            </a:pPr>
            <a:r>
              <a:rPr lang="en-US" altLang="en-US" smtClean="0"/>
              <a:t>		</a:t>
            </a:r>
            <a:r>
              <a:rPr lang="en-US" altLang="en-US" i="1" smtClean="0"/>
              <a:t>P</a:t>
            </a:r>
            <a:r>
              <a:rPr lang="en-US" altLang="en-US" baseline="-25000" smtClean="0"/>
              <a:t>3</a:t>
            </a:r>
            <a:r>
              <a:rPr lang="en-US" altLang="en-US" smtClean="0"/>
              <a:t>	2 1 1 	0 1 1</a:t>
            </a:r>
          </a:p>
          <a:p>
            <a:pPr>
              <a:buFont typeface="Monotype Sorts" pitchFamily="-84" charset="2"/>
              <a:buNone/>
              <a:tabLst>
                <a:tab pos="1544638" algn="l"/>
                <a:tab pos="2452688" algn="ctr"/>
                <a:tab pos="3767138" algn="ctr"/>
                <a:tab pos="5022850" algn="ctr"/>
              </a:tabLst>
            </a:pPr>
            <a:r>
              <a:rPr lang="en-US" altLang="en-US" smtClean="0"/>
              <a:t>		</a:t>
            </a:r>
            <a:r>
              <a:rPr lang="en-US" altLang="en-US" i="1" smtClean="0"/>
              <a:t>P</a:t>
            </a:r>
            <a:r>
              <a:rPr lang="en-US" altLang="en-US" baseline="-25000" smtClean="0"/>
              <a:t>4</a:t>
            </a:r>
            <a:r>
              <a:rPr lang="en-US" altLang="en-US" smtClean="0"/>
              <a:t>	0 0 2 	 4 3 1 </a:t>
            </a:r>
          </a:p>
          <a:p>
            <a:pPr>
              <a:buFont typeface="Monotype Sorts" pitchFamily="-84" charset="2"/>
              <a:buNone/>
              <a:tabLst>
                <a:tab pos="1544638" algn="l"/>
                <a:tab pos="2452688" algn="ctr"/>
                <a:tab pos="3767138" algn="ctr"/>
                <a:tab pos="5022850" algn="ctr"/>
              </a:tabLst>
            </a:pPr>
            <a:endParaRPr lang="en-US" altLang="en-US" sz="800" smtClean="0"/>
          </a:p>
          <a:p>
            <a:pPr>
              <a:tabLst>
                <a:tab pos="1544638" algn="l"/>
                <a:tab pos="2452688" algn="ctr"/>
                <a:tab pos="3767138" algn="ctr"/>
                <a:tab pos="5022850" algn="ctr"/>
              </a:tabLst>
            </a:pPr>
            <a:r>
              <a:rPr lang="en-US" altLang="en-US" smtClean="0"/>
              <a:t>Executing safety algorithm shows that sequence &lt; </a:t>
            </a:r>
            <a:r>
              <a:rPr lang="en-US" altLang="en-US" b="1" i="1" smtClean="0"/>
              <a:t>P</a:t>
            </a:r>
            <a:r>
              <a:rPr lang="en-US" altLang="en-US" b="1" baseline="-25000" smtClean="0"/>
              <a:t>1</a:t>
            </a:r>
            <a:r>
              <a:rPr lang="en-US" altLang="en-US" b="1" smtClean="0"/>
              <a:t>, </a:t>
            </a:r>
            <a:r>
              <a:rPr lang="en-US" altLang="en-US" b="1" i="1" smtClean="0"/>
              <a:t>P</a:t>
            </a:r>
            <a:r>
              <a:rPr lang="en-US" altLang="en-US" b="1" baseline="-25000" smtClean="0"/>
              <a:t>3</a:t>
            </a:r>
            <a:r>
              <a:rPr lang="en-US" altLang="en-US" b="1" smtClean="0"/>
              <a:t>, </a:t>
            </a:r>
            <a:r>
              <a:rPr lang="en-US" altLang="en-US" b="1" i="1" smtClean="0"/>
              <a:t>P</a:t>
            </a:r>
            <a:r>
              <a:rPr lang="en-US" altLang="en-US" b="1" baseline="-25000" smtClean="0"/>
              <a:t>4</a:t>
            </a:r>
            <a:r>
              <a:rPr lang="en-US" altLang="en-US" b="1" smtClean="0"/>
              <a:t>, </a:t>
            </a:r>
            <a:r>
              <a:rPr lang="en-US" altLang="en-US" b="1" i="1" smtClean="0"/>
              <a:t>P</a:t>
            </a:r>
            <a:r>
              <a:rPr lang="en-US" altLang="en-US" b="1" baseline="-25000" smtClean="0"/>
              <a:t>0</a:t>
            </a:r>
            <a:r>
              <a:rPr lang="en-US" altLang="en-US" b="1" smtClean="0"/>
              <a:t>, </a:t>
            </a:r>
            <a:r>
              <a:rPr lang="en-US" altLang="en-US" b="1" i="1" smtClean="0"/>
              <a:t>P</a:t>
            </a:r>
            <a:r>
              <a:rPr lang="en-US" altLang="en-US" b="1" baseline="-25000" smtClean="0"/>
              <a:t>2</a:t>
            </a:r>
            <a:r>
              <a:rPr lang="en-US" altLang="en-US" smtClean="0"/>
              <a:t>&gt; satisfies safety requirement</a:t>
            </a:r>
          </a:p>
          <a:p>
            <a:pPr>
              <a:tabLst>
                <a:tab pos="1544638" algn="l"/>
                <a:tab pos="2452688" algn="ctr"/>
                <a:tab pos="3767138" algn="ctr"/>
                <a:tab pos="5022850" algn="ctr"/>
              </a:tabLst>
            </a:pPr>
            <a:endParaRPr lang="en-US" altLang="en-US" sz="800" smtClean="0"/>
          </a:p>
          <a:p>
            <a:pPr>
              <a:tabLst>
                <a:tab pos="1544638" algn="l"/>
                <a:tab pos="2452688" algn="ctr"/>
                <a:tab pos="3767138" algn="ctr"/>
                <a:tab pos="5022850" algn="ctr"/>
              </a:tabLst>
            </a:pPr>
            <a:r>
              <a:rPr lang="en-US" altLang="en-US" smtClean="0"/>
              <a:t>Can request for (3,3,0) by </a:t>
            </a:r>
            <a:r>
              <a:rPr lang="en-US" altLang="en-US" b="1" i="1" smtClean="0"/>
              <a:t>P</a:t>
            </a:r>
            <a:r>
              <a:rPr lang="en-US" altLang="en-US" b="1" baseline="-25000" smtClean="0"/>
              <a:t>4</a:t>
            </a:r>
            <a:r>
              <a:rPr lang="en-US" altLang="en-US" smtClean="0"/>
              <a:t> be granted?</a:t>
            </a:r>
          </a:p>
          <a:p>
            <a:pPr>
              <a:tabLst>
                <a:tab pos="1544638" algn="l"/>
                <a:tab pos="2452688" algn="ctr"/>
                <a:tab pos="3767138" algn="ctr"/>
                <a:tab pos="5022850" algn="ctr"/>
              </a:tabLst>
            </a:pPr>
            <a:endParaRPr lang="en-US" altLang="en-US" sz="800" smtClean="0"/>
          </a:p>
          <a:p>
            <a:pPr>
              <a:tabLst>
                <a:tab pos="1544638" algn="l"/>
                <a:tab pos="2452688" algn="ctr"/>
                <a:tab pos="3767138" algn="ctr"/>
                <a:tab pos="5022850" algn="ctr"/>
              </a:tabLst>
            </a:pPr>
            <a:r>
              <a:rPr lang="en-US" altLang="en-US" smtClean="0"/>
              <a:t>Can request for (0,2,0) by </a:t>
            </a:r>
            <a:r>
              <a:rPr lang="en-US" altLang="en-US" b="1" i="1" smtClean="0"/>
              <a:t>P</a:t>
            </a:r>
            <a:r>
              <a:rPr lang="en-US" altLang="en-US" b="1" baseline="-25000" smtClean="0"/>
              <a:t>0</a:t>
            </a:r>
            <a:r>
              <a:rPr lang="en-US" altLang="en-US" smtClean="0"/>
              <a:t> be granted?</a:t>
            </a:r>
          </a:p>
          <a:p>
            <a:pPr>
              <a:buFont typeface="Monotype Sorts" pitchFamily="-84" charset="2"/>
              <a:buNone/>
              <a:tabLst>
                <a:tab pos="1544638" algn="l"/>
                <a:tab pos="2452688" algn="ctr"/>
                <a:tab pos="3767138" algn="ctr"/>
                <a:tab pos="5022850" algn="ctr"/>
              </a:tabLst>
            </a:pPr>
            <a:endParaRPr lang="en-US" altLang="en-US" smtClean="0"/>
          </a:p>
        </p:txBody>
      </p:sp>
    </p:spTree>
    <p:extLst>
      <p:ext uri="{BB962C8B-B14F-4D97-AF65-F5344CB8AC3E}">
        <p14:creationId xmlns:p14="http://schemas.microsoft.com/office/powerpoint/2010/main" val="266286767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1141413" y="198438"/>
            <a:ext cx="7421562" cy="576262"/>
          </a:xfrm>
        </p:spPr>
        <p:txBody>
          <a:bodyPr>
            <a:normAutofit fontScale="90000"/>
          </a:bodyPr>
          <a:lstStyle/>
          <a:p>
            <a:pPr eaLnBrk="1" hangingPunct="1"/>
            <a:r>
              <a:rPr lang="en-US" altLang="en-US" smtClean="0"/>
              <a:t>Deadlock Detection</a:t>
            </a:r>
          </a:p>
        </p:txBody>
      </p:sp>
      <p:sp>
        <p:nvSpPr>
          <p:cNvPr id="36867" name="Rectangle 3"/>
          <p:cNvSpPr>
            <a:spLocks noGrp="1" noChangeArrowheads="1"/>
          </p:cNvSpPr>
          <p:nvPr>
            <p:ph type="body" idx="1"/>
          </p:nvPr>
        </p:nvSpPr>
        <p:spPr>
          <a:xfrm>
            <a:off x="901700" y="1233488"/>
            <a:ext cx="7391400" cy="4530725"/>
          </a:xfrm>
        </p:spPr>
        <p:txBody>
          <a:bodyPr/>
          <a:lstStyle/>
          <a:p>
            <a:r>
              <a:rPr lang="en-US" altLang="en-US" smtClean="0"/>
              <a:t>Allow system to enter deadlock state </a:t>
            </a:r>
            <a:br>
              <a:rPr lang="en-US" altLang="en-US" smtClean="0"/>
            </a:br>
            <a:endParaRPr lang="en-US" altLang="en-US" smtClean="0"/>
          </a:p>
          <a:p>
            <a:r>
              <a:rPr lang="en-US" altLang="en-US" smtClean="0"/>
              <a:t>Detection algorithm</a:t>
            </a:r>
            <a:br>
              <a:rPr lang="en-US" altLang="en-US" smtClean="0"/>
            </a:br>
            <a:endParaRPr lang="en-US" altLang="en-US" smtClean="0"/>
          </a:p>
          <a:p>
            <a:r>
              <a:rPr lang="en-US" altLang="en-US" smtClean="0"/>
              <a:t>Recovery scheme</a:t>
            </a:r>
          </a:p>
        </p:txBody>
      </p:sp>
    </p:spTree>
    <p:extLst>
      <p:ext uri="{BB962C8B-B14F-4D97-AF65-F5344CB8AC3E}">
        <p14:creationId xmlns:p14="http://schemas.microsoft.com/office/powerpoint/2010/main" val="57219227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1143000" y="-141288"/>
            <a:ext cx="7772400" cy="844551"/>
          </a:xfrm>
        </p:spPr>
        <p:txBody>
          <a:bodyPr/>
          <a:lstStyle/>
          <a:p>
            <a:pPr eaLnBrk="1" hangingPunct="1"/>
            <a:r>
              <a:rPr lang="en-US" altLang="en-US" sz="2800" smtClean="0"/>
              <a:t>Single Instance of Each Resource Type</a:t>
            </a:r>
          </a:p>
        </p:txBody>
      </p:sp>
      <p:sp>
        <p:nvSpPr>
          <p:cNvPr id="37891" name="Rectangle 3"/>
          <p:cNvSpPr>
            <a:spLocks noGrp="1" noChangeArrowheads="1"/>
          </p:cNvSpPr>
          <p:nvPr>
            <p:ph type="body" idx="1"/>
          </p:nvPr>
        </p:nvSpPr>
        <p:spPr>
          <a:xfrm>
            <a:off x="827088" y="1173163"/>
            <a:ext cx="7585075" cy="4511675"/>
          </a:xfrm>
        </p:spPr>
        <p:txBody>
          <a:bodyPr>
            <a:normAutofit lnSpcReduction="10000"/>
          </a:bodyPr>
          <a:lstStyle/>
          <a:p>
            <a:r>
              <a:rPr lang="en-US" altLang="en-US" smtClean="0"/>
              <a:t>Maintain </a:t>
            </a:r>
            <a:r>
              <a:rPr lang="en-US" altLang="en-US" b="1" smtClean="0">
                <a:solidFill>
                  <a:srgbClr val="3366FF"/>
                </a:solidFill>
              </a:rPr>
              <a:t>wait-for </a:t>
            </a:r>
            <a:r>
              <a:rPr lang="en-US" altLang="en-US" smtClean="0"/>
              <a:t>graph</a:t>
            </a:r>
          </a:p>
          <a:p>
            <a:pPr lvl="1"/>
            <a:r>
              <a:rPr lang="en-US" altLang="en-US" smtClean="0"/>
              <a:t>Nodes are processes</a:t>
            </a:r>
          </a:p>
          <a:p>
            <a:pPr lvl="1"/>
            <a:r>
              <a:rPr lang="en-US" altLang="en-US" b="1" i="1" smtClean="0"/>
              <a:t>P</a:t>
            </a:r>
            <a:r>
              <a:rPr lang="en-US" altLang="en-US" b="1" i="1" baseline="-25000" smtClean="0"/>
              <a:t>i</a:t>
            </a:r>
            <a:r>
              <a:rPr lang="en-US" altLang="en-US" b="1" smtClean="0"/>
              <a:t> </a:t>
            </a:r>
            <a:r>
              <a:rPr lang="en-US" altLang="en-US" b="1" smtClean="0">
                <a:sym typeface="Symbol" pitchFamily="18" charset="2"/>
              </a:rPr>
              <a:t> </a:t>
            </a:r>
            <a:r>
              <a:rPr lang="en-US" altLang="en-US" b="1" i="1" smtClean="0">
                <a:sym typeface="Symbol" pitchFamily="18" charset="2"/>
              </a:rPr>
              <a:t>P</a:t>
            </a:r>
            <a:r>
              <a:rPr lang="en-US" altLang="en-US" b="1" i="1" baseline="-25000" smtClean="0">
                <a:sym typeface="Symbol" pitchFamily="18" charset="2"/>
              </a:rPr>
              <a:t>j   </a:t>
            </a:r>
            <a:r>
              <a:rPr lang="en-US" altLang="en-US" smtClean="0">
                <a:sym typeface="Symbol" pitchFamily="18" charset="2"/>
              </a:rPr>
              <a:t>if </a:t>
            </a:r>
            <a:r>
              <a:rPr lang="en-US" altLang="en-US" b="1" i="1" smtClean="0">
                <a:sym typeface="Symbol" pitchFamily="18" charset="2"/>
              </a:rPr>
              <a:t>P</a:t>
            </a:r>
            <a:r>
              <a:rPr lang="en-US" altLang="en-US" b="1" i="1" baseline="-25000" smtClean="0">
                <a:sym typeface="Symbol" pitchFamily="18" charset="2"/>
              </a:rPr>
              <a:t>i</a:t>
            </a:r>
            <a:r>
              <a:rPr lang="en-US" altLang="en-US" i="1" smtClean="0">
                <a:sym typeface="Symbol" pitchFamily="18" charset="2"/>
              </a:rPr>
              <a:t> </a:t>
            </a:r>
            <a:r>
              <a:rPr lang="en-US" altLang="en-US" smtClean="0">
                <a:sym typeface="Symbol" pitchFamily="18" charset="2"/>
              </a:rPr>
              <a:t>is waiting for</a:t>
            </a:r>
            <a:r>
              <a:rPr lang="en-US" altLang="en-US" i="1" smtClean="0">
                <a:sym typeface="Symbol" pitchFamily="18" charset="2"/>
              </a:rPr>
              <a:t> </a:t>
            </a:r>
            <a:r>
              <a:rPr lang="en-US" altLang="en-US" b="1" i="1" smtClean="0">
                <a:sym typeface="Symbol" pitchFamily="18" charset="2"/>
              </a:rPr>
              <a:t>P</a:t>
            </a:r>
            <a:r>
              <a:rPr lang="en-US" altLang="en-US" b="1" i="1" baseline="-25000" smtClean="0">
                <a:sym typeface="Symbol" pitchFamily="18" charset="2"/>
              </a:rPr>
              <a:t>j</a:t>
            </a:r>
            <a:r>
              <a:rPr lang="en-US" altLang="en-US" b="1" i="1" smtClean="0">
                <a:sym typeface="Symbol" pitchFamily="18" charset="2"/>
              </a:rPr>
              <a:t/>
            </a:r>
            <a:br>
              <a:rPr lang="en-US" altLang="en-US" b="1" i="1" smtClean="0">
                <a:sym typeface="Symbol" pitchFamily="18" charset="2"/>
              </a:rPr>
            </a:br>
            <a:endParaRPr lang="en-US" altLang="en-US" b="1" i="1" smtClean="0">
              <a:sym typeface="Symbol" pitchFamily="18" charset="2"/>
            </a:endParaRPr>
          </a:p>
          <a:p>
            <a:r>
              <a:rPr lang="en-US" altLang="en-US" smtClean="0"/>
              <a:t>Periodically invoke an algorithm that searches for a cycle in the graph. If there is a cycle, there exists a deadlock</a:t>
            </a:r>
          </a:p>
          <a:p>
            <a:pPr>
              <a:buFont typeface="Monotype Sorts" pitchFamily="-84" charset="2"/>
              <a:buNone/>
            </a:pPr>
            <a:endParaRPr lang="en-US" altLang="en-US" smtClean="0"/>
          </a:p>
          <a:p>
            <a:r>
              <a:rPr lang="en-US" altLang="en-US" smtClean="0"/>
              <a:t>An algorithm to detect a cycle in a graph requires an order of</a:t>
            </a:r>
            <a:r>
              <a:rPr lang="en-US" altLang="en-US" i="1" smtClean="0"/>
              <a:t> </a:t>
            </a:r>
            <a:r>
              <a:rPr lang="en-US" altLang="en-US" b="1" i="1" smtClean="0"/>
              <a:t>n</a:t>
            </a:r>
            <a:r>
              <a:rPr lang="en-US" altLang="en-US" b="1" baseline="30000" smtClean="0"/>
              <a:t>2</a:t>
            </a:r>
            <a:r>
              <a:rPr lang="en-US" altLang="en-US" b="1" smtClean="0"/>
              <a:t> </a:t>
            </a:r>
            <a:r>
              <a:rPr lang="en-US" altLang="en-US" smtClean="0"/>
              <a:t>operations, where </a:t>
            </a:r>
            <a:r>
              <a:rPr lang="en-US" altLang="en-US" b="1" i="1" smtClean="0"/>
              <a:t>n</a:t>
            </a:r>
            <a:r>
              <a:rPr lang="en-US" altLang="en-US" smtClean="0"/>
              <a:t> is the number of vertices in the graph</a:t>
            </a:r>
          </a:p>
        </p:txBody>
      </p:sp>
    </p:spTree>
    <p:extLst>
      <p:ext uri="{BB962C8B-B14F-4D97-AF65-F5344CB8AC3E}">
        <p14:creationId xmlns:p14="http://schemas.microsoft.com/office/powerpoint/2010/main" val="64242663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1236663" y="266700"/>
            <a:ext cx="7751762" cy="457200"/>
          </a:xfrm>
        </p:spPr>
        <p:txBody>
          <a:bodyPr/>
          <a:lstStyle/>
          <a:p>
            <a:pPr eaLnBrk="1" hangingPunct="1"/>
            <a:r>
              <a:rPr lang="en-US" altLang="en-US" sz="2400" smtClean="0"/>
              <a:t>Resource-Allocation Graph and  Wait-for Graph</a:t>
            </a:r>
          </a:p>
        </p:txBody>
      </p:sp>
      <p:sp>
        <p:nvSpPr>
          <p:cNvPr id="38915" name="Text Box 5"/>
          <p:cNvSpPr txBox="1">
            <a:spLocks noChangeArrowheads="1"/>
          </p:cNvSpPr>
          <p:nvPr/>
        </p:nvSpPr>
        <p:spPr bwMode="auto">
          <a:xfrm>
            <a:off x="1647825" y="5294313"/>
            <a:ext cx="2927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pPr>
            <a:r>
              <a:rPr lang="en-US" altLang="en-US">
                <a:latin typeface="Helvetica" pitchFamily="-84" charset="0"/>
              </a:rPr>
              <a:t>Resource-Allocation Graph</a:t>
            </a:r>
          </a:p>
        </p:txBody>
      </p:sp>
      <p:sp>
        <p:nvSpPr>
          <p:cNvPr id="38916" name="Text Box 6"/>
          <p:cNvSpPr txBox="1">
            <a:spLocks noChangeArrowheads="1"/>
          </p:cNvSpPr>
          <p:nvPr/>
        </p:nvSpPr>
        <p:spPr bwMode="auto">
          <a:xfrm>
            <a:off x="4810125" y="5294313"/>
            <a:ext cx="3143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pPr>
            <a:r>
              <a:rPr lang="en-US" altLang="en-US">
                <a:latin typeface="Helvetica" pitchFamily="-84" charset="0"/>
              </a:rPr>
              <a:t>Corresponding wait-for graph</a:t>
            </a:r>
          </a:p>
        </p:txBody>
      </p:sp>
      <p:pic>
        <p:nvPicPr>
          <p:cNvPr id="38917" name="Picture 6" descr="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6425" y="1257300"/>
            <a:ext cx="5937250" cy="383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0856434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1428750" y="161925"/>
            <a:ext cx="7772400" cy="628650"/>
          </a:xfrm>
        </p:spPr>
        <p:txBody>
          <a:bodyPr/>
          <a:lstStyle/>
          <a:p>
            <a:pPr eaLnBrk="1" hangingPunct="1"/>
            <a:r>
              <a:rPr lang="en-US" altLang="en-US" smtClean="0"/>
              <a:t>Several Instances of a Resource Type</a:t>
            </a:r>
          </a:p>
        </p:txBody>
      </p:sp>
      <p:sp>
        <p:nvSpPr>
          <p:cNvPr id="39939" name="Rectangle 3"/>
          <p:cNvSpPr>
            <a:spLocks noGrp="1" noChangeArrowheads="1"/>
          </p:cNvSpPr>
          <p:nvPr>
            <p:ph type="body" idx="1"/>
          </p:nvPr>
        </p:nvSpPr>
        <p:spPr>
          <a:xfrm>
            <a:off x="882650" y="1187450"/>
            <a:ext cx="7015163" cy="3851275"/>
          </a:xfrm>
        </p:spPr>
        <p:txBody>
          <a:bodyPr/>
          <a:lstStyle/>
          <a:p>
            <a:r>
              <a:rPr lang="en-US" altLang="en-US" b="1" smtClean="0">
                <a:solidFill>
                  <a:srgbClr val="000000"/>
                </a:solidFill>
              </a:rPr>
              <a:t>Available</a:t>
            </a:r>
            <a:r>
              <a:rPr lang="en-US" altLang="en-US" i="1" smtClean="0"/>
              <a:t>:</a:t>
            </a:r>
            <a:r>
              <a:rPr lang="en-US" altLang="en-US" smtClean="0"/>
              <a:t>  A vector of length </a:t>
            </a:r>
            <a:r>
              <a:rPr lang="en-US" altLang="en-US" b="1" i="1" smtClean="0"/>
              <a:t>m</a:t>
            </a:r>
            <a:r>
              <a:rPr lang="en-US" altLang="en-US" smtClean="0"/>
              <a:t> indicates the number of available resources of each type</a:t>
            </a:r>
          </a:p>
          <a:p>
            <a:r>
              <a:rPr lang="en-US" altLang="en-US" b="1" smtClean="0">
                <a:solidFill>
                  <a:srgbClr val="000000"/>
                </a:solidFill>
              </a:rPr>
              <a:t>Allocation</a:t>
            </a:r>
            <a:r>
              <a:rPr lang="en-US" altLang="en-US" i="1" smtClean="0"/>
              <a:t>:</a:t>
            </a:r>
            <a:r>
              <a:rPr lang="en-US" altLang="en-US" smtClean="0"/>
              <a:t>  An </a:t>
            </a:r>
            <a:r>
              <a:rPr lang="en-US" altLang="en-US" b="1" i="1" smtClean="0"/>
              <a:t>n </a:t>
            </a:r>
            <a:r>
              <a:rPr lang="en-US" altLang="en-US" b="1" smtClean="0"/>
              <a:t>x</a:t>
            </a:r>
            <a:r>
              <a:rPr lang="en-US" altLang="en-US" b="1" i="1" smtClean="0"/>
              <a:t> m</a:t>
            </a:r>
            <a:r>
              <a:rPr lang="en-US" altLang="en-US" b="1" smtClean="0"/>
              <a:t> </a:t>
            </a:r>
            <a:r>
              <a:rPr lang="en-US" altLang="en-US" smtClean="0"/>
              <a:t>matrix defines the number of resources of each type currently allocated to each process</a:t>
            </a:r>
          </a:p>
          <a:p>
            <a:r>
              <a:rPr lang="en-US" altLang="en-US" b="1" smtClean="0">
                <a:solidFill>
                  <a:srgbClr val="000000"/>
                </a:solidFill>
              </a:rPr>
              <a:t>Request</a:t>
            </a:r>
            <a:r>
              <a:rPr lang="en-US" altLang="en-US" i="1" smtClean="0"/>
              <a:t>:</a:t>
            </a:r>
            <a:r>
              <a:rPr lang="en-US" altLang="en-US" smtClean="0"/>
              <a:t>  An </a:t>
            </a:r>
            <a:r>
              <a:rPr lang="en-US" altLang="en-US" b="1" i="1" smtClean="0"/>
              <a:t>n </a:t>
            </a:r>
            <a:r>
              <a:rPr lang="en-US" altLang="en-US" b="1" smtClean="0"/>
              <a:t>x</a:t>
            </a:r>
            <a:r>
              <a:rPr lang="en-US" altLang="en-US" b="1" i="1" smtClean="0"/>
              <a:t> m</a:t>
            </a:r>
            <a:r>
              <a:rPr lang="en-US" altLang="en-US" b="1" smtClean="0"/>
              <a:t> </a:t>
            </a:r>
            <a:r>
              <a:rPr lang="en-US" altLang="en-US" smtClean="0"/>
              <a:t>matrix indicates the current request  of each process.  If </a:t>
            </a:r>
            <a:r>
              <a:rPr lang="en-US" altLang="en-US" b="1" i="1" smtClean="0"/>
              <a:t>Request </a:t>
            </a:r>
            <a:r>
              <a:rPr lang="en-US" altLang="en-US" b="1" smtClean="0"/>
              <a:t>[</a:t>
            </a:r>
            <a:r>
              <a:rPr lang="en-US" altLang="en-US" b="1" i="1" smtClean="0"/>
              <a:t>i</a:t>
            </a:r>
            <a:r>
              <a:rPr lang="en-US" altLang="en-US" b="1" smtClean="0"/>
              <a:t>][</a:t>
            </a:r>
            <a:r>
              <a:rPr lang="en-US" altLang="en-US" b="1" i="1" smtClean="0"/>
              <a:t>j</a:t>
            </a:r>
            <a:r>
              <a:rPr lang="en-US" altLang="en-US" b="1" smtClean="0"/>
              <a:t>] = </a:t>
            </a:r>
            <a:r>
              <a:rPr lang="en-US" altLang="en-US" b="1" i="1" smtClean="0"/>
              <a:t>k</a:t>
            </a:r>
            <a:r>
              <a:rPr lang="en-US" altLang="en-US" smtClean="0"/>
              <a:t>, then process</a:t>
            </a:r>
            <a:r>
              <a:rPr lang="en-US" altLang="en-US" i="1" smtClean="0"/>
              <a:t> </a:t>
            </a:r>
            <a:r>
              <a:rPr lang="en-US" altLang="en-US" b="1" i="1" smtClean="0"/>
              <a:t>P</a:t>
            </a:r>
            <a:r>
              <a:rPr lang="en-US" altLang="en-US" b="1" i="1" baseline="-25000" smtClean="0"/>
              <a:t>i</a:t>
            </a:r>
            <a:r>
              <a:rPr lang="en-US" altLang="en-US" smtClean="0"/>
              <a:t> is requesting</a:t>
            </a:r>
            <a:r>
              <a:rPr lang="en-US" altLang="en-US" i="1" smtClean="0"/>
              <a:t> </a:t>
            </a:r>
            <a:r>
              <a:rPr lang="en-US" altLang="en-US" b="1" i="1" smtClean="0"/>
              <a:t>k</a:t>
            </a:r>
            <a:r>
              <a:rPr lang="en-US" altLang="en-US" smtClean="0"/>
              <a:t> more instances of resource type </a:t>
            </a:r>
            <a:r>
              <a:rPr lang="en-US" altLang="en-US" b="1" i="1" smtClean="0"/>
              <a:t>R</a:t>
            </a:r>
            <a:r>
              <a:rPr lang="en-US" altLang="en-US" b="1" i="1" baseline="-25000" smtClean="0"/>
              <a:t>j</a:t>
            </a:r>
            <a:r>
              <a:rPr lang="en-US" altLang="en-US" smtClean="0"/>
              <a:t>.</a:t>
            </a:r>
          </a:p>
        </p:txBody>
      </p:sp>
    </p:spTree>
    <p:extLst>
      <p:ext uri="{BB962C8B-B14F-4D97-AF65-F5344CB8AC3E}">
        <p14:creationId xmlns:p14="http://schemas.microsoft.com/office/powerpoint/2010/main" val="172431932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787400" y="152400"/>
            <a:ext cx="7899400" cy="576263"/>
          </a:xfrm>
        </p:spPr>
        <p:txBody>
          <a:bodyPr>
            <a:normAutofit fontScale="90000"/>
          </a:bodyPr>
          <a:lstStyle/>
          <a:p>
            <a:pPr eaLnBrk="1" hangingPunct="1"/>
            <a:r>
              <a:rPr lang="en-US" altLang="en-US" smtClean="0"/>
              <a:t>Detection Algorithm</a:t>
            </a:r>
          </a:p>
        </p:txBody>
      </p:sp>
      <p:sp>
        <p:nvSpPr>
          <p:cNvPr id="40963" name="Rectangle 3"/>
          <p:cNvSpPr>
            <a:spLocks noGrp="1" noChangeArrowheads="1"/>
          </p:cNvSpPr>
          <p:nvPr>
            <p:ph type="body" idx="1"/>
          </p:nvPr>
        </p:nvSpPr>
        <p:spPr>
          <a:xfrm>
            <a:off x="995363" y="1233488"/>
            <a:ext cx="7753350" cy="4530725"/>
          </a:xfrm>
        </p:spPr>
        <p:txBody>
          <a:bodyPr>
            <a:normAutofit lnSpcReduction="10000"/>
          </a:bodyPr>
          <a:lstStyle/>
          <a:p>
            <a:pPr>
              <a:buFont typeface="Monotype Sorts" pitchFamily="-84" charset="2"/>
              <a:buNone/>
            </a:pPr>
            <a:r>
              <a:rPr lang="en-US" altLang="en-US" smtClean="0"/>
              <a:t>1.	Let </a:t>
            </a:r>
            <a:r>
              <a:rPr lang="en-US" altLang="en-US" b="1" i="1" smtClean="0"/>
              <a:t>Work</a:t>
            </a:r>
            <a:r>
              <a:rPr lang="en-US" altLang="en-US" smtClean="0"/>
              <a:t> and </a:t>
            </a:r>
            <a:r>
              <a:rPr lang="en-US" altLang="en-US" b="1" i="1" smtClean="0"/>
              <a:t>Finish</a:t>
            </a:r>
            <a:r>
              <a:rPr lang="en-US" altLang="en-US" smtClean="0"/>
              <a:t> be vectors of length </a:t>
            </a:r>
            <a:r>
              <a:rPr lang="en-US" altLang="en-US" b="1" i="1" smtClean="0"/>
              <a:t>m</a:t>
            </a:r>
            <a:r>
              <a:rPr lang="en-US" altLang="en-US" smtClean="0"/>
              <a:t> and </a:t>
            </a:r>
            <a:r>
              <a:rPr lang="en-US" altLang="en-US" b="1" i="1" smtClean="0"/>
              <a:t>n</a:t>
            </a:r>
            <a:r>
              <a:rPr lang="en-US" altLang="en-US" smtClean="0"/>
              <a:t>, respectively Initialize:</a:t>
            </a:r>
          </a:p>
          <a:p>
            <a:pPr marL="850900" lvl="1" indent="-393700">
              <a:buFont typeface="Monotype Sorts" pitchFamily="-84" charset="2"/>
              <a:buNone/>
            </a:pPr>
            <a:r>
              <a:rPr lang="en-US" altLang="en-US" smtClean="0"/>
              <a:t>(a) </a:t>
            </a:r>
            <a:r>
              <a:rPr lang="en-US" altLang="en-US" b="1" i="1" smtClean="0"/>
              <a:t>Work</a:t>
            </a:r>
            <a:r>
              <a:rPr lang="en-US" altLang="en-US" b="1" smtClean="0"/>
              <a:t> = </a:t>
            </a:r>
            <a:r>
              <a:rPr lang="en-US" altLang="en-US" b="1" i="1" smtClean="0"/>
              <a:t>Available</a:t>
            </a:r>
            <a:endParaRPr lang="en-US" altLang="en-US" b="1" smtClean="0"/>
          </a:p>
          <a:p>
            <a:pPr marL="850900" lvl="1" indent="-393700">
              <a:buFont typeface="Monotype Sorts" pitchFamily="-84" charset="2"/>
              <a:buNone/>
            </a:pPr>
            <a:r>
              <a:rPr lang="en-US" altLang="en-US" smtClean="0"/>
              <a:t>(b)	For </a:t>
            </a:r>
            <a:r>
              <a:rPr lang="en-US" altLang="en-US" b="1" i="1" smtClean="0"/>
              <a:t>i</a:t>
            </a:r>
            <a:r>
              <a:rPr lang="en-US" altLang="en-US" b="1" smtClean="0"/>
              <a:t> = 1,2, …,</a:t>
            </a:r>
            <a:r>
              <a:rPr lang="en-US" altLang="en-US" b="1" i="1" smtClean="0"/>
              <a:t> n</a:t>
            </a:r>
            <a:r>
              <a:rPr lang="en-US" altLang="en-US" smtClean="0"/>
              <a:t>, if </a:t>
            </a:r>
            <a:r>
              <a:rPr lang="en-US" altLang="en-US" b="1" i="1" smtClean="0"/>
              <a:t>Allocation</a:t>
            </a:r>
            <a:r>
              <a:rPr lang="en-US" altLang="en-US" b="1" i="1" baseline="-25000" smtClean="0"/>
              <a:t>i</a:t>
            </a:r>
            <a:r>
              <a:rPr lang="en-US" altLang="en-US" b="1" smtClean="0"/>
              <a:t> </a:t>
            </a:r>
            <a:r>
              <a:rPr lang="en-US" altLang="en-US" b="1" smtClean="0">
                <a:sym typeface="Symbol" pitchFamily="18" charset="2"/>
              </a:rPr>
              <a:t> 0</a:t>
            </a:r>
            <a:r>
              <a:rPr lang="en-US" altLang="en-US" smtClean="0">
                <a:sym typeface="Symbol" pitchFamily="18" charset="2"/>
              </a:rPr>
              <a:t>, then </a:t>
            </a:r>
            <a:br>
              <a:rPr lang="en-US" altLang="en-US" smtClean="0">
                <a:sym typeface="Symbol" pitchFamily="18" charset="2"/>
              </a:rPr>
            </a:br>
            <a:r>
              <a:rPr lang="en-US" altLang="en-US" b="1" i="1" smtClean="0">
                <a:sym typeface="Symbol" pitchFamily="18" charset="2"/>
              </a:rPr>
              <a:t>Finish</a:t>
            </a:r>
            <a:r>
              <a:rPr lang="en-US" altLang="en-US" b="1" smtClean="0">
                <a:sym typeface="Symbol" pitchFamily="18" charset="2"/>
              </a:rPr>
              <a:t>[i] </a:t>
            </a:r>
            <a:r>
              <a:rPr lang="en-US" altLang="en-US" b="1" i="1" smtClean="0">
                <a:sym typeface="Symbol" pitchFamily="18" charset="2"/>
              </a:rPr>
              <a:t>= false</a:t>
            </a:r>
            <a:r>
              <a:rPr lang="en-US" altLang="en-US" smtClean="0">
                <a:sym typeface="Symbol" pitchFamily="18" charset="2"/>
              </a:rPr>
              <a:t>; otherwise, </a:t>
            </a:r>
            <a:r>
              <a:rPr lang="en-US" altLang="en-US" b="1" i="1" smtClean="0">
                <a:sym typeface="Symbol" pitchFamily="18" charset="2"/>
              </a:rPr>
              <a:t>Finish</a:t>
            </a:r>
            <a:r>
              <a:rPr lang="en-US" altLang="en-US" b="1" smtClean="0">
                <a:sym typeface="Symbol" pitchFamily="18" charset="2"/>
              </a:rPr>
              <a:t>[i] = </a:t>
            </a:r>
            <a:r>
              <a:rPr lang="en-US" altLang="en-US" b="1" i="1" smtClean="0">
                <a:sym typeface="Symbol" pitchFamily="18" charset="2"/>
              </a:rPr>
              <a:t>true</a:t>
            </a:r>
          </a:p>
          <a:p>
            <a:pPr marL="850900" lvl="1" indent="-393700">
              <a:buFont typeface="Monotype Sorts" pitchFamily="-84" charset="2"/>
              <a:buNone/>
            </a:pPr>
            <a:endParaRPr lang="en-US" altLang="en-US" smtClean="0">
              <a:sym typeface="Symbol" pitchFamily="18" charset="2"/>
            </a:endParaRPr>
          </a:p>
          <a:p>
            <a:pPr>
              <a:buFont typeface="Monotype Sorts" pitchFamily="-84" charset="2"/>
              <a:buNone/>
            </a:pPr>
            <a:r>
              <a:rPr lang="en-US" altLang="en-US" smtClean="0"/>
              <a:t>2.	Find an index </a:t>
            </a:r>
            <a:r>
              <a:rPr lang="en-US" altLang="en-US" b="1" i="1" smtClean="0"/>
              <a:t>i</a:t>
            </a:r>
            <a:r>
              <a:rPr lang="en-US" altLang="en-US" i="1" smtClean="0"/>
              <a:t> </a:t>
            </a:r>
            <a:r>
              <a:rPr lang="en-US" altLang="en-US" smtClean="0"/>
              <a:t>such that both:</a:t>
            </a:r>
          </a:p>
          <a:p>
            <a:pPr marL="850900" lvl="1" indent="-393700">
              <a:buFont typeface="Monotype Sorts" pitchFamily="-84" charset="2"/>
              <a:buNone/>
            </a:pPr>
            <a:r>
              <a:rPr lang="en-US" altLang="en-US" smtClean="0"/>
              <a:t>(a)	</a:t>
            </a:r>
            <a:r>
              <a:rPr lang="en-US" altLang="en-US" b="1" i="1" smtClean="0"/>
              <a:t>Finish</a:t>
            </a:r>
            <a:r>
              <a:rPr lang="en-US" altLang="en-US" b="1" smtClean="0"/>
              <a:t>[</a:t>
            </a:r>
            <a:r>
              <a:rPr lang="en-US" altLang="en-US" b="1" i="1" smtClean="0"/>
              <a:t>i</a:t>
            </a:r>
            <a:r>
              <a:rPr lang="en-US" altLang="en-US" b="1" smtClean="0"/>
              <a:t>] == </a:t>
            </a:r>
            <a:r>
              <a:rPr lang="en-US" altLang="en-US" b="1" i="1" smtClean="0"/>
              <a:t>false</a:t>
            </a:r>
            <a:endParaRPr lang="en-US" altLang="en-US" b="1" smtClean="0"/>
          </a:p>
          <a:p>
            <a:pPr marL="850900" lvl="1" indent="-393700">
              <a:buFont typeface="Monotype Sorts" pitchFamily="-84" charset="2"/>
              <a:buNone/>
            </a:pPr>
            <a:r>
              <a:rPr lang="en-US" altLang="en-US" smtClean="0"/>
              <a:t>(b)	</a:t>
            </a:r>
            <a:r>
              <a:rPr lang="en-US" altLang="en-US" b="1" i="1" smtClean="0"/>
              <a:t>Request</a:t>
            </a:r>
            <a:r>
              <a:rPr lang="en-US" altLang="en-US" b="1" i="1" baseline="-25000" smtClean="0"/>
              <a:t>i</a:t>
            </a:r>
            <a:r>
              <a:rPr lang="en-US" altLang="en-US" b="1" smtClean="0"/>
              <a:t> </a:t>
            </a:r>
            <a:r>
              <a:rPr lang="en-US" altLang="en-US" b="1" smtClean="0">
                <a:sym typeface="Symbol" pitchFamily="18" charset="2"/>
              </a:rPr>
              <a:t> </a:t>
            </a:r>
            <a:r>
              <a:rPr lang="en-US" altLang="en-US" b="1" i="1" smtClean="0">
                <a:sym typeface="Symbol" pitchFamily="18" charset="2"/>
              </a:rPr>
              <a:t>Work</a:t>
            </a:r>
            <a:br>
              <a:rPr lang="en-US" altLang="en-US" b="1" i="1" smtClean="0">
                <a:sym typeface="Symbol" pitchFamily="18" charset="2"/>
              </a:rPr>
            </a:br>
            <a:endParaRPr lang="en-US" altLang="en-US" b="1" smtClean="0">
              <a:sym typeface="Symbol" pitchFamily="18" charset="2"/>
            </a:endParaRPr>
          </a:p>
          <a:p>
            <a:pPr marL="850900" lvl="1" indent="-393700">
              <a:buFont typeface="Monotype Sorts" pitchFamily="-84" charset="2"/>
              <a:buNone/>
            </a:pPr>
            <a:r>
              <a:rPr lang="en-US" altLang="en-US" smtClean="0">
                <a:sym typeface="Symbol" pitchFamily="18" charset="2"/>
              </a:rPr>
              <a:t>If no such </a:t>
            </a:r>
            <a:r>
              <a:rPr lang="en-US" altLang="en-US" b="1" i="1" smtClean="0">
                <a:sym typeface="Symbol" pitchFamily="18" charset="2"/>
              </a:rPr>
              <a:t>i</a:t>
            </a:r>
            <a:r>
              <a:rPr lang="en-US" altLang="en-US" b="1" smtClean="0">
                <a:sym typeface="Symbol" pitchFamily="18" charset="2"/>
              </a:rPr>
              <a:t> </a:t>
            </a:r>
            <a:r>
              <a:rPr lang="en-US" altLang="en-US" smtClean="0">
                <a:sym typeface="Symbol" pitchFamily="18" charset="2"/>
              </a:rPr>
              <a:t>exists, go to step 4</a:t>
            </a:r>
            <a:endParaRPr lang="en-US" altLang="en-US" smtClean="0"/>
          </a:p>
        </p:txBody>
      </p:sp>
    </p:spTree>
    <p:extLst>
      <p:ext uri="{BB962C8B-B14F-4D97-AF65-F5344CB8AC3E}">
        <p14:creationId xmlns:p14="http://schemas.microsoft.com/office/powerpoint/2010/main" val="403927503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1128713" y="214313"/>
            <a:ext cx="7558087" cy="576262"/>
          </a:xfrm>
        </p:spPr>
        <p:txBody>
          <a:bodyPr>
            <a:normAutofit fontScale="90000"/>
          </a:bodyPr>
          <a:lstStyle/>
          <a:p>
            <a:pPr eaLnBrk="1" hangingPunct="1"/>
            <a:r>
              <a:rPr lang="en-US" altLang="en-US" smtClean="0"/>
              <a:t>Detection Algorithm (Cont.)</a:t>
            </a:r>
          </a:p>
        </p:txBody>
      </p:sp>
      <p:sp>
        <p:nvSpPr>
          <p:cNvPr id="41987" name="Rectangle 3"/>
          <p:cNvSpPr>
            <a:spLocks noGrp="1" noChangeArrowheads="1"/>
          </p:cNvSpPr>
          <p:nvPr>
            <p:ph type="body" idx="1"/>
          </p:nvPr>
        </p:nvSpPr>
        <p:spPr>
          <a:xfrm>
            <a:off x="947738" y="1171575"/>
            <a:ext cx="7218362" cy="2297113"/>
          </a:xfrm>
        </p:spPr>
        <p:txBody>
          <a:bodyPr>
            <a:normAutofit fontScale="92500" lnSpcReduction="20000"/>
          </a:bodyPr>
          <a:lstStyle/>
          <a:p>
            <a:pPr>
              <a:lnSpc>
                <a:spcPct val="90000"/>
              </a:lnSpc>
              <a:buFont typeface="Monotype Sorts" pitchFamily="-84" charset="2"/>
              <a:buNone/>
            </a:pPr>
            <a:r>
              <a:rPr lang="en-US" altLang="en-US" smtClean="0"/>
              <a:t>3.	</a:t>
            </a:r>
            <a:r>
              <a:rPr lang="en-US" altLang="en-US" b="1" i="1" smtClean="0"/>
              <a:t>Work</a:t>
            </a:r>
            <a:r>
              <a:rPr lang="en-US" altLang="en-US" b="1" smtClean="0"/>
              <a:t> = </a:t>
            </a:r>
            <a:r>
              <a:rPr lang="en-US" altLang="en-US" b="1" i="1" smtClean="0"/>
              <a:t>Work</a:t>
            </a:r>
            <a:r>
              <a:rPr lang="en-US" altLang="en-US" b="1" smtClean="0"/>
              <a:t> + </a:t>
            </a:r>
            <a:r>
              <a:rPr lang="en-US" altLang="en-US" b="1" i="1" smtClean="0"/>
              <a:t>Allocation</a:t>
            </a:r>
            <a:r>
              <a:rPr lang="en-US" altLang="en-US" b="1" i="1" baseline="-25000" smtClean="0"/>
              <a:t>i</a:t>
            </a:r>
            <a:r>
              <a:rPr lang="en-US" altLang="en-US" b="1" smtClean="0"/>
              <a:t/>
            </a:r>
            <a:br>
              <a:rPr lang="en-US" altLang="en-US" b="1" smtClean="0"/>
            </a:br>
            <a:r>
              <a:rPr lang="en-US" altLang="en-US" b="1" i="1" smtClean="0"/>
              <a:t>Finish</a:t>
            </a:r>
            <a:r>
              <a:rPr lang="en-US" altLang="en-US" b="1" smtClean="0"/>
              <a:t>[</a:t>
            </a:r>
            <a:r>
              <a:rPr lang="en-US" altLang="en-US" b="1" i="1" smtClean="0"/>
              <a:t>i</a:t>
            </a:r>
            <a:r>
              <a:rPr lang="en-US" altLang="en-US" b="1" smtClean="0"/>
              <a:t>] = </a:t>
            </a:r>
            <a:r>
              <a:rPr lang="en-US" altLang="en-US" b="1" i="1" smtClean="0"/>
              <a:t>true</a:t>
            </a:r>
            <a:r>
              <a:rPr lang="en-US" altLang="en-US" b="1" smtClean="0"/>
              <a:t/>
            </a:r>
            <a:br>
              <a:rPr lang="en-US" altLang="en-US" b="1" smtClean="0"/>
            </a:br>
            <a:r>
              <a:rPr lang="en-US" altLang="en-US" smtClean="0"/>
              <a:t>go to step 2</a:t>
            </a:r>
            <a:br>
              <a:rPr lang="en-US" altLang="en-US" smtClean="0"/>
            </a:br>
            <a:endParaRPr lang="en-US" altLang="en-US" smtClean="0"/>
          </a:p>
          <a:p>
            <a:pPr>
              <a:lnSpc>
                <a:spcPct val="90000"/>
              </a:lnSpc>
              <a:buFont typeface="Monotype Sorts" pitchFamily="-84" charset="2"/>
              <a:buNone/>
            </a:pPr>
            <a:r>
              <a:rPr lang="en-US" altLang="en-US" smtClean="0"/>
              <a:t>4.	If </a:t>
            </a:r>
            <a:r>
              <a:rPr lang="en-US" altLang="en-US" b="1" i="1" smtClean="0"/>
              <a:t>Finish[i] == false</a:t>
            </a:r>
            <a:r>
              <a:rPr lang="en-US" altLang="en-US" smtClean="0"/>
              <a:t>, for some </a:t>
            </a:r>
            <a:r>
              <a:rPr lang="en-US" altLang="en-US" b="1" i="1" smtClean="0"/>
              <a:t>i</a:t>
            </a:r>
            <a:r>
              <a:rPr lang="en-US" altLang="en-US" smtClean="0"/>
              <a:t>, 1 </a:t>
            </a:r>
            <a:r>
              <a:rPr lang="en-US" altLang="en-US" smtClean="0">
                <a:sym typeface="Symbol" pitchFamily="18" charset="2"/>
              </a:rPr>
              <a:t> </a:t>
            </a:r>
            <a:r>
              <a:rPr lang="en-US" altLang="en-US" b="1" i="1" smtClean="0">
                <a:sym typeface="Symbol" pitchFamily="18" charset="2"/>
              </a:rPr>
              <a:t>i</a:t>
            </a:r>
            <a:r>
              <a:rPr lang="en-US" altLang="en-US" smtClean="0">
                <a:sym typeface="Symbol" pitchFamily="18" charset="2"/>
              </a:rPr>
              <a:t>   </a:t>
            </a:r>
            <a:r>
              <a:rPr lang="en-US" altLang="en-US" b="1" i="1" smtClean="0">
                <a:sym typeface="Symbol" pitchFamily="18" charset="2"/>
              </a:rPr>
              <a:t>n</a:t>
            </a:r>
            <a:r>
              <a:rPr lang="en-US" altLang="en-US" smtClean="0">
                <a:sym typeface="Symbol" pitchFamily="18" charset="2"/>
              </a:rPr>
              <a:t>, then the system is in deadlock state. Moreover, if </a:t>
            </a:r>
            <a:r>
              <a:rPr lang="en-US" altLang="en-US" b="1" i="1" smtClean="0">
                <a:sym typeface="Symbol" pitchFamily="18" charset="2"/>
              </a:rPr>
              <a:t>Finish</a:t>
            </a:r>
            <a:r>
              <a:rPr lang="en-US" altLang="en-US" b="1" smtClean="0">
                <a:sym typeface="Symbol" pitchFamily="18" charset="2"/>
              </a:rPr>
              <a:t>[</a:t>
            </a:r>
            <a:r>
              <a:rPr lang="en-US" altLang="en-US" b="1" i="1" smtClean="0">
                <a:sym typeface="Symbol" pitchFamily="18" charset="2"/>
              </a:rPr>
              <a:t>i</a:t>
            </a:r>
            <a:r>
              <a:rPr lang="en-US" altLang="en-US" b="1" smtClean="0">
                <a:sym typeface="Symbol" pitchFamily="18" charset="2"/>
              </a:rPr>
              <a:t>] == </a:t>
            </a:r>
            <a:r>
              <a:rPr lang="en-US" altLang="en-US" b="1" i="1" smtClean="0">
                <a:sym typeface="Symbol" pitchFamily="18" charset="2"/>
              </a:rPr>
              <a:t>false</a:t>
            </a:r>
            <a:r>
              <a:rPr lang="en-US" altLang="en-US" smtClean="0">
                <a:sym typeface="Symbol" pitchFamily="18" charset="2"/>
              </a:rPr>
              <a:t>, then </a:t>
            </a:r>
            <a:r>
              <a:rPr lang="en-US" altLang="en-US" b="1" i="1" smtClean="0">
                <a:sym typeface="Symbol" pitchFamily="18" charset="2"/>
              </a:rPr>
              <a:t>P</a:t>
            </a:r>
            <a:r>
              <a:rPr lang="en-US" altLang="en-US" b="1" i="1" baseline="-25000" smtClean="0">
                <a:sym typeface="Symbol" pitchFamily="18" charset="2"/>
              </a:rPr>
              <a:t>i</a:t>
            </a:r>
            <a:r>
              <a:rPr lang="en-US" altLang="en-US" smtClean="0">
                <a:sym typeface="Symbol" pitchFamily="18" charset="2"/>
              </a:rPr>
              <a:t> is deadlocked</a:t>
            </a:r>
          </a:p>
          <a:p>
            <a:pPr>
              <a:lnSpc>
                <a:spcPct val="90000"/>
              </a:lnSpc>
              <a:buFont typeface="Monotype Sorts" pitchFamily="-84" charset="2"/>
              <a:buNone/>
            </a:pPr>
            <a:r>
              <a:rPr lang="en-US" altLang="en-US" smtClean="0">
                <a:sym typeface="Symbol" pitchFamily="18" charset="2"/>
              </a:rPr>
              <a:t>	</a:t>
            </a:r>
            <a:endParaRPr lang="en-US" altLang="en-US" smtClean="0"/>
          </a:p>
        </p:txBody>
      </p:sp>
      <p:sp>
        <p:nvSpPr>
          <p:cNvPr id="41988" name="Text Box 4"/>
          <p:cNvSpPr txBox="1">
            <a:spLocks noChangeArrowheads="1"/>
          </p:cNvSpPr>
          <p:nvPr/>
        </p:nvSpPr>
        <p:spPr bwMode="auto">
          <a:xfrm>
            <a:off x="852488" y="3824288"/>
            <a:ext cx="7694612" cy="106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r>
              <a:rPr lang="en-US" altLang="en-US" b="1">
                <a:solidFill>
                  <a:srgbClr val="FF0066"/>
                </a:solidFill>
                <a:latin typeface="Helvetica" pitchFamily="-84" charset="0"/>
                <a:sym typeface="Symbol" pitchFamily="18" charset="2"/>
              </a:rPr>
              <a:t>Algorithm requires an order of O(</a:t>
            </a:r>
            <a:r>
              <a:rPr lang="en-US" altLang="en-US" b="1" i="1">
                <a:solidFill>
                  <a:srgbClr val="FF0066"/>
                </a:solidFill>
                <a:latin typeface="Helvetica" pitchFamily="-84" charset="0"/>
                <a:sym typeface="Symbol" pitchFamily="18" charset="2"/>
              </a:rPr>
              <a:t>m </a:t>
            </a:r>
            <a:r>
              <a:rPr lang="en-US" altLang="en-US" b="1">
                <a:solidFill>
                  <a:srgbClr val="FF0066"/>
                </a:solidFill>
                <a:latin typeface="Helvetica" pitchFamily="-84" charset="0"/>
                <a:sym typeface="Symbol" pitchFamily="18" charset="2"/>
              </a:rPr>
              <a:t>x</a:t>
            </a:r>
            <a:r>
              <a:rPr lang="en-US" altLang="en-US" b="1" i="1">
                <a:solidFill>
                  <a:srgbClr val="FF0066"/>
                </a:solidFill>
                <a:latin typeface="Helvetica" pitchFamily="-84" charset="0"/>
                <a:sym typeface="Symbol" pitchFamily="18" charset="2"/>
              </a:rPr>
              <a:t> n</a:t>
            </a:r>
            <a:r>
              <a:rPr lang="en-US" altLang="en-US" b="1" baseline="30000">
                <a:solidFill>
                  <a:srgbClr val="FF0066"/>
                </a:solidFill>
                <a:latin typeface="Helvetica" pitchFamily="-84" charset="0"/>
                <a:sym typeface="Symbol" pitchFamily="18" charset="2"/>
              </a:rPr>
              <a:t>2</a:t>
            </a:r>
            <a:r>
              <a:rPr lang="en-US" altLang="en-US" b="1">
                <a:solidFill>
                  <a:srgbClr val="FF0066"/>
                </a:solidFill>
                <a:latin typeface="Helvetica" pitchFamily="-84" charset="0"/>
                <a:sym typeface="Symbol" pitchFamily="18" charset="2"/>
              </a:rPr>
              <a:t>) operations to detect whether the system is in deadlocked state</a:t>
            </a:r>
            <a:endParaRPr lang="en-US" altLang="en-US">
              <a:solidFill>
                <a:srgbClr val="FF0066"/>
              </a:solidFill>
              <a:latin typeface="Helvetica" pitchFamily="-84" charset="0"/>
            </a:endParaRPr>
          </a:p>
          <a:p>
            <a:pPr>
              <a:spcBef>
                <a:spcPct val="50000"/>
              </a:spcBef>
            </a:pPr>
            <a:endParaRPr lang="en-US" altLang="en-US">
              <a:solidFill>
                <a:srgbClr val="FF0066"/>
              </a:solidFill>
              <a:latin typeface="Helvetica" pitchFamily="-84" charset="0"/>
            </a:endParaRPr>
          </a:p>
        </p:txBody>
      </p:sp>
    </p:spTree>
    <p:extLst>
      <p:ext uri="{BB962C8B-B14F-4D97-AF65-F5344CB8AC3E}">
        <p14:creationId xmlns:p14="http://schemas.microsoft.com/office/powerpoint/2010/main" val="260961328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1022350" y="214313"/>
            <a:ext cx="7664450" cy="576262"/>
          </a:xfrm>
        </p:spPr>
        <p:txBody>
          <a:bodyPr>
            <a:normAutofit fontScale="90000"/>
          </a:bodyPr>
          <a:lstStyle/>
          <a:p>
            <a:pPr eaLnBrk="1" hangingPunct="1"/>
            <a:r>
              <a:rPr lang="en-US" altLang="en-US" smtClean="0"/>
              <a:t>Example of Detection Algorithm</a:t>
            </a:r>
          </a:p>
        </p:txBody>
      </p:sp>
      <p:sp>
        <p:nvSpPr>
          <p:cNvPr id="43011" name="Rectangle 3"/>
          <p:cNvSpPr>
            <a:spLocks noGrp="1" noChangeArrowheads="1"/>
          </p:cNvSpPr>
          <p:nvPr>
            <p:ph type="body" idx="1"/>
          </p:nvPr>
        </p:nvSpPr>
        <p:spPr>
          <a:xfrm>
            <a:off x="901700" y="1108075"/>
            <a:ext cx="8037513" cy="5121275"/>
          </a:xfrm>
        </p:spPr>
        <p:txBody>
          <a:bodyPr>
            <a:normAutofit fontScale="92500" lnSpcReduction="20000"/>
          </a:bodyPr>
          <a:lstStyle/>
          <a:p>
            <a:pPr>
              <a:tabLst>
                <a:tab pos="1428750" algn="l"/>
                <a:tab pos="2338388" algn="ctr"/>
                <a:tab pos="3594100" algn="ctr"/>
                <a:tab pos="4921250" algn="ctr"/>
              </a:tabLst>
            </a:pPr>
            <a:r>
              <a:rPr lang="en-US" altLang="en-US" dirty="0" smtClean="0"/>
              <a:t>Five processes </a:t>
            </a:r>
            <a:r>
              <a:rPr lang="en-US" altLang="en-US" b="1" i="1" dirty="0" smtClean="0"/>
              <a:t>P</a:t>
            </a:r>
            <a:r>
              <a:rPr lang="en-US" altLang="en-US" b="1" baseline="-25000" dirty="0" smtClean="0"/>
              <a:t>0</a:t>
            </a:r>
            <a:r>
              <a:rPr lang="en-US" altLang="en-US" dirty="0" smtClean="0"/>
              <a:t> through </a:t>
            </a:r>
            <a:r>
              <a:rPr lang="en-US" altLang="en-US" b="1" i="1" dirty="0" smtClean="0"/>
              <a:t>P</a:t>
            </a:r>
            <a:r>
              <a:rPr lang="en-US" altLang="en-US" b="1" baseline="-25000" dirty="0" smtClean="0"/>
              <a:t>4</a:t>
            </a:r>
            <a:r>
              <a:rPr lang="en-US" altLang="en-US" dirty="0" smtClean="0"/>
              <a:t>;</a:t>
            </a:r>
            <a:r>
              <a:rPr lang="en-US" altLang="en-US" baseline="-25000" dirty="0" smtClean="0"/>
              <a:t> </a:t>
            </a:r>
            <a:r>
              <a:rPr lang="en-US" altLang="en-US" dirty="0" smtClean="0"/>
              <a:t>three resource types </a:t>
            </a:r>
            <a:br>
              <a:rPr lang="en-US" altLang="en-US" dirty="0" smtClean="0"/>
            </a:br>
            <a:r>
              <a:rPr lang="en-US" altLang="en-US" dirty="0" smtClean="0"/>
              <a:t>A (7 instances), </a:t>
            </a:r>
            <a:r>
              <a:rPr lang="en-US" altLang="en-US" i="1" dirty="0" smtClean="0"/>
              <a:t>B </a:t>
            </a:r>
            <a:r>
              <a:rPr lang="en-US" altLang="en-US" dirty="0" smtClean="0"/>
              <a:t>(2 instances), and </a:t>
            </a:r>
            <a:r>
              <a:rPr lang="en-US" altLang="en-US" i="1" dirty="0" smtClean="0"/>
              <a:t>C</a:t>
            </a:r>
            <a:r>
              <a:rPr lang="en-US" altLang="en-US" dirty="0" smtClean="0"/>
              <a:t> (6 instances)</a:t>
            </a:r>
          </a:p>
          <a:p>
            <a:pPr>
              <a:buFont typeface="Monotype Sorts" pitchFamily="-84" charset="2"/>
              <a:buNone/>
              <a:tabLst>
                <a:tab pos="1428750" algn="l"/>
                <a:tab pos="2338388" algn="ctr"/>
                <a:tab pos="3594100" algn="ctr"/>
                <a:tab pos="4921250" algn="ctr"/>
              </a:tabLst>
            </a:pPr>
            <a:endParaRPr lang="en-US" altLang="en-US" dirty="0" smtClean="0"/>
          </a:p>
          <a:p>
            <a:pPr>
              <a:tabLst>
                <a:tab pos="1428750" algn="l"/>
                <a:tab pos="2338388" algn="ctr"/>
                <a:tab pos="3594100" algn="ctr"/>
                <a:tab pos="4921250" algn="ctr"/>
              </a:tabLst>
            </a:pPr>
            <a:r>
              <a:rPr lang="en-US" altLang="en-US" dirty="0" smtClean="0"/>
              <a:t>Snapshot at time </a:t>
            </a:r>
            <a:r>
              <a:rPr lang="en-US" altLang="en-US" b="1" i="1" dirty="0" smtClean="0"/>
              <a:t>T</a:t>
            </a:r>
            <a:r>
              <a:rPr lang="en-US" altLang="en-US" b="1" baseline="-25000" dirty="0" smtClean="0"/>
              <a:t>0</a:t>
            </a:r>
            <a:r>
              <a:rPr lang="en-US" altLang="en-US" dirty="0" smtClean="0"/>
              <a:t>:</a:t>
            </a:r>
          </a:p>
          <a:p>
            <a:pPr>
              <a:buFont typeface="Monotype Sorts" pitchFamily="-84" charset="2"/>
              <a:buNone/>
              <a:tabLst>
                <a:tab pos="1428750" algn="l"/>
                <a:tab pos="2338388" algn="ctr"/>
                <a:tab pos="3594100" algn="ctr"/>
                <a:tab pos="4921250" algn="ctr"/>
              </a:tabLst>
            </a:pPr>
            <a:r>
              <a:rPr lang="en-US" altLang="en-US" dirty="0" smtClean="0"/>
              <a:t>			 </a:t>
            </a:r>
            <a:r>
              <a:rPr lang="en-US" altLang="en-US" i="1" u="sng" dirty="0" smtClean="0"/>
              <a:t>Allocation</a:t>
            </a:r>
            <a:r>
              <a:rPr lang="en-US" altLang="en-US" i="1" dirty="0" smtClean="0"/>
              <a:t>	</a:t>
            </a:r>
            <a:r>
              <a:rPr lang="en-US" altLang="en-US" i="1" u="sng" dirty="0" smtClean="0"/>
              <a:t>Request</a:t>
            </a:r>
            <a:r>
              <a:rPr lang="en-US" altLang="en-US" i="1" dirty="0" smtClean="0"/>
              <a:t>	</a:t>
            </a:r>
            <a:r>
              <a:rPr lang="en-US" altLang="en-US" i="1" u="sng" dirty="0" smtClean="0"/>
              <a:t>Available</a:t>
            </a:r>
          </a:p>
          <a:p>
            <a:pPr>
              <a:buFont typeface="Monotype Sorts" pitchFamily="-84" charset="2"/>
              <a:buNone/>
              <a:tabLst>
                <a:tab pos="1428750" algn="l"/>
                <a:tab pos="2338388" algn="ctr"/>
                <a:tab pos="3594100" algn="ctr"/>
                <a:tab pos="4921250" algn="ctr"/>
              </a:tabLst>
            </a:pPr>
            <a:r>
              <a:rPr lang="en-US" altLang="en-US" dirty="0" smtClean="0"/>
              <a:t>			</a:t>
            </a:r>
            <a:r>
              <a:rPr lang="en-US" altLang="en-US" i="1" dirty="0" smtClean="0"/>
              <a:t>A B C 	  A B C 	A B C</a:t>
            </a:r>
          </a:p>
          <a:p>
            <a:pPr>
              <a:buFont typeface="Monotype Sorts" pitchFamily="-84" charset="2"/>
              <a:buNone/>
              <a:tabLst>
                <a:tab pos="1428750" algn="l"/>
                <a:tab pos="2338388" algn="ctr"/>
                <a:tab pos="3594100" algn="ctr"/>
                <a:tab pos="4921250" algn="ctr"/>
              </a:tabLst>
            </a:pPr>
            <a:r>
              <a:rPr lang="en-US" altLang="en-US" dirty="0" smtClean="0"/>
              <a:t>	        </a:t>
            </a:r>
            <a:r>
              <a:rPr lang="en-US" altLang="en-US" i="1" dirty="0" smtClean="0"/>
              <a:t>P</a:t>
            </a:r>
            <a:r>
              <a:rPr lang="en-US" altLang="en-US" baseline="-25000" dirty="0" smtClean="0"/>
              <a:t>0</a:t>
            </a:r>
            <a:r>
              <a:rPr lang="en-US" altLang="en-US" dirty="0" smtClean="0"/>
              <a:t>	          0 1 0    </a:t>
            </a:r>
            <a:r>
              <a:rPr lang="en-US" altLang="en-US" dirty="0" smtClean="0"/>
              <a:t> </a:t>
            </a:r>
            <a:r>
              <a:rPr lang="en-US" altLang="en-US" dirty="0" smtClean="0"/>
              <a:t>0 0 0 	0 0 0</a:t>
            </a:r>
          </a:p>
          <a:p>
            <a:pPr>
              <a:buFont typeface="Monotype Sorts" pitchFamily="-84" charset="2"/>
              <a:buNone/>
              <a:tabLst>
                <a:tab pos="1428750" algn="l"/>
                <a:tab pos="2338388" algn="ctr"/>
                <a:tab pos="3594100" algn="ctr"/>
                <a:tab pos="4921250" algn="ctr"/>
              </a:tabLst>
            </a:pPr>
            <a:r>
              <a:rPr lang="en-US" altLang="en-US" i="1" dirty="0" smtClean="0"/>
              <a:t>             P</a:t>
            </a:r>
            <a:r>
              <a:rPr lang="en-US" altLang="en-US" baseline="-25000" dirty="0" smtClean="0"/>
              <a:t>1</a:t>
            </a:r>
            <a:r>
              <a:rPr lang="en-US" altLang="en-US" dirty="0" smtClean="0"/>
              <a:t>	          	2 0 0 	  2 0 2</a:t>
            </a:r>
          </a:p>
          <a:p>
            <a:pPr>
              <a:buFont typeface="Monotype Sorts" pitchFamily="-84" charset="2"/>
              <a:buNone/>
              <a:tabLst>
                <a:tab pos="1428750" algn="l"/>
                <a:tab pos="2338388" algn="ctr"/>
                <a:tab pos="3594100" algn="ctr"/>
                <a:tab pos="4921250" algn="ctr"/>
              </a:tabLst>
            </a:pPr>
            <a:r>
              <a:rPr lang="en-US" altLang="en-US" i="1" dirty="0" smtClean="0"/>
              <a:t>             P</a:t>
            </a:r>
            <a:r>
              <a:rPr lang="en-US" altLang="en-US" baseline="-25000" dirty="0" smtClean="0"/>
              <a:t>2</a:t>
            </a:r>
            <a:r>
              <a:rPr lang="en-US" altLang="en-US" dirty="0" smtClean="0"/>
              <a:t>		          3 0 3    </a:t>
            </a:r>
            <a:r>
              <a:rPr lang="en-US" altLang="en-US" dirty="0" smtClean="0"/>
              <a:t> </a:t>
            </a:r>
            <a:r>
              <a:rPr lang="en-US" altLang="en-US" dirty="0" smtClean="0"/>
              <a:t>0 0 0 </a:t>
            </a:r>
          </a:p>
          <a:p>
            <a:pPr>
              <a:buFont typeface="Monotype Sorts" pitchFamily="-84" charset="2"/>
              <a:buNone/>
              <a:tabLst>
                <a:tab pos="1428750" algn="l"/>
                <a:tab pos="2338388" algn="ctr"/>
                <a:tab pos="3594100" algn="ctr"/>
                <a:tab pos="4921250" algn="ctr"/>
              </a:tabLst>
            </a:pPr>
            <a:r>
              <a:rPr lang="en-US" altLang="en-US" i="1" dirty="0" smtClean="0"/>
              <a:t>             P</a:t>
            </a:r>
            <a:r>
              <a:rPr lang="en-US" altLang="en-US" baseline="-25000" dirty="0" smtClean="0"/>
              <a:t>3</a:t>
            </a:r>
            <a:r>
              <a:rPr lang="en-US" altLang="en-US" dirty="0" smtClean="0"/>
              <a:t>		2 1 1 	   1 0 0 </a:t>
            </a:r>
          </a:p>
          <a:p>
            <a:pPr>
              <a:buFont typeface="Monotype Sorts" pitchFamily="-84" charset="2"/>
              <a:buNone/>
              <a:tabLst>
                <a:tab pos="1428750" algn="l"/>
                <a:tab pos="2338388" algn="ctr"/>
                <a:tab pos="3594100" algn="ctr"/>
                <a:tab pos="4921250" algn="ctr"/>
              </a:tabLst>
            </a:pPr>
            <a:r>
              <a:rPr lang="en-US" altLang="en-US" dirty="0" smtClean="0"/>
              <a:t>	       </a:t>
            </a:r>
            <a:r>
              <a:rPr lang="en-US" altLang="en-US" i="1" dirty="0" smtClean="0"/>
              <a:t>P</a:t>
            </a:r>
            <a:r>
              <a:rPr lang="en-US" altLang="en-US" baseline="-25000" dirty="0" smtClean="0"/>
              <a:t>4	</a:t>
            </a:r>
            <a:r>
              <a:rPr lang="en-US" altLang="en-US" dirty="0" smtClean="0"/>
              <a:t>	0 0 2 	   0 0 2</a:t>
            </a:r>
          </a:p>
          <a:p>
            <a:pPr>
              <a:buFont typeface="Monotype Sorts" pitchFamily="-84" charset="2"/>
              <a:buNone/>
              <a:tabLst>
                <a:tab pos="1428750" algn="l"/>
                <a:tab pos="2338388" algn="ctr"/>
                <a:tab pos="3594100" algn="ctr"/>
                <a:tab pos="4921250" algn="ctr"/>
              </a:tabLst>
            </a:pPr>
            <a:endParaRPr lang="en-US" altLang="en-US" dirty="0" smtClean="0"/>
          </a:p>
          <a:p>
            <a:pPr>
              <a:tabLst>
                <a:tab pos="1428750" algn="l"/>
                <a:tab pos="2338388" algn="ctr"/>
                <a:tab pos="3594100" algn="ctr"/>
                <a:tab pos="4921250" algn="ctr"/>
              </a:tabLst>
            </a:pPr>
            <a:r>
              <a:rPr lang="en-US" altLang="en-US" dirty="0" smtClean="0"/>
              <a:t>Sequence &lt;</a:t>
            </a:r>
            <a:r>
              <a:rPr lang="en-US" altLang="en-US" b="1" i="1" dirty="0" smtClean="0"/>
              <a:t>P</a:t>
            </a:r>
            <a:r>
              <a:rPr lang="en-US" altLang="en-US" b="1" i="1" baseline="-25000" dirty="0" smtClean="0"/>
              <a:t>0</a:t>
            </a:r>
            <a:r>
              <a:rPr lang="en-US" altLang="en-US" b="1" i="1" dirty="0" smtClean="0"/>
              <a:t>, P</a:t>
            </a:r>
            <a:r>
              <a:rPr lang="en-US" altLang="en-US" b="1" i="1" baseline="-25000" dirty="0" smtClean="0"/>
              <a:t>2</a:t>
            </a:r>
            <a:r>
              <a:rPr lang="en-US" altLang="en-US" b="1" i="1" dirty="0" smtClean="0"/>
              <a:t>, P</a:t>
            </a:r>
            <a:r>
              <a:rPr lang="en-US" altLang="en-US" b="1" i="1" baseline="-25000" dirty="0" smtClean="0"/>
              <a:t>3</a:t>
            </a:r>
            <a:r>
              <a:rPr lang="en-US" altLang="en-US" b="1" i="1" dirty="0" smtClean="0"/>
              <a:t>, P</a:t>
            </a:r>
            <a:r>
              <a:rPr lang="en-US" altLang="en-US" b="1" i="1" baseline="-25000" dirty="0" smtClean="0"/>
              <a:t>1</a:t>
            </a:r>
            <a:r>
              <a:rPr lang="en-US" altLang="en-US" b="1" i="1" dirty="0" smtClean="0"/>
              <a:t>, P</a:t>
            </a:r>
            <a:r>
              <a:rPr lang="en-US" altLang="en-US" b="1" i="1" baseline="-25000" dirty="0" smtClean="0"/>
              <a:t>4</a:t>
            </a:r>
            <a:r>
              <a:rPr lang="en-US" altLang="en-US" dirty="0" smtClean="0"/>
              <a:t>&gt; will result in </a:t>
            </a:r>
            <a:r>
              <a:rPr lang="en-US" altLang="en-US" b="1" i="1" dirty="0" smtClean="0"/>
              <a:t>Finish[</a:t>
            </a:r>
            <a:r>
              <a:rPr lang="en-US" altLang="en-US" b="1" i="1" dirty="0" err="1" smtClean="0"/>
              <a:t>i</a:t>
            </a:r>
            <a:r>
              <a:rPr lang="en-US" altLang="en-US" b="1" i="1" dirty="0" smtClean="0"/>
              <a:t>] = true </a:t>
            </a:r>
            <a:r>
              <a:rPr lang="en-US" altLang="en-US" dirty="0" smtClean="0"/>
              <a:t>for all </a:t>
            </a:r>
            <a:r>
              <a:rPr lang="en-US" altLang="en-US" b="1" i="1" dirty="0" err="1" smtClean="0"/>
              <a:t>i</a:t>
            </a:r>
            <a:endParaRPr lang="en-US" altLang="en-US" b="1" dirty="0" smtClean="0"/>
          </a:p>
          <a:p>
            <a:pPr>
              <a:buFont typeface="Monotype Sorts" pitchFamily="-84" charset="2"/>
              <a:buNone/>
              <a:tabLst>
                <a:tab pos="1428750" algn="l"/>
                <a:tab pos="2338388" algn="ctr"/>
                <a:tab pos="3594100" algn="ctr"/>
                <a:tab pos="4921250" algn="ctr"/>
              </a:tabLst>
            </a:pPr>
            <a:endParaRPr lang="en-US" altLang="en-US" dirty="0" smtClean="0"/>
          </a:p>
        </p:txBody>
      </p:sp>
    </p:spTree>
    <p:extLst>
      <p:ext uri="{BB962C8B-B14F-4D97-AF65-F5344CB8AC3E}">
        <p14:creationId xmlns:p14="http://schemas.microsoft.com/office/powerpoint/2010/main" val="245066922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457200" y="214313"/>
            <a:ext cx="8229600" cy="576262"/>
          </a:xfrm>
        </p:spPr>
        <p:txBody>
          <a:bodyPr>
            <a:normAutofit fontScale="90000"/>
          </a:bodyPr>
          <a:lstStyle/>
          <a:p>
            <a:pPr eaLnBrk="1" hangingPunct="1"/>
            <a:r>
              <a:rPr lang="en-US" altLang="en-US" smtClean="0"/>
              <a:t>Example (Cont.)</a:t>
            </a:r>
          </a:p>
        </p:txBody>
      </p:sp>
      <p:sp>
        <p:nvSpPr>
          <p:cNvPr id="44035" name="Rectangle 3"/>
          <p:cNvSpPr>
            <a:spLocks noGrp="1" noChangeArrowheads="1"/>
          </p:cNvSpPr>
          <p:nvPr>
            <p:ph type="body" idx="1"/>
          </p:nvPr>
        </p:nvSpPr>
        <p:spPr>
          <a:xfrm>
            <a:off x="806450" y="1233488"/>
            <a:ext cx="7781925" cy="5037137"/>
          </a:xfrm>
        </p:spPr>
        <p:txBody>
          <a:bodyPr>
            <a:normAutofit fontScale="92500" lnSpcReduction="10000"/>
          </a:bodyPr>
          <a:lstStyle/>
          <a:p>
            <a:pPr>
              <a:tabLst>
                <a:tab pos="2800350" algn="l"/>
                <a:tab pos="3708400" algn="ctr"/>
              </a:tabLst>
            </a:pPr>
            <a:r>
              <a:rPr lang="en-US" altLang="en-US" b="1" i="1" smtClean="0"/>
              <a:t>P</a:t>
            </a:r>
            <a:r>
              <a:rPr lang="en-US" altLang="en-US" b="1" baseline="-25000" smtClean="0"/>
              <a:t>2</a:t>
            </a:r>
            <a:r>
              <a:rPr lang="en-US" altLang="en-US" smtClean="0"/>
              <a:t> requests an additional instance of type</a:t>
            </a:r>
            <a:r>
              <a:rPr lang="en-US" altLang="en-US" i="1" smtClean="0"/>
              <a:t> </a:t>
            </a:r>
            <a:r>
              <a:rPr lang="en-US" altLang="en-US" b="1" i="1" smtClean="0"/>
              <a:t>C</a:t>
            </a:r>
            <a:endParaRPr lang="en-US" altLang="en-US" b="1" smtClean="0"/>
          </a:p>
          <a:p>
            <a:pPr>
              <a:buFont typeface="Monotype Sorts" pitchFamily="-84" charset="2"/>
              <a:buNone/>
              <a:tabLst>
                <a:tab pos="2800350" algn="l"/>
                <a:tab pos="3708400" algn="ctr"/>
              </a:tabLst>
            </a:pPr>
            <a:r>
              <a:rPr lang="en-US" altLang="en-US" smtClean="0"/>
              <a:t>			</a:t>
            </a:r>
            <a:r>
              <a:rPr lang="en-US" altLang="en-US" i="1" u="sng" smtClean="0"/>
              <a:t>Request</a:t>
            </a:r>
            <a:endParaRPr lang="en-US" altLang="en-US" i="1" smtClean="0"/>
          </a:p>
          <a:p>
            <a:pPr>
              <a:buFont typeface="Monotype Sorts" pitchFamily="-84" charset="2"/>
              <a:buNone/>
              <a:tabLst>
                <a:tab pos="2800350" algn="l"/>
                <a:tab pos="3708400" algn="ctr"/>
              </a:tabLst>
            </a:pPr>
            <a:r>
              <a:rPr lang="en-US" altLang="en-US" i="1" smtClean="0"/>
              <a:t>			A B C</a:t>
            </a:r>
          </a:p>
          <a:p>
            <a:pPr>
              <a:buFont typeface="Monotype Sorts" pitchFamily="-84" charset="2"/>
              <a:buNone/>
              <a:tabLst>
                <a:tab pos="2800350" algn="l"/>
                <a:tab pos="3708400" algn="ctr"/>
              </a:tabLst>
            </a:pPr>
            <a:r>
              <a:rPr lang="en-US" altLang="en-US" smtClean="0"/>
              <a:t>		 </a:t>
            </a:r>
            <a:r>
              <a:rPr lang="en-US" altLang="en-US" i="1" smtClean="0"/>
              <a:t>P</a:t>
            </a:r>
            <a:r>
              <a:rPr lang="en-US" altLang="en-US" baseline="-25000" smtClean="0"/>
              <a:t>0</a:t>
            </a:r>
            <a:r>
              <a:rPr lang="en-US" altLang="en-US" smtClean="0"/>
              <a:t>	0 0 0</a:t>
            </a:r>
          </a:p>
          <a:p>
            <a:pPr>
              <a:buFont typeface="Monotype Sorts" pitchFamily="-84" charset="2"/>
              <a:buNone/>
              <a:tabLst>
                <a:tab pos="2800350" algn="l"/>
                <a:tab pos="3708400" algn="ctr"/>
              </a:tabLst>
            </a:pPr>
            <a:r>
              <a:rPr lang="en-US" altLang="en-US" smtClean="0"/>
              <a:t>		 </a:t>
            </a:r>
            <a:r>
              <a:rPr lang="en-US" altLang="en-US" i="1" smtClean="0"/>
              <a:t>P</a:t>
            </a:r>
            <a:r>
              <a:rPr lang="en-US" altLang="en-US" baseline="-25000" smtClean="0"/>
              <a:t>1</a:t>
            </a:r>
            <a:r>
              <a:rPr lang="en-US" altLang="en-US" smtClean="0"/>
              <a:t>	2 0 2</a:t>
            </a:r>
          </a:p>
          <a:p>
            <a:pPr>
              <a:buFont typeface="Monotype Sorts" pitchFamily="-84" charset="2"/>
              <a:buNone/>
              <a:tabLst>
                <a:tab pos="2800350" algn="l"/>
                <a:tab pos="3708400" algn="ctr"/>
              </a:tabLst>
            </a:pPr>
            <a:r>
              <a:rPr lang="en-US" altLang="en-US" smtClean="0"/>
              <a:t>		 </a:t>
            </a:r>
            <a:r>
              <a:rPr lang="en-US" altLang="en-US" i="1" smtClean="0"/>
              <a:t>P</a:t>
            </a:r>
            <a:r>
              <a:rPr lang="en-US" altLang="en-US" baseline="-25000" smtClean="0"/>
              <a:t>2</a:t>
            </a:r>
            <a:r>
              <a:rPr lang="en-US" altLang="en-US" smtClean="0"/>
              <a:t>	0 0 1</a:t>
            </a:r>
          </a:p>
          <a:p>
            <a:pPr>
              <a:buFont typeface="Monotype Sorts" pitchFamily="-84" charset="2"/>
              <a:buNone/>
              <a:tabLst>
                <a:tab pos="2800350" algn="l"/>
                <a:tab pos="3708400" algn="ctr"/>
              </a:tabLst>
            </a:pPr>
            <a:r>
              <a:rPr lang="en-US" altLang="en-US" smtClean="0"/>
              <a:t>		 </a:t>
            </a:r>
            <a:r>
              <a:rPr lang="en-US" altLang="en-US" i="1" smtClean="0"/>
              <a:t>P</a:t>
            </a:r>
            <a:r>
              <a:rPr lang="en-US" altLang="en-US" baseline="-25000" smtClean="0"/>
              <a:t>3</a:t>
            </a:r>
            <a:r>
              <a:rPr lang="en-US" altLang="en-US" smtClean="0"/>
              <a:t>	1 0 0 </a:t>
            </a:r>
          </a:p>
          <a:p>
            <a:pPr>
              <a:buFont typeface="Monotype Sorts" pitchFamily="-84" charset="2"/>
              <a:buNone/>
              <a:tabLst>
                <a:tab pos="2800350" algn="l"/>
                <a:tab pos="3708400" algn="ctr"/>
              </a:tabLst>
            </a:pPr>
            <a:r>
              <a:rPr lang="en-US" altLang="en-US" smtClean="0"/>
              <a:t>		 </a:t>
            </a:r>
            <a:r>
              <a:rPr lang="en-US" altLang="en-US" i="1" smtClean="0"/>
              <a:t>P</a:t>
            </a:r>
            <a:r>
              <a:rPr lang="en-US" altLang="en-US" baseline="-25000" smtClean="0"/>
              <a:t>4</a:t>
            </a:r>
            <a:r>
              <a:rPr lang="en-US" altLang="en-US" smtClean="0"/>
              <a:t>	0 0 2</a:t>
            </a:r>
          </a:p>
          <a:p>
            <a:pPr>
              <a:buFont typeface="Monotype Sorts" pitchFamily="-84" charset="2"/>
              <a:buNone/>
              <a:tabLst>
                <a:tab pos="2800350" algn="l"/>
                <a:tab pos="3708400" algn="ctr"/>
              </a:tabLst>
            </a:pPr>
            <a:endParaRPr lang="en-US" altLang="en-US" sz="800" smtClean="0"/>
          </a:p>
          <a:p>
            <a:pPr>
              <a:tabLst>
                <a:tab pos="2800350" algn="l"/>
                <a:tab pos="3708400" algn="ctr"/>
              </a:tabLst>
            </a:pPr>
            <a:r>
              <a:rPr lang="en-US" altLang="en-US" smtClean="0"/>
              <a:t>State of system?</a:t>
            </a:r>
          </a:p>
          <a:p>
            <a:pPr lvl="1">
              <a:tabLst>
                <a:tab pos="2800350" algn="l"/>
                <a:tab pos="3708400" algn="ctr"/>
              </a:tabLst>
            </a:pPr>
            <a:r>
              <a:rPr lang="en-US" altLang="en-US" smtClean="0"/>
              <a:t>Can reclaim resources held by process </a:t>
            </a:r>
            <a:r>
              <a:rPr lang="en-US" altLang="en-US" b="1" i="1" smtClean="0"/>
              <a:t>P</a:t>
            </a:r>
            <a:r>
              <a:rPr lang="en-US" altLang="en-US" b="1" baseline="-25000" smtClean="0"/>
              <a:t>0</a:t>
            </a:r>
            <a:r>
              <a:rPr lang="en-US" altLang="en-US" smtClean="0"/>
              <a:t>, but insufficient resources to fulfill other processes; requests</a:t>
            </a:r>
          </a:p>
          <a:p>
            <a:pPr lvl="1">
              <a:tabLst>
                <a:tab pos="2800350" algn="l"/>
                <a:tab pos="3708400" algn="ctr"/>
              </a:tabLst>
            </a:pPr>
            <a:r>
              <a:rPr lang="en-US" altLang="en-US" smtClean="0"/>
              <a:t>Deadlock exists, consisting of processes </a:t>
            </a:r>
            <a:r>
              <a:rPr lang="en-US" altLang="en-US" b="1" i="1" smtClean="0"/>
              <a:t>P</a:t>
            </a:r>
            <a:r>
              <a:rPr lang="en-US" altLang="en-US" b="1" baseline="-25000" smtClean="0"/>
              <a:t>1</a:t>
            </a:r>
            <a:r>
              <a:rPr lang="en-US" altLang="en-US" b="1" smtClean="0"/>
              <a:t>, </a:t>
            </a:r>
            <a:r>
              <a:rPr lang="en-US" altLang="en-US" b="1" baseline="-25000" smtClean="0"/>
              <a:t> </a:t>
            </a:r>
            <a:r>
              <a:rPr lang="en-US" altLang="en-US" b="1" i="1" smtClean="0"/>
              <a:t>P</a:t>
            </a:r>
            <a:r>
              <a:rPr lang="en-US" altLang="en-US" b="1" baseline="-25000" smtClean="0"/>
              <a:t>2</a:t>
            </a:r>
            <a:r>
              <a:rPr lang="en-US" altLang="en-US" b="1" smtClean="0"/>
              <a:t>, </a:t>
            </a:r>
            <a:r>
              <a:rPr lang="en-US" altLang="en-US" b="1" i="1" smtClean="0"/>
              <a:t>P</a:t>
            </a:r>
            <a:r>
              <a:rPr lang="en-US" altLang="en-US" b="1" baseline="-25000" smtClean="0"/>
              <a:t>3</a:t>
            </a:r>
            <a:r>
              <a:rPr lang="en-US" altLang="en-US" smtClean="0"/>
              <a:t>, and </a:t>
            </a:r>
            <a:r>
              <a:rPr lang="en-US" altLang="en-US" b="1" i="1" smtClean="0"/>
              <a:t>P</a:t>
            </a:r>
            <a:r>
              <a:rPr lang="en-US" altLang="en-US" b="1" baseline="-25000" smtClean="0"/>
              <a:t>4</a:t>
            </a:r>
            <a:endParaRPr lang="en-US" altLang="en-US" b="1" smtClean="0"/>
          </a:p>
        </p:txBody>
      </p:sp>
    </p:spTree>
    <p:extLst>
      <p:ext uri="{BB962C8B-B14F-4D97-AF65-F5344CB8AC3E}">
        <p14:creationId xmlns:p14="http://schemas.microsoft.com/office/powerpoint/2010/main" val="307988053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1100138" y="230188"/>
            <a:ext cx="7586662" cy="576262"/>
          </a:xfrm>
        </p:spPr>
        <p:txBody>
          <a:bodyPr>
            <a:normAutofit fontScale="90000"/>
          </a:bodyPr>
          <a:lstStyle/>
          <a:p>
            <a:pPr eaLnBrk="1" hangingPunct="1"/>
            <a:r>
              <a:rPr lang="en-US" altLang="en-US" smtClean="0"/>
              <a:t>Detection-Algorithm Usage</a:t>
            </a:r>
          </a:p>
        </p:txBody>
      </p:sp>
      <p:sp>
        <p:nvSpPr>
          <p:cNvPr id="45059" name="Rectangle 3"/>
          <p:cNvSpPr>
            <a:spLocks noGrp="1" noChangeArrowheads="1"/>
          </p:cNvSpPr>
          <p:nvPr>
            <p:ph type="body" idx="1"/>
          </p:nvPr>
        </p:nvSpPr>
        <p:spPr>
          <a:xfrm>
            <a:off x="869950" y="1122363"/>
            <a:ext cx="7107238" cy="4530725"/>
          </a:xfrm>
        </p:spPr>
        <p:txBody>
          <a:bodyPr/>
          <a:lstStyle/>
          <a:p>
            <a:r>
              <a:rPr lang="en-US" altLang="en-US" smtClean="0"/>
              <a:t>When, and how often, to invoke depends on:</a:t>
            </a:r>
          </a:p>
          <a:p>
            <a:pPr lvl="1"/>
            <a:r>
              <a:rPr lang="en-US" altLang="en-US" smtClean="0"/>
              <a:t>How often a deadlock is likely to occur?</a:t>
            </a:r>
          </a:p>
          <a:p>
            <a:pPr lvl="1"/>
            <a:r>
              <a:rPr lang="en-US" altLang="en-US" smtClean="0"/>
              <a:t>How many processes will need to be rolled back?</a:t>
            </a:r>
          </a:p>
          <a:p>
            <a:pPr lvl="2"/>
            <a:r>
              <a:rPr lang="en-US" altLang="en-US" smtClean="0"/>
              <a:t>one for each disjoint cycle</a:t>
            </a:r>
            <a:br>
              <a:rPr lang="en-US" altLang="en-US" smtClean="0"/>
            </a:br>
            <a:endParaRPr lang="en-US" altLang="en-US" smtClean="0"/>
          </a:p>
          <a:p>
            <a:r>
              <a:rPr lang="en-US" altLang="en-US" smtClean="0"/>
              <a:t>If detection algorithm is invoked arbitrarily, there may be many cycles in the resource graph and so we would not be able to tell which of the many deadlocked processes </a:t>
            </a:r>
            <a:r>
              <a:rPr lang="ja-JP" altLang="en-US" smtClean="0"/>
              <a:t>“</a:t>
            </a:r>
            <a:r>
              <a:rPr lang="en-US" altLang="ja-JP" smtClean="0"/>
              <a:t>caused</a:t>
            </a:r>
            <a:r>
              <a:rPr lang="ja-JP" altLang="en-US" smtClean="0"/>
              <a:t>”</a:t>
            </a:r>
            <a:r>
              <a:rPr lang="en-US" altLang="ja-JP" smtClean="0"/>
              <a:t> the deadlock.</a:t>
            </a:r>
            <a:endParaRPr lang="en-US" altLang="en-US" smtClean="0"/>
          </a:p>
        </p:txBody>
      </p:sp>
    </p:spTree>
    <p:extLst>
      <p:ext uri="{BB962C8B-B14F-4D97-AF65-F5344CB8AC3E}">
        <p14:creationId xmlns:p14="http://schemas.microsoft.com/office/powerpoint/2010/main" val="316362460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823913" y="228600"/>
            <a:ext cx="8588375" cy="457200"/>
          </a:xfrm>
        </p:spPr>
        <p:txBody>
          <a:bodyPr/>
          <a:lstStyle/>
          <a:p>
            <a:pPr eaLnBrk="1" hangingPunct="1"/>
            <a:r>
              <a:rPr lang="en-US" altLang="en-US" sz="2400" smtClean="0"/>
              <a:t>Recovery from Deadlock:  Process Termination</a:t>
            </a:r>
          </a:p>
        </p:txBody>
      </p:sp>
      <p:sp>
        <p:nvSpPr>
          <p:cNvPr id="46083" name="Rectangle 3"/>
          <p:cNvSpPr>
            <a:spLocks noGrp="1" noChangeArrowheads="1"/>
          </p:cNvSpPr>
          <p:nvPr>
            <p:ph type="body" idx="1"/>
          </p:nvPr>
        </p:nvSpPr>
        <p:spPr>
          <a:xfrm>
            <a:off x="963613" y="1108075"/>
            <a:ext cx="7694612" cy="4530725"/>
          </a:xfrm>
        </p:spPr>
        <p:txBody>
          <a:bodyPr>
            <a:normAutofit fontScale="92500" lnSpcReduction="20000"/>
          </a:bodyPr>
          <a:lstStyle/>
          <a:p>
            <a:r>
              <a:rPr lang="en-US" altLang="en-US" smtClean="0"/>
              <a:t>Abort all deadlocked processes</a:t>
            </a:r>
            <a:br>
              <a:rPr lang="en-US" altLang="en-US" smtClean="0"/>
            </a:br>
            <a:endParaRPr lang="en-US" altLang="en-US" smtClean="0"/>
          </a:p>
          <a:p>
            <a:r>
              <a:rPr lang="en-US" altLang="en-US" smtClean="0"/>
              <a:t>Abort one process at a time until the deadlock cycle is eliminated</a:t>
            </a:r>
            <a:br>
              <a:rPr lang="en-US" altLang="en-US" smtClean="0"/>
            </a:br>
            <a:endParaRPr lang="en-US" altLang="en-US" smtClean="0"/>
          </a:p>
          <a:p>
            <a:r>
              <a:rPr lang="en-US" altLang="en-US" smtClean="0"/>
              <a:t>In which order should we choose to abort?</a:t>
            </a:r>
          </a:p>
          <a:p>
            <a:pPr marL="800100" lvl="1" indent="-342900">
              <a:buFont typeface="Arial" pitchFamily="34" charset="0"/>
              <a:buAutoNum type="arabicPeriod"/>
            </a:pPr>
            <a:r>
              <a:rPr lang="en-US" altLang="en-US" smtClean="0"/>
              <a:t>Priority of the process</a:t>
            </a:r>
          </a:p>
          <a:p>
            <a:pPr marL="800100" lvl="1" indent="-342900">
              <a:buFont typeface="Arial" pitchFamily="34" charset="0"/>
              <a:buAutoNum type="arabicPeriod"/>
            </a:pPr>
            <a:r>
              <a:rPr lang="en-US" altLang="en-US" smtClean="0"/>
              <a:t>How long process has computed, and how much longer to completion</a:t>
            </a:r>
          </a:p>
          <a:p>
            <a:pPr marL="800100" lvl="1" indent="-342900">
              <a:buFont typeface="Arial" pitchFamily="34" charset="0"/>
              <a:buAutoNum type="arabicPeriod"/>
            </a:pPr>
            <a:r>
              <a:rPr lang="en-US" altLang="en-US" smtClean="0"/>
              <a:t>Resources the process has used</a:t>
            </a:r>
          </a:p>
          <a:p>
            <a:pPr marL="800100" lvl="1" indent="-342900">
              <a:buFont typeface="Arial" pitchFamily="34" charset="0"/>
              <a:buAutoNum type="arabicPeriod"/>
            </a:pPr>
            <a:r>
              <a:rPr lang="en-US" altLang="en-US" smtClean="0"/>
              <a:t>Resources process needs to complete</a:t>
            </a:r>
          </a:p>
          <a:p>
            <a:pPr marL="800100" lvl="1" indent="-342900">
              <a:buFont typeface="Arial" pitchFamily="34" charset="0"/>
              <a:buAutoNum type="arabicPeriod"/>
            </a:pPr>
            <a:r>
              <a:rPr lang="en-US" altLang="en-US" smtClean="0"/>
              <a:t>How many processes will need to be terminated</a:t>
            </a:r>
          </a:p>
          <a:p>
            <a:pPr marL="800100" lvl="1" indent="-342900">
              <a:buFont typeface="Arial" pitchFamily="34" charset="0"/>
              <a:buAutoNum type="arabicPeriod"/>
            </a:pPr>
            <a:r>
              <a:rPr lang="en-US" altLang="en-US" smtClean="0"/>
              <a:t>Is process interactive or batch?</a:t>
            </a:r>
          </a:p>
        </p:txBody>
      </p:sp>
    </p:spTree>
    <p:extLst>
      <p:ext uri="{BB962C8B-B14F-4D97-AF65-F5344CB8AC3E}">
        <p14:creationId xmlns:p14="http://schemas.microsoft.com/office/powerpoint/2010/main" val="257592275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1147763" y="255588"/>
            <a:ext cx="8020050" cy="457200"/>
          </a:xfrm>
        </p:spPr>
        <p:txBody>
          <a:bodyPr/>
          <a:lstStyle/>
          <a:p>
            <a:pPr eaLnBrk="1" hangingPunct="1"/>
            <a:r>
              <a:rPr lang="en-US" altLang="en-US" sz="2400" smtClean="0"/>
              <a:t>Recovery from Deadlock:  Resource Preemption</a:t>
            </a:r>
          </a:p>
        </p:txBody>
      </p:sp>
      <p:sp>
        <p:nvSpPr>
          <p:cNvPr id="47107" name="Rectangle 3"/>
          <p:cNvSpPr>
            <a:spLocks noGrp="1" noChangeArrowheads="1"/>
          </p:cNvSpPr>
          <p:nvPr>
            <p:ph type="body" idx="1"/>
          </p:nvPr>
        </p:nvSpPr>
        <p:spPr>
          <a:xfrm>
            <a:off x="858838" y="1150938"/>
            <a:ext cx="6802437" cy="4483100"/>
          </a:xfrm>
        </p:spPr>
        <p:txBody>
          <a:bodyPr/>
          <a:lstStyle/>
          <a:p>
            <a:r>
              <a:rPr lang="en-US" altLang="en-US" b="1" smtClean="0"/>
              <a:t>Selecting a victim </a:t>
            </a:r>
            <a:r>
              <a:rPr lang="en-US" altLang="en-US" smtClean="0"/>
              <a:t>– minimize cost</a:t>
            </a:r>
            <a:br>
              <a:rPr lang="en-US" altLang="en-US" smtClean="0"/>
            </a:br>
            <a:endParaRPr lang="en-US" altLang="en-US" smtClean="0"/>
          </a:p>
          <a:p>
            <a:r>
              <a:rPr lang="en-US" altLang="en-US" b="1" smtClean="0"/>
              <a:t>Rollback</a:t>
            </a:r>
            <a:r>
              <a:rPr lang="en-US" altLang="en-US" smtClean="0"/>
              <a:t> – return to some safe state, restart process for that state</a:t>
            </a:r>
            <a:br>
              <a:rPr lang="en-US" altLang="en-US" smtClean="0"/>
            </a:br>
            <a:endParaRPr lang="en-US" altLang="en-US" smtClean="0"/>
          </a:p>
          <a:p>
            <a:r>
              <a:rPr lang="en-US" altLang="en-US" b="1" smtClean="0"/>
              <a:t>Starvation</a:t>
            </a:r>
            <a:r>
              <a:rPr lang="en-US" altLang="en-US" smtClean="0"/>
              <a:t> –  same process may always be picked as victim, include number of rollback in cost factor</a:t>
            </a:r>
          </a:p>
        </p:txBody>
      </p:sp>
    </p:spTree>
    <p:extLst>
      <p:ext uri="{BB962C8B-B14F-4D97-AF65-F5344CB8AC3E}">
        <p14:creationId xmlns:p14="http://schemas.microsoft.com/office/powerpoint/2010/main" val="28506322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73</TotalTime>
  <Words>2824</Words>
  <Application>Microsoft Office PowerPoint</Application>
  <PresentationFormat>On-screen Show (4:3)</PresentationFormat>
  <Paragraphs>575</Paragraphs>
  <Slides>68</Slides>
  <Notes>66</Notes>
  <HiddenSlides>0</HiddenSlides>
  <MMClips>0</MMClips>
  <ScaleCrop>false</ScaleCrop>
  <HeadingPairs>
    <vt:vector size="6" baseType="variant">
      <vt:variant>
        <vt:lpstr>Theme</vt:lpstr>
      </vt:variant>
      <vt:variant>
        <vt:i4>1</vt:i4>
      </vt:variant>
      <vt:variant>
        <vt:lpstr>Embedded OLE Servers</vt:lpstr>
      </vt:variant>
      <vt:variant>
        <vt:i4>2</vt:i4>
      </vt:variant>
      <vt:variant>
        <vt:lpstr>Slide Titles</vt:lpstr>
      </vt:variant>
      <vt:variant>
        <vt:i4>68</vt:i4>
      </vt:variant>
    </vt:vector>
  </HeadingPairs>
  <TitlesOfParts>
    <vt:vector size="71" baseType="lpstr">
      <vt:lpstr>Origin</vt:lpstr>
      <vt:lpstr>Microsoft Equation</vt:lpstr>
      <vt:lpstr>Microsoft Equation 3.0</vt:lpstr>
      <vt:lpstr>BCSE303L -  Operating Systems</vt:lpstr>
      <vt:lpstr>CPU Scheduling : Basic Concepts</vt:lpstr>
      <vt:lpstr>Histogram of CPU-burst Times</vt:lpstr>
      <vt:lpstr>CPU Scheduler</vt:lpstr>
      <vt:lpstr>Preemptive and Nonpreemptive Scheduling</vt:lpstr>
      <vt:lpstr>Preemptive Scheduling and Race Conditions</vt:lpstr>
      <vt:lpstr>Dispatcher</vt:lpstr>
      <vt:lpstr>Scheduling Criteria</vt:lpstr>
      <vt:lpstr>Scheduling Algorithm Optimization Criteria</vt:lpstr>
      <vt:lpstr>First- Come, First-Served (FCFS) Scheduling</vt:lpstr>
      <vt:lpstr>FCFS Scheduling (Cont.)</vt:lpstr>
      <vt:lpstr>Shortest-Job-First (SJF) Scheduling</vt:lpstr>
      <vt:lpstr>Example of SJF</vt:lpstr>
      <vt:lpstr>Determining Length of Next CPU Burst</vt:lpstr>
      <vt:lpstr>Example of Shortest-remaining-time-first</vt:lpstr>
      <vt:lpstr>Priority Scheduling</vt:lpstr>
      <vt:lpstr>Example of Priority Scheduling</vt:lpstr>
      <vt:lpstr>Round Robin (RR)</vt:lpstr>
      <vt:lpstr>Example of RR with Time Quantum = 4</vt:lpstr>
      <vt:lpstr>Priority Scheduling w/ Round-Robin</vt:lpstr>
      <vt:lpstr>Multilevel Queue</vt:lpstr>
      <vt:lpstr>Multilevel Queue Scheduling</vt:lpstr>
      <vt:lpstr>Multilevel Feedback Queue</vt:lpstr>
      <vt:lpstr>Example of Multilevel Feedback Queue</vt:lpstr>
      <vt:lpstr>Multiple-Processor Scheduling</vt:lpstr>
      <vt:lpstr>Multiple-Processor Scheduling</vt:lpstr>
      <vt:lpstr>Multiple-Processor Scheduling</vt:lpstr>
      <vt:lpstr>Multiple-Processor Scheduling – Load Balancing</vt:lpstr>
      <vt:lpstr>System Model</vt:lpstr>
      <vt:lpstr>Deadlock Characterization</vt:lpstr>
      <vt:lpstr>Resource-Allocation Graph</vt:lpstr>
      <vt:lpstr>Resource-Allocation Graph (Cont.)</vt:lpstr>
      <vt:lpstr>Example of a Resource Allocation Graph</vt:lpstr>
      <vt:lpstr>Resource Allocation Graph With A Deadlock</vt:lpstr>
      <vt:lpstr>Graph With A Cycle But No Deadlock</vt:lpstr>
      <vt:lpstr>Basic Facts</vt:lpstr>
      <vt:lpstr>Methods for Handling Deadlocks</vt:lpstr>
      <vt:lpstr>Deadlock Prevention</vt:lpstr>
      <vt:lpstr>Deadlock Prevention (Cont.)</vt:lpstr>
      <vt:lpstr>Deadlock Example</vt:lpstr>
      <vt:lpstr>Deadlock Example with Lock Ordering</vt:lpstr>
      <vt:lpstr>Deadlock Avoidance</vt:lpstr>
      <vt:lpstr>Safe State</vt:lpstr>
      <vt:lpstr>Basic Facts</vt:lpstr>
      <vt:lpstr>Safe, Unsafe, Deadlock State </vt:lpstr>
      <vt:lpstr>Avoidance Algorithms</vt:lpstr>
      <vt:lpstr>Resource-Allocation Graph Scheme</vt:lpstr>
      <vt:lpstr>Resource-Allocation Graph</vt:lpstr>
      <vt:lpstr>Unsafe State In Resource-Allocation Graph</vt:lpstr>
      <vt:lpstr>Resource-Allocation Graph Algorithm</vt:lpstr>
      <vt:lpstr>Banker’s Algorithm</vt:lpstr>
      <vt:lpstr>Data Structures for the Banker’s Algorithm </vt:lpstr>
      <vt:lpstr>Safety Algorithm</vt:lpstr>
      <vt:lpstr>Resource-Request Algorithm for Process Pi</vt:lpstr>
      <vt:lpstr>Example of Banker’s Algorithm</vt:lpstr>
      <vt:lpstr>Example (Cont.)</vt:lpstr>
      <vt:lpstr>Example:  P1 Request (1,0,2)</vt:lpstr>
      <vt:lpstr>Deadlock Detection</vt:lpstr>
      <vt:lpstr>Single Instance of Each Resource Type</vt:lpstr>
      <vt:lpstr>Resource-Allocation Graph and  Wait-for Graph</vt:lpstr>
      <vt:lpstr>Several Instances of a Resource Type</vt:lpstr>
      <vt:lpstr>Detection Algorithm</vt:lpstr>
      <vt:lpstr>Detection Algorithm (Cont.)</vt:lpstr>
      <vt:lpstr>Example of Detection Algorithm</vt:lpstr>
      <vt:lpstr>Example (Cont.)</vt:lpstr>
      <vt:lpstr>Detection-Algorithm Usage</vt:lpstr>
      <vt:lpstr>Recovery from Deadlock:  Process Termination</vt:lpstr>
      <vt:lpstr>Recovery from Deadlock:  Resource Preemption</vt:lpstr>
    </vt:vector>
  </TitlesOfParts>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BCSE303L -  Operating Systems</dc:title>
  <dc:creator>siva balan</dc:creator>
  <dc:description>generated using python-pptx</dc:description>
  <cp:lastModifiedBy>siva balan</cp:lastModifiedBy>
  <cp:revision>30</cp:revision>
  <dcterms:created xsi:type="dcterms:W3CDTF">2013-01-27T09:14:16Z</dcterms:created>
  <dcterms:modified xsi:type="dcterms:W3CDTF">2026-04-30T07:07:35Z</dcterms:modified>
</cp:coreProperties>
</file>