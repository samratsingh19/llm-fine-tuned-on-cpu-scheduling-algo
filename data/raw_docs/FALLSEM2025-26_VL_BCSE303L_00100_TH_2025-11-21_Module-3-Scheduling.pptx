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120" r:id="rId1"/>
  </p:sldMasterIdLst>
  <p:notesMasterIdLst>
    <p:notesMasterId r:id="rId31"/>
  </p:notesMasterIdLst>
  <p:handoutMasterIdLst>
    <p:handoutMasterId r:id="rId32"/>
  </p:handoutMasterIdLst>
  <p:sldIdLst>
    <p:sldId id="331" r:id="rId2"/>
    <p:sldId id="334" r:id="rId3"/>
    <p:sldId id="335" r:id="rId4"/>
    <p:sldId id="336" r:id="rId5"/>
    <p:sldId id="401" r:id="rId6"/>
    <p:sldId id="402" r:id="rId7"/>
    <p:sldId id="337" r:id="rId8"/>
    <p:sldId id="338" r:id="rId9"/>
    <p:sldId id="339" r:id="rId10"/>
    <p:sldId id="340" r:id="rId11"/>
    <p:sldId id="341" r:id="rId12"/>
    <p:sldId id="403" r:id="rId13"/>
    <p:sldId id="419" r:id="rId14"/>
    <p:sldId id="424" r:id="rId15"/>
    <p:sldId id="423" r:id="rId16"/>
    <p:sldId id="350" r:id="rId17"/>
    <p:sldId id="351" r:id="rId18"/>
    <p:sldId id="348" r:id="rId19"/>
    <p:sldId id="425" r:id="rId20"/>
    <p:sldId id="427" r:id="rId21"/>
    <p:sldId id="426" r:id="rId22"/>
    <p:sldId id="354" r:id="rId23"/>
    <p:sldId id="400" r:id="rId24"/>
    <p:sldId id="356" r:id="rId25"/>
    <p:sldId id="404" r:id="rId26"/>
    <p:sldId id="362" r:id="rId27"/>
    <p:sldId id="405" r:id="rId28"/>
    <p:sldId id="364" r:id="rId29"/>
    <p:sldId id="428" r:id="rId30"/>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4635"/>
  </p:normalViewPr>
  <p:slideViewPr>
    <p:cSldViewPr snapToGrid="0">
      <p:cViewPr varScale="1">
        <p:scale>
          <a:sx n="71" d="100"/>
          <a:sy n="71" d="100"/>
        </p:scale>
        <p:origin x="1627" y="67"/>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extLst>
      <p:ext uri="{BB962C8B-B14F-4D97-AF65-F5344CB8AC3E}">
        <p14:creationId xmlns:p14="http://schemas.microsoft.com/office/powerpoint/2010/main" val="41557789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26284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12290" name="Rectangle 2">
            <a:extLst>
              <a:ext uri="{FF2B5EF4-FFF2-40B4-BE49-F238E27FC236}">
                <a16:creationId xmlns=""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47553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3</a:t>
            </a:fld>
            <a:endParaRPr lang="en-US" altLang="en-US">
              <a:latin typeface="Times New Roman" panose="02020603050405020304" pitchFamily="18" charset="0"/>
            </a:endParaRPr>
          </a:p>
        </p:txBody>
      </p:sp>
      <p:sp>
        <p:nvSpPr>
          <p:cNvPr id="14338" name="Rectangle 2">
            <a:extLst>
              <a:ext uri="{FF2B5EF4-FFF2-40B4-BE49-F238E27FC236}">
                <a16:creationId xmlns="" xmlns:a16="http://schemas.microsoft.com/office/drawing/2014/main"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00531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6386" name="Rectangle 2">
            <a:extLst>
              <a:ext uri="{FF2B5EF4-FFF2-40B4-BE49-F238E27FC236}">
                <a16:creationId xmlns=""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0845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6386" name="Rectangle 2">
            <a:extLst>
              <a:ext uri="{FF2B5EF4-FFF2-40B4-BE49-F238E27FC236}">
                <a16:creationId xmlns=""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8434" name="Rectangle 2">
            <a:extLst>
              <a:ext uri="{FF2B5EF4-FFF2-40B4-BE49-F238E27FC236}">
                <a16:creationId xmlns=""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80770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0482" name="Rectangle 2">
            <a:extLst>
              <a:ext uri="{FF2B5EF4-FFF2-40B4-BE49-F238E27FC236}">
                <a16:creationId xmlns=""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76199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2530" name="Rectangle 2">
            <a:extLst>
              <a:ext uri="{FF2B5EF4-FFF2-40B4-BE49-F238E27FC236}">
                <a16:creationId xmlns=""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89779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4578" name="Rectangle 2">
            <a:extLst>
              <a:ext uri="{FF2B5EF4-FFF2-40B4-BE49-F238E27FC236}">
                <a16:creationId xmlns=""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17388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6626" name="Rectangle 2">
            <a:extLst>
              <a:ext uri="{FF2B5EF4-FFF2-40B4-BE49-F238E27FC236}">
                <a16:creationId xmlns=""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02809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8674" name="Rectangle 2">
            <a:extLst>
              <a:ext uri="{FF2B5EF4-FFF2-40B4-BE49-F238E27FC236}">
                <a16:creationId xmlns=""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4578" name="Rectangle 2">
            <a:extLst>
              <a:ext uri="{FF2B5EF4-FFF2-40B4-BE49-F238E27FC236}">
                <a16:creationId xmlns=""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0899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38914" name="Rectangle 2">
            <a:extLst>
              <a:ext uri="{FF2B5EF4-FFF2-40B4-BE49-F238E27FC236}">
                <a16:creationId xmlns=""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40962" name="Rectangle 2">
            <a:extLst>
              <a:ext uri="{FF2B5EF4-FFF2-40B4-BE49-F238E27FC236}">
                <a16:creationId xmlns=""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52320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43010" name="Rectangle 2">
            <a:extLst>
              <a:ext uri="{FF2B5EF4-FFF2-40B4-BE49-F238E27FC236}">
                <a16:creationId xmlns=""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98924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49154" name="Rectangle 2">
            <a:extLst>
              <a:ext uri="{FF2B5EF4-FFF2-40B4-BE49-F238E27FC236}">
                <a16:creationId xmlns=""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63519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51202" name="Rectangle 2">
            <a:extLst>
              <a:ext uri="{FF2B5EF4-FFF2-40B4-BE49-F238E27FC236}">
                <a16:creationId xmlns=""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3164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53250" name="Rectangle 2">
            <a:extLst>
              <a:ext uri="{FF2B5EF4-FFF2-40B4-BE49-F238E27FC236}">
                <a16:creationId xmlns=""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58370" name="Rectangle 2">
            <a:extLst>
              <a:ext uri="{FF2B5EF4-FFF2-40B4-BE49-F238E27FC236}">
                <a16:creationId xmlns=""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50707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55298" name="Rectangle 2">
            <a:extLst>
              <a:ext uri="{FF2B5EF4-FFF2-40B4-BE49-F238E27FC236}">
                <a16:creationId xmlns=""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192562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58370" name="Rectangle 2">
            <a:extLst>
              <a:ext uri="{FF2B5EF4-FFF2-40B4-BE49-F238E27FC236}">
                <a16:creationId xmlns=""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80086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60418" name="Rectangle 2">
            <a:extLst>
              <a:ext uri="{FF2B5EF4-FFF2-40B4-BE49-F238E27FC236}">
                <a16:creationId xmlns=""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70658" name="Rectangle 2">
            <a:extLst>
              <a:ext uri="{FF2B5EF4-FFF2-40B4-BE49-F238E27FC236}">
                <a16:creationId xmlns=""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041289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79874" name="Rectangle 2">
            <a:extLst>
              <a:ext uri="{FF2B5EF4-FFF2-40B4-BE49-F238E27FC236}">
                <a16:creationId xmlns=""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36163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6DFF08F-DC6B-4601-B491-B0F83F6DD2DA}" type="datetimeFigureOut">
              <a:rPr lang="en-US" smtClean="0"/>
              <a:pPr/>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873304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6DFF08F-DC6B-4601-B491-B0F83F6DD2DA}" type="datetimeFigureOut">
              <a:rPr lang="en-US" smtClean="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92187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92177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6DFF08F-DC6B-4601-B491-B0F83F6DD2DA}"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32272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6DFF08F-DC6B-4601-B491-B0F83F6DD2DA}" type="datetimeFigureOut">
              <a:rPr lang="en-US" smtClean="0"/>
              <a:t>8/12/2025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23374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6DFF08F-DC6B-4601-B491-B0F83F6DD2DA}" type="datetimeFigureOut">
              <a:rPr lang="en-US" smtClean="0"/>
              <a:t>8/12/2025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01466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8/12/2025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35203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49270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DD058F-B960-4439-B370-43D89816EE05}"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B229B06-CF2A-459A-8CBC-F18C1D67D2BB}" type="slidenum">
              <a:rPr lang="en-US" smtClean="0"/>
              <a:t>‹#›</a:t>
            </a:fld>
            <a:endParaRPr lang="en-US" dirty="0"/>
          </a:p>
        </p:txBody>
      </p:sp>
    </p:spTree>
    <p:extLst>
      <p:ext uri="{BB962C8B-B14F-4D97-AF65-F5344CB8AC3E}">
        <p14:creationId xmlns:p14="http://schemas.microsoft.com/office/powerpoint/2010/main" val="1590931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6DFF08F-DC6B-4601-B491-B0F83F6DD2DA}" type="datetimeFigureOut">
              <a:rPr lang="en-US" smtClean="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93229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6DFF08F-DC6B-4601-B491-B0F83F6DD2DA}" type="datetimeFigureOut">
              <a:rPr lang="en-US" smtClean="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80225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6DFF08F-DC6B-4601-B491-B0F83F6DD2DA}" type="datetimeFigureOut">
              <a:rPr lang="en-US" smtClean="0"/>
              <a:pPr/>
              <a:t>8/12/2025</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27697833"/>
      </p:ext>
    </p:extLst>
  </p:cSld>
  <p:clrMap bg1="lt1" tx1="dk1" bg2="lt2" tx2="dk2" accent1="accent1" accent2="accent2" accent3="accent3" accent4="accent4" accent5="accent5" accent6="accent6" hlink="hlink" folHlink="folHlink"/>
  <p:sldLayoutIdLst>
    <p:sldLayoutId id="2147484121" r:id="rId1"/>
    <p:sldLayoutId id="2147484122" r:id="rId2"/>
    <p:sldLayoutId id="2147484123" r:id="rId3"/>
    <p:sldLayoutId id="2147484124" r:id="rId4"/>
    <p:sldLayoutId id="2147484125" r:id="rId5"/>
    <p:sldLayoutId id="2147484126" r:id="rId6"/>
    <p:sldLayoutId id="2147484127" r:id="rId7"/>
    <p:sldLayoutId id="2147484128" r:id="rId8"/>
    <p:sldLayoutId id="2147484129" r:id="rId9"/>
    <p:sldLayoutId id="2147484130" r:id="rId10"/>
    <p:sldLayoutId id="214748413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 xmlns:a16="http://schemas.microsoft.com/office/drawing/2014/main" id="{218F8D62-A6F5-4F18-9BB3-A18FA6B4E228}"/>
              </a:ext>
            </a:extLst>
          </p:cNvPr>
          <p:cNvSpPr>
            <a:spLocks noGrp="1" noChangeArrowheads="1"/>
          </p:cNvSpPr>
          <p:nvPr>
            <p:ph type="ctrTitle"/>
          </p:nvPr>
        </p:nvSpPr>
        <p:spPr/>
        <p:txBody>
          <a:bodyPr/>
          <a:lstStyle/>
          <a:p>
            <a:pPr eaLnBrk="1" hangingPunct="1"/>
            <a:r>
              <a:rPr lang="en-US" altLang="en-US" dirty="0" smtClean="0"/>
              <a:t>CPU </a:t>
            </a:r>
            <a:r>
              <a:rPr lang="en-US" altLang="en-US" dirty="0"/>
              <a:t>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normAutofit/>
          </a:bodyPr>
          <a:lstStyle/>
          <a:p>
            <a:pPr eaLnBrk="1" hangingPunct="1"/>
            <a:r>
              <a:rPr lang="en-US" altLang="en-US" dirty="0"/>
              <a:t>Basic Concepts</a:t>
            </a:r>
          </a:p>
        </p:txBody>
      </p:sp>
      <p:sp>
        <p:nvSpPr>
          <p:cNvPr id="11266" name="Rectangle 3">
            <a:extLst>
              <a:ext uri="{FF2B5EF4-FFF2-40B4-BE49-F238E27FC236}">
                <a16:creationId xmlns="" xmlns:a16="http://schemas.microsoft.com/office/drawing/2014/main" id="{B2D356C4-1B27-4D4C-8A80-D241E2CD7B36}"/>
              </a:ext>
            </a:extLst>
          </p:cNvPr>
          <p:cNvSpPr>
            <a:spLocks noGrp="1" noChangeArrowheads="1"/>
          </p:cNvSpPr>
          <p:nvPr>
            <p:ph idx="1"/>
          </p:nvPr>
        </p:nvSpPr>
        <p:spPr>
          <a:xfrm>
            <a:off x="457200" y="1800225"/>
            <a:ext cx="4362450" cy="3471863"/>
          </a:xfrm>
        </p:spPr>
        <p:txBody>
          <a:bodyPr>
            <a:normAutofit fontScale="92500"/>
          </a:bodyPr>
          <a:lstStyle/>
          <a:p>
            <a:r>
              <a:rPr lang="en-US" altLang="en-US" sz="2400" dirty="0"/>
              <a:t>Maximum CPU utilization obtained with multiprogramming</a:t>
            </a:r>
          </a:p>
          <a:p>
            <a:r>
              <a:rPr lang="en-US" altLang="en-US" sz="2400" dirty="0"/>
              <a:t>CPU–I/O Burst Cycle – Process execution consists of a </a:t>
            </a:r>
            <a:r>
              <a:rPr lang="en-US" altLang="en-US" sz="2400" b="1" dirty="0">
                <a:solidFill>
                  <a:srgbClr val="006699"/>
                </a:solidFill>
                <a:latin typeface="+mj-lt"/>
              </a:rPr>
              <a:t>cycle</a:t>
            </a:r>
            <a:r>
              <a:rPr lang="en-US" altLang="en-US" sz="2400" dirty="0"/>
              <a:t> of CPU execution and I/O wait</a:t>
            </a:r>
          </a:p>
          <a:p>
            <a:r>
              <a:rPr lang="en-US" altLang="en-US" sz="2400" b="1" dirty="0">
                <a:solidFill>
                  <a:srgbClr val="006699"/>
                </a:solidFill>
                <a:latin typeface="+mj-lt"/>
              </a:rPr>
              <a:t>CPU</a:t>
            </a:r>
            <a:r>
              <a:rPr lang="en-US" altLang="en-US" sz="2400" b="1" dirty="0">
                <a:solidFill>
                  <a:srgbClr val="3366FF"/>
                </a:solidFill>
              </a:rPr>
              <a:t> </a:t>
            </a:r>
            <a:r>
              <a:rPr lang="en-US" altLang="en-US" sz="2400" b="1" dirty="0">
                <a:solidFill>
                  <a:srgbClr val="006699"/>
                </a:solidFill>
                <a:latin typeface="+mj-lt"/>
              </a:rPr>
              <a:t>burst</a:t>
            </a:r>
            <a:r>
              <a:rPr lang="en-US" altLang="en-US" sz="2400" b="1" dirty="0">
                <a:solidFill>
                  <a:srgbClr val="3366FF"/>
                </a:solidFill>
              </a:rPr>
              <a:t> </a:t>
            </a:r>
            <a:r>
              <a:rPr lang="en-US" altLang="en-US" sz="2400" dirty="0"/>
              <a:t>followed by </a:t>
            </a:r>
            <a:r>
              <a:rPr lang="en-US" altLang="en-US" sz="2400" b="1" dirty="0">
                <a:solidFill>
                  <a:srgbClr val="006699"/>
                </a:solidFill>
                <a:latin typeface="+mj-lt"/>
              </a:rPr>
              <a:t>I/O burst</a:t>
            </a:r>
          </a:p>
          <a:p>
            <a:r>
              <a:rPr lang="en-US" altLang="en-US" sz="2400" dirty="0"/>
              <a:t>CPU burst distribution is of main concern</a:t>
            </a:r>
          </a:p>
          <a:p>
            <a:pPr>
              <a:buFont typeface="Monotype Sorts" pitchFamily="-84" charset="2"/>
              <a:buNone/>
            </a:pPr>
            <a:endParaRPr lang="en-US" altLang="en-US" sz="2400" dirty="0"/>
          </a:p>
        </p:txBody>
      </p:sp>
      <p:pic>
        <p:nvPicPr>
          <p:cNvPr id="11267" name="Picture 1">
            <a:extLst>
              <a:ext uri="{FF2B5EF4-FFF2-40B4-BE49-F238E27FC236}">
                <a16:creationId xmlns=""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63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 xmlns:a16="http://schemas.microsoft.com/office/drawing/2014/main" id="{272FB29C-A265-4A5A-90F0-4EA35A17174F}"/>
              </a:ext>
            </a:extLst>
          </p:cNvPr>
          <p:cNvSpPr>
            <a:spLocks noGrp="1" noChangeArrowheads="1"/>
          </p:cNvSpPr>
          <p:nvPr>
            <p:ph type="title"/>
          </p:nvPr>
        </p:nvSpPr>
        <p:spPr>
          <a:xfrm>
            <a:off x="1066800" y="222868"/>
            <a:ext cx="7620000" cy="576262"/>
          </a:xfrm>
        </p:spPr>
        <p:txBody>
          <a:bodyPr>
            <a:normAutofit/>
          </a:bodyPr>
          <a:lstStyle/>
          <a:p>
            <a:pPr eaLnBrk="1" hangingPunct="1"/>
            <a:r>
              <a:rPr lang="en-US" altLang="en-US" dirty="0"/>
              <a:t>Histogram of CPU-burst Times</a:t>
            </a:r>
          </a:p>
        </p:txBody>
      </p:sp>
      <p:sp>
        <p:nvSpPr>
          <p:cNvPr id="13314" name="TextBox 2">
            <a:extLst>
              <a:ext uri="{FF2B5EF4-FFF2-40B4-BE49-F238E27FC236}">
                <a16:creationId xmlns="" xmlns:a16="http://schemas.microsoft.com/office/drawing/2014/main" id="{199A0D9E-EDB0-4B00-B274-814CD65DE927}"/>
              </a:ext>
            </a:extLst>
          </p:cNvPr>
          <p:cNvSpPr txBox="1">
            <a:spLocks noChangeArrowheads="1"/>
          </p:cNvSpPr>
          <p:nvPr/>
        </p:nvSpPr>
        <p:spPr bwMode="auto">
          <a:xfrm>
            <a:off x="1279525" y="1323975"/>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a:extLst>
              <a:ext uri="{FF2B5EF4-FFF2-40B4-BE49-F238E27FC236}">
                <a16:creationId xmlns=""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normAutofit/>
          </a:bodyPr>
          <a:lstStyle/>
          <a:p>
            <a:pPr eaLnBrk="1" hangingPunct="1"/>
            <a:r>
              <a:rPr lang="en-US" altLang="en-US" dirty="0"/>
              <a:t>CPU Scheduler</a:t>
            </a:r>
          </a:p>
        </p:txBody>
      </p:sp>
      <p:sp>
        <p:nvSpPr>
          <p:cNvPr id="27651" name="Rectangle 3">
            <a:extLst>
              <a:ext uri="{FF2B5EF4-FFF2-40B4-BE49-F238E27FC236}">
                <a16:creationId xmlns="" xmlns:a16="http://schemas.microsoft.com/office/drawing/2014/main" id="{6B795676-7DD0-4F16-8B81-4EFFF754D531}"/>
              </a:ext>
            </a:extLst>
          </p:cNvPr>
          <p:cNvSpPr>
            <a:spLocks noGrp="1" noChangeArrowheads="1"/>
          </p:cNvSpPr>
          <p:nvPr>
            <p:ph idx="1"/>
          </p:nvPr>
        </p:nvSpPr>
        <p:spPr>
          <a:xfrm>
            <a:off x="838200" y="1169988"/>
            <a:ext cx="7848599" cy="5159375"/>
          </a:xfrm>
        </p:spPr>
        <p:txBody>
          <a:bodyPr>
            <a:noAutofit/>
          </a:bodyPr>
          <a:lstStyle/>
          <a:p>
            <a:pPr>
              <a:defRPr/>
            </a:pPr>
            <a:r>
              <a:rPr lang="en-US" sz="2400" dirty="0">
                <a:ea typeface="ＭＳ Ｐゴシック" charset="0"/>
                <a:cs typeface="ＭＳ Ｐゴシック" charset="0"/>
              </a:rPr>
              <a:t>The</a:t>
            </a:r>
            <a:r>
              <a:rPr lang="en-US" sz="2400" b="1" dirty="0">
                <a:solidFill>
                  <a:srgbClr val="3366FF"/>
                </a:solidFill>
                <a:ea typeface="ＭＳ Ｐゴシック" charset="0"/>
                <a:cs typeface="ＭＳ Ｐゴシック" charset="0"/>
              </a:rPr>
              <a:t> </a:t>
            </a:r>
            <a:r>
              <a:rPr lang="en-US" sz="2400" b="1" dirty="0">
                <a:solidFill>
                  <a:srgbClr val="006699"/>
                </a:solidFill>
                <a:latin typeface="+mj-lt"/>
              </a:rPr>
              <a:t>CPU scheduler </a:t>
            </a:r>
            <a:r>
              <a:rPr lang="en-US" sz="2400" dirty="0">
                <a:ea typeface="ＭＳ Ｐゴシック" charset="-128"/>
                <a:cs typeface="ＭＳ Ｐゴシック" charset="-128"/>
              </a:rPr>
              <a:t>selects from among the processes in ready queue, and allocates a CPU core to one of them</a:t>
            </a:r>
          </a:p>
          <a:p>
            <a:pPr marL="742835" lvl="1">
              <a:defRPr/>
            </a:pPr>
            <a:r>
              <a:rPr lang="en-US" sz="2400" dirty="0">
                <a:ea typeface="ＭＳ Ｐゴシック" charset="-128"/>
              </a:rPr>
              <a:t>Queue may be ordered in various ways</a:t>
            </a:r>
          </a:p>
          <a:p>
            <a:pPr>
              <a:defRPr/>
            </a:pPr>
            <a:r>
              <a:rPr lang="en-US" sz="2400"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sz="2400" dirty="0">
                <a:solidFill>
                  <a:srgbClr val="CC6600"/>
                </a:solidFill>
                <a:ea typeface="ＭＳ Ｐゴシック" charset="-128"/>
              </a:rPr>
              <a:t>1.	</a:t>
            </a:r>
            <a:r>
              <a:rPr lang="en-US" sz="2400" dirty="0">
                <a:ea typeface="ＭＳ Ｐゴシック" charset="-128"/>
              </a:rPr>
              <a:t>Switches from running to waiting state</a:t>
            </a:r>
          </a:p>
          <a:p>
            <a:pPr marL="799900" lvl="1" indent="-342815">
              <a:buFont typeface="Monotype Sorts" pitchFamily="-84" charset="2"/>
              <a:buNone/>
              <a:defRPr/>
            </a:pPr>
            <a:r>
              <a:rPr lang="en-US" sz="2400" dirty="0">
                <a:solidFill>
                  <a:srgbClr val="CC6600"/>
                </a:solidFill>
                <a:ea typeface="ＭＳ Ｐゴシック" charset="-128"/>
              </a:rPr>
              <a:t>2.</a:t>
            </a:r>
            <a:r>
              <a:rPr lang="en-US" sz="2400" dirty="0">
                <a:ea typeface="ＭＳ Ｐゴシック" charset="-128"/>
              </a:rPr>
              <a:t>	Switches from running to ready state</a:t>
            </a:r>
          </a:p>
          <a:p>
            <a:pPr marL="799900" lvl="1" indent="-342815">
              <a:buFont typeface="Monotype Sorts" pitchFamily="-84" charset="2"/>
              <a:buNone/>
              <a:defRPr/>
            </a:pPr>
            <a:r>
              <a:rPr lang="en-US" sz="2400" dirty="0">
                <a:solidFill>
                  <a:srgbClr val="CC6600"/>
                </a:solidFill>
                <a:ea typeface="ＭＳ Ｐゴシック" charset="-128"/>
              </a:rPr>
              <a:t>3.</a:t>
            </a:r>
            <a:r>
              <a:rPr lang="en-US" sz="2400" dirty="0">
                <a:ea typeface="ＭＳ Ｐゴシック" charset="-128"/>
              </a:rPr>
              <a:t>	Switches from waiting to ready</a:t>
            </a:r>
          </a:p>
          <a:p>
            <a:pPr marL="799900" lvl="1" indent="-342815">
              <a:buFont typeface="Monotype Sorts" charset="2"/>
              <a:buAutoNum type="arabicPeriod" startAt="4"/>
              <a:defRPr/>
            </a:pPr>
            <a:r>
              <a:rPr lang="en-US" sz="2400" dirty="0">
                <a:ea typeface="ＭＳ Ｐゴシック" charset="-128"/>
              </a:rPr>
              <a:t>Terminates</a:t>
            </a:r>
          </a:p>
          <a:p>
            <a:pPr>
              <a:defRPr/>
            </a:pPr>
            <a:r>
              <a:rPr lang="en-US" sz="2400"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sz="2400" dirty="0">
                <a:ea typeface="ＭＳ Ｐゴシック" charset="-128"/>
                <a:cs typeface="ＭＳ Ｐゴシック" charset="-128"/>
              </a:rPr>
              <a:t>For situations 2 and 3, however, there is  a choice.</a:t>
            </a:r>
            <a:endParaRPr lang="en-US" sz="2400" b="1" dirty="0">
              <a:solidFill>
                <a:srgbClr val="3366FF"/>
              </a:solidFill>
              <a:ea typeface="ＭＳ Ｐゴシック" charset="0"/>
              <a:cs typeface="ＭＳ Ｐゴシック"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 xmlns:a16="http://schemas.microsoft.com/office/drawing/2014/main" id="{6B795676-7DD0-4F16-8B81-4EFFF754D531}"/>
              </a:ext>
            </a:extLst>
          </p:cNvPr>
          <p:cNvSpPr>
            <a:spLocks noGrp="1" noChangeArrowheads="1"/>
          </p:cNvSpPr>
          <p:nvPr>
            <p:ph idx="1"/>
          </p:nvPr>
        </p:nvSpPr>
        <p:spPr>
          <a:xfrm>
            <a:off x="931984" y="1193434"/>
            <a:ext cx="7769103" cy="4707181"/>
          </a:xfrm>
        </p:spPr>
        <p:txBody>
          <a:bodyPr>
            <a:normAutofit/>
          </a:bodyPr>
          <a:lstStyle/>
          <a:p>
            <a:pPr>
              <a:defRPr/>
            </a:pPr>
            <a:r>
              <a:rPr lang="en-US" sz="2400" dirty="0">
                <a:ea typeface="ＭＳ Ｐゴシック" charset="0"/>
              </a:rPr>
              <a:t>When scheduling takes place only under circumstances 1 and 4, the scheduling scheme is </a:t>
            </a:r>
            <a:r>
              <a:rPr lang="en-US" sz="2400" b="1" dirty="0">
                <a:solidFill>
                  <a:srgbClr val="006699"/>
                </a:solidFill>
                <a:latin typeface="+mj-lt"/>
              </a:rPr>
              <a:t>nonpreemptive</a:t>
            </a:r>
            <a:r>
              <a:rPr lang="en-US" sz="2400" dirty="0">
                <a:ea typeface="ＭＳ Ｐゴシック" charset="0"/>
              </a:rPr>
              <a:t>.</a:t>
            </a:r>
          </a:p>
          <a:p>
            <a:pPr>
              <a:defRPr/>
            </a:pPr>
            <a:r>
              <a:rPr lang="en-US" sz="2400" dirty="0">
                <a:ea typeface="ＭＳ Ｐゴシック" charset="0"/>
              </a:rPr>
              <a:t>Otherwise, it is </a:t>
            </a:r>
            <a:r>
              <a:rPr lang="en-US" sz="2400" b="1" dirty="0">
                <a:solidFill>
                  <a:srgbClr val="006699"/>
                </a:solidFill>
                <a:latin typeface="+mj-lt"/>
              </a:rPr>
              <a:t>preemptive</a:t>
            </a:r>
            <a:r>
              <a:rPr lang="en-US" sz="2400" dirty="0">
                <a:ea typeface="ＭＳ Ｐゴシック" charset="0"/>
              </a:rPr>
              <a:t>. </a:t>
            </a:r>
          </a:p>
          <a:p>
            <a:pPr>
              <a:defRPr/>
            </a:pPr>
            <a:r>
              <a:rPr lang="en-US" sz="2400"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sz="2400" dirty="0">
                <a:ea typeface="ＭＳ Ｐゴシック" charset="0"/>
              </a:rPr>
              <a:t>Virtually all modern operating systems including Windows, MacOS, Linux, and UNIX use preemptive scheduling algorithms.</a:t>
            </a:r>
            <a:endParaRPr lang="en-US" sz="2400"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 xmlns:a16="http://schemas.microsoft.com/office/drawing/2014/main" id="{6B795676-7DD0-4F16-8B81-4EFFF754D531}"/>
              </a:ext>
            </a:extLst>
          </p:cNvPr>
          <p:cNvSpPr>
            <a:spLocks noGrp="1" noChangeArrowheads="1"/>
          </p:cNvSpPr>
          <p:nvPr>
            <p:ph idx="1"/>
          </p:nvPr>
        </p:nvSpPr>
        <p:spPr>
          <a:xfrm>
            <a:off x="931984" y="1193435"/>
            <a:ext cx="7411915" cy="4621212"/>
          </a:xfrm>
        </p:spPr>
        <p:txBody>
          <a:bodyPr>
            <a:normAutofit/>
          </a:bodyPr>
          <a:lstStyle/>
          <a:p>
            <a:pPr>
              <a:defRPr/>
            </a:pPr>
            <a:r>
              <a:rPr lang="en-US" sz="2400" dirty="0">
                <a:ea typeface="ＭＳ Ｐゴシック" charset="0"/>
              </a:rPr>
              <a:t>Preemptive scheduling can result in race conditions when data are shared among several processes.</a:t>
            </a:r>
          </a:p>
          <a:p>
            <a:pPr>
              <a:defRPr/>
            </a:pPr>
            <a:r>
              <a:rPr lang="en-US" sz="2400"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p:txBody>
      </p:sp>
    </p:spTree>
    <p:extLst>
      <p:ext uri="{BB962C8B-B14F-4D97-AF65-F5344CB8AC3E}">
        <p14:creationId xmlns:p14="http://schemas.microsoft.com/office/powerpoint/2010/main" val="3046456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normAutofit/>
          </a:bodyPr>
          <a:lstStyle/>
          <a:p>
            <a:pPr eaLnBrk="1" hangingPunct="1"/>
            <a:r>
              <a:rPr lang="en-US" altLang="en-US" dirty="0"/>
              <a:t>Dispatcher</a:t>
            </a:r>
          </a:p>
        </p:txBody>
      </p:sp>
      <p:sp>
        <p:nvSpPr>
          <p:cNvPr id="17410" name="Rectangle 3">
            <a:extLst>
              <a:ext uri="{FF2B5EF4-FFF2-40B4-BE49-F238E27FC236}">
                <a16:creationId xmlns="" xmlns:a16="http://schemas.microsoft.com/office/drawing/2014/main" id="{E113DAE6-D3A7-45EF-87B5-890976FCB8D4}"/>
              </a:ext>
            </a:extLst>
          </p:cNvPr>
          <p:cNvSpPr>
            <a:spLocks noGrp="1" noChangeArrowheads="1"/>
          </p:cNvSpPr>
          <p:nvPr>
            <p:ph idx="1"/>
          </p:nvPr>
        </p:nvSpPr>
        <p:spPr>
          <a:xfrm>
            <a:off x="849083" y="1119235"/>
            <a:ext cx="4754548" cy="4515661"/>
          </a:xfrm>
        </p:spPr>
        <p:txBody>
          <a:bodyPr>
            <a:normAutofit lnSpcReduction="10000"/>
          </a:bodyPr>
          <a:lstStyle/>
          <a:p>
            <a:r>
              <a:rPr lang="en-US" altLang="en-US" sz="2400" dirty="0"/>
              <a:t>Dispatcher module gives control of the CPU to the process selected by the CPU scheduler; this involves:</a:t>
            </a:r>
          </a:p>
          <a:p>
            <a:pPr lvl="1"/>
            <a:r>
              <a:rPr lang="en-US" altLang="en-US" sz="2400" dirty="0"/>
              <a:t>Switching context</a:t>
            </a:r>
          </a:p>
          <a:p>
            <a:pPr lvl="1"/>
            <a:r>
              <a:rPr lang="en-US" altLang="en-US" sz="2400" dirty="0"/>
              <a:t>Switching to user mode</a:t>
            </a:r>
          </a:p>
          <a:p>
            <a:pPr lvl="1"/>
            <a:r>
              <a:rPr lang="en-US" altLang="en-US" sz="2400" dirty="0"/>
              <a:t>Jumping to the proper location in the user program to restart that program</a:t>
            </a:r>
          </a:p>
          <a:p>
            <a:r>
              <a:rPr lang="en-US" altLang="en-US" sz="2400" b="1" dirty="0">
                <a:solidFill>
                  <a:srgbClr val="006699"/>
                </a:solidFill>
                <a:latin typeface="+mj-lt"/>
              </a:rPr>
              <a:t>Dispatch latency </a:t>
            </a:r>
            <a:r>
              <a:rPr lang="en-US" altLang="en-US" sz="2400" dirty="0"/>
              <a:t>– time it takes for the dispatcher to stop one process and start another running</a:t>
            </a:r>
          </a:p>
        </p:txBody>
      </p:sp>
      <p:pic>
        <p:nvPicPr>
          <p:cNvPr id="17411" name="Picture 1">
            <a:extLst>
              <a:ext uri="{FF2B5EF4-FFF2-40B4-BE49-F238E27FC236}">
                <a16:creationId xmlns="" xmlns:a16="http://schemas.microsoft.com/office/drawing/2014/main" id="{4B24D036-ECCD-4EE8-9908-C3EEA54E5CE0}"/>
              </a:ext>
            </a:extLst>
          </p:cNvPr>
          <p:cNvPicPr>
            <a:picLocks noChangeAspect="1"/>
          </p:cNvPicPr>
          <p:nvPr/>
        </p:nvPicPr>
        <p:blipFill rotWithShape="1">
          <a:blip r:embed="rId3">
            <a:extLst>
              <a:ext uri="{28A0092B-C50C-407E-A947-70E740481C1C}">
                <a14:useLocalDpi xmlns:a14="http://schemas.microsoft.com/office/drawing/2010/main" val="0"/>
              </a:ext>
            </a:extLst>
          </a:blip>
          <a:srcRect r="39934"/>
          <a:stretch/>
        </p:blipFill>
        <p:spPr bwMode="auto">
          <a:xfrm>
            <a:off x="5556824" y="1109784"/>
            <a:ext cx="3258564"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normAutofit/>
          </a:bodyPr>
          <a:lstStyle/>
          <a:p>
            <a:pPr eaLnBrk="1" hangingPunct="1"/>
            <a:r>
              <a:rPr lang="en-US" altLang="en-US" dirty="0"/>
              <a:t>Scheduling Criteria</a:t>
            </a:r>
          </a:p>
        </p:txBody>
      </p:sp>
      <p:sp>
        <p:nvSpPr>
          <p:cNvPr id="19458" name="Rectangle 3">
            <a:extLst>
              <a:ext uri="{FF2B5EF4-FFF2-40B4-BE49-F238E27FC236}">
                <a16:creationId xmlns="" xmlns:a16="http://schemas.microsoft.com/office/drawing/2014/main" id="{4338C466-115B-47DE-A288-6C7152DF0770}"/>
              </a:ext>
            </a:extLst>
          </p:cNvPr>
          <p:cNvSpPr>
            <a:spLocks noGrp="1" noChangeArrowheads="1"/>
          </p:cNvSpPr>
          <p:nvPr>
            <p:ph idx="1"/>
          </p:nvPr>
        </p:nvSpPr>
        <p:spPr>
          <a:xfrm>
            <a:off x="849085" y="1246189"/>
            <a:ext cx="6692761" cy="4904520"/>
          </a:xfrm>
        </p:spPr>
        <p:txBody>
          <a:bodyPr/>
          <a:lstStyle/>
          <a:p>
            <a:r>
              <a:rPr lang="en-US" altLang="en-US" b="1" dirty="0"/>
              <a:t>CPU utilization </a:t>
            </a:r>
            <a:r>
              <a:rPr lang="en-US" altLang="en-US" dirty="0"/>
              <a:t>– keep the CPU as busy as possible</a:t>
            </a:r>
          </a:p>
          <a:p>
            <a:r>
              <a:rPr lang="en-US" altLang="en-US" b="1" dirty="0"/>
              <a:t>Throughput</a:t>
            </a:r>
            <a:r>
              <a:rPr lang="en-US" altLang="en-US" dirty="0"/>
              <a:t> – # of processes that complete their execution per time unit</a:t>
            </a:r>
          </a:p>
          <a:p>
            <a:r>
              <a:rPr lang="en-US" altLang="en-US" b="1" dirty="0"/>
              <a:t>Turnaround time </a:t>
            </a:r>
            <a:r>
              <a:rPr lang="en-US" altLang="en-US" dirty="0"/>
              <a:t>– amount of time to execute a particular process</a:t>
            </a:r>
          </a:p>
          <a:p>
            <a:r>
              <a:rPr lang="en-US" altLang="en-US" b="1" dirty="0"/>
              <a:t>Waiting time </a:t>
            </a:r>
            <a:r>
              <a:rPr lang="en-US" altLang="en-US" dirty="0"/>
              <a:t>– amount of time a process has been waiting in the ready queue</a:t>
            </a:r>
          </a:p>
          <a:p>
            <a:r>
              <a:rPr lang="en-US" altLang="en-US" b="1" dirty="0"/>
              <a:t>Response time </a:t>
            </a:r>
            <a:r>
              <a:rPr lang="en-US" altLang="en-US" dirty="0"/>
              <a:t>– amount of time it takes from when a request was submitted until the first response is produced.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 xmlns:a16="http://schemas.microsoft.com/office/drawing/2014/main" id="{A22DB2EC-3AE5-4A50-BF1F-F8FE7B96CE4B}"/>
              </a:ext>
            </a:extLst>
          </p:cNvPr>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 xmlns:a16="http://schemas.microsoft.com/office/drawing/2014/main" id="{DA102F21-0BD1-4162-8066-37183DF9B945}"/>
              </a:ext>
            </a:extLst>
          </p:cNvPr>
          <p:cNvSpPr>
            <a:spLocks noGrp="1" noChangeArrowheads="1"/>
          </p:cNvSpPr>
          <p:nvPr>
            <p:ph idx="1"/>
          </p:nvPr>
        </p:nvSpPr>
        <p:spPr>
          <a:xfrm>
            <a:off x="852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normAutofit fontScale="90000"/>
          </a:bodyPr>
          <a:lstStyle/>
          <a:p>
            <a:pPr eaLnBrk="1" hangingPunct="1"/>
            <a:r>
              <a:rPr lang="en-US" altLang="en-US" sz="2800" dirty="0"/>
              <a:t>First- Come, First-Served (FCFS) Scheduling</a:t>
            </a:r>
          </a:p>
        </p:txBody>
      </p:sp>
      <p:sp>
        <p:nvSpPr>
          <p:cNvPr id="23554" name="Rectangle 3">
            <a:extLst>
              <a:ext uri="{FF2B5EF4-FFF2-40B4-BE49-F238E27FC236}">
                <a16:creationId xmlns="" xmlns:a16="http://schemas.microsoft.com/office/drawing/2014/main" id="{00593719-A5A4-4326-8529-37EC324927D6}"/>
              </a:ext>
            </a:extLst>
          </p:cNvPr>
          <p:cNvSpPr>
            <a:spLocks noGrp="1" noChangeArrowheads="1"/>
          </p:cNvSpPr>
          <p:nvPr>
            <p:ph idx="1"/>
          </p:nvPr>
        </p:nvSpPr>
        <p:spPr>
          <a:xfrm>
            <a:off x="833438" y="1250950"/>
            <a:ext cx="7566025" cy="4114800"/>
          </a:xfrm>
        </p:spPr>
        <p:txBody>
          <a:bodyPr>
            <a:normAutofit fontScale="92500" lnSpcReduction="10000"/>
          </a:bodyPr>
          <a:lstStyle/>
          <a:p>
            <a:pPr>
              <a:lnSpc>
                <a:spcPct val="90000"/>
              </a:lnSpc>
              <a:buFont typeface="Monotype Sorts" pitchFamily="-84" charset="2"/>
              <a:buNone/>
              <a:tabLst>
                <a:tab pos="3028950" algn="ctr"/>
                <a:tab pos="4633913" algn="ctr"/>
              </a:tabLst>
            </a:pPr>
            <a:r>
              <a:rPr lang="en-US" altLang="en-US" sz="1600"/>
              <a:t>		</a:t>
            </a:r>
            <a:r>
              <a:rPr lang="en-US" altLang="en-US" u="sng"/>
              <a:t>Process</a:t>
            </a:r>
            <a:r>
              <a:rPr lang="en-US" altLang="en-US"/>
              <a:t>	</a:t>
            </a:r>
            <a:r>
              <a:rPr lang="en-US" altLang="en-US" u="sng"/>
              <a:t>Burst Time	</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1</a:t>
            </a:r>
            <a:r>
              <a:rPr lang="en-US" altLang="en-US"/>
              <a:t>	24</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2</a:t>
            </a:r>
            <a:r>
              <a:rPr lang="en-US" altLang="en-US"/>
              <a:t> 	3</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3	 </a:t>
            </a:r>
            <a:r>
              <a:rPr lang="en-US" altLang="en-US"/>
              <a:t>3</a:t>
            </a:r>
            <a:r>
              <a:rPr lang="en-US" altLang="en-US" i="1" baseline="-25000"/>
              <a:t> </a:t>
            </a:r>
          </a:p>
          <a:p>
            <a:pPr>
              <a:lnSpc>
                <a:spcPct val="90000"/>
              </a:lnSpc>
              <a:tabLst>
                <a:tab pos="3028950" algn="ctr"/>
                <a:tab pos="4633913"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r>
              <a:rPr lang="en-US" altLang="en-US" sz="1600"/>
              <a:t/>
            </a:r>
            <a:br>
              <a:rPr lang="en-US" altLang="en-US" sz="1600"/>
            </a:br>
            <a:r>
              <a:rPr lang="en-US" altLang="en-US" sz="1600"/>
              <a:t/>
            </a:r>
            <a:br>
              <a:rPr lang="en-US" altLang="en-US" sz="1600"/>
            </a:br>
            <a:r>
              <a:rPr lang="en-US" altLang="en-US" sz="1600"/>
              <a:t/>
            </a:r>
            <a:br>
              <a:rPr lang="en-US" altLang="en-US" sz="1600"/>
            </a:br>
            <a:r>
              <a:rPr lang="en-US" altLang="en-US" sz="1600"/>
              <a:t/>
            </a:r>
            <a:br>
              <a:rPr lang="en-US" altLang="en-US" sz="1600"/>
            </a:br>
            <a:endParaRPr lang="en-US" altLang="en-US" sz="1600"/>
          </a:p>
          <a:p>
            <a:pPr>
              <a:lnSpc>
                <a:spcPct val="90000"/>
              </a:lnSpc>
              <a:buFont typeface="Monotype Sorts" pitchFamily="-84" charset="2"/>
              <a:buNone/>
              <a:tabLst>
                <a:tab pos="3028950" algn="ctr"/>
                <a:tab pos="4633913" algn="ctr"/>
              </a:tabLst>
            </a:pPr>
            <a:endParaRPr lang="en-US" altLang="en-US" sz="1600"/>
          </a:p>
          <a:p>
            <a:pPr>
              <a:lnSpc>
                <a:spcPct val="90000"/>
              </a:lnSpc>
              <a:tabLst>
                <a:tab pos="3028950" algn="ctr"/>
                <a:tab pos="4633913"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lnSpc>
                <a:spcPct val="90000"/>
              </a:lnSpc>
              <a:tabLst>
                <a:tab pos="3028950" algn="ctr"/>
                <a:tab pos="4633913" algn="ctr"/>
              </a:tabLst>
            </a:pPr>
            <a:r>
              <a:rPr lang="en-US" altLang="en-US"/>
              <a:t>Average waiting time:  (0 + 24 + 27)/3 = 17</a:t>
            </a:r>
          </a:p>
        </p:txBody>
      </p:sp>
      <p:pic>
        <p:nvPicPr>
          <p:cNvPr id="23555" name="Picture 1">
            <a:extLst>
              <a:ext uri="{FF2B5EF4-FFF2-40B4-BE49-F238E27FC236}">
                <a16:creationId xmlns=""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normAutofit/>
          </a:bodyPr>
          <a:lstStyle/>
          <a:p>
            <a:pPr eaLnBrk="1" hangingPunct="1"/>
            <a:r>
              <a:rPr lang="en-US" altLang="en-US" dirty="0"/>
              <a:t>FCFS Scheduling (Cont.)</a:t>
            </a:r>
          </a:p>
        </p:txBody>
      </p:sp>
      <p:sp>
        <p:nvSpPr>
          <p:cNvPr id="13315" name="Rectangle 3">
            <a:extLst>
              <a:ext uri="{FF2B5EF4-FFF2-40B4-BE49-F238E27FC236}">
                <a16:creationId xmlns="" xmlns:a16="http://schemas.microsoft.com/office/drawing/2014/main" id="{332EE341-968F-42D6-9F71-9462061509EC}"/>
              </a:ext>
            </a:extLst>
          </p:cNvPr>
          <p:cNvSpPr>
            <a:spLocks noGrp="1" noChangeArrowheads="1"/>
          </p:cNvSpPr>
          <p:nvPr>
            <p:ph idx="1"/>
          </p:nvPr>
        </p:nvSpPr>
        <p:spPr>
          <a:xfrm>
            <a:off x="855663" y="1233488"/>
            <a:ext cx="7704137" cy="4530725"/>
          </a:xfrm>
        </p:spPr>
        <p:txBody>
          <a:bodyPr>
            <a:normAutofit/>
          </a:bodyPr>
          <a:lstStyle/>
          <a:p>
            <a:pPr>
              <a:buFont typeface="Monotype Sorts" pitchFamily="-84" charset="2"/>
              <a:buNone/>
              <a:tabLst>
                <a:tab pos="3649345" algn="ctr"/>
              </a:tabLst>
              <a:defRPr/>
            </a:pPr>
            <a:r>
              <a:rPr lang="en-US" altLang="en-US" dirty="0">
                <a:cs typeface="ＭＳ Ｐゴシック" charset="-128"/>
              </a:rPr>
              <a:t>Suppose that the processes arrive in the order:</a:t>
            </a:r>
          </a:p>
          <a:p>
            <a:pPr>
              <a:buFont typeface="Monotype Sorts" pitchFamily="-84" charset="2"/>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Font typeface="Monotype Sorts" pitchFamily="-84" charset="2"/>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lvl="1">
              <a:tabLst>
                <a:tab pos="3649345" algn="ctr"/>
              </a:tabLst>
              <a:defRPr/>
            </a:pPr>
            <a:r>
              <a:rPr lang="en-US" altLang="en-US" dirty="0"/>
              <a:t>Consider one CPU-bound and many I/O-bound processes</a:t>
            </a:r>
          </a:p>
        </p:txBody>
      </p:sp>
      <p:pic>
        <p:nvPicPr>
          <p:cNvPr id="25603" name="Picture 1">
            <a:extLst>
              <a:ext uri="{FF2B5EF4-FFF2-40B4-BE49-F238E27FC236}">
                <a16:creationId xmlns=""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normAutofit/>
          </a:bodyPr>
          <a:lstStyle/>
          <a:p>
            <a:pPr eaLnBrk="1" hangingPunct="1"/>
            <a:r>
              <a:rPr lang="en-US" altLang="en-US" dirty="0"/>
              <a:t>Shortest-Job-First (SJF) Scheduling</a:t>
            </a:r>
          </a:p>
        </p:txBody>
      </p:sp>
      <p:sp>
        <p:nvSpPr>
          <p:cNvPr id="27650" name="Rectangle 3">
            <a:extLst>
              <a:ext uri="{FF2B5EF4-FFF2-40B4-BE49-F238E27FC236}">
                <a16:creationId xmlns="" xmlns:a16="http://schemas.microsoft.com/office/drawing/2014/main" id="{823814F7-CEBB-4A55-80A1-4EA7BB1EEA9B}"/>
              </a:ext>
            </a:extLst>
          </p:cNvPr>
          <p:cNvSpPr>
            <a:spLocks noGrp="1" noChangeArrowheads="1"/>
          </p:cNvSpPr>
          <p:nvPr>
            <p:ph idx="1"/>
          </p:nvPr>
        </p:nvSpPr>
        <p:spPr>
          <a:xfrm>
            <a:off x="821093" y="1233488"/>
            <a:ext cx="6760325" cy="4345509"/>
          </a:xfrm>
        </p:spPr>
        <p:txBody>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ＭＳ Ｐゴシック"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Tree>
    <p:extLst>
      <p:ext uri="{BB962C8B-B14F-4D97-AF65-F5344CB8AC3E}">
        <p14:creationId xmlns:p14="http://schemas.microsoft.com/office/powerpoint/2010/main" val="413677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normAutofit fontScale="90000"/>
          </a:bodyPr>
          <a:lstStyle/>
          <a:p>
            <a:pPr eaLnBrk="1" hangingPunct="1"/>
            <a:r>
              <a:rPr lang="en-US" altLang="en-US" dirty="0"/>
              <a:t>Example of SJF</a:t>
            </a:r>
          </a:p>
        </p:txBody>
      </p:sp>
      <p:sp>
        <p:nvSpPr>
          <p:cNvPr id="23554" name="Rectangle 3">
            <a:extLst>
              <a:ext uri="{FF2B5EF4-FFF2-40B4-BE49-F238E27FC236}">
                <a16:creationId xmlns="" xmlns:a16="http://schemas.microsoft.com/office/drawing/2014/main" id="{00593719-A5A4-4326-8529-37EC324927D6}"/>
              </a:ext>
            </a:extLst>
          </p:cNvPr>
          <p:cNvSpPr>
            <a:spLocks noGrp="1" noChangeArrowheads="1"/>
          </p:cNvSpPr>
          <p:nvPr>
            <p:ph idx="1"/>
          </p:nvPr>
        </p:nvSpPr>
        <p:spPr>
          <a:xfrm>
            <a:off x="833438" y="1250949"/>
            <a:ext cx="7788048" cy="4594679"/>
          </a:xfrm>
        </p:spPr>
        <p:txBody>
          <a:bodyPr>
            <a:normAutofit/>
          </a:bodyPr>
          <a:lstStyle/>
          <a:p>
            <a:pPr>
              <a:lnSpc>
                <a:spcPct val="90000"/>
              </a:lnSpc>
              <a:buFont typeface="Monotype Sorts" pitchFamily="-84" charset="2"/>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1</a:t>
            </a:r>
            <a:r>
              <a:rPr lang="en-US" altLang="en-US" dirty="0"/>
              <a:t>	6</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2</a:t>
            </a:r>
            <a:r>
              <a:rPr lang="en-US" altLang="en-US" dirty="0"/>
              <a:t> 	8</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3	 </a:t>
            </a:r>
            <a:r>
              <a:rPr lang="en-US" altLang="en-US" dirty="0"/>
              <a:t>7</a:t>
            </a:r>
          </a:p>
          <a:p>
            <a:pPr>
              <a:lnSpc>
                <a:spcPct val="90000"/>
              </a:lnSpc>
              <a:buFont typeface="Monotype Sorts" pitchFamily="-84" charset="2"/>
              <a:buNone/>
              <a:tabLst>
                <a:tab pos="3028950" algn="ctr"/>
                <a:tab pos="4633913" algn="ctr"/>
              </a:tabLst>
            </a:pPr>
            <a:r>
              <a:rPr lang="en-US" altLang="en-US" i="1" baseline="-25000" dirty="0"/>
              <a:t>                                                                    </a:t>
            </a:r>
            <a:r>
              <a:rPr lang="en-US" altLang="en-US" i="1" dirty="0"/>
              <a:t>P</a:t>
            </a:r>
            <a:r>
              <a:rPr lang="en-US" altLang="en-US" i="1" baseline="-25000" dirty="0"/>
              <a:t>4	 </a:t>
            </a:r>
            <a:r>
              <a:rPr lang="en-US" altLang="en-US" dirty="0"/>
              <a:t>3</a:t>
            </a:r>
          </a:p>
          <a:p>
            <a:pPr>
              <a:lnSpc>
                <a:spcPct val="90000"/>
              </a:lnSpc>
              <a:buFont typeface="Monotype Sorts" pitchFamily="-84" charset="2"/>
              <a:buNone/>
              <a:tabLst>
                <a:tab pos="3028950" algn="ctr"/>
                <a:tab pos="4633913" algn="ctr"/>
              </a:tabLst>
            </a:pPr>
            <a:endParaRPr lang="en-US" altLang="en-US" i="1" baseline="-25000" dirty="0"/>
          </a:p>
          <a:p>
            <a:pPr>
              <a:lnSpc>
                <a:spcPct val="90000"/>
              </a:lnSpc>
              <a:tabLst>
                <a:tab pos="3028950" algn="ctr"/>
                <a:tab pos="4633913" algn="ctr"/>
              </a:tabLst>
            </a:pPr>
            <a:r>
              <a:rPr lang="en-US" altLang="en-US" dirty="0"/>
              <a:t>SJF scheduling chart</a:t>
            </a:r>
            <a:br>
              <a:rPr lang="en-US" altLang="en-US"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endParaRPr lang="en-US" altLang="en-US" sz="1600" dirty="0"/>
          </a:p>
          <a:p>
            <a:pPr marL="0" indent="0">
              <a:lnSpc>
                <a:spcPct val="90000"/>
              </a:lnSpc>
              <a:buNone/>
              <a:tabLst>
                <a:tab pos="3028950" algn="ctr"/>
                <a:tab pos="4633913" algn="ctr"/>
              </a:tabLst>
            </a:pPr>
            <a:endParaRPr lang="en-US" altLang="en-US" dirty="0"/>
          </a:p>
          <a:p>
            <a:pPr>
              <a:lnSpc>
                <a:spcPct val="90000"/>
              </a:lnSpc>
              <a:tabLst>
                <a:tab pos="3028950" algn="ctr"/>
                <a:tab pos="4633913" algn="ctr"/>
              </a:tabLst>
            </a:pPr>
            <a:r>
              <a:rPr lang="en-US" altLang="en-US" dirty="0"/>
              <a:t>Average waiting time = (3 + 16 + 9 + 0) / 4 = 7</a:t>
            </a:r>
          </a:p>
        </p:txBody>
      </p:sp>
      <p:pic>
        <p:nvPicPr>
          <p:cNvPr id="5" name="Picture 1">
            <a:extLst>
              <a:ext uri="{FF2B5EF4-FFF2-40B4-BE49-F238E27FC236}">
                <a16:creationId xmlns="" xmlns:a16="http://schemas.microsoft.com/office/drawing/2014/main" id="{DADC6AF8-4597-4452-983E-FCBE4FEE15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7396" y="4012749"/>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220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 xmlns:a16="http://schemas.microsoft.com/office/drawing/2014/main" id="{75370DA6-23EE-4245-8D59-2BE3CA11205A}"/>
              </a:ext>
            </a:extLst>
          </p:cNvPr>
          <p:cNvSpPr>
            <a:spLocks noGrp="1" noChangeArrowheads="1"/>
          </p:cNvSpPr>
          <p:nvPr>
            <p:ph type="title"/>
          </p:nvPr>
        </p:nvSpPr>
        <p:spPr>
          <a:xfrm>
            <a:off x="1200349"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 xmlns:a16="http://schemas.microsoft.com/office/drawing/2014/main" id="{823814F7-CEBB-4A55-80A1-4EA7BB1EEA9B}"/>
              </a:ext>
            </a:extLst>
          </p:cNvPr>
          <p:cNvSpPr>
            <a:spLocks noGrp="1" noChangeArrowheads="1"/>
          </p:cNvSpPr>
          <p:nvPr>
            <p:ph idx="1"/>
          </p:nvPr>
        </p:nvSpPr>
        <p:spPr>
          <a:xfrm>
            <a:off x="821093" y="1139969"/>
            <a:ext cx="6760325" cy="4345509"/>
          </a:xfrm>
        </p:spPr>
        <p:txBody>
          <a:bodyPr/>
          <a:lstStyle/>
          <a:p>
            <a:r>
              <a:rPr lang="en-US" altLang="en-US" dirty="0">
                <a:cs typeface="ＭＳ Ｐゴシック" charset="-128"/>
              </a:rPr>
              <a:t>Preemptive version of SJN</a:t>
            </a:r>
            <a:endParaRPr lang="en-US" altLang="en-US" b="1" dirty="0">
              <a:solidFill>
                <a:srgbClr val="006699"/>
              </a:solidFill>
              <a:latin typeface="+mj-lt"/>
            </a:endParaRPr>
          </a:p>
          <a:p>
            <a:r>
              <a:rPr lang="en-US" altLang="en-US" dirty="0"/>
              <a:t>Whenever a new process arrives in the ready queue, the decision on which process to schedule next is redone using the SJN algorithm.</a:t>
            </a:r>
          </a:p>
          <a:p>
            <a:r>
              <a:rPr lang="en-US" altLang="en-US" dirty="0"/>
              <a:t>Is SRT more “optimal” than SJN in terms of the minimum average waiting time for a given set of processes?</a:t>
            </a:r>
          </a:p>
          <a:p>
            <a:endParaRPr lang="en-US" altLang="en-US" dirty="0"/>
          </a:p>
          <a:p>
            <a:pPr lvl="1"/>
            <a:endParaRPr lang="en-US" altLang="en-US" dirty="0"/>
          </a:p>
        </p:txBody>
      </p:sp>
    </p:spTree>
    <p:extLst>
      <p:ext uri="{BB962C8B-B14F-4D97-AF65-F5344CB8AC3E}">
        <p14:creationId xmlns:p14="http://schemas.microsoft.com/office/powerpoint/2010/main" val="2452641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 xmlns:a16="http://schemas.microsoft.com/office/drawing/2014/main" id="{E841C6C2-8CFF-4FDC-A9E1-6B260CB17106}"/>
              </a:ext>
            </a:extLst>
          </p:cNvPr>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 xmlns:a16="http://schemas.microsoft.com/office/drawing/2014/main" id="{F6B280F4-20CD-4AA5-887B-A75AC06E0F7C}"/>
              </a:ext>
            </a:extLst>
          </p:cNvPr>
          <p:cNvSpPr>
            <a:spLocks noGrp="1" noChangeArrowheads="1"/>
          </p:cNvSpPr>
          <p:nvPr>
            <p:ph idx="1"/>
          </p:nvPr>
        </p:nvSpPr>
        <p:spPr>
          <a:xfrm>
            <a:off x="802433" y="1233488"/>
            <a:ext cx="7707085" cy="4530725"/>
          </a:xfrm>
        </p:spPr>
        <p:txBody>
          <a:bodyPr>
            <a:normAutofit lnSpcReduction="10000"/>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normAutofit/>
          </a:bodyPr>
          <a:lstStyle/>
          <a:p>
            <a:pPr eaLnBrk="1" hangingPunct="1"/>
            <a:r>
              <a:rPr lang="en-US" altLang="en-US" dirty="0"/>
              <a:t>Round Robin (RR)</a:t>
            </a:r>
          </a:p>
        </p:txBody>
      </p:sp>
      <p:sp>
        <p:nvSpPr>
          <p:cNvPr id="39938" name="Rectangle 3">
            <a:extLst>
              <a:ext uri="{FF2B5EF4-FFF2-40B4-BE49-F238E27FC236}">
                <a16:creationId xmlns="" xmlns:a16="http://schemas.microsoft.com/office/drawing/2014/main" id="{8A6C6617-67BF-4484-A025-320FA2994436}"/>
              </a:ext>
            </a:extLst>
          </p:cNvPr>
          <p:cNvSpPr>
            <a:spLocks noGrp="1" noChangeArrowheads="1"/>
          </p:cNvSpPr>
          <p:nvPr>
            <p:ph idx="1"/>
          </p:nvPr>
        </p:nvSpPr>
        <p:spPr>
          <a:xfrm>
            <a:off x="811763" y="1058277"/>
            <a:ext cx="7244217" cy="4381822"/>
          </a:xfrm>
        </p:spPr>
        <p:txBody>
          <a:bodyPr>
            <a:normAutofit lnSpcReduction="10000"/>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 (FCFS)</a:t>
            </a:r>
          </a:p>
          <a:p>
            <a:pPr lvl="1"/>
            <a:r>
              <a:rPr lang="en-US" altLang="en-US" i="1" dirty="0">
                <a:sym typeface="Symbol" panose="05050102010706020507" pitchFamily="18" charset="2"/>
              </a:rPr>
              <a:t>q </a:t>
            </a:r>
            <a:r>
              <a:rPr lang="en-US" altLang="en-US" dirty="0">
                <a:sym typeface="Symbol" panose="05050102010706020507" pitchFamily="18" charset="2"/>
              </a:rPr>
              <a:t>small  RR</a:t>
            </a:r>
          </a:p>
          <a:p>
            <a:r>
              <a:rPr lang="en-US" altLang="en-US"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 xmlns:a16="http://schemas.microsoft.com/office/drawing/2014/main" id="{6DF101FA-59C2-4431-9504-FC73D47453BC}"/>
              </a:ext>
            </a:extLst>
          </p:cNvPr>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 xmlns:a16="http://schemas.microsoft.com/office/drawing/2014/main" id="{E17EE130-D776-4D6D-84E6-F464A160ACBF}"/>
              </a:ext>
            </a:extLst>
          </p:cNvPr>
          <p:cNvSpPr>
            <a:spLocks noGrp="1" noChangeArrowheads="1"/>
          </p:cNvSpPr>
          <p:nvPr>
            <p:ph idx="1"/>
          </p:nvPr>
        </p:nvSpPr>
        <p:spPr>
          <a:xfrm>
            <a:off x="954087" y="1193799"/>
            <a:ext cx="7460707" cy="4639841"/>
          </a:xfrm>
        </p:spPr>
        <p:txBody>
          <a:bodyPr>
            <a:normAutofit lnSpcReduction="10000"/>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a:extLst>
              <a:ext uri="{FF2B5EF4-FFF2-40B4-BE49-F238E27FC236}">
                <a16:creationId xmlns=""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99096" y="3369354"/>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 xmlns:a16="http://schemas.microsoft.com/office/drawing/2014/main" id="{97EB9085-4F50-4C0E-A2E6-8B8193DC54B9}"/>
              </a:ext>
            </a:extLst>
          </p:cNvPr>
          <p:cNvSpPr>
            <a:spLocks noGrp="1" noChangeArrowheads="1"/>
          </p:cNvSpPr>
          <p:nvPr>
            <p:ph type="title"/>
          </p:nvPr>
        </p:nvSpPr>
        <p:spPr>
          <a:xfrm>
            <a:off x="963613" y="109861"/>
            <a:ext cx="7723187" cy="576262"/>
          </a:xfrm>
        </p:spPr>
        <p:txBody>
          <a:bodyPr>
            <a:normAutofit/>
          </a:bodyPr>
          <a:lstStyle/>
          <a:p>
            <a:pPr eaLnBrk="1" hangingPunct="1"/>
            <a:r>
              <a:rPr lang="en-US" altLang="en-US" dirty="0"/>
              <a:t>Priority Scheduling</a:t>
            </a:r>
          </a:p>
        </p:txBody>
      </p:sp>
      <p:sp>
        <p:nvSpPr>
          <p:cNvPr id="48130" name="Rectangle 3">
            <a:extLst>
              <a:ext uri="{FF2B5EF4-FFF2-40B4-BE49-F238E27FC236}">
                <a16:creationId xmlns="" xmlns:a16="http://schemas.microsoft.com/office/drawing/2014/main" id="{328AB413-1FAE-4AEC-A110-AFD45B9A75C2}"/>
              </a:ext>
            </a:extLst>
          </p:cNvPr>
          <p:cNvSpPr>
            <a:spLocks noGrp="1" noChangeArrowheads="1"/>
          </p:cNvSpPr>
          <p:nvPr>
            <p:ph idx="1"/>
          </p:nvPr>
        </p:nvSpPr>
        <p:spPr>
          <a:xfrm>
            <a:off x="821094" y="1233488"/>
            <a:ext cx="7723186" cy="4530725"/>
          </a:xfrm>
        </p:spPr>
        <p:txBody>
          <a:bodyPr/>
          <a:lstStyle/>
          <a:p>
            <a:r>
              <a:rPr lang="en-US" altLang="en-US" dirty="0"/>
              <a:t>A priority number (integer) is associated with each process</a:t>
            </a:r>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p>
          <a:p>
            <a:pPr lvl="1"/>
            <a:r>
              <a:rPr lang="en-US" altLang="en-US" dirty="0"/>
              <a:t>Preemptive</a:t>
            </a:r>
          </a:p>
          <a:p>
            <a:pPr lvl="1"/>
            <a:r>
              <a:rPr lang="en-US" altLang="en-US" dirty="0"/>
              <a:t>Nonpreemptive</a:t>
            </a:r>
          </a:p>
          <a:p>
            <a:pPr lvl="1"/>
            <a:endParaRPr lang="en-US" altLang="en-US" sz="800" dirty="0"/>
          </a:p>
          <a:p>
            <a:r>
              <a:rPr lang="en-US" altLang="en-US" dirty="0"/>
              <a:t>SJF is priority scheduling where priority is the inverse of predicted next CPU burst time</a:t>
            </a:r>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p>
          <a:p>
            <a:pPr>
              <a:buFont typeface="Monotype Sorts" pitchFamily="-84" charset="2"/>
              <a:buNone/>
            </a:pPr>
            <a:endParaRPr lang="en-US" altLang="en-US" b="1" dirty="0">
              <a:solidFill>
                <a:srgbClr val="3366FF"/>
              </a:solidFill>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 xmlns:a16="http://schemas.microsoft.com/office/drawing/2014/main" id="{BD1CE599-A709-401F-8DD0-F7F4CCB2DDF1}"/>
              </a:ext>
            </a:extLst>
          </p:cNvPr>
          <p:cNvSpPr>
            <a:spLocks noGrp="1" noChangeArrowheads="1"/>
          </p:cNvSpPr>
          <p:nvPr>
            <p:ph type="title"/>
          </p:nvPr>
        </p:nvSpPr>
        <p:spPr>
          <a:xfrm>
            <a:off x="1406525" y="136087"/>
            <a:ext cx="7280275" cy="576262"/>
          </a:xfrm>
        </p:spPr>
        <p:txBody>
          <a:bodyPr>
            <a:normAutofit/>
          </a:bodyPr>
          <a:lstStyle/>
          <a:p>
            <a:pPr eaLnBrk="1" hangingPunct="1"/>
            <a:r>
              <a:rPr lang="en-US" altLang="en-US" dirty="0"/>
              <a:t>Example of Priority Scheduling</a:t>
            </a:r>
          </a:p>
        </p:txBody>
      </p:sp>
      <p:sp>
        <p:nvSpPr>
          <p:cNvPr id="50178" name="Rectangle 36">
            <a:extLst>
              <a:ext uri="{FF2B5EF4-FFF2-40B4-BE49-F238E27FC236}">
                <a16:creationId xmlns="" xmlns:a16="http://schemas.microsoft.com/office/drawing/2014/main" id="{CDADF2B2-580D-4F09-8A23-D969CD614667}"/>
              </a:ext>
            </a:extLst>
          </p:cNvPr>
          <p:cNvSpPr>
            <a:spLocks noGrp="1" noChangeArrowheads="1"/>
          </p:cNvSpPr>
          <p:nvPr>
            <p:ph idx="1"/>
          </p:nvPr>
        </p:nvSpPr>
        <p:spPr>
          <a:xfrm>
            <a:off x="806450" y="1233487"/>
            <a:ext cx="7973868" cy="4907539"/>
          </a:xfrm>
          <a:noFill/>
        </p:spPr>
        <p:txBody>
          <a:bodyPr>
            <a:normAutofit lnSpcReduction="10000"/>
          </a:bodyPr>
          <a:lstStyle/>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a:extLst>
              <a:ext uri="{FF2B5EF4-FFF2-40B4-BE49-F238E27FC236}">
                <a16:creationId xmlns=""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 xmlns:a16="http://schemas.microsoft.com/office/drawing/2014/main" id="{CDE24674-CB1D-4389-9B31-B04F87B0ABF8}"/>
              </a:ext>
            </a:extLst>
          </p:cNvPr>
          <p:cNvSpPr>
            <a:spLocks noGrp="1" noChangeArrowheads="1"/>
          </p:cNvSpPr>
          <p:nvPr>
            <p:ph type="title"/>
          </p:nvPr>
        </p:nvSpPr>
        <p:spPr>
          <a:xfrm>
            <a:off x="1452825" y="137006"/>
            <a:ext cx="7280275" cy="576262"/>
          </a:xfrm>
        </p:spPr>
        <p:txBody>
          <a:bodyPr>
            <a:normAutofit/>
          </a:bodyPr>
          <a:lstStyle/>
          <a:p>
            <a:pPr eaLnBrk="1" hangingPunct="1"/>
            <a:r>
              <a:rPr lang="en-US" altLang="en-US" dirty="0"/>
              <a:t>Priority Scheduling w/ Round-Robin</a:t>
            </a:r>
          </a:p>
        </p:txBody>
      </p:sp>
      <p:sp>
        <p:nvSpPr>
          <p:cNvPr id="52226" name="Rectangle 36">
            <a:extLst>
              <a:ext uri="{FF2B5EF4-FFF2-40B4-BE49-F238E27FC236}">
                <a16:creationId xmlns="" xmlns:a16="http://schemas.microsoft.com/office/drawing/2014/main" id="{2105BD44-B36B-488F-9B4A-6D230FFCC50A}"/>
              </a:ext>
            </a:extLst>
          </p:cNvPr>
          <p:cNvSpPr>
            <a:spLocks noGrp="1" noChangeArrowheads="1"/>
          </p:cNvSpPr>
          <p:nvPr>
            <p:ph idx="1"/>
          </p:nvPr>
        </p:nvSpPr>
        <p:spPr>
          <a:xfrm>
            <a:off x="806450"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pic>
        <p:nvPicPr>
          <p:cNvPr id="52227" name="Picture 2">
            <a:extLst>
              <a:ext uri="{FF2B5EF4-FFF2-40B4-BE49-F238E27FC236}">
                <a16:creationId xmlns=""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22755" y="5496878"/>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695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normAutofit/>
          </a:bodyPr>
          <a:lstStyle/>
          <a:p>
            <a:pPr eaLnBrk="1" hangingPunct="1"/>
            <a:r>
              <a:rPr lang="en-US" altLang="en-US" dirty="0"/>
              <a:t>Multilevel Queue</a:t>
            </a:r>
          </a:p>
        </p:txBody>
      </p:sp>
      <p:sp>
        <p:nvSpPr>
          <p:cNvPr id="57346" name="Rectangle 3">
            <a:extLst>
              <a:ext uri="{FF2B5EF4-FFF2-40B4-BE49-F238E27FC236}">
                <a16:creationId xmlns="" xmlns:a16="http://schemas.microsoft.com/office/drawing/2014/main" id="{ABB3FE17-4C94-4A31-A709-AB137253300C}"/>
              </a:ext>
            </a:extLst>
          </p:cNvPr>
          <p:cNvSpPr>
            <a:spLocks noGrp="1" noChangeArrowheads="1"/>
          </p:cNvSpPr>
          <p:nvPr>
            <p:ph idx="1"/>
          </p:nvPr>
        </p:nvSpPr>
        <p:spPr>
          <a:xfrm>
            <a:off x="830424" y="1144346"/>
            <a:ext cx="6973149" cy="4456354"/>
          </a:xfrm>
        </p:spPr>
        <p:txBody>
          <a:bodyPr/>
          <a:lstStyle/>
          <a:p>
            <a:r>
              <a:rPr lang="en-US" altLang="en-US" dirty="0"/>
              <a:t>The ready queue consists of multiple queues</a:t>
            </a:r>
          </a:p>
          <a:p>
            <a:r>
              <a:rPr lang="en-US" altLang="en-US" dirty="0"/>
              <a:t>Multilevel 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which queue a process will enter when that process needs service</a:t>
            </a:r>
          </a:p>
          <a:p>
            <a:pPr lvl="1"/>
            <a:r>
              <a:rPr lang="en-US" altLang="en-US" dirty="0"/>
              <a:t>Scheduling among the queues</a:t>
            </a:r>
          </a:p>
          <a:p>
            <a:endParaRPr lang="en-US" altLang="en-US" dirty="0"/>
          </a:p>
        </p:txBody>
      </p:sp>
    </p:spTree>
    <p:extLst>
      <p:ext uri="{BB962C8B-B14F-4D97-AF65-F5344CB8AC3E}">
        <p14:creationId xmlns:p14="http://schemas.microsoft.com/office/powerpoint/2010/main" val="3206840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 xmlns:a16="http://schemas.microsoft.com/office/drawing/2014/main" id="{1CD96B60-8A48-434B-B0B3-7D137B28C363}"/>
              </a:ext>
            </a:extLst>
          </p:cNvPr>
          <p:cNvSpPr>
            <a:spLocks noGrp="1" noChangeArrowheads="1"/>
          </p:cNvSpPr>
          <p:nvPr>
            <p:ph type="title"/>
          </p:nvPr>
        </p:nvSpPr>
        <p:spPr>
          <a:xfrm>
            <a:off x="973138" y="219305"/>
            <a:ext cx="7713662" cy="576262"/>
          </a:xfrm>
        </p:spPr>
        <p:txBody>
          <a:bodyPr>
            <a:normAutofit/>
          </a:bodyPr>
          <a:lstStyle/>
          <a:p>
            <a:pPr eaLnBrk="1" hangingPunct="1"/>
            <a:r>
              <a:rPr lang="en-US" altLang="en-US" dirty="0"/>
              <a:t>Multilevel Queue</a:t>
            </a:r>
          </a:p>
        </p:txBody>
      </p:sp>
      <p:sp>
        <p:nvSpPr>
          <p:cNvPr id="54274" name="Rectangle 3">
            <a:extLst>
              <a:ext uri="{FF2B5EF4-FFF2-40B4-BE49-F238E27FC236}">
                <a16:creationId xmlns="" xmlns:a16="http://schemas.microsoft.com/office/drawing/2014/main" id="{1C367D1A-7DE2-4C9D-8F9F-8D980F3D95B0}"/>
              </a:ext>
            </a:extLst>
          </p:cNvPr>
          <p:cNvSpPr>
            <a:spLocks noGrp="1" noChangeArrowheads="1"/>
          </p:cNvSpPr>
          <p:nvPr>
            <p:ph idx="1"/>
          </p:nvPr>
        </p:nvSpPr>
        <p:spPr>
          <a:xfrm>
            <a:off x="811763" y="1068388"/>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1082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 xmlns:a16="http://schemas.microsoft.com/office/drawing/2014/main" id="{6F1CB462-9D7D-4499-AF00-7FB8FBEF7A03}"/>
              </a:ext>
            </a:extLst>
          </p:cNvPr>
          <p:cNvSpPr>
            <a:spLocks noGrp="1"/>
          </p:cNvSpPr>
          <p:nvPr>
            <p:ph type="title"/>
          </p:nvPr>
        </p:nvSpPr>
        <p:spPr>
          <a:xfrm>
            <a:off x="890429" y="215191"/>
            <a:ext cx="7880350" cy="576262"/>
          </a:xfrm>
        </p:spPr>
        <p:txBody>
          <a:bodyPr>
            <a:normAutofit/>
          </a:bodyPr>
          <a:lstStyle/>
          <a:p>
            <a:r>
              <a:rPr lang="en-US" altLang="en-US" dirty="0"/>
              <a:t>Multilevel Queue</a:t>
            </a:r>
          </a:p>
        </p:txBody>
      </p:sp>
      <p:sp>
        <p:nvSpPr>
          <p:cNvPr id="56322" name="Content Placeholder 2">
            <a:extLst>
              <a:ext uri="{FF2B5EF4-FFF2-40B4-BE49-F238E27FC236}">
                <a16:creationId xmlns="" xmlns:a16="http://schemas.microsoft.com/office/drawing/2014/main"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85937" y="2812574"/>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normAutofit/>
          </a:bodyPr>
          <a:lstStyle/>
          <a:p>
            <a:pPr eaLnBrk="1" hangingPunct="1"/>
            <a:r>
              <a:rPr lang="en-US" altLang="en-US" dirty="0"/>
              <a:t>Multilevel Feedback Queue</a:t>
            </a:r>
          </a:p>
        </p:txBody>
      </p:sp>
      <p:sp>
        <p:nvSpPr>
          <p:cNvPr id="57346" name="Rectangle 3">
            <a:extLst>
              <a:ext uri="{FF2B5EF4-FFF2-40B4-BE49-F238E27FC236}">
                <a16:creationId xmlns="" xmlns:a16="http://schemas.microsoft.com/office/drawing/2014/main" id="{ABB3FE17-4C94-4A31-A709-AB137253300C}"/>
              </a:ext>
            </a:extLst>
          </p:cNvPr>
          <p:cNvSpPr>
            <a:spLocks noGrp="1" noChangeArrowheads="1"/>
          </p:cNvSpPr>
          <p:nvPr>
            <p:ph idx="1"/>
          </p:nvPr>
        </p:nvSpPr>
        <p:spPr>
          <a:xfrm>
            <a:off x="830424" y="1144346"/>
            <a:ext cx="7341303"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 xmlns:a16="http://schemas.microsoft.com/office/drawing/2014/main"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 xmlns:a16="http://schemas.microsoft.com/office/drawing/2014/main" id="{613E5F61-646B-48FF-83DC-0216A8F01A46}"/>
              </a:ext>
            </a:extLst>
          </p:cNvPr>
          <p:cNvSpPr>
            <a:spLocks noGrp="1" noChangeArrowheads="1"/>
          </p:cNvSpPr>
          <p:nvPr>
            <p:ph idx="1"/>
          </p:nvPr>
        </p:nvSpPr>
        <p:spPr>
          <a:xfrm>
            <a:off x="806449" y="1101013"/>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a:extLst>
              <a:ext uri="{FF2B5EF4-FFF2-40B4-BE49-F238E27FC236}">
                <a16:creationId xmlns=""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8" y="2745189"/>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normAutofit/>
          </a:bodyPr>
          <a:lstStyle/>
          <a:p>
            <a:pPr eaLnBrk="1" hangingPunct="1"/>
            <a:r>
              <a:rPr lang="en-US" altLang="en-US" dirty="0"/>
              <a:t>Multiple-Processor Scheduling</a:t>
            </a:r>
          </a:p>
        </p:txBody>
      </p:sp>
      <p:sp>
        <p:nvSpPr>
          <p:cNvPr id="69634" name="Rectangle 3">
            <a:extLst>
              <a:ext uri="{FF2B5EF4-FFF2-40B4-BE49-F238E27FC236}">
                <a16:creationId xmlns="" xmlns:a16="http://schemas.microsoft.com/office/drawing/2014/main" id="{2B71E613-2379-4021-8ED5-E283592561A9}"/>
              </a:ext>
            </a:extLst>
          </p:cNvPr>
          <p:cNvSpPr>
            <a:spLocks noGrp="1" noChangeArrowheads="1"/>
          </p:cNvSpPr>
          <p:nvPr>
            <p:ph idx="1"/>
          </p:nvPr>
        </p:nvSpPr>
        <p:spPr>
          <a:xfrm>
            <a:off x="774441" y="1122363"/>
            <a:ext cx="7788501" cy="4808537"/>
          </a:xfrm>
        </p:spPr>
        <p:txBody>
          <a:bodyPr/>
          <a:lstStyle/>
          <a:p>
            <a:r>
              <a:rPr lang="en-US" altLang="en-US" dirty="0"/>
              <a:t>CPU scheduling more complex when multiple CPUs are available</a:t>
            </a:r>
          </a:p>
          <a:p>
            <a:r>
              <a:rPr lang="en-US" altLang="en-US" dirty="0" err="1"/>
              <a:t>Multiprocess</a:t>
            </a:r>
            <a:r>
              <a:rPr lang="en-US" altLang="en-US" dirty="0"/>
              <a:t> may be any one of the following architectures:</a:t>
            </a:r>
            <a:endParaRPr lang="en-US" altLang="en-US" sz="800" dirty="0"/>
          </a:p>
          <a:p>
            <a:pPr lvl="1"/>
            <a:r>
              <a:rPr lang="en-US" altLang="en-US" dirty="0"/>
              <a:t>Multicore CPUs</a:t>
            </a:r>
          </a:p>
          <a:p>
            <a:pPr lvl="1"/>
            <a:r>
              <a:rPr lang="en-US" altLang="en-US" dirty="0"/>
              <a:t>Multithreaded cores</a:t>
            </a:r>
          </a:p>
          <a:p>
            <a:pPr lvl="1"/>
            <a:r>
              <a:rPr lang="en-US" altLang="en-US" dirty="0"/>
              <a:t>NUMA systems</a:t>
            </a:r>
          </a:p>
          <a:p>
            <a:pPr lvl="1"/>
            <a:r>
              <a:rPr lang="en-US" altLang="en-US" dirty="0"/>
              <a:t>Heterogeneous multiprocessing</a:t>
            </a:r>
          </a:p>
          <a:p>
            <a:pPr lvl="1"/>
            <a:endParaRPr lang="en-US" altLang="en-US" b="1" dirty="0">
              <a:solidFill>
                <a:srgbClr val="3366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 xmlns:a16="http://schemas.microsoft.com/office/drawing/2014/main" id="{C7F1E55F-983C-47F8-ADBE-54E15FEFD9AB}"/>
              </a:ext>
            </a:extLst>
          </p:cNvPr>
          <p:cNvSpPr>
            <a:spLocks noGrp="1"/>
          </p:cNvSpPr>
          <p:nvPr>
            <p:ph type="title"/>
          </p:nvPr>
        </p:nvSpPr>
        <p:spPr>
          <a:xfrm>
            <a:off x="894080" y="173722"/>
            <a:ext cx="8229600" cy="576262"/>
          </a:xfrm>
        </p:spPr>
        <p:txBody>
          <a:bodyPr>
            <a:normAutofit/>
          </a:bodyPr>
          <a:lstStyle/>
          <a:p>
            <a:r>
              <a:rPr lang="en-US" altLang="en-US" dirty="0"/>
              <a:t>Multiple-Processor Scheduling</a:t>
            </a:r>
          </a:p>
        </p:txBody>
      </p:sp>
      <p:sp>
        <p:nvSpPr>
          <p:cNvPr id="71682" name="Content Placeholder 2">
            <a:extLst>
              <a:ext uri="{FF2B5EF4-FFF2-40B4-BE49-F238E27FC236}">
                <a16:creationId xmlns="" xmlns:a16="http://schemas.microsoft.com/office/drawing/2014/main" id="{7A08C823-220F-4189-B103-BC03391E7F6B}"/>
              </a:ext>
            </a:extLst>
          </p:cNvPr>
          <p:cNvSpPr>
            <a:spLocks noGrp="1"/>
          </p:cNvSpPr>
          <p:nvPr>
            <p:ph idx="1"/>
          </p:nvPr>
        </p:nvSpPr>
        <p:spPr>
          <a:xfrm>
            <a:off x="894080" y="1270952"/>
            <a:ext cx="7290055" cy="4023360"/>
          </a:xfrm>
        </p:spPr>
        <p:txBody>
          <a:bodyPr/>
          <a:lstStyle/>
          <a:p>
            <a:r>
              <a:rPr lang="en-US" altLang="en-US" dirty="0"/>
              <a:t>Symmetric multiprocessing (SMP) is where each processor is self scheduling.</a:t>
            </a:r>
          </a:p>
          <a:p>
            <a:r>
              <a:rPr lang="en-US" altLang="en-US" dirty="0"/>
              <a:t>All threads may be in a common ready queue (a)</a:t>
            </a:r>
          </a:p>
          <a:p>
            <a:r>
              <a:rPr lang="en-US" altLang="en-US" dirty="0"/>
              <a:t>Each processor may have its own private queue of threads (b)</a:t>
            </a:r>
          </a:p>
        </p:txBody>
      </p:sp>
      <p:pic>
        <p:nvPicPr>
          <p:cNvPr id="71683" name="Picture 3">
            <a:extLst>
              <a:ext uri="{FF2B5EF4-FFF2-40B4-BE49-F238E27FC236}">
                <a16:creationId xmlns=""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39913" y="3902075"/>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 xmlns:a16="http://schemas.microsoft.com/office/drawing/2014/main"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 xmlns:a16="http://schemas.microsoft.com/office/drawing/2014/main" id="{820781A6-111F-4348-AA18-D0475B89840C}"/>
              </a:ext>
            </a:extLst>
          </p:cNvPr>
          <p:cNvSpPr>
            <a:spLocks noGrp="1" noChangeArrowheads="1"/>
          </p:cNvSpPr>
          <p:nvPr>
            <p:ph idx="1"/>
          </p:nvPr>
        </p:nvSpPr>
        <p:spPr>
          <a:xfrm>
            <a:off x="765109" y="1030289"/>
            <a:ext cx="7200331" cy="4699952"/>
          </a:xfrm>
        </p:spPr>
        <p:txBody>
          <a:bodyPr/>
          <a:lstStyle/>
          <a:p>
            <a:r>
              <a:rPr lang="en-US" altLang="en-US" dirty="0"/>
              <a:t>If SMP, need to keep all CPUs loaded for efficiency</a:t>
            </a:r>
          </a:p>
          <a:p>
            <a:r>
              <a:rPr lang="en-US" altLang="en-US" b="1" dirty="0">
                <a:solidFill>
                  <a:srgbClr val="006699"/>
                </a:solidFill>
                <a:latin typeface="+mj-lt"/>
              </a:rPr>
              <a:t>Load</a:t>
            </a:r>
            <a:r>
              <a:rPr lang="en-US" altLang="en-US" b="1" dirty="0">
                <a:solidFill>
                  <a:srgbClr val="3366FF"/>
                </a:solidFill>
              </a:rPr>
              <a:t> </a:t>
            </a:r>
            <a:r>
              <a:rPr lang="en-US" altLang="en-US" b="1" dirty="0">
                <a:solidFill>
                  <a:srgbClr val="006699"/>
                </a:solidFill>
                <a:latin typeface="+mj-lt"/>
              </a:rPr>
              <a:t>balancing</a:t>
            </a:r>
            <a:r>
              <a:rPr lang="en-US" altLang="en-US" b="1" dirty="0">
                <a:solidFill>
                  <a:srgbClr val="3366FF"/>
                </a:solidFill>
              </a:rPr>
              <a:t> </a:t>
            </a:r>
            <a:r>
              <a:rPr lang="en-US" altLang="en-US" dirty="0"/>
              <a:t>attempts to keep workload evenly distributed</a:t>
            </a:r>
          </a:p>
          <a:p>
            <a:r>
              <a:rPr lang="en-US" altLang="en-US" b="1" dirty="0">
                <a:solidFill>
                  <a:srgbClr val="006699"/>
                </a:solidFill>
                <a:latin typeface="+mj-lt"/>
              </a:rPr>
              <a:t>Push</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periodic task checks load on each processor, and if found pushes task from overloaded CPU to other CPUs</a:t>
            </a:r>
            <a:endParaRPr lang="en-US" altLang="en-US" b="1" dirty="0">
              <a:solidFill>
                <a:srgbClr val="3366FF"/>
              </a:solidFill>
            </a:endParaRPr>
          </a:p>
          <a:p>
            <a:r>
              <a:rPr lang="en-US" altLang="en-US" b="1" dirty="0">
                <a:solidFill>
                  <a:srgbClr val="006699"/>
                </a:solidFill>
                <a:latin typeface="+mj-lt"/>
              </a:rPr>
              <a:t>Pull</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idle processors pulls waiting task from busy processor</a:t>
            </a:r>
          </a:p>
          <a:p>
            <a:endParaRPr lang="en-US" alt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27825" y="2967335"/>
            <a:ext cx="4288353" cy="923330"/>
          </a:xfrm>
          <a:prstGeom prst="rect">
            <a:avLst/>
          </a:prstGeom>
          <a:noFill/>
        </p:spPr>
        <p:txBody>
          <a:bodyPr wrap="none" lIns="91440" tIns="45720" rIns="91440" bIns="45720">
            <a:spAutoFit/>
          </a:bodyPr>
          <a:lstStyle/>
          <a:p>
            <a:pPr algn="ctr"/>
            <a:r>
              <a:rPr lang="en-U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4247326620"/>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13478</TotalTime>
  <Words>1169</Words>
  <Application>Microsoft Office PowerPoint</Application>
  <PresentationFormat>On-screen Show (4:3)</PresentationFormat>
  <Paragraphs>232</Paragraphs>
  <Slides>29</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ＭＳ Ｐゴシック</vt:lpstr>
      <vt:lpstr>ＭＳ Ｐゴシック</vt:lpstr>
      <vt:lpstr>Arial</vt:lpstr>
      <vt:lpstr>Georgia</vt:lpstr>
      <vt:lpstr>Helvetica</vt:lpstr>
      <vt:lpstr>Monotype Sorts</vt:lpstr>
      <vt:lpstr>Symbol</vt:lpstr>
      <vt:lpstr>Times New Roman</vt:lpstr>
      <vt:lpstr>Verdana</vt:lpstr>
      <vt:lpstr>Office Theme</vt:lpstr>
      <vt:lpstr>CPU Scheduling</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SJF</vt:lpstr>
      <vt:lpstr>Shortest Remaining Time First Scheduling</vt:lpstr>
      <vt:lpstr>Example of Shortest-remaining-time-first</vt:lpstr>
      <vt:lpstr>Round Robin (RR)</vt:lpstr>
      <vt:lpstr>Example of RR with Time Quantum = 4</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lpstr>Multiple-Processor Scheduling</vt:lpstr>
      <vt:lpstr>Multiple-Processor Scheduling</vt:lpstr>
      <vt:lpstr>Multiple-Processor Scheduling – Load Balancing</vt:lpstr>
      <vt:lpstr>PowerPoint Presentation</vt:lpstr>
    </vt:vector>
  </TitlesOfParts>
  <Company>Lucent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Dr.SP</dc:creator>
  <cp:lastModifiedBy>Microsoft account</cp:lastModifiedBy>
  <cp:revision>270</cp:revision>
  <cp:lastPrinted>2013-09-10T17:57:57Z</cp:lastPrinted>
  <dcterms:created xsi:type="dcterms:W3CDTF">2011-01-13T23:43:38Z</dcterms:created>
  <dcterms:modified xsi:type="dcterms:W3CDTF">2025-08-12T06:20:14Z</dcterms:modified>
</cp:coreProperties>
</file>