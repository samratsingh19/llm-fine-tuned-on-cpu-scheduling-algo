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386" y="-123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08FCC4C6-20EF-4044-A5A2-DD33BEFFEA2F}" type="datetimeFigureOut">
              <a:rPr lang="en-US" smtClean="0"/>
              <a:t>7/24/2024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DE822-0BB9-4D10-B694-449E208E2E6B}"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8FCC4C6-20EF-4044-A5A2-DD33BEFFEA2F}" type="datetimeFigureOut">
              <a:rPr lang="en-US" smtClean="0"/>
              <a:t>7/24/2024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DE822-0BB9-4D10-B694-449E208E2E6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8FCC4C6-20EF-4044-A5A2-DD33BEFFEA2F}" type="datetimeFigureOut">
              <a:rPr lang="en-US" smtClean="0"/>
              <a:t>7/24/2024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DE822-0BB9-4D10-B694-449E208E2E6B}"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08FCC4C6-20EF-4044-A5A2-DD33BEFFEA2F}" type="datetimeFigureOut">
              <a:rPr lang="en-US" smtClean="0"/>
              <a:t>7/24/2024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0DE822-0BB9-4D10-B694-449E208E2E6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08FCC4C6-20EF-4044-A5A2-DD33BEFFEA2F}" type="datetimeFigureOut">
              <a:rPr lang="en-US" smtClean="0"/>
              <a:t>7/24/2024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50DE822-0BB9-4D10-B694-449E208E2E6B}"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08FCC4C6-20EF-4044-A5A2-DD33BEFFEA2F}" type="datetimeFigureOut">
              <a:rPr lang="en-US" smtClean="0"/>
              <a:t>7/24/2024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50DE822-0BB9-4D10-B694-449E208E2E6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FCC4C6-20EF-4044-A5A2-DD33BEFFEA2F}" type="datetimeFigureOut">
              <a:rPr lang="en-US" smtClean="0"/>
              <a:t>7/24/2024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50DE822-0BB9-4D10-B694-449E208E2E6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8FCC4C6-20EF-4044-A5A2-DD33BEFFEA2F}" type="datetimeFigureOut">
              <a:rPr lang="en-US" smtClean="0"/>
              <a:t>7/24/2024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0DE822-0BB9-4D10-B694-449E208E2E6B}"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8FCC4C6-20EF-4044-A5A2-DD33BEFFEA2F}" type="datetimeFigureOut">
              <a:rPr lang="en-US" smtClean="0"/>
              <a:t>7/24/2024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50DE822-0BB9-4D10-B694-449E208E2E6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8FCC4C6-20EF-4044-A5A2-DD33BEFFEA2F}" type="datetimeFigureOut">
              <a:rPr lang="en-US" smtClean="0"/>
              <a:t>7/24/2024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DE822-0BB9-4D10-B694-449E208E2E6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8FCC4C6-20EF-4044-A5A2-DD33BEFFEA2F}" type="datetimeFigureOut">
              <a:rPr lang="en-US" smtClean="0"/>
              <a:t>7/24/2024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50DE822-0BB9-4D10-B694-449E208E2E6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FCC4C6-20EF-4044-A5A2-DD33BEFFEA2F}" type="datetimeFigureOut">
              <a:rPr lang="en-US" smtClean="0"/>
              <a:t>7/24/2024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0DE822-0BB9-4D10-B694-449E208E2E6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OS Design Goals</a:t>
            </a:r>
            <a:br>
              <a:rPr lang="en-US" dirty="0" smtClean="0"/>
            </a:br>
            <a:endParaRPr lang="en-IN" dirty="0"/>
          </a:p>
        </p:txBody>
      </p:sp>
      <p:sp>
        <p:nvSpPr>
          <p:cNvPr id="3" name="Subtitle 2"/>
          <p:cNvSpPr>
            <a:spLocks noGrp="1"/>
          </p:cNvSpPr>
          <p:nvPr>
            <p:ph type="subTitle" idx="1"/>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US" dirty="0" smtClean="0"/>
              <a:t>Manage Physical Resources</a:t>
            </a:r>
          </a:p>
          <a:p>
            <a:r>
              <a:rPr lang="en-US" dirty="0" smtClean="0"/>
              <a:t>Virtualization</a:t>
            </a:r>
          </a:p>
          <a:p>
            <a:r>
              <a:rPr lang="en-US" dirty="0" smtClean="0"/>
              <a:t>Concurrency</a:t>
            </a:r>
          </a:p>
          <a:p>
            <a:r>
              <a:rPr lang="en-US" dirty="0" smtClean="0"/>
              <a:t>Persistency</a:t>
            </a:r>
          </a:p>
          <a:p>
            <a:r>
              <a:rPr lang="en-US" dirty="0" smtClean="0"/>
              <a:t>Abstraction – for easy use</a:t>
            </a:r>
          </a:p>
          <a:p>
            <a:r>
              <a:rPr lang="en-US" dirty="0" smtClean="0"/>
              <a:t>High Performance</a:t>
            </a:r>
          </a:p>
          <a:p>
            <a:r>
              <a:rPr lang="en-US" dirty="0" smtClean="0"/>
              <a:t>Protection &amp; Security</a:t>
            </a:r>
          </a:p>
          <a:p>
            <a:r>
              <a:rPr lang="en-US" dirty="0" smtClean="0"/>
              <a:t>Isolation – isolating of processes</a:t>
            </a:r>
          </a:p>
          <a:p>
            <a:r>
              <a:rPr lang="en-US" dirty="0" smtClean="0"/>
              <a:t>Reliability</a:t>
            </a:r>
          </a:p>
          <a:p>
            <a:r>
              <a:rPr lang="en-US" dirty="0" smtClean="0"/>
              <a:t>Energy Efficiency</a:t>
            </a:r>
          </a:p>
          <a:p>
            <a:r>
              <a:rPr lang="en-US" dirty="0" smtClean="0"/>
              <a:t>Mobility</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7893" y="1600200"/>
            <a:ext cx="7868213" cy="4525963"/>
          </a:xfrm>
        </p:spPr>
      </p:pic>
    </p:spTree>
    <p:extLst>
      <p:ext uri="{BB962C8B-B14F-4D97-AF65-F5344CB8AC3E}">
        <p14:creationId xmlns:p14="http://schemas.microsoft.com/office/powerpoint/2010/main" val="3550377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OS Architecture Models</a:t>
            </a:r>
            <a:endParaRPr lang="en-IN" dirty="0"/>
          </a:p>
        </p:txBody>
      </p:sp>
      <p:sp>
        <p:nvSpPr>
          <p:cNvPr id="3" name="Content Placeholder 2"/>
          <p:cNvSpPr>
            <a:spLocks noGrp="1"/>
          </p:cNvSpPr>
          <p:nvPr>
            <p:ph idx="1"/>
          </p:nvPr>
        </p:nvSpPr>
        <p:spPr/>
        <p:txBody>
          <a:bodyPr/>
          <a:lstStyle/>
          <a:p>
            <a:r>
              <a:rPr lang="en-US" dirty="0" smtClean="0"/>
              <a:t>Monolithic OS</a:t>
            </a:r>
          </a:p>
          <a:p>
            <a:r>
              <a:rPr lang="en-US" dirty="0" smtClean="0"/>
              <a:t>Layered OS</a:t>
            </a:r>
          </a:p>
          <a:p>
            <a:r>
              <a:rPr lang="en-US" dirty="0" smtClean="0"/>
              <a:t>Client/Server or Micro Kernel OS</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Monolithic?</a:t>
            </a:r>
            <a:endParaRPr lang="en-IN" dirty="0"/>
          </a:p>
        </p:txBody>
      </p:sp>
      <p:pic>
        <p:nvPicPr>
          <p:cNvPr id="1026" name="Picture 2" descr="https://www.tutorialspoint.com/assets/questions/media/14304-169035026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1717845"/>
            <a:ext cx="5832648" cy="4389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2895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a:t>A Monolithic Operating System is a straightforward operating system where the kernel directly manages file management, device management, process management, and memory management</a:t>
            </a:r>
            <a:endParaRPr lang="en-IN" dirty="0"/>
          </a:p>
        </p:txBody>
      </p:sp>
    </p:spTree>
    <p:extLst>
      <p:ext uri="{BB962C8B-B14F-4D97-AF65-F5344CB8AC3E}">
        <p14:creationId xmlns:p14="http://schemas.microsoft.com/office/powerpoint/2010/main" val="2015621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IN" sz="1300" dirty="0"/>
          </a:p>
        </p:txBody>
      </p:sp>
      <p:sp>
        <p:nvSpPr>
          <p:cNvPr id="3" name="Content Placeholder 2"/>
          <p:cNvSpPr>
            <a:spLocks noGrp="1"/>
          </p:cNvSpPr>
          <p:nvPr>
            <p:ph idx="1"/>
          </p:nvPr>
        </p:nvSpPr>
        <p:spPr/>
        <p:txBody>
          <a:bodyPr/>
          <a:lstStyle/>
          <a:p>
            <a:r>
              <a:rPr lang="en-US" b="1" dirty="0"/>
              <a:t>What is a Layered Operating System?</a:t>
            </a:r>
            <a:br>
              <a:rPr lang="en-US" b="1" dirty="0"/>
            </a:br>
            <a:r>
              <a:rPr lang="en-US" dirty="0"/>
              <a:t>A layered operating system is one that has distinct layers for managing user software and system software. Core system software is handled by the lower layers, whilst application software is handled by the upper layers.</a:t>
            </a:r>
            <a:br>
              <a:rPr lang="en-US" dirty="0"/>
            </a:br>
            <a:endParaRPr lang="en-IN" dirty="0"/>
          </a:p>
        </p:txBody>
      </p:sp>
    </p:spTree>
    <p:extLst>
      <p:ext uri="{BB962C8B-B14F-4D97-AF65-F5344CB8AC3E}">
        <p14:creationId xmlns:p14="http://schemas.microsoft.com/office/powerpoint/2010/main" val="3031920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3428" y="1934610"/>
            <a:ext cx="6857143" cy="3857143"/>
          </a:xfrm>
        </p:spPr>
      </p:pic>
    </p:spTree>
    <p:extLst>
      <p:ext uri="{BB962C8B-B14F-4D97-AF65-F5344CB8AC3E}">
        <p14:creationId xmlns:p14="http://schemas.microsoft.com/office/powerpoint/2010/main" val="3580164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986215299"/>
              </p:ext>
            </p:extLst>
          </p:nvPr>
        </p:nvGraphicFramePr>
        <p:xfrm>
          <a:off x="1619673" y="1600200"/>
          <a:ext cx="5904654" cy="12687024"/>
        </p:xfrm>
        <a:graphic>
          <a:graphicData uri="http://schemas.openxmlformats.org/drawingml/2006/table">
            <a:tbl>
              <a:tblPr/>
              <a:tblGrid>
                <a:gridCol w="1968218"/>
                <a:gridCol w="1968218"/>
                <a:gridCol w="1968218"/>
              </a:tblGrid>
              <a:tr h="182079">
                <a:tc>
                  <a:txBody>
                    <a:bodyPr/>
                    <a:lstStyle/>
                    <a:p>
                      <a:pPr algn="ctr"/>
                      <a:r>
                        <a:rPr lang="en-IN" sz="1400" b="1" dirty="0">
                          <a:effectLst/>
                        </a:rPr>
                        <a:t>Characteristic</a:t>
                      </a:r>
                      <a:endParaRPr lang="en-IN" sz="1400" dirty="0">
                        <a:effectLst/>
                      </a:endParaRPr>
                    </a:p>
                  </a:txBody>
                  <a:tcPr marL="26011" marR="26011" marT="13006" marB="13006" anchor="ctr">
                    <a:lnL>
                      <a:noFill/>
                    </a:lnL>
                    <a:lnR>
                      <a:noFill/>
                    </a:lnR>
                    <a:lnT>
                      <a:noFill/>
                    </a:lnT>
                    <a:lnB>
                      <a:noFill/>
                    </a:lnB>
                  </a:tcPr>
                </a:tc>
                <a:tc>
                  <a:txBody>
                    <a:bodyPr/>
                    <a:lstStyle/>
                    <a:p>
                      <a:pPr algn="ctr"/>
                      <a:r>
                        <a:rPr lang="en-IN" sz="1400" b="1" dirty="0">
                          <a:effectLst/>
                        </a:rPr>
                        <a:t>Monolithic Operating System</a:t>
                      </a:r>
                      <a:endParaRPr lang="en-IN" sz="1400" dirty="0">
                        <a:effectLst/>
                      </a:endParaRPr>
                    </a:p>
                  </a:txBody>
                  <a:tcPr marL="26011" marR="26011" marT="13006" marB="13006" anchor="ctr">
                    <a:lnL>
                      <a:noFill/>
                    </a:lnL>
                    <a:lnR>
                      <a:noFill/>
                    </a:lnR>
                    <a:lnT>
                      <a:noFill/>
                    </a:lnT>
                    <a:lnB>
                      <a:noFill/>
                    </a:lnB>
                  </a:tcPr>
                </a:tc>
                <a:tc>
                  <a:txBody>
                    <a:bodyPr/>
                    <a:lstStyle/>
                    <a:p>
                      <a:pPr algn="ctr"/>
                      <a:r>
                        <a:rPr lang="en-IN" sz="1400" b="1" dirty="0">
                          <a:effectLst/>
                        </a:rPr>
                        <a:t>Layered Operating System</a:t>
                      </a:r>
                      <a:endParaRPr lang="en-IN" sz="1400" dirty="0">
                        <a:effectLst/>
                      </a:endParaRPr>
                    </a:p>
                  </a:txBody>
                  <a:tcPr marL="26011" marR="26011" marT="13006" marB="13006" anchor="ctr">
                    <a:lnL>
                      <a:noFill/>
                    </a:lnL>
                    <a:lnR>
                      <a:noFill/>
                    </a:lnR>
                    <a:lnT>
                      <a:noFill/>
                    </a:lnT>
                    <a:lnB>
                      <a:noFill/>
                    </a:lnB>
                  </a:tcPr>
                </a:tc>
              </a:tr>
              <a:tr h="572248">
                <a:tc>
                  <a:txBody>
                    <a:bodyPr/>
                    <a:lstStyle/>
                    <a:p>
                      <a:pPr algn="l"/>
                      <a:r>
                        <a:rPr lang="en-IN" sz="1400" b="1" dirty="0">
                          <a:effectLst/>
                        </a:rPr>
                        <a:t>Definition</a:t>
                      </a:r>
                      <a:endParaRPr lang="en-IN" sz="1400" dirty="0">
                        <a:effectLst/>
                      </a:endParaRPr>
                    </a:p>
                  </a:txBody>
                  <a:tcPr marL="26011" marR="26011" marT="13006" marB="13006" anchor="ctr">
                    <a:lnL>
                      <a:noFill/>
                    </a:lnL>
                    <a:lnR>
                      <a:noFill/>
                    </a:lnR>
                    <a:lnT>
                      <a:noFill/>
                    </a:lnT>
                    <a:lnB>
                      <a:noFill/>
                    </a:lnB>
                  </a:tcPr>
                </a:tc>
                <a:tc>
                  <a:txBody>
                    <a:bodyPr/>
                    <a:lstStyle/>
                    <a:p>
                      <a:pPr algn="l"/>
                      <a:r>
                        <a:rPr lang="en-US" sz="1400" dirty="0">
                          <a:effectLst/>
                        </a:rPr>
                        <a:t>A relatively straightforward operating system where file management, device management, process management, and memory management are directly managed by the kernel.</a:t>
                      </a:r>
                    </a:p>
                  </a:txBody>
                  <a:tcPr marL="26011" marR="26011" marT="13006" marB="13006" anchor="ctr">
                    <a:lnL>
                      <a:noFill/>
                    </a:lnL>
                    <a:lnR>
                      <a:noFill/>
                    </a:lnR>
                    <a:lnT>
                      <a:noFill/>
                    </a:lnT>
                    <a:lnB>
                      <a:noFill/>
                    </a:lnB>
                  </a:tcPr>
                </a:tc>
                <a:tc>
                  <a:txBody>
                    <a:bodyPr/>
                    <a:lstStyle/>
                    <a:p>
                      <a:pPr algn="l"/>
                      <a:r>
                        <a:rPr lang="en-US" sz="1400">
                          <a:effectLst/>
                        </a:rPr>
                        <a:t>An operating system is organized into distinct layers, with each layer responsible for a specific function, such as managing core system software and application software.</a:t>
                      </a:r>
                    </a:p>
                  </a:txBody>
                  <a:tcPr marL="26011" marR="26011" marT="13006" marB="13006" anchor="ctr">
                    <a:lnL>
                      <a:noFill/>
                    </a:lnL>
                    <a:lnR>
                      <a:noFill/>
                    </a:lnR>
                    <a:lnT>
                      <a:noFill/>
                    </a:lnT>
                    <a:lnB>
                      <a:noFill/>
                    </a:lnB>
                  </a:tcPr>
                </a:tc>
              </a:tr>
              <a:tr h="416180">
                <a:tc>
                  <a:txBody>
                    <a:bodyPr/>
                    <a:lstStyle/>
                    <a:p>
                      <a:pPr algn="l"/>
                      <a:r>
                        <a:rPr lang="en-IN" sz="1400" b="1" dirty="0">
                          <a:effectLst/>
                        </a:rPr>
                        <a:t>Modularity</a:t>
                      </a:r>
                      <a:endParaRPr lang="en-IN" sz="1400" dirty="0">
                        <a:effectLst/>
                      </a:endParaRPr>
                    </a:p>
                  </a:txBody>
                  <a:tcPr marL="26011" marR="26011" marT="13006" marB="13006" anchor="ctr">
                    <a:lnL>
                      <a:noFill/>
                    </a:lnL>
                    <a:lnR>
                      <a:noFill/>
                    </a:lnR>
                    <a:lnT>
                      <a:noFill/>
                    </a:lnT>
                    <a:lnB>
                      <a:noFill/>
                    </a:lnB>
                  </a:tcPr>
                </a:tc>
                <a:tc>
                  <a:txBody>
                    <a:bodyPr/>
                    <a:lstStyle/>
                    <a:p>
                      <a:pPr algn="l"/>
                      <a:r>
                        <a:rPr lang="en-US" sz="1400">
                          <a:effectLst/>
                        </a:rPr>
                        <a:t>Limited modularity, makes it challenging to add new features or make changes without affecting the entire system</a:t>
                      </a:r>
                    </a:p>
                  </a:txBody>
                  <a:tcPr marL="26011" marR="26011" marT="13006" marB="13006" anchor="ctr">
                    <a:lnL>
                      <a:noFill/>
                    </a:lnL>
                    <a:lnR>
                      <a:noFill/>
                    </a:lnR>
                    <a:lnT>
                      <a:noFill/>
                    </a:lnT>
                    <a:lnB>
                      <a:noFill/>
                    </a:lnB>
                  </a:tcPr>
                </a:tc>
                <a:tc>
                  <a:txBody>
                    <a:bodyPr/>
                    <a:lstStyle/>
                    <a:p>
                      <a:pPr algn="l"/>
                      <a:r>
                        <a:rPr lang="en-US" sz="1400">
                          <a:effectLst/>
                        </a:rPr>
                        <a:t>Modular design allows for easier addition or modification of features without impacting the entire system.</a:t>
                      </a:r>
                    </a:p>
                  </a:txBody>
                  <a:tcPr marL="26011" marR="26011" marT="13006" marB="13006" anchor="ctr">
                    <a:lnL>
                      <a:noFill/>
                    </a:lnL>
                    <a:lnR>
                      <a:noFill/>
                    </a:lnR>
                    <a:lnT>
                      <a:noFill/>
                    </a:lnT>
                    <a:lnB>
                      <a:noFill/>
                    </a:lnB>
                  </a:tcPr>
                </a:tc>
              </a:tr>
              <a:tr h="338147">
                <a:tc>
                  <a:txBody>
                    <a:bodyPr/>
                    <a:lstStyle/>
                    <a:p>
                      <a:pPr algn="l"/>
                      <a:r>
                        <a:rPr lang="en-IN" sz="1400" b="1" dirty="0">
                          <a:effectLst/>
                        </a:rPr>
                        <a:t>Complexity</a:t>
                      </a:r>
                      <a:endParaRPr lang="en-IN" sz="1400" dirty="0">
                        <a:effectLst/>
                      </a:endParaRPr>
                    </a:p>
                  </a:txBody>
                  <a:tcPr marL="26011" marR="26011" marT="13006" marB="13006" anchor="ctr">
                    <a:lnL>
                      <a:noFill/>
                    </a:lnL>
                    <a:lnR>
                      <a:noFill/>
                    </a:lnR>
                    <a:lnT>
                      <a:noFill/>
                    </a:lnT>
                    <a:lnB>
                      <a:noFill/>
                    </a:lnB>
                  </a:tcPr>
                </a:tc>
                <a:tc>
                  <a:txBody>
                    <a:bodyPr/>
                    <a:lstStyle/>
                    <a:p>
                      <a:pPr algn="l"/>
                      <a:r>
                        <a:rPr lang="en-US" sz="1400">
                          <a:effectLst/>
                        </a:rPr>
                        <a:t>The high degree of complexity, can make bug fixing and addressing security flaws difficult.</a:t>
                      </a:r>
                    </a:p>
                  </a:txBody>
                  <a:tcPr marL="26011" marR="26011" marT="13006" marB="13006" anchor="ctr">
                    <a:lnL>
                      <a:noFill/>
                    </a:lnL>
                    <a:lnR>
                      <a:noFill/>
                    </a:lnR>
                    <a:lnT>
                      <a:noFill/>
                    </a:lnT>
                    <a:lnB>
                      <a:noFill/>
                    </a:lnB>
                  </a:tcPr>
                </a:tc>
                <a:tc>
                  <a:txBody>
                    <a:bodyPr/>
                    <a:lstStyle/>
                    <a:p>
                      <a:pPr algn="l"/>
                      <a:r>
                        <a:rPr lang="en-US" sz="1400">
                          <a:effectLst/>
                        </a:rPr>
                        <a:t>More intricate design, which may be more challenging to create and maintain.</a:t>
                      </a:r>
                    </a:p>
                  </a:txBody>
                  <a:tcPr marL="26011" marR="26011" marT="13006" marB="13006" anchor="ctr">
                    <a:lnL>
                      <a:noFill/>
                    </a:lnL>
                    <a:lnR>
                      <a:noFill/>
                    </a:lnR>
                    <a:lnT>
                      <a:noFill/>
                    </a:lnT>
                    <a:lnB>
                      <a:noFill/>
                    </a:lnB>
                  </a:tcPr>
                </a:tc>
              </a:tr>
              <a:tr h="416180">
                <a:tc>
                  <a:txBody>
                    <a:bodyPr/>
                    <a:lstStyle/>
                    <a:p>
                      <a:pPr algn="l"/>
                      <a:r>
                        <a:rPr lang="en-IN" sz="1400" b="1" dirty="0">
                          <a:effectLst/>
                        </a:rPr>
                        <a:t>Maintenance</a:t>
                      </a:r>
                      <a:endParaRPr lang="en-IN" sz="1400" dirty="0">
                        <a:effectLst/>
                      </a:endParaRPr>
                    </a:p>
                  </a:txBody>
                  <a:tcPr marL="26011" marR="26011" marT="13006" marB="13006" anchor="ctr">
                    <a:lnL>
                      <a:noFill/>
                    </a:lnL>
                    <a:lnR>
                      <a:noFill/>
                    </a:lnR>
                    <a:lnT>
                      <a:noFill/>
                    </a:lnT>
                    <a:lnB>
                      <a:noFill/>
                    </a:lnB>
                  </a:tcPr>
                </a:tc>
                <a:tc>
                  <a:txBody>
                    <a:bodyPr/>
                    <a:lstStyle/>
                    <a:p>
                      <a:pPr algn="l"/>
                      <a:r>
                        <a:rPr lang="en-US" sz="1400">
                          <a:effectLst/>
                        </a:rPr>
                        <a:t>Maintenance can be problematic as updating or modifying a single component may require changing the entire system.</a:t>
                      </a:r>
                    </a:p>
                  </a:txBody>
                  <a:tcPr marL="26011" marR="26011" marT="13006" marB="13006" anchor="ctr">
                    <a:lnL>
                      <a:noFill/>
                    </a:lnL>
                    <a:lnR>
                      <a:noFill/>
                    </a:lnR>
                    <a:lnT>
                      <a:noFill/>
                    </a:lnT>
                    <a:lnB>
                      <a:noFill/>
                    </a:lnB>
                  </a:tcPr>
                </a:tc>
                <a:tc>
                  <a:txBody>
                    <a:bodyPr/>
                    <a:lstStyle/>
                    <a:p>
                      <a:pPr algn="l"/>
                      <a:r>
                        <a:rPr lang="en-US" sz="1400">
                          <a:effectLst/>
                        </a:rPr>
                        <a:t>Easier management and debugging as individual tests and debugging can be performed on each layer</a:t>
                      </a:r>
                    </a:p>
                  </a:txBody>
                  <a:tcPr marL="26011" marR="26011" marT="13006" marB="13006" anchor="ctr">
                    <a:lnL>
                      <a:noFill/>
                    </a:lnL>
                    <a:lnR>
                      <a:noFill/>
                    </a:lnR>
                    <a:lnT>
                      <a:noFill/>
                    </a:lnT>
                    <a:lnB>
                      <a:noFill/>
                    </a:lnB>
                  </a:tcPr>
                </a:tc>
              </a:tr>
              <a:tr h="416180">
                <a:tc>
                  <a:txBody>
                    <a:bodyPr/>
                    <a:lstStyle/>
                    <a:p>
                      <a:pPr algn="l"/>
                      <a:r>
                        <a:rPr lang="en-IN" sz="1400" b="1" dirty="0">
                          <a:effectLst/>
                        </a:rPr>
                        <a:t>Performance</a:t>
                      </a:r>
                      <a:endParaRPr lang="en-IN" sz="1400" dirty="0">
                        <a:effectLst/>
                      </a:endParaRPr>
                    </a:p>
                  </a:txBody>
                  <a:tcPr marL="26011" marR="26011" marT="13006" marB="13006" anchor="ctr">
                    <a:lnL>
                      <a:noFill/>
                    </a:lnL>
                    <a:lnR>
                      <a:noFill/>
                    </a:lnR>
                    <a:lnT>
                      <a:noFill/>
                    </a:lnT>
                    <a:lnB>
                      <a:noFill/>
                    </a:lnB>
                  </a:tcPr>
                </a:tc>
                <a:tc>
                  <a:txBody>
                    <a:bodyPr/>
                    <a:lstStyle/>
                    <a:p>
                      <a:pPr algn="l"/>
                      <a:r>
                        <a:rPr lang="en-US" sz="1400">
                          <a:effectLst/>
                        </a:rPr>
                        <a:t>High performance due to tight integration of operating system components into a single executable code</a:t>
                      </a:r>
                    </a:p>
                  </a:txBody>
                  <a:tcPr marL="26011" marR="26011" marT="13006" marB="13006" anchor="ctr">
                    <a:lnL>
                      <a:noFill/>
                    </a:lnL>
                    <a:lnR>
                      <a:noFill/>
                    </a:lnR>
                    <a:lnT>
                      <a:noFill/>
                    </a:lnT>
                    <a:lnB>
                      <a:noFill/>
                    </a:lnB>
                  </a:tcPr>
                </a:tc>
                <a:tc>
                  <a:txBody>
                    <a:bodyPr/>
                    <a:lstStyle/>
                    <a:p>
                      <a:pPr algn="l"/>
                      <a:r>
                        <a:rPr lang="en-US" sz="1400">
                          <a:effectLst/>
                        </a:rPr>
                        <a:t>Overhead due to inter-layer communication may affect system performance.</a:t>
                      </a:r>
                    </a:p>
                  </a:txBody>
                  <a:tcPr marL="26011" marR="26011" marT="13006" marB="13006" anchor="ctr">
                    <a:lnL>
                      <a:noFill/>
                    </a:lnL>
                    <a:lnR>
                      <a:noFill/>
                    </a:lnR>
                    <a:lnT>
                      <a:noFill/>
                    </a:lnT>
                    <a:lnB>
                      <a:noFill/>
                    </a:lnB>
                  </a:tcPr>
                </a:tc>
              </a:tr>
              <a:tr h="416180">
                <a:tc>
                  <a:txBody>
                    <a:bodyPr/>
                    <a:lstStyle/>
                    <a:p>
                      <a:pPr algn="l"/>
                      <a:r>
                        <a:rPr lang="en-IN" sz="1400" b="1" dirty="0">
                          <a:effectLst/>
                        </a:rPr>
                        <a:t>Adaptability</a:t>
                      </a:r>
                      <a:endParaRPr lang="en-IN" sz="1400" dirty="0">
                        <a:effectLst/>
                      </a:endParaRPr>
                    </a:p>
                  </a:txBody>
                  <a:tcPr marL="26011" marR="26011" marT="13006" marB="13006" anchor="ctr">
                    <a:lnL>
                      <a:noFill/>
                    </a:lnL>
                    <a:lnR>
                      <a:noFill/>
                    </a:lnR>
                    <a:lnT>
                      <a:noFill/>
                    </a:lnT>
                    <a:lnB>
                      <a:noFill/>
                    </a:lnB>
                  </a:tcPr>
                </a:tc>
                <a:tc>
                  <a:txBody>
                    <a:bodyPr/>
                    <a:lstStyle/>
                    <a:p>
                      <a:pPr algn="l"/>
                      <a:r>
                        <a:rPr lang="en-US" sz="1400">
                          <a:effectLst/>
                        </a:rPr>
                        <a:t>Less adaptable as modifications in one area may impact other parts, requiring thorough testing before implementation.</a:t>
                      </a:r>
                    </a:p>
                  </a:txBody>
                  <a:tcPr marL="26011" marR="26011" marT="13006" marB="13006" anchor="ctr">
                    <a:lnL>
                      <a:noFill/>
                    </a:lnL>
                    <a:lnR>
                      <a:noFill/>
                    </a:lnR>
                    <a:lnT>
                      <a:noFill/>
                    </a:lnT>
                    <a:lnB>
                      <a:noFill/>
                    </a:lnB>
                  </a:tcPr>
                </a:tc>
                <a:tc>
                  <a:txBody>
                    <a:bodyPr/>
                    <a:lstStyle/>
                    <a:p>
                      <a:pPr algn="l"/>
                      <a:r>
                        <a:rPr lang="en-US" sz="1400">
                          <a:effectLst/>
                        </a:rPr>
                        <a:t>More adaptable and configurable as each layer can be changed or replaced without affecting others.</a:t>
                      </a:r>
                    </a:p>
                  </a:txBody>
                  <a:tcPr marL="26011" marR="26011" marT="13006" marB="13006" anchor="ctr">
                    <a:lnL>
                      <a:noFill/>
                    </a:lnL>
                    <a:lnR>
                      <a:noFill/>
                    </a:lnR>
                    <a:lnT>
                      <a:noFill/>
                    </a:lnT>
                    <a:lnB>
                      <a:noFill/>
                    </a:lnB>
                  </a:tcPr>
                </a:tc>
              </a:tr>
              <a:tr h="338147">
                <a:tc>
                  <a:txBody>
                    <a:bodyPr/>
                    <a:lstStyle/>
                    <a:p>
                      <a:pPr algn="l"/>
                      <a:r>
                        <a:rPr lang="en-IN" sz="1400" b="1" dirty="0">
                          <a:effectLst/>
                        </a:rPr>
                        <a:t>Debugging</a:t>
                      </a:r>
                      <a:endParaRPr lang="en-IN" sz="1400" dirty="0">
                        <a:effectLst/>
                      </a:endParaRPr>
                    </a:p>
                  </a:txBody>
                  <a:tcPr marL="26011" marR="26011" marT="13006" marB="13006" anchor="ctr">
                    <a:lnL>
                      <a:noFill/>
                    </a:lnL>
                    <a:lnR>
                      <a:noFill/>
                    </a:lnR>
                    <a:lnT>
                      <a:noFill/>
                    </a:lnT>
                    <a:lnB>
                      <a:noFill/>
                    </a:lnB>
                  </a:tcPr>
                </a:tc>
                <a:tc>
                  <a:txBody>
                    <a:bodyPr/>
                    <a:lstStyle/>
                    <a:p>
                      <a:pPr algn="l"/>
                      <a:r>
                        <a:rPr lang="en-US" sz="1400">
                          <a:effectLst/>
                        </a:rPr>
                        <a:t>Debugging and managing the system can be simpler as all a single executable file.</a:t>
                      </a:r>
                    </a:p>
                  </a:txBody>
                  <a:tcPr marL="26011" marR="26011" marT="13006" marB="13006" anchor="ctr">
                    <a:lnL>
                      <a:noFill/>
                    </a:lnL>
                    <a:lnR>
                      <a:noFill/>
                    </a:lnR>
                    <a:lnT>
                      <a:noFill/>
                    </a:lnT>
                    <a:lnB>
                      <a:noFill/>
                    </a:lnB>
                  </a:tcPr>
                </a:tc>
                <a:tc>
                  <a:txBody>
                    <a:bodyPr/>
                    <a:lstStyle/>
                    <a:p>
                      <a:pPr algn="l"/>
                      <a:r>
                        <a:rPr lang="en-US" sz="1400">
                          <a:effectLst/>
                        </a:rPr>
                        <a:t>Complexity may make it more challenging to find and address bugs or security flaws.</a:t>
                      </a:r>
                    </a:p>
                  </a:txBody>
                  <a:tcPr marL="26011" marR="26011" marT="13006" marB="13006" anchor="ctr">
                    <a:lnL>
                      <a:noFill/>
                    </a:lnL>
                    <a:lnR>
                      <a:noFill/>
                    </a:lnR>
                    <a:lnT>
                      <a:noFill/>
                    </a:lnT>
                    <a:lnB>
                      <a:noFill/>
                    </a:lnB>
                  </a:tcPr>
                </a:tc>
              </a:tr>
              <a:tr h="416180">
                <a:tc>
                  <a:txBody>
                    <a:bodyPr/>
                    <a:lstStyle/>
                    <a:p>
                      <a:pPr algn="l"/>
                      <a:r>
                        <a:rPr lang="en-IN" sz="1400" b="1">
                          <a:effectLst/>
                        </a:rPr>
                        <a:t>System-wide Impact</a:t>
                      </a:r>
                      <a:endParaRPr lang="en-IN" sz="1400">
                        <a:effectLst/>
                      </a:endParaRPr>
                    </a:p>
                  </a:txBody>
                  <a:tcPr marL="26011" marR="26011" marT="13006" marB="13006" anchor="ctr">
                    <a:lnL>
                      <a:noFill/>
                    </a:lnL>
                    <a:lnR>
                      <a:noFill/>
                    </a:lnR>
                    <a:lnT>
                      <a:noFill/>
                    </a:lnT>
                    <a:lnB>
                      <a:noFill/>
                    </a:lnB>
                  </a:tcPr>
                </a:tc>
                <a:tc>
                  <a:txBody>
                    <a:bodyPr/>
                    <a:lstStyle/>
                    <a:p>
                      <a:pPr algn="l"/>
                      <a:r>
                        <a:rPr lang="en-US" sz="1400" dirty="0">
                          <a:effectLst/>
                        </a:rPr>
                        <a:t>Higher chance of system wide failure or security vulnerabilities due to tight interconnections between components.</a:t>
                      </a:r>
                    </a:p>
                  </a:txBody>
                  <a:tcPr marL="26011" marR="26011" marT="13006" marB="13006" anchor="ctr">
                    <a:lnL>
                      <a:noFill/>
                    </a:lnL>
                    <a:lnR>
                      <a:noFill/>
                    </a:lnR>
                    <a:lnT>
                      <a:noFill/>
                    </a:lnT>
                    <a:lnB>
                      <a:noFill/>
                    </a:lnB>
                  </a:tcPr>
                </a:tc>
                <a:tc>
                  <a:txBody>
                    <a:bodyPr/>
                    <a:lstStyle/>
                    <a:p>
                      <a:pPr algn="l"/>
                      <a:r>
                        <a:rPr lang="en-US" sz="1400">
                          <a:effectLst/>
                        </a:rPr>
                        <a:t>Faults and security flaws are better isolated within individual layers, reducing system-wide impact</a:t>
                      </a:r>
                    </a:p>
                  </a:txBody>
                  <a:tcPr marL="26011" marR="26011" marT="13006" marB="13006" anchor="ctr">
                    <a:lnL>
                      <a:noFill/>
                    </a:lnL>
                    <a:lnR>
                      <a:noFill/>
                    </a:lnR>
                    <a:lnT>
                      <a:noFill/>
                    </a:lnT>
                    <a:lnB>
                      <a:noFill/>
                    </a:lnB>
                  </a:tcPr>
                </a:tc>
              </a:tr>
              <a:tr h="338147">
                <a:tc>
                  <a:txBody>
                    <a:bodyPr/>
                    <a:lstStyle/>
                    <a:p>
                      <a:pPr algn="l"/>
                      <a:r>
                        <a:rPr lang="en-IN" sz="1400" b="1">
                          <a:effectLst/>
                        </a:rPr>
                        <a:t>Memory Usage</a:t>
                      </a:r>
                      <a:endParaRPr lang="en-IN" sz="1400">
                        <a:effectLst/>
                      </a:endParaRPr>
                    </a:p>
                  </a:txBody>
                  <a:tcPr marL="26011" marR="26011" marT="13006" marB="13006" anchor="ctr">
                    <a:lnL>
                      <a:noFill/>
                    </a:lnL>
                    <a:lnR>
                      <a:noFill/>
                    </a:lnR>
                    <a:lnT>
                      <a:noFill/>
                    </a:lnT>
                    <a:lnB>
                      <a:noFill/>
                    </a:lnB>
                  </a:tcPr>
                </a:tc>
                <a:tc>
                  <a:txBody>
                    <a:bodyPr/>
                    <a:lstStyle/>
                    <a:p>
                      <a:pPr algn="l"/>
                      <a:r>
                        <a:rPr lang="en-US" sz="1400" dirty="0">
                          <a:effectLst/>
                        </a:rPr>
                        <a:t>Uses more memory as all components are loaded into memory</a:t>
                      </a:r>
                    </a:p>
                  </a:txBody>
                  <a:tcPr marL="26011" marR="26011" marT="13006" marB="13006" anchor="ctr">
                    <a:lnL>
                      <a:noFill/>
                    </a:lnL>
                    <a:lnR>
                      <a:noFill/>
                    </a:lnR>
                    <a:lnT>
                      <a:noFill/>
                    </a:lnT>
                    <a:lnB>
                      <a:noFill/>
                    </a:lnB>
                  </a:tcPr>
                </a:tc>
                <a:tc>
                  <a:txBody>
                    <a:bodyPr/>
                    <a:lstStyle/>
                    <a:p>
                      <a:pPr algn="l"/>
                      <a:r>
                        <a:rPr lang="en-US" sz="1400">
                          <a:effectLst/>
                        </a:rPr>
                        <a:t>Fewer layers need to be loaded into memory, resulting in lower memory usage.</a:t>
                      </a:r>
                    </a:p>
                  </a:txBody>
                  <a:tcPr marL="26011" marR="26011" marT="13006" marB="13006" anchor="ctr">
                    <a:lnL>
                      <a:noFill/>
                    </a:lnL>
                    <a:lnR>
                      <a:noFill/>
                    </a:lnR>
                    <a:lnT>
                      <a:noFill/>
                    </a:lnT>
                    <a:lnB>
                      <a:noFill/>
                    </a:lnB>
                  </a:tcPr>
                </a:tc>
              </a:tr>
              <a:tr h="338147">
                <a:tc>
                  <a:txBody>
                    <a:bodyPr/>
                    <a:lstStyle/>
                    <a:p>
                      <a:pPr algn="l"/>
                      <a:r>
                        <a:rPr lang="en-IN" sz="1400" b="1">
                          <a:effectLst/>
                        </a:rPr>
                        <a:t>Hardware Compatibility</a:t>
                      </a:r>
                      <a:endParaRPr lang="en-IN" sz="1400">
                        <a:effectLst/>
                      </a:endParaRPr>
                    </a:p>
                  </a:txBody>
                  <a:tcPr marL="26011" marR="26011" marT="13006" marB="13006" anchor="ctr">
                    <a:lnL>
                      <a:noFill/>
                    </a:lnL>
                    <a:lnR>
                      <a:noFill/>
                    </a:lnR>
                    <a:lnT>
                      <a:noFill/>
                    </a:lnT>
                    <a:lnB>
                      <a:noFill/>
                    </a:lnB>
                  </a:tcPr>
                </a:tc>
                <a:tc>
                  <a:txBody>
                    <a:bodyPr/>
                    <a:lstStyle/>
                    <a:p>
                      <a:pPr algn="l"/>
                      <a:r>
                        <a:rPr lang="en-US" sz="1400" dirty="0">
                          <a:effectLst/>
                        </a:rPr>
                        <a:t>Wide range of hardware and software compatibility</a:t>
                      </a:r>
                    </a:p>
                  </a:txBody>
                  <a:tcPr marL="26011" marR="26011" marT="13006" marB="13006" anchor="ctr">
                    <a:lnL>
                      <a:noFill/>
                    </a:lnL>
                    <a:lnR>
                      <a:noFill/>
                    </a:lnR>
                    <a:lnT>
                      <a:noFill/>
                    </a:lnT>
                    <a:lnB>
                      <a:noFill/>
                    </a:lnB>
                  </a:tcPr>
                </a:tc>
                <a:tc>
                  <a:txBody>
                    <a:bodyPr/>
                    <a:lstStyle/>
                    <a:p>
                      <a:pPr algn="l"/>
                      <a:r>
                        <a:rPr lang="en-US" sz="1400">
                          <a:effectLst/>
                        </a:rPr>
                        <a:t>Easier portability to other hardware platforms or architectures as each layer can be ported separately.</a:t>
                      </a:r>
                    </a:p>
                  </a:txBody>
                  <a:tcPr marL="26011" marR="26011" marT="13006" marB="13006" anchor="ctr">
                    <a:lnL>
                      <a:noFill/>
                    </a:lnL>
                    <a:lnR>
                      <a:noFill/>
                    </a:lnR>
                    <a:lnT>
                      <a:noFill/>
                    </a:lnT>
                    <a:lnB>
                      <a:noFill/>
                    </a:lnB>
                  </a:tcPr>
                </a:tc>
              </a:tr>
              <a:tr h="338147">
                <a:tc>
                  <a:txBody>
                    <a:bodyPr/>
                    <a:lstStyle/>
                    <a:p>
                      <a:pPr algn="l"/>
                      <a:r>
                        <a:rPr lang="en-IN" sz="1400" b="1">
                          <a:effectLst/>
                        </a:rPr>
                        <a:t>Addition of New Parts</a:t>
                      </a:r>
                      <a:endParaRPr lang="en-IN" sz="1400">
                        <a:effectLst/>
                      </a:endParaRPr>
                    </a:p>
                  </a:txBody>
                  <a:tcPr marL="26011" marR="26011" marT="13006" marB="13006" anchor="ctr">
                    <a:lnL>
                      <a:noFill/>
                    </a:lnL>
                    <a:lnR>
                      <a:noFill/>
                    </a:lnR>
                    <a:lnT>
                      <a:noFill/>
                    </a:lnT>
                    <a:lnB>
                      <a:noFill/>
                    </a:lnB>
                  </a:tcPr>
                </a:tc>
                <a:tc>
                  <a:txBody>
                    <a:bodyPr/>
                    <a:lstStyle/>
                    <a:p>
                      <a:pPr algn="l"/>
                      <a:r>
                        <a:rPr lang="en-US" sz="1400">
                          <a:effectLst/>
                        </a:rPr>
                        <a:t>Adding new parts can be challenging due to dependencies and lack of modularity.</a:t>
                      </a:r>
                    </a:p>
                  </a:txBody>
                  <a:tcPr marL="26011" marR="26011" marT="13006" marB="13006" anchor="ctr">
                    <a:lnL>
                      <a:noFill/>
                    </a:lnL>
                    <a:lnR>
                      <a:noFill/>
                    </a:lnR>
                    <a:lnT>
                      <a:noFill/>
                    </a:lnT>
                    <a:lnB>
                      <a:noFill/>
                    </a:lnB>
                  </a:tcPr>
                </a:tc>
                <a:tc>
                  <a:txBody>
                    <a:bodyPr/>
                    <a:lstStyle/>
                    <a:p>
                      <a:pPr algn="l"/>
                      <a:r>
                        <a:rPr lang="en-US" sz="1400" dirty="0">
                          <a:effectLst/>
                        </a:rPr>
                        <a:t>Adding new parts can be challenging due to dependencies and lack of modularity.</a:t>
                      </a:r>
                    </a:p>
                  </a:txBody>
                  <a:tcPr marL="26011" marR="26011" marT="13006" marB="13006" anchor="ctr">
                    <a:lnL>
                      <a:noFill/>
                    </a:lnL>
                    <a:lnR>
                      <a:noFill/>
                    </a:lnR>
                    <a:lnT>
                      <a:noFill/>
                    </a:lnT>
                    <a:lnB>
                      <a:noFill/>
                    </a:lnB>
                  </a:tcPr>
                </a:tc>
              </a:tr>
            </a:tbl>
          </a:graphicData>
        </a:graphic>
      </p:graphicFrame>
    </p:spTree>
    <p:extLst>
      <p:ext uri="{BB962C8B-B14F-4D97-AF65-F5344CB8AC3E}">
        <p14:creationId xmlns:p14="http://schemas.microsoft.com/office/powerpoint/2010/main" val="30482026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TotalTime>
  <Words>444</Words>
  <Application>Microsoft Office PowerPoint</Application>
  <PresentationFormat>On-screen Show (4:3)</PresentationFormat>
  <Paragraphs>55</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OS Design Goals </vt:lpstr>
      <vt:lpstr>PowerPoint Presentation</vt:lpstr>
      <vt:lpstr>PowerPoint Presentation</vt:lpstr>
      <vt:lpstr>OS Architecture Models</vt:lpstr>
      <vt:lpstr>Monolithic?</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 Design Goals </dc:title>
  <dc:creator>HP</dc:creator>
  <cp:lastModifiedBy>Admin</cp:lastModifiedBy>
  <cp:revision>4</cp:revision>
  <dcterms:created xsi:type="dcterms:W3CDTF">2016-07-14T10:17:35Z</dcterms:created>
  <dcterms:modified xsi:type="dcterms:W3CDTF">2024-07-24T17:19:36Z</dcterms:modified>
</cp:coreProperties>
</file>