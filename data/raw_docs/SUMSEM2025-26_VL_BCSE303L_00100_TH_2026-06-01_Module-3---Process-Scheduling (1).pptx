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91"/>
  </p:notesMasterIdLst>
  <p:handoutMasterIdLst>
    <p:handoutMasterId r:id="rId92"/>
  </p:handoutMasterIdLst>
  <p:sldIdLst>
    <p:sldId id="330" r:id="rId2"/>
    <p:sldId id="627" r:id="rId3"/>
    <p:sldId id="523" r:id="rId4"/>
    <p:sldId id="528" r:id="rId5"/>
    <p:sldId id="529" r:id="rId6"/>
    <p:sldId id="530" r:id="rId7"/>
    <p:sldId id="531" r:id="rId8"/>
    <p:sldId id="532" r:id="rId9"/>
    <p:sldId id="533" r:id="rId10"/>
    <p:sldId id="534" r:id="rId11"/>
    <p:sldId id="599" r:id="rId12"/>
    <p:sldId id="600" r:id="rId13"/>
    <p:sldId id="617" r:id="rId14"/>
    <p:sldId id="618" r:id="rId15"/>
    <p:sldId id="535" r:id="rId16"/>
    <p:sldId id="536" r:id="rId17"/>
    <p:sldId id="601" r:id="rId18"/>
    <p:sldId id="603" r:id="rId19"/>
    <p:sldId id="602" r:id="rId20"/>
    <p:sldId id="537" r:id="rId21"/>
    <p:sldId id="542" r:id="rId22"/>
    <p:sldId id="543" r:id="rId23"/>
    <p:sldId id="544" r:id="rId24"/>
    <p:sldId id="605" r:id="rId25"/>
    <p:sldId id="606" r:id="rId26"/>
    <p:sldId id="547" r:id="rId27"/>
    <p:sldId id="548" r:id="rId28"/>
    <p:sldId id="608" r:id="rId29"/>
    <p:sldId id="626" r:id="rId30"/>
    <p:sldId id="609" r:id="rId31"/>
    <p:sldId id="549" r:id="rId32"/>
    <p:sldId id="550" r:id="rId33"/>
    <p:sldId id="551" r:id="rId34"/>
    <p:sldId id="552" r:id="rId35"/>
    <p:sldId id="610" r:id="rId36"/>
    <p:sldId id="611" r:id="rId37"/>
    <p:sldId id="553" r:id="rId38"/>
    <p:sldId id="554" r:id="rId39"/>
    <p:sldId id="613" r:id="rId40"/>
    <p:sldId id="614" r:id="rId41"/>
    <p:sldId id="615" r:id="rId42"/>
    <p:sldId id="616" r:id="rId43"/>
    <p:sldId id="555" r:id="rId44"/>
    <p:sldId id="556" r:id="rId45"/>
    <p:sldId id="557" r:id="rId46"/>
    <p:sldId id="558" r:id="rId47"/>
    <p:sldId id="559" r:id="rId48"/>
    <p:sldId id="560" r:id="rId49"/>
    <p:sldId id="561" r:id="rId50"/>
    <p:sldId id="562" r:id="rId51"/>
    <p:sldId id="563" r:id="rId52"/>
    <p:sldId id="619" r:id="rId53"/>
    <p:sldId id="620" r:id="rId54"/>
    <p:sldId id="564" r:id="rId55"/>
    <p:sldId id="565" r:id="rId56"/>
    <p:sldId id="566" r:id="rId57"/>
    <p:sldId id="567" r:id="rId58"/>
    <p:sldId id="568" r:id="rId59"/>
    <p:sldId id="569" r:id="rId60"/>
    <p:sldId id="570" r:id="rId61"/>
    <p:sldId id="573" r:id="rId62"/>
    <p:sldId id="571" r:id="rId63"/>
    <p:sldId id="572" r:id="rId64"/>
    <p:sldId id="574" r:id="rId65"/>
    <p:sldId id="575" r:id="rId66"/>
    <p:sldId id="576" r:id="rId67"/>
    <p:sldId id="577" r:id="rId68"/>
    <p:sldId id="578" r:id="rId69"/>
    <p:sldId id="579" r:id="rId70"/>
    <p:sldId id="580" r:id="rId71"/>
    <p:sldId id="581" r:id="rId72"/>
    <p:sldId id="582" r:id="rId73"/>
    <p:sldId id="583" r:id="rId74"/>
    <p:sldId id="584" r:id="rId75"/>
    <p:sldId id="621" r:id="rId76"/>
    <p:sldId id="622" r:id="rId77"/>
    <p:sldId id="585" r:id="rId78"/>
    <p:sldId id="586" r:id="rId79"/>
    <p:sldId id="587" r:id="rId80"/>
    <p:sldId id="588" r:id="rId81"/>
    <p:sldId id="589" r:id="rId82"/>
    <p:sldId id="590" r:id="rId83"/>
    <p:sldId id="591" r:id="rId84"/>
    <p:sldId id="624" r:id="rId85"/>
    <p:sldId id="625" r:id="rId86"/>
    <p:sldId id="592" r:id="rId87"/>
    <p:sldId id="593" r:id="rId88"/>
    <p:sldId id="595" r:id="rId89"/>
    <p:sldId id="596" r:id="rId90"/>
  </p:sldIdLst>
  <p:sldSz cx="12192000" cy="6858000"/>
  <p:notesSz cx="7010400"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userDrawn="1">
          <p15:clr>
            <a:srgbClr val="A4A3A4"/>
          </p15:clr>
        </p15:guide>
        <p15:guide id="2" pos="58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88" autoAdjust="0"/>
    <p:restoredTop sz="94635"/>
  </p:normalViewPr>
  <p:slideViewPr>
    <p:cSldViewPr snapToGrid="0">
      <p:cViewPr varScale="1">
        <p:scale>
          <a:sx n="75" d="100"/>
          <a:sy n="75" d="100"/>
        </p:scale>
        <p:origin x="1104" y="67"/>
      </p:cViewPr>
      <p:guideLst>
        <p:guide orient="horz" pos="816"/>
        <p:guide pos="58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4" d="100"/>
        <a:sy n="94" d="100"/>
      </p:scale>
      <p:origin x="0" y="-9058"/>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BA12DC8-9922-4E6E-BC02-F6A637672188}"/>
              </a:ext>
            </a:extLst>
          </p:cNvPr>
          <p:cNvSpPr>
            <a:spLocks noGrp="1" noChangeArrowheads="1"/>
          </p:cNvSpPr>
          <p:nvPr>
            <p:ph type="hdr" sz="quarter"/>
          </p:nvPr>
        </p:nvSpPr>
        <p:spPr bwMode="auto">
          <a:xfrm>
            <a:off x="0" y="0"/>
            <a:ext cx="3073400" cy="442913"/>
          </a:xfrm>
          <a:prstGeom prst="rect">
            <a:avLst/>
          </a:prstGeom>
          <a:noFill/>
          <a:ln w="9525">
            <a:noFill/>
            <a:miter lim="800000"/>
            <a:headEnd/>
            <a:tailEnd/>
          </a:ln>
        </p:spPr>
        <p:txBody>
          <a:bodyPr vert="horz" wrap="none" lIns="88254" tIns="44128" rIns="88254" bIns="44128" numCol="1" anchor="ctr" anchorCtr="0" compatLnSpc="1">
            <a:prstTxWarp prst="textNoShape">
              <a:avLst/>
            </a:prstTxWarp>
          </a:bodyPr>
          <a:lstStyle>
            <a:lvl1pPr defTabSz="882650">
              <a:defRPr sz="1100">
                <a:latin typeface="Helvetica" panose="020B0604020202020204" pitchFamily="34" charset="0"/>
              </a:defRPr>
            </a:lvl1pPr>
          </a:lstStyle>
          <a:p>
            <a:pPr>
              <a:defRPr/>
            </a:pPr>
            <a:endParaRPr lang="en-US" altLang="en-US"/>
          </a:p>
        </p:txBody>
      </p:sp>
      <p:sp>
        <p:nvSpPr>
          <p:cNvPr id="46083" name="Rectangle 3">
            <a:extLst>
              <a:ext uri="{FF2B5EF4-FFF2-40B4-BE49-F238E27FC236}">
                <a16:creationId xmlns:a16="http://schemas.microsoft.com/office/drawing/2014/main" id="{6E72947A-FE2E-4445-85D8-C03306D26DD8}"/>
              </a:ext>
            </a:extLst>
          </p:cNvPr>
          <p:cNvSpPr>
            <a:spLocks noGrp="1" noChangeArrowheads="1"/>
          </p:cNvSpPr>
          <p:nvPr>
            <p:ph type="dt" sz="quarter" idx="1"/>
          </p:nvPr>
        </p:nvSpPr>
        <p:spPr bwMode="auto">
          <a:xfrm>
            <a:off x="3951288" y="0"/>
            <a:ext cx="3071812" cy="442913"/>
          </a:xfrm>
          <a:prstGeom prst="rect">
            <a:avLst/>
          </a:prstGeom>
          <a:noFill/>
          <a:ln w="9525">
            <a:noFill/>
            <a:miter lim="800000"/>
            <a:headEnd/>
            <a:tailEnd/>
          </a:ln>
        </p:spPr>
        <p:txBody>
          <a:bodyPr vert="horz" wrap="none" lIns="88254" tIns="44128" rIns="88254" bIns="44128" numCol="1" anchor="ctr" anchorCtr="0" compatLnSpc="1">
            <a:prstTxWarp prst="textNoShape">
              <a:avLst/>
            </a:prstTxWarp>
          </a:bodyPr>
          <a:lstStyle>
            <a:lvl1pPr algn="r" defTabSz="882650">
              <a:defRPr sz="1100">
                <a:latin typeface="Helvetica" panose="020B0604020202020204" pitchFamily="34" charset="0"/>
              </a:defRPr>
            </a:lvl1pPr>
          </a:lstStyle>
          <a:p>
            <a:pPr>
              <a:defRPr/>
            </a:pPr>
            <a:endParaRPr lang="en-US" altLang="en-US"/>
          </a:p>
        </p:txBody>
      </p:sp>
      <p:sp>
        <p:nvSpPr>
          <p:cNvPr id="46084" name="Rectangle 4">
            <a:extLst>
              <a:ext uri="{FF2B5EF4-FFF2-40B4-BE49-F238E27FC236}">
                <a16:creationId xmlns:a16="http://schemas.microsoft.com/office/drawing/2014/main" id="{C64A7CC0-6DD4-4720-82BF-E4908F4AFFA7}"/>
              </a:ext>
            </a:extLst>
          </p:cNvPr>
          <p:cNvSpPr>
            <a:spLocks noGrp="1" noChangeArrowheads="1"/>
          </p:cNvSpPr>
          <p:nvPr>
            <p:ph type="ftr" sz="quarter" idx="2"/>
          </p:nvPr>
        </p:nvSpPr>
        <p:spPr bwMode="auto">
          <a:xfrm>
            <a:off x="0" y="8866188"/>
            <a:ext cx="3073400" cy="442912"/>
          </a:xfrm>
          <a:prstGeom prst="rect">
            <a:avLst/>
          </a:prstGeom>
          <a:noFill/>
          <a:ln w="9525">
            <a:noFill/>
            <a:miter lim="800000"/>
            <a:headEnd/>
            <a:tailEnd/>
          </a:ln>
        </p:spPr>
        <p:txBody>
          <a:bodyPr vert="horz" wrap="none" lIns="88254" tIns="44128" rIns="88254" bIns="44128" numCol="1" anchor="b" anchorCtr="0" compatLnSpc="1">
            <a:prstTxWarp prst="textNoShape">
              <a:avLst/>
            </a:prstTxWarp>
          </a:bodyPr>
          <a:lstStyle>
            <a:lvl1pPr defTabSz="882650">
              <a:defRPr sz="1100">
                <a:latin typeface="Helvetica" panose="020B0604020202020204" pitchFamily="34" charset="0"/>
              </a:defRPr>
            </a:lvl1pPr>
          </a:lstStyle>
          <a:p>
            <a:pPr>
              <a:defRPr/>
            </a:pPr>
            <a:endParaRPr lang="en-US" altLang="en-US"/>
          </a:p>
        </p:txBody>
      </p:sp>
      <p:sp>
        <p:nvSpPr>
          <p:cNvPr id="46085" name="Rectangle 5">
            <a:extLst>
              <a:ext uri="{FF2B5EF4-FFF2-40B4-BE49-F238E27FC236}">
                <a16:creationId xmlns:a16="http://schemas.microsoft.com/office/drawing/2014/main" id="{6BE9BEEC-119C-420C-8C74-AFCA5FA1C4C9}"/>
              </a:ext>
            </a:extLst>
          </p:cNvPr>
          <p:cNvSpPr>
            <a:spLocks noGrp="1" noChangeArrowheads="1"/>
          </p:cNvSpPr>
          <p:nvPr>
            <p:ph type="sldNum" sz="quarter" idx="3"/>
          </p:nvPr>
        </p:nvSpPr>
        <p:spPr bwMode="auto">
          <a:xfrm>
            <a:off x="3951288" y="8866188"/>
            <a:ext cx="3071812" cy="442912"/>
          </a:xfrm>
          <a:prstGeom prst="rect">
            <a:avLst/>
          </a:prstGeom>
          <a:noFill/>
          <a:ln w="9525">
            <a:noFill/>
            <a:miter lim="800000"/>
            <a:headEnd/>
            <a:tailEnd/>
          </a:ln>
        </p:spPr>
        <p:txBody>
          <a:bodyPr vert="horz" wrap="none" lIns="88254" tIns="44128" rIns="88254" bIns="44128" numCol="1" anchor="b" anchorCtr="0" compatLnSpc="1">
            <a:prstTxWarp prst="textNoShape">
              <a:avLst/>
            </a:prstTxWarp>
          </a:bodyPr>
          <a:lstStyle>
            <a:lvl1pPr algn="r" defTabSz="882650">
              <a:defRPr sz="1100">
                <a:latin typeface="Helvetica" charset="0"/>
                <a:ea typeface="MS PGothic" charset="-128"/>
              </a:defRPr>
            </a:lvl1pPr>
          </a:lstStyle>
          <a:p>
            <a:pPr>
              <a:defRPr/>
            </a:pPr>
            <a:fld id="{896B91AD-C34E-4B05-8D9C-1014E5F01E33}" type="slidenum">
              <a:rPr lang="en-US" altLang="x-none"/>
              <a:pPr>
                <a:defRPr/>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715B35B-6971-4CC0-B4FB-95B01BCF426E}"/>
              </a:ext>
            </a:extLst>
          </p:cNvPr>
          <p:cNvSpPr>
            <a:spLocks noGrp="1" noChangeArrowheads="1"/>
          </p:cNvSpPr>
          <p:nvPr>
            <p:ph type="hdr" sz="quarter"/>
          </p:nvPr>
        </p:nvSpPr>
        <p:spPr bwMode="auto">
          <a:xfrm>
            <a:off x="0" y="0"/>
            <a:ext cx="3036888" cy="463550"/>
          </a:xfrm>
          <a:prstGeom prst="rect">
            <a:avLst/>
          </a:prstGeom>
          <a:noFill/>
          <a:ln w="9525">
            <a:noFill/>
            <a:miter lim="800000"/>
            <a:headEnd/>
            <a:tailEnd/>
          </a:ln>
        </p:spPr>
        <p:txBody>
          <a:bodyPr vert="horz" wrap="none" lIns="93152" tIns="46576" rIns="93152" bIns="46576" numCol="1" anchor="ctr" anchorCtr="0" compatLnSpc="1">
            <a:prstTxWarp prst="textNoShape">
              <a:avLst/>
            </a:prstTxWarp>
          </a:bodyPr>
          <a:lstStyle>
            <a:lvl1pPr defTabSz="930275">
              <a:defRPr sz="1200">
                <a:latin typeface="Times New Roman" panose="02020603050405020304" pitchFamily="18" charset="0"/>
              </a:defRPr>
            </a:lvl1pPr>
          </a:lstStyle>
          <a:p>
            <a:pPr>
              <a:defRPr/>
            </a:pPr>
            <a:endParaRPr lang="en-US" altLang="en-US"/>
          </a:p>
        </p:txBody>
      </p:sp>
      <p:sp>
        <p:nvSpPr>
          <p:cNvPr id="6147" name="Rectangle 3">
            <a:extLst>
              <a:ext uri="{FF2B5EF4-FFF2-40B4-BE49-F238E27FC236}">
                <a16:creationId xmlns:a16="http://schemas.microsoft.com/office/drawing/2014/main" id="{2A02FF1F-3F52-47A2-B35E-EBB0E228297E}"/>
              </a:ext>
            </a:extLst>
          </p:cNvPr>
          <p:cNvSpPr>
            <a:spLocks noGrp="1" noChangeArrowheads="1"/>
          </p:cNvSpPr>
          <p:nvPr>
            <p:ph type="dt" idx="1"/>
          </p:nvPr>
        </p:nvSpPr>
        <p:spPr bwMode="auto">
          <a:xfrm>
            <a:off x="3973513" y="0"/>
            <a:ext cx="3036887" cy="463550"/>
          </a:xfrm>
          <a:prstGeom prst="rect">
            <a:avLst/>
          </a:prstGeom>
          <a:noFill/>
          <a:ln w="9525">
            <a:noFill/>
            <a:miter lim="800000"/>
            <a:headEnd/>
            <a:tailEnd/>
          </a:ln>
        </p:spPr>
        <p:txBody>
          <a:bodyPr vert="horz" wrap="none" lIns="93152" tIns="46576" rIns="93152" bIns="46576" numCol="1" anchor="ctr" anchorCtr="0" compatLnSpc="1">
            <a:prstTxWarp prst="textNoShape">
              <a:avLst/>
            </a:prstTxWarp>
          </a:bodyPr>
          <a:lstStyle>
            <a:lvl1pPr algn="r" defTabSz="930275">
              <a:defRPr sz="1200">
                <a:latin typeface="Times New Roman" panose="02020603050405020304" pitchFamily="18" charset="0"/>
              </a:defRPr>
            </a:lvl1pPr>
          </a:lstStyle>
          <a:p>
            <a:pPr>
              <a:defRPr/>
            </a:pPr>
            <a:endParaRPr lang="en-US" altLang="en-US"/>
          </a:p>
        </p:txBody>
      </p:sp>
      <p:sp>
        <p:nvSpPr>
          <p:cNvPr id="3076" name="Rectangle 4">
            <a:extLst>
              <a:ext uri="{FF2B5EF4-FFF2-40B4-BE49-F238E27FC236}">
                <a16:creationId xmlns:a16="http://schemas.microsoft.com/office/drawing/2014/main" id="{12612CE7-EF94-4293-9356-A0763F4E73EB}"/>
              </a:ext>
            </a:extLst>
          </p:cNvPr>
          <p:cNvSpPr>
            <a:spLocks noGrp="1" noRot="1" noChangeAspect="1" noChangeArrowheads="1" noTextEdit="1"/>
          </p:cNvSpPr>
          <p:nvPr>
            <p:ph type="sldImg" idx="2"/>
          </p:nvPr>
        </p:nvSpPr>
        <p:spPr bwMode="auto">
          <a:xfrm>
            <a:off x="407988" y="698500"/>
            <a:ext cx="6196012"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43BD7482-5C58-44F9-A08E-BFE34494D0D8}"/>
              </a:ext>
            </a:extLst>
          </p:cNvPr>
          <p:cNvSpPr>
            <a:spLocks noGrp="1" noChangeArrowheads="1"/>
          </p:cNvSpPr>
          <p:nvPr>
            <p:ph type="body" sz="quarter" idx="3"/>
          </p:nvPr>
        </p:nvSpPr>
        <p:spPr bwMode="auto">
          <a:xfrm>
            <a:off x="935038" y="4416425"/>
            <a:ext cx="5140325" cy="4181475"/>
          </a:xfrm>
          <a:prstGeom prst="rect">
            <a:avLst/>
          </a:prstGeom>
          <a:noFill/>
          <a:ln w="9525">
            <a:noFill/>
            <a:miter lim="800000"/>
            <a:headEnd/>
            <a:tailEnd/>
          </a:ln>
        </p:spPr>
        <p:txBody>
          <a:bodyPr vert="horz" wrap="none" lIns="93152" tIns="46576" rIns="93152" bIns="46576"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5AC6369B-F957-4079-90E1-CA217ED505C7}"/>
              </a:ext>
            </a:extLst>
          </p:cNvPr>
          <p:cNvSpPr>
            <a:spLocks noGrp="1" noChangeArrowheads="1"/>
          </p:cNvSpPr>
          <p:nvPr>
            <p:ph type="ftr" sz="quarter" idx="4"/>
          </p:nvPr>
        </p:nvSpPr>
        <p:spPr bwMode="auto">
          <a:xfrm>
            <a:off x="0" y="8832850"/>
            <a:ext cx="3036888" cy="463550"/>
          </a:xfrm>
          <a:prstGeom prst="rect">
            <a:avLst/>
          </a:prstGeom>
          <a:noFill/>
          <a:ln w="9525">
            <a:noFill/>
            <a:miter lim="800000"/>
            <a:headEnd/>
            <a:tailEnd/>
          </a:ln>
        </p:spPr>
        <p:txBody>
          <a:bodyPr vert="horz" wrap="none" lIns="93152" tIns="46576" rIns="93152" bIns="46576" numCol="1" anchor="b" anchorCtr="0" compatLnSpc="1">
            <a:prstTxWarp prst="textNoShape">
              <a:avLst/>
            </a:prstTxWarp>
          </a:bodyPr>
          <a:lstStyle>
            <a:lvl1pPr defTabSz="930275">
              <a:defRPr sz="1200">
                <a:latin typeface="Times New Roman" panose="02020603050405020304" pitchFamily="18" charset="0"/>
              </a:defRPr>
            </a:lvl1pPr>
          </a:lstStyle>
          <a:p>
            <a:pPr>
              <a:defRPr/>
            </a:pPr>
            <a:endParaRPr lang="en-US" altLang="en-US"/>
          </a:p>
        </p:txBody>
      </p:sp>
      <p:sp>
        <p:nvSpPr>
          <p:cNvPr id="6151" name="Rectangle 7">
            <a:extLst>
              <a:ext uri="{FF2B5EF4-FFF2-40B4-BE49-F238E27FC236}">
                <a16:creationId xmlns:a16="http://schemas.microsoft.com/office/drawing/2014/main" id="{D62366FD-3440-43D4-A730-7A55A662E478}"/>
              </a:ext>
            </a:extLst>
          </p:cNvPr>
          <p:cNvSpPr>
            <a:spLocks noGrp="1" noChangeArrowheads="1"/>
          </p:cNvSpPr>
          <p:nvPr>
            <p:ph type="sldNum" sz="quarter" idx="5"/>
          </p:nvPr>
        </p:nvSpPr>
        <p:spPr bwMode="auto">
          <a:xfrm>
            <a:off x="3973513" y="8832850"/>
            <a:ext cx="3036887" cy="463550"/>
          </a:xfrm>
          <a:prstGeom prst="rect">
            <a:avLst/>
          </a:prstGeom>
          <a:noFill/>
          <a:ln w="9525">
            <a:noFill/>
            <a:miter lim="800000"/>
            <a:headEnd/>
            <a:tailEnd/>
          </a:ln>
        </p:spPr>
        <p:txBody>
          <a:bodyPr vert="horz" wrap="none" lIns="93152" tIns="46576" rIns="93152" bIns="46576" numCol="1" anchor="b" anchorCtr="0" compatLnSpc="1">
            <a:prstTxWarp prst="textNoShape">
              <a:avLst/>
            </a:prstTxWarp>
          </a:bodyPr>
          <a:lstStyle>
            <a:lvl1pPr algn="r" defTabSz="930275">
              <a:defRPr sz="1200">
                <a:latin typeface="Times New Roman" charset="0"/>
                <a:ea typeface="MS PGothic" charset="-128"/>
              </a:defRPr>
            </a:lvl1pPr>
          </a:lstStyle>
          <a:p>
            <a:pPr>
              <a:defRPr/>
            </a:pPr>
            <a:fld id="{73B872E8-FDB0-4502-A51A-B7A4A00AC4E7}" type="slidenum">
              <a:rPr lang="en-US" altLang="x-none"/>
              <a:pPr>
                <a:defRPr/>
              </a:pPr>
              <a:t>‹#›</a:t>
            </a:fld>
            <a:endParaRPr lang="en-US" altLang="x-none"/>
          </a:p>
        </p:txBody>
      </p:sp>
    </p:spTree>
    <p:extLst>
      <p:ext uri="{BB962C8B-B14F-4D97-AF65-F5344CB8AC3E}">
        <p14:creationId xmlns:p14="http://schemas.microsoft.com/office/powerpoint/2010/main" val="96199442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CDEF1EC1-A032-4256-A5B8-82331B81B1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a:solidFill>
                  <a:schemeClr val="tx1"/>
                </a:solidFill>
                <a:latin typeface="Verdana" panose="020B0604030504040204" pitchFamily="34" charset="0"/>
                <a:ea typeface="MS PGothic" panose="020B0600070205080204" pitchFamily="34" charset="-128"/>
              </a:defRPr>
            </a:lvl1pPr>
            <a:lvl2pPr marL="742950" indent="-285750" defTabSz="928688">
              <a:defRPr>
                <a:solidFill>
                  <a:schemeClr val="tx1"/>
                </a:solidFill>
                <a:latin typeface="Verdana" panose="020B0604030504040204" pitchFamily="34" charset="0"/>
                <a:ea typeface="MS PGothic" panose="020B0600070205080204" pitchFamily="34" charset="-128"/>
              </a:defRPr>
            </a:lvl2pPr>
            <a:lvl3pPr marL="1143000" indent="-228600" defTabSz="928688">
              <a:defRPr>
                <a:solidFill>
                  <a:schemeClr val="tx1"/>
                </a:solidFill>
                <a:latin typeface="Verdana" panose="020B0604030504040204" pitchFamily="34" charset="0"/>
                <a:ea typeface="MS PGothic" panose="020B0600070205080204" pitchFamily="34" charset="-128"/>
              </a:defRPr>
            </a:lvl3pPr>
            <a:lvl4pPr marL="1600200" indent="-228600" defTabSz="928688">
              <a:defRPr>
                <a:solidFill>
                  <a:schemeClr val="tx1"/>
                </a:solidFill>
                <a:latin typeface="Verdana" panose="020B0604030504040204" pitchFamily="34" charset="0"/>
                <a:ea typeface="MS PGothic" panose="020B0600070205080204" pitchFamily="34" charset="-128"/>
              </a:defRPr>
            </a:lvl4pPr>
            <a:lvl5pPr marL="2057400" indent="-228600" defTabSz="928688">
              <a:defRPr>
                <a:solidFill>
                  <a:schemeClr val="tx1"/>
                </a:solidFill>
                <a:latin typeface="Verdana" panose="020B0604030504040204" pitchFamily="34" charset="0"/>
                <a:ea typeface="MS PGothic" panose="020B0600070205080204" pitchFamily="34" charset="-128"/>
              </a:defRPr>
            </a:lvl5pPr>
            <a:lvl6pPr marL="25146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3B6FBBD-AF90-4377-83FA-2F3819AD38A1}"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1DCEB876-7853-4EC8-86DE-2233D519AA53}"/>
              </a:ext>
            </a:extLst>
          </p:cNvPr>
          <p:cNvSpPr>
            <a:spLocks noGrp="1" noRot="1" noChangeAspect="1" noChangeArrowheads="1" noTextEdit="1"/>
          </p:cNvSpPr>
          <p:nvPr>
            <p:ph type="sldImg"/>
          </p:nvPr>
        </p:nvSpPr>
        <p:spPr>
          <a:xfrm>
            <a:off x="407988" y="698500"/>
            <a:ext cx="6196012" cy="3486150"/>
          </a:xfrm>
          <a:ln/>
        </p:spPr>
      </p:sp>
      <p:sp>
        <p:nvSpPr>
          <p:cNvPr id="6148" name="Rectangle 3">
            <a:extLst>
              <a:ext uri="{FF2B5EF4-FFF2-40B4-BE49-F238E27FC236}">
                <a16:creationId xmlns:a16="http://schemas.microsoft.com/office/drawing/2014/main" id="{1317CDD3-494C-45D9-A8EF-4B0E12327A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22894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5776ACBD-4645-43B7-892F-697D57D495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0CF72FA-BC85-4452-9FD4-6F163D5E4845}" type="slidenum">
              <a:rPr lang="en-US" altLang="en-US" smtClean="0">
                <a:latin typeface="Times New Roman" panose="02020603050405020304" pitchFamily="18" charset="0"/>
              </a:rPr>
              <a:pPr/>
              <a:t>3</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48A88ED8-0C05-4DF8-A678-F55DA039B324}"/>
              </a:ext>
            </a:extLst>
          </p:cNvPr>
          <p:cNvSpPr>
            <a:spLocks noGrp="1" noRot="1" noChangeAspect="1" noChangeArrowheads="1" noTextEdit="1"/>
          </p:cNvSpPr>
          <p:nvPr>
            <p:ph type="sldImg"/>
          </p:nvPr>
        </p:nvSpPr>
        <p:spPr>
          <a:xfrm>
            <a:off x="407988" y="698500"/>
            <a:ext cx="6196012" cy="3486150"/>
          </a:xfrm>
          <a:ln/>
        </p:spPr>
      </p:sp>
      <p:sp>
        <p:nvSpPr>
          <p:cNvPr id="6147" name="Rectangle 3">
            <a:extLst>
              <a:ext uri="{FF2B5EF4-FFF2-40B4-BE49-F238E27FC236}">
                <a16:creationId xmlns:a16="http://schemas.microsoft.com/office/drawing/2014/main" id="{374978C2-165A-418A-AF53-B86870696A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115231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xfrm>
            <a:off x="407988" y="698500"/>
            <a:ext cx="6196012" cy="3486150"/>
          </a:xfrm>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91853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5</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xfrm>
            <a:off x="407988" y="698500"/>
            <a:ext cx="6196012" cy="3486150"/>
          </a:xfrm>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323442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xfrm>
            <a:off x="407988" y="698500"/>
            <a:ext cx="6196012" cy="3486150"/>
          </a:xfrm>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606899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A01F25CF-FF7D-432D-AEB3-6710154153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2593EA-83E9-49DF-9A69-061BE7580B7A}"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7EBD862C-4A3E-4654-8B80-448A34563F74}"/>
              </a:ext>
            </a:extLst>
          </p:cNvPr>
          <p:cNvSpPr>
            <a:spLocks noGrp="1" noRot="1" noChangeAspect="1" noChangeArrowheads="1" noTextEdit="1"/>
          </p:cNvSpPr>
          <p:nvPr>
            <p:ph type="sldImg"/>
          </p:nvPr>
        </p:nvSpPr>
        <p:spPr>
          <a:xfrm>
            <a:off x="407988" y="698500"/>
            <a:ext cx="6196012" cy="3486150"/>
          </a:xfrm>
          <a:ln/>
        </p:spPr>
      </p:sp>
      <p:sp>
        <p:nvSpPr>
          <p:cNvPr id="18435" name="Rectangle 3">
            <a:extLst>
              <a:ext uri="{FF2B5EF4-FFF2-40B4-BE49-F238E27FC236}">
                <a16:creationId xmlns:a16="http://schemas.microsoft.com/office/drawing/2014/main" id="{25E9679F-2A37-45A8-BEFD-99A5560446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78189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4449CF17-6DE0-42A8-AF6D-65582A8B77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DD403B-DC2E-496B-BDE4-8AC536A45743}"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20482" name="Rectangle 2">
            <a:extLst>
              <a:ext uri="{FF2B5EF4-FFF2-40B4-BE49-F238E27FC236}">
                <a16:creationId xmlns:a16="http://schemas.microsoft.com/office/drawing/2014/main" id="{51D3904E-C473-48EE-9DE3-D37AD52B1BE1}"/>
              </a:ext>
            </a:extLst>
          </p:cNvPr>
          <p:cNvSpPr>
            <a:spLocks noGrp="1" noRot="1" noChangeAspect="1" noChangeArrowheads="1" noTextEdit="1"/>
          </p:cNvSpPr>
          <p:nvPr>
            <p:ph type="sldImg"/>
          </p:nvPr>
        </p:nvSpPr>
        <p:spPr>
          <a:xfrm>
            <a:off x="407988" y="698500"/>
            <a:ext cx="6196012" cy="3486150"/>
          </a:xfrm>
          <a:ln/>
        </p:spPr>
      </p:sp>
      <p:sp>
        <p:nvSpPr>
          <p:cNvPr id="20483" name="Rectangle 3">
            <a:extLst>
              <a:ext uri="{FF2B5EF4-FFF2-40B4-BE49-F238E27FC236}">
                <a16:creationId xmlns:a16="http://schemas.microsoft.com/office/drawing/2014/main" id="{26B73BA7-C0AE-4B26-9EE2-89053DF39E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709288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782373FB-7979-43C3-9CD1-428D9B5060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82816C-CEF7-47A7-92DB-2D0700EC55E4}"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DD50E9C8-67EF-4556-969A-2795FF144239}"/>
              </a:ext>
            </a:extLst>
          </p:cNvPr>
          <p:cNvSpPr>
            <a:spLocks noGrp="1" noRot="1" noChangeAspect="1" noChangeArrowheads="1" noTextEdit="1"/>
          </p:cNvSpPr>
          <p:nvPr>
            <p:ph type="sldImg"/>
          </p:nvPr>
        </p:nvSpPr>
        <p:spPr>
          <a:xfrm>
            <a:off x="407988" y="698500"/>
            <a:ext cx="6196012" cy="3486150"/>
          </a:xfrm>
          <a:ln/>
        </p:spPr>
      </p:sp>
      <p:sp>
        <p:nvSpPr>
          <p:cNvPr id="22531" name="Rectangle 3">
            <a:extLst>
              <a:ext uri="{FF2B5EF4-FFF2-40B4-BE49-F238E27FC236}">
                <a16:creationId xmlns:a16="http://schemas.microsoft.com/office/drawing/2014/main" id="{5BF3A816-A617-46B9-9536-0B761391AA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36094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D40412E3-E257-462F-AEEC-27F4A0E78CD6}"/>
              </a:ext>
            </a:extLst>
          </p:cNvPr>
          <p:cNvSpPr>
            <a:spLocks noGrp="1" noRot="1" noChangeAspect="1" noChangeArrowheads="1" noTextEdit="1"/>
          </p:cNvSpPr>
          <p:nvPr>
            <p:ph type="sldImg"/>
          </p:nvPr>
        </p:nvSpPr>
        <p:spPr>
          <a:xfrm>
            <a:off x="407988" y="698500"/>
            <a:ext cx="6196012" cy="3486150"/>
          </a:xfrm>
          <a:ln/>
        </p:spPr>
      </p:sp>
      <p:sp>
        <p:nvSpPr>
          <p:cNvPr id="24579" name="Rectangle 3">
            <a:extLst>
              <a:ext uri="{FF2B5EF4-FFF2-40B4-BE49-F238E27FC236}">
                <a16:creationId xmlns:a16="http://schemas.microsoft.com/office/drawing/2014/main"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247960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5BA74056-F347-47E7-8F80-E67498FF6C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2E19D3-36AF-42FB-A3BF-7AE756C80D6F}"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EBB136E9-59A5-44E7-9BD0-1637A76BE655}"/>
              </a:ext>
            </a:extLst>
          </p:cNvPr>
          <p:cNvSpPr>
            <a:spLocks noGrp="1" noRot="1" noChangeAspect="1" noChangeArrowheads="1" noTextEdit="1"/>
          </p:cNvSpPr>
          <p:nvPr>
            <p:ph type="sldImg"/>
          </p:nvPr>
        </p:nvSpPr>
        <p:spPr>
          <a:xfrm>
            <a:off x="407988" y="698500"/>
            <a:ext cx="6196012" cy="3486150"/>
          </a:xfrm>
          <a:ln/>
        </p:spPr>
      </p:sp>
      <p:sp>
        <p:nvSpPr>
          <p:cNvPr id="26627" name="Rectangle 3">
            <a:extLst>
              <a:ext uri="{FF2B5EF4-FFF2-40B4-BE49-F238E27FC236}">
                <a16:creationId xmlns:a16="http://schemas.microsoft.com/office/drawing/2014/main" id="{4EED1A63-8694-46B7-9400-1442886D34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725558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16</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EA2463C4-B80E-4B8C-85AE-C8401A286E77}"/>
              </a:ext>
            </a:extLst>
          </p:cNvPr>
          <p:cNvSpPr>
            <a:spLocks noGrp="1" noRot="1" noChangeAspect="1" noChangeArrowheads="1" noTextEdit="1"/>
          </p:cNvSpPr>
          <p:nvPr>
            <p:ph type="sldImg"/>
          </p:nvPr>
        </p:nvSpPr>
        <p:spPr>
          <a:xfrm>
            <a:off x="407988" y="698500"/>
            <a:ext cx="6196012" cy="3486150"/>
          </a:xfrm>
          <a:ln/>
        </p:spPr>
      </p:sp>
      <p:sp>
        <p:nvSpPr>
          <p:cNvPr id="28675" name="Rectangle 3">
            <a:extLst>
              <a:ext uri="{FF2B5EF4-FFF2-40B4-BE49-F238E27FC236}">
                <a16:creationId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898905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D40412E3-E257-462F-AEEC-27F4A0E78CD6}"/>
              </a:ext>
            </a:extLst>
          </p:cNvPr>
          <p:cNvSpPr>
            <a:spLocks noGrp="1" noRot="1" noChangeAspect="1" noChangeArrowheads="1" noTextEdit="1"/>
          </p:cNvSpPr>
          <p:nvPr>
            <p:ph type="sldImg"/>
          </p:nvPr>
        </p:nvSpPr>
        <p:spPr>
          <a:xfrm>
            <a:off x="407988" y="698500"/>
            <a:ext cx="6196012" cy="3486150"/>
          </a:xfrm>
          <a:ln/>
        </p:spPr>
      </p:sp>
      <p:sp>
        <p:nvSpPr>
          <p:cNvPr id="24579" name="Rectangle 3">
            <a:extLst>
              <a:ext uri="{FF2B5EF4-FFF2-40B4-BE49-F238E27FC236}">
                <a16:creationId xmlns:a16="http://schemas.microsoft.com/office/drawing/2014/main"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825376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4C2245F4-0687-48BF-BF76-797F8BC2AC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99B002-221E-4ACE-82C8-ADA61FD05C07}" type="slidenum">
              <a:rPr lang="en-US" altLang="en-US" smtClean="0">
                <a:latin typeface="Times New Roman" panose="02020603050405020304" pitchFamily="18" charset="0"/>
              </a:rPr>
              <a:pPr/>
              <a:t>21</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2946022D-15EE-4829-ABB0-2302B5FB73E7}"/>
              </a:ext>
            </a:extLst>
          </p:cNvPr>
          <p:cNvSpPr>
            <a:spLocks noGrp="1" noRot="1" noChangeAspect="1" noChangeArrowheads="1" noTextEdit="1"/>
          </p:cNvSpPr>
          <p:nvPr>
            <p:ph type="sldImg"/>
          </p:nvPr>
        </p:nvSpPr>
        <p:spPr>
          <a:xfrm>
            <a:off x="407988" y="698500"/>
            <a:ext cx="6196012" cy="3486150"/>
          </a:xfrm>
          <a:ln/>
        </p:spPr>
      </p:sp>
      <p:sp>
        <p:nvSpPr>
          <p:cNvPr id="38915" name="Rectangle 3">
            <a:extLst>
              <a:ext uri="{FF2B5EF4-FFF2-40B4-BE49-F238E27FC236}">
                <a16:creationId xmlns:a16="http://schemas.microsoft.com/office/drawing/2014/main" id="{833E1FE6-F684-4288-B04E-1699B856B6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183716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7EFF896D-4723-4270-B5CE-3EAC199293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057CCE-FB24-4DCD-B59A-EF29E3EC48F5}" type="slidenum">
              <a:rPr lang="en-US" altLang="en-US" smtClean="0">
                <a:latin typeface="Times New Roman" panose="02020603050405020304" pitchFamily="18" charset="0"/>
              </a:rPr>
              <a:pPr/>
              <a:t>22</a:t>
            </a:fld>
            <a:endParaRPr lang="en-US" altLang="en-US">
              <a:latin typeface="Times New Roman" panose="02020603050405020304" pitchFamily="18" charset="0"/>
            </a:endParaRPr>
          </a:p>
        </p:txBody>
      </p:sp>
      <p:sp>
        <p:nvSpPr>
          <p:cNvPr id="40962" name="Rectangle 2">
            <a:extLst>
              <a:ext uri="{FF2B5EF4-FFF2-40B4-BE49-F238E27FC236}">
                <a16:creationId xmlns:a16="http://schemas.microsoft.com/office/drawing/2014/main" id="{13E74FC7-08E4-41EE-B8E9-4784734F4560}"/>
              </a:ext>
            </a:extLst>
          </p:cNvPr>
          <p:cNvSpPr>
            <a:spLocks noGrp="1" noRot="1" noChangeAspect="1" noChangeArrowheads="1" noTextEdit="1"/>
          </p:cNvSpPr>
          <p:nvPr>
            <p:ph type="sldImg"/>
          </p:nvPr>
        </p:nvSpPr>
        <p:spPr>
          <a:xfrm>
            <a:off x="407988" y="698500"/>
            <a:ext cx="6196012" cy="3486150"/>
          </a:xfrm>
          <a:ln/>
        </p:spPr>
      </p:sp>
      <p:sp>
        <p:nvSpPr>
          <p:cNvPr id="40963" name="Rectangle 3">
            <a:extLst>
              <a:ext uri="{FF2B5EF4-FFF2-40B4-BE49-F238E27FC236}">
                <a16:creationId xmlns:a16="http://schemas.microsoft.com/office/drawing/2014/main" id="{ADA6752C-0B00-4DE8-BC1B-ED685E73B9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363090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38BED452-4AFF-4E3B-8BDB-D1CDFE41C8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953E37-7182-4EB1-8FE4-F2B2E6FF161A}"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B321B815-8EF8-44E7-95DE-2501AEDAD0FE}"/>
              </a:ext>
            </a:extLst>
          </p:cNvPr>
          <p:cNvSpPr>
            <a:spLocks noGrp="1" noRot="1" noChangeAspect="1" noChangeArrowheads="1" noTextEdit="1"/>
          </p:cNvSpPr>
          <p:nvPr>
            <p:ph type="sldImg"/>
          </p:nvPr>
        </p:nvSpPr>
        <p:spPr>
          <a:xfrm>
            <a:off x="407988" y="698500"/>
            <a:ext cx="6196012" cy="3486150"/>
          </a:xfrm>
          <a:ln/>
        </p:spPr>
      </p:sp>
      <p:sp>
        <p:nvSpPr>
          <p:cNvPr id="43011" name="Rectangle 3">
            <a:extLst>
              <a:ext uri="{FF2B5EF4-FFF2-40B4-BE49-F238E27FC236}">
                <a16:creationId xmlns:a16="http://schemas.microsoft.com/office/drawing/2014/main" id="{EE4E2E56-FB91-48A2-96D3-B738321EA9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007085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0A17CE6B-6039-43D7-A98A-F4F050EBD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B59C17-8BC0-4D12-8CAC-4CF08CD54505}"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49154" name="Rectangle 2">
            <a:extLst>
              <a:ext uri="{FF2B5EF4-FFF2-40B4-BE49-F238E27FC236}">
                <a16:creationId xmlns:a16="http://schemas.microsoft.com/office/drawing/2014/main" id="{069692E4-A9F9-42A3-BEE3-5D68069DF06C}"/>
              </a:ext>
            </a:extLst>
          </p:cNvPr>
          <p:cNvSpPr>
            <a:spLocks noGrp="1" noRot="1" noChangeAspect="1" noChangeArrowheads="1" noTextEdit="1"/>
          </p:cNvSpPr>
          <p:nvPr>
            <p:ph type="sldImg"/>
          </p:nvPr>
        </p:nvSpPr>
        <p:spPr>
          <a:xfrm>
            <a:off x="407988" y="698500"/>
            <a:ext cx="6196012" cy="3486150"/>
          </a:xfrm>
          <a:ln/>
        </p:spPr>
      </p:sp>
      <p:sp>
        <p:nvSpPr>
          <p:cNvPr id="49155" name="Rectangle 3">
            <a:extLst>
              <a:ext uri="{FF2B5EF4-FFF2-40B4-BE49-F238E27FC236}">
                <a16:creationId xmlns:a16="http://schemas.microsoft.com/office/drawing/2014/main" id="{F137D665-2B0C-4C02-9EBA-DAA2DE83B2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091003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469870DE-ED07-4369-A35C-886FE9BF9D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53270A-71CB-4C96-9EF2-586D51F6CA41}" type="slidenum">
              <a:rPr lang="en-US" altLang="en-US" smtClean="0">
                <a:latin typeface="Times New Roman" panose="02020603050405020304" pitchFamily="18" charset="0"/>
              </a:rPr>
              <a:pPr/>
              <a:t>27</a:t>
            </a:fld>
            <a:endParaRPr lang="en-US" altLang="en-US">
              <a:latin typeface="Times New Roman" panose="02020603050405020304" pitchFamily="18" charset="0"/>
            </a:endParaRPr>
          </a:p>
        </p:txBody>
      </p:sp>
      <p:sp>
        <p:nvSpPr>
          <p:cNvPr id="51202" name="Rectangle 2">
            <a:extLst>
              <a:ext uri="{FF2B5EF4-FFF2-40B4-BE49-F238E27FC236}">
                <a16:creationId xmlns:a16="http://schemas.microsoft.com/office/drawing/2014/main" id="{709C325C-9D3C-44A6-8500-BB6A220D2BE0}"/>
              </a:ext>
            </a:extLst>
          </p:cNvPr>
          <p:cNvSpPr>
            <a:spLocks noGrp="1" noRot="1" noChangeAspect="1" noChangeArrowheads="1" noTextEdit="1"/>
          </p:cNvSpPr>
          <p:nvPr>
            <p:ph type="sldImg"/>
          </p:nvPr>
        </p:nvSpPr>
        <p:spPr>
          <a:xfrm>
            <a:off x="407988" y="698500"/>
            <a:ext cx="6196012" cy="3486150"/>
          </a:xfrm>
          <a:ln/>
        </p:spPr>
      </p:sp>
      <p:sp>
        <p:nvSpPr>
          <p:cNvPr id="51203" name="Rectangle 3">
            <a:extLst>
              <a:ext uri="{FF2B5EF4-FFF2-40B4-BE49-F238E27FC236}">
                <a16:creationId xmlns:a16="http://schemas.microsoft.com/office/drawing/2014/main" id="{940CBAB1-EA8F-4B67-816C-288C9B0978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037970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7EB3323C-06A1-4632-B138-3B73546F03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D9CD47-795C-4CBD-956A-ABB15F37534F}" type="slidenum">
              <a:rPr lang="en-US" altLang="en-US" smtClean="0">
                <a:latin typeface="Times New Roman" panose="02020603050405020304" pitchFamily="18" charset="0"/>
              </a:rPr>
              <a:pPr/>
              <a:t>31</a:t>
            </a:fld>
            <a:endParaRPr lang="en-US" altLang="en-US">
              <a:latin typeface="Times New Roman" panose="02020603050405020304" pitchFamily="18" charset="0"/>
            </a:endParaRPr>
          </a:p>
        </p:txBody>
      </p:sp>
      <p:sp>
        <p:nvSpPr>
          <p:cNvPr id="53250" name="Rectangle 2">
            <a:extLst>
              <a:ext uri="{FF2B5EF4-FFF2-40B4-BE49-F238E27FC236}">
                <a16:creationId xmlns:a16="http://schemas.microsoft.com/office/drawing/2014/main" id="{3544896A-D075-4287-996D-AFC0058592F0}"/>
              </a:ext>
            </a:extLst>
          </p:cNvPr>
          <p:cNvSpPr>
            <a:spLocks noGrp="1" noRot="1" noChangeAspect="1" noChangeArrowheads="1" noTextEdit="1"/>
          </p:cNvSpPr>
          <p:nvPr>
            <p:ph type="sldImg"/>
          </p:nvPr>
        </p:nvSpPr>
        <p:spPr>
          <a:xfrm>
            <a:off x="407988" y="698500"/>
            <a:ext cx="6196012" cy="3486150"/>
          </a:xfrm>
          <a:ln/>
        </p:spPr>
      </p:sp>
      <p:sp>
        <p:nvSpPr>
          <p:cNvPr id="53251" name="Rectangle 3">
            <a:extLst>
              <a:ext uri="{FF2B5EF4-FFF2-40B4-BE49-F238E27FC236}">
                <a16:creationId xmlns:a16="http://schemas.microsoft.com/office/drawing/2014/main" id="{A3696E72-3E2A-4324-898F-E308110EB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733703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32</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xfrm>
            <a:off x="407988" y="698500"/>
            <a:ext cx="6196012" cy="3486150"/>
          </a:xfrm>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458350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A3BC90D9-5B90-4947-BD85-211E37DDE9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111378-CDE2-4578-A4A0-6AE31376CE67}" type="slidenum">
              <a:rPr lang="en-US" altLang="en-US" smtClean="0">
                <a:latin typeface="Times New Roman" panose="02020603050405020304" pitchFamily="18" charset="0"/>
              </a:rPr>
              <a:pPr/>
              <a:t>33</a:t>
            </a:fld>
            <a:endParaRPr lang="en-US" altLang="en-US">
              <a:latin typeface="Times New Roman" panose="02020603050405020304" pitchFamily="18" charset="0"/>
            </a:endParaRPr>
          </a:p>
        </p:txBody>
      </p:sp>
      <p:sp>
        <p:nvSpPr>
          <p:cNvPr id="55298" name="Rectangle 2">
            <a:extLst>
              <a:ext uri="{FF2B5EF4-FFF2-40B4-BE49-F238E27FC236}">
                <a16:creationId xmlns:a16="http://schemas.microsoft.com/office/drawing/2014/main" id="{1CE51187-1D2B-4F17-B25B-73ADED5E0BBA}"/>
              </a:ext>
            </a:extLst>
          </p:cNvPr>
          <p:cNvSpPr>
            <a:spLocks noGrp="1" noRot="1" noChangeAspect="1" noChangeArrowheads="1" noTextEdit="1"/>
          </p:cNvSpPr>
          <p:nvPr>
            <p:ph type="sldImg"/>
          </p:nvPr>
        </p:nvSpPr>
        <p:spPr>
          <a:xfrm>
            <a:off x="407988" y="698500"/>
            <a:ext cx="6196012" cy="3486150"/>
          </a:xfrm>
          <a:ln/>
        </p:spPr>
      </p:sp>
      <p:sp>
        <p:nvSpPr>
          <p:cNvPr id="55299" name="Rectangle 3">
            <a:extLst>
              <a:ext uri="{FF2B5EF4-FFF2-40B4-BE49-F238E27FC236}">
                <a16:creationId xmlns:a16="http://schemas.microsoft.com/office/drawing/2014/main" id="{BAD6887A-FF32-4633-84E8-6615571843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99021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37</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xfrm>
            <a:off x="407988" y="698500"/>
            <a:ext cx="6196012" cy="3486150"/>
          </a:xfrm>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821357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4AC5CF01-D722-4A54-87E2-5ACC8F7C95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4E645-70B9-4D60-95A0-CCC1F65E091F}" type="slidenum">
              <a:rPr lang="en-US" altLang="en-US" smtClean="0">
                <a:latin typeface="Times New Roman" panose="02020603050405020304" pitchFamily="18" charset="0"/>
              </a:rPr>
              <a:pPr/>
              <a:t>38</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id="{4260DBA0-67A3-4083-8D43-2641C27B526F}"/>
              </a:ext>
            </a:extLst>
          </p:cNvPr>
          <p:cNvSpPr>
            <a:spLocks noGrp="1" noRot="1" noChangeAspect="1" noChangeArrowheads="1" noTextEdit="1"/>
          </p:cNvSpPr>
          <p:nvPr>
            <p:ph type="sldImg"/>
          </p:nvPr>
        </p:nvSpPr>
        <p:spPr>
          <a:xfrm>
            <a:off x="407988" y="698500"/>
            <a:ext cx="6196012" cy="3486150"/>
          </a:xfrm>
          <a:ln/>
        </p:spPr>
      </p:sp>
      <p:sp>
        <p:nvSpPr>
          <p:cNvPr id="60419" name="Rectangle 3">
            <a:extLst>
              <a:ext uri="{FF2B5EF4-FFF2-40B4-BE49-F238E27FC236}">
                <a16:creationId xmlns:a16="http://schemas.microsoft.com/office/drawing/2014/main" id="{813C787B-5ED3-489E-A585-F3FD4B97B7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479135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6AC06DF3-9AE2-41AA-9CBA-13E1929E3D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FAC1245-D4B7-4BF8-9C7C-5CCEA50EE6B4}" type="slidenum">
              <a:rPr lang="en-US" altLang="en-US">
                <a:latin typeface="Times New Roman" panose="02020603050405020304" pitchFamily="18" charset="0"/>
              </a:rPr>
              <a:pPr/>
              <a:t>43</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6F68B959-C08D-438B-A2B9-0BE8A788A2C9}"/>
              </a:ext>
            </a:extLst>
          </p:cNvPr>
          <p:cNvSpPr>
            <a:spLocks noGrp="1" noRot="1" noChangeAspect="1" noChangeArrowheads="1" noTextEdit="1"/>
          </p:cNvSpPr>
          <p:nvPr>
            <p:ph type="sldImg"/>
          </p:nvPr>
        </p:nvSpPr>
        <p:spPr>
          <a:xfrm>
            <a:off x="407988" y="698500"/>
            <a:ext cx="6196012" cy="3486150"/>
          </a:xfrm>
          <a:ln/>
        </p:spPr>
      </p:sp>
      <p:sp>
        <p:nvSpPr>
          <p:cNvPr id="6147" name="Rectangle 3">
            <a:extLst>
              <a:ext uri="{FF2B5EF4-FFF2-40B4-BE49-F238E27FC236}">
                <a16:creationId xmlns:a16="http://schemas.microsoft.com/office/drawing/2014/main" id="{BA0B3EA2-4E30-4C2D-A22C-A8F69CD23A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625755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3E49DA5C-9C96-455B-BD41-985D1B07CD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3F77E98-83BC-45F0-9564-A2CA759AE191}" type="slidenum">
              <a:rPr lang="en-US" altLang="en-US">
                <a:latin typeface="Times New Roman" panose="02020603050405020304" pitchFamily="18" charset="0"/>
              </a:rPr>
              <a:pPr/>
              <a:t>44</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EA8B14E3-EAA5-468B-8771-F49BC03DE1AD}"/>
              </a:ext>
            </a:extLst>
          </p:cNvPr>
          <p:cNvSpPr>
            <a:spLocks noGrp="1" noRot="1" noChangeAspect="1" noChangeArrowheads="1" noTextEdit="1"/>
          </p:cNvSpPr>
          <p:nvPr>
            <p:ph type="sldImg"/>
          </p:nvPr>
        </p:nvSpPr>
        <p:spPr>
          <a:xfrm>
            <a:off x="407988" y="698500"/>
            <a:ext cx="6196012" cy="3486150"/>
          </a:xfrm>
          <a:ln/>
        </p:spPr>
      </p:sp>
      <p:sp>
        <p:nvSpPr>
          <p:cNvPr id="8195" name="Rectangle 3">
            <a:extLst>
              <a:ext uri="{FF2B5EF4-FFF2-40B4-BE49-F238E27FC236}">
                <a16:creationId xmlns:a16="http://schemas.microsoft.com/office/drawing/2014/main" id="{FE6443A0-E601-4FA9-AF8A-86ED17B9E3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941820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a:extLst>
              <a:ext uri="{FF2B5EF4-FFF2-40B4-BE49-F238E27FC236}">
                <a16:creationId xmlns:a16="http://schemas.microsoft.com/office/drawing/2014/main" id="{1132B9CC-18EE-4478-8D12-79FCC5CB98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627E375-79F8-453D-B390-C386C8FE8BB0}" type="slidenum">
              <a:rPr lang="en-US" altLang="en-US">
                <a:latin typeface="Times New Roman" panose="02020603050405020304" pitchFamily="18" charset="0"/>
              </a:rPr>
              <a:pPr/>
              <a:t>45</a:t>
            </a:fld>
            <a:endParaRPr lang="en-US" altLang="en-US">
              <a:latin typeface="Times New Roman" panose="02020603050405020304" pitchFamily="18" charset="0"/>
            </a:endParaRPr>
          </a:p>
        </p:txBody>
      </p:sp>
      <p:sp>
        <p:nvSpPr>
          <p:cNvPr id="10242" name="Rectangle 2">
            <a:extLst>
              <a:ext uri="{FF2B5EF4-FFF2-40B4-BE49-F238E27FC236}">
                <a16:creationId xmlns:a16="http://schemas.microsoft.com/office/drawing/2014/main" id="{D46E798B-69C3-4350-B87E-8BCD5B93D3E6}"/>
              </a:ext>
            </a:extLst>
          </p:cNvPr>
          <p:cNvSpPr>
            <a:spLocks noGrp="1" noRot="1" noChangeAspect="1" noChangeArrowheads="1" noTextEdit="1"/>
          </p:cNvSpPr>
          <p:nvPr>
            <p:ph type="sldImg"/>
          </p:nvPr>
        </p:nvSpPr>
        <p:spPr>
          <a:xfrm>
            <a:off x="407988" y="698500"/>
            <a:ext cx="6196012" cy="3486150"/>
          </a:xfrm>
          <a:ln/>
        </p:spPr>
      </p:sp>
      <p:sp>
        <p:nvSpPr>
          <p:cNvPr id="10243" name="Rectangle 3">
            <a:extLst>
              <a:ext uri="{FF2B5EF4-FFF2-40B4-BE49-F238E27FC236}">
                <a16:creationId xmlns:a16="http://schemas.microsoft.com/office/drawing/2014/main" id="{CC55E9DD-8D6A-4B1C-8480-D1203C92F1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55519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AD5D30B1-CAA9-4C7E-82FB-CACCC63DF9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FC752A8-8EC3-41CB-8B59-F3DE3C42BF38}" type="slidenum">
              <a:rPr lang="en-US" altLang="en-US">
                <a:latin typeface="Times New Roman" panose="02020603050405020304" pitchFamily="18" charset="0"/>
              </a:rPr>
              <a:pPr/>
              <a:t>46</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FA5E4639-96B8-4F2E-9BDC-7323C84004DE}"/>
              </a:ext>
            </a:extLst>
          </p:cNvPr>
          <p:cNvSpPr>
            <a:spLocks noGrp="1" noRot="1" noChangeAspect="1" noChangeArrowheads="1" noTextEdit="1"/>
          </p:cNvSpPr>
          <p:nvPr>
            <p:ph type="sldImg"/>
          </p:nvPr>
        </p:nvSpPr>
        <p:spPr>
          <a:xfrm>
            <a:off x="407988" y="698500"/>
            <a:ext cx="6196012" cy="3486150"/>
          </a:xfrm>
          <a:ln/>
        </p:spPr>
      </p:sp>
      <p:sp>
        <p:nvSpPr>
          <p:cNvPr id="12291" name="Rectangle 3">
            <a:extLst>
              <a:ext uri="{FF2B5EF4-FFF2-40B4-BE49-F238E27FC236}">
                <a16:creationId xmlns:a16="http://schemas.microsoft.com/office/drawing/2014/main" id="{7256AD8A-0021-4843-A1C4-5D5EB55E5C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935467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47</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A1A371DD-73C6-47EE-A578-8E86506CF787}"/>
              </a:ext>
            </a:extLst>
          </p:cNvPr>
          <p:cNvSpPr>
            <a:spLocks noGrp="1" noRot="1" noChangeAspect="1" noChangeArrowheads="1" noTextEdit="1"/>
          </p:cNvSpPr>
          <p:nvPr>
            <p:ph type="sldImg"/>
          </p:nvPr>
        </p:nvSpPr>
        <p:spPr>
          <a:xfrm>
            <a:off x="407988" y="698500"/>
            <a:ext cx="6196012" cy="3486150"/>
          </a:xfrm>
          <a:ln/>
        </p:spPr>
      </p:sp>
      <p:sp>
        <p:nvSpPr>
          <p:cNvPr id="58371" name="Rectangle 3">
            <a:extLst>
              <a:ext uri="{FF2B5EF4-FFF2-40B4-BE49-F238E27FC236}">
                <a16:creationId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503845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9DFB9DE9-23F1-4586-8476-EB7515F086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C4D9A07-B147-4B83-A52B-9062A420958D}" type="slidenum">
              <a:rPr lang="en-US" altLang="en-US">
                <a:latin typeface="Times New Roman" panose="02020603050405020304" pitchFamily="18" charset="0"/>
              </a:rPr>
              <a:pPr/>
              <a:t>48</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id="{4990E245-8548-4FEA-8094-0CB87CE4012A}"/>
              </a:ext>
            </a:extLst>
          </p:cNvPr>
          <p:cNvSpPr>
            <a:spLocks noGrp="1" noRot="1" noChangeAspect="1" noChangeArrowheads="1" noTextEdit="1"/>
          </p:cNvSpPr>
          <p:nvPr>
            <p:ph type="sldImg"/>
          </p:nvPr>
        </p:nvSpPr>
        <p:spPr>
          <a:xfrm>
            <a:off x="407988" y="698500"/>
            <a:ext cx="6196012" cy="3486150"/>
          </a:xfrm>
          <a:ln/>
        </p:spPr>
      </p:sp>
      <p:sp>
        <p:nvSpPr>
          <p:cNvPr id="14339" name="Rectangle 3">
            <a:extLst>
              <a:ext uri="{FF2B5EF4-FFF2-40B4-BE49-F238E27FC236}">
                <a16:creationId xmlns:a16="http://schemas.microsoft.com/office/drawing/2014/main" id="{90ACF84F-14F0-44C1-87FE-68D25CB11C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8274915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91A421C3-D251-468B-8986-49310FCBB5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32B5525-892E-4BC9-B86F-030983BEA0EC}" type="slidenum">
              <a:rPr lang="en-US" altLang="en-US">
                <a:latin typeface="Times New Roman" panose="02020603050405020304" pitchFamily="18" charset="0"/>
              </a:rPr>
              <a:pPr/>
              <a:t>49</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87EA6A59-C89E-4757-AE6C-872BEFC906EA}"/>
              </a:ext>
            </a:extLst>
          </p:cNvPr>
          <p:cNvSpPr>
            <a:spLocks noGrp="1" noRot="1" noChangeAspect="1" noChangeArrowheads="1" noTextEdit="1"/>
          </p:cNvSpPr>
          <p:nvPr>
            <p:ph type="sldImg"/>
          </p:nvPr>
        </p:nvSpPr>
        <p:spPr>
          <a:xfrm>
            <a:off x="407988" y="698500"/>
            <a:ext cx="6196012" cy="3486150"/>
          </a:xfrm>
          <a:ln/>
        </p:spPr>
      </p:sp>
      <p:sp>
        <p:nvSpPr>
          <p:cNvPr id="16387" name="Rectangle 3">
            <a:extLst>
              <a:ext uri="{FF2B5EF4-FFF2-40B4-BE49-F238E27FC236}">
                <a16:creationId xmlns:a16="http://schemas.microsoft.com/office/drawing/2014/main" id="{EEA8330E-5E62-48F6-9094-D7C8ED9BCA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103806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101DA7AD-4F6A-4E73-A41B-D405F5B104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66DD38-3EB5-4134-B79D-C9C4288F343A}" type="slidenum">
              <a:rPr lang="en-US" altLang="en-US">
                <a:latin typeface="Times New Roman" panose="02020603050405020304" pitchFamily="18" charset="0"/>
              </a:rPr>
              <a:pPr/>
              <a:t>51</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10E0A80F-DF39-4281-9C9A-11DBE79103BD}"/>
              </a:ext>
            </a:extLst>
          </p:cNvPr>
          <p:cNvSpPr>
            <a:spLocks noGrp="1" noRot="1" noChangeAspect="1" noChangeArrowheads="1" noTextEdit="1"/>
          </p:cNvSpPr>
          <p:nvPr>
            <p:ph type="sldImg"/>
          </p:nvPr>
        </p:nvSpPr>
        <p:spPr>
          <a:xfrm>
            <a:off x="407988" y="698500"/>
            <a:ext cx="6196012" cy="3486150"/>
          </a:xfrm>
          <a:ln/>
        </p:spPr>
      </p:sp>
      <p:sp>
        <p:nvSpPr>
          <p:cNvPr id="18435" name="Rectangle 3">
            <a:extLst>
              <a:ext uri="{FF2B5EF4-FFF2-40B4-BE49-F238E27FC236}">
                <a16:creationId xmlns:a16="http://schemas.microsoft.com/office/drawing/2014/main" id="{5B6E452F-C003-4903-85A5-DF124EC5F9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871508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2145F13D-850B-4ECD-9C54-CC94AB539B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046B475-1E8C-4550-ADF8-00CA85A1A0DB}" type="slidenum">
              <a:rPr lang="en-US" altLang="en-US">
                <a:latin typeface="Times New Roman" panose="02020603050405020304" pitchFamily="18" charset="0"/>
              </a:rPr>
              <a:pPr/>
              <a:t>54</a:t>
            </a:fld>
            <a:endParaRPr lang="en-US" altLang="en-US">
              <a:latin typeface="Times New Roman" panose="02020603050405020304" pitchFamily="18" charset="0"/>
            </a:endParaRPr>
          </a:p>
        </p:txBody>
      </p:sp>
      <p:sp>
        <p:nvSpPr>
          <p:cNvPr id="20482" name="Rectangle 2">
            <a:extLst>
              <a:ext uri="{FF2B5EF4-FFF2-40B4-BE49-F238E27FC236}">
                <a16:creationId xmlns:a16="http://schemas.microsoft.com/office/drawing/2014/main" id="{19B6270F-5D7E-4AAA-BF78-BAA8346E9150}"/>
              </a:ext>
            </a:extLst>
          </p:cNvPr>
          <p:cNvSpPr>
            <a:spLocks noGrp="1" noRot="1" noChangeAspect="1" noChangeArrowheads="1" noTextEdit="1"/>
          </p:cNvSpPr>
          <p:nvPr>
            <p:ph type="sldImg"/>
          </p:nvPr>
        </p:nvSpPr>
        <p:spPr>
          <a:xfrm>
            <a:off x="407988" y="698500"/>
            <a:ext cx="6196012" cy="3486150"/>
          </a:xfrm>
          <a:ln/>
        </p:spPr>
      </p:sp>
      <p:sp>
        <p:nvSpPr>
          <p:cNvPr id="20483" name="Rectangle 3">
            <a:extLst>
              <a:ext uri="{FF2B5EF4-FFF2-40B4-BE49-F238E27FC236}">
                <a16:creationId xmlns:a16="http://schemas.microsoft.com/office/drawing/2014/main" id="{37E5F964-17B3-45FA-9C56-980A570697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441134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82DC06A2-6609-45C8-BDEC-A716F778D1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B62495-4ED4-41CA-BD1C-15D6C682AAAD}" type="slidenum">
              <a:rPr lang="en-US" altLang="en-US">
                <a:latin typeface="Times New Roman" panose="02020603050405020304" pitchFamily="18" charset="0"/>
              </a:rPr>
              <a:pPr/>
              <a:t>55</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B340B1FD-4D5A-405F-BAC9-0F32DCF3A4B7}"/>
              </a:ext>
            </a:extLst>
          </p:cNvPr>
          <p:cNvSpPr>
            <a:spLocks noGrp="1" noRot="1" noChangeAspect="1" noChangeArrowheads="1" noTextEdit="1"/>
          </p:cNvSpPr>
          <p:nvPr>
            <p:ph type="sldImg"/>
          </p:nvPr>
        </p:nvSpPr>
        <p:spPr>
          <a:xfrm>
            <a:off x="407988" y="698500"/>
            <a:ext cx="6196012" cy="3486150"/>
          </a:xfrm>
          <a:ln/>
        </p:spPr>
      </p:sp>
      <p:sp>
        <p:nvSpPr>
          <p:cNvPr id="22531" name="Rectangle 3">
            <a:extLst>
              <a:ext uri="{FF2B5EF4-FFF2-40B4-BE49-F238E27FC236}">
                <a16:creationId xmlns:a16="http://schemas.microsoft.com/office/drawing/2014/main" id="{69FBEA20-FF0E-408A-AFC5-16ED6CDFE7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994391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689F2254-CEAC-49B1-BE0A-D6CB96F435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CD41B5E-17FB-4D46-9362-847B144758B3}" type="slidenum">
              <a:rPr lang="en-US" altLang="en-US">
                <a:latin typeface="Times New Roman" panose="02020603050405020304" pitchFamily="18" charset="0"/>
              </a:rPr>
              <a:pPr/>
              <a:t>56</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4B1FD14C-9281-442C-8C41-64B3BE637646}"/>
              </a:ext>
            </a:extLst>
          </p:cNvPr>
          <p:cNvSpPr>
            <a:spLocks noGrp="1" noRot="1" noChangeAspect="1" noChangeArrowheads="1" noTextEdit="1"/>
          </p:cNvSpPr>
          <p:nvPr>
            <p:ph type="sldImg"/>
          </p:nvPr>
        </p:nvSpPr>
        <p:spPr>
          <a:xfrm>
            <a:off x="407988" y="698500"/>
            <a:ext cx="6196012" cy="3486150"/>
          </a:xfrm>
          <a:ln/>
        </p:spPr>
      </p:sp>
      <p:sp>
        <p:nvSpPr>
          <p:cNvPr id="24579" name="Rectangle 3">
            <a:extLst>
              <a:ext uri="{FF2B5EF4-FFF2-40B4-BE49-F238E27FC236}">
                <a16:creationId xmlns:a16="http://schemas.microsoft.com/office/drawing/2014/main" id="{594DEA45-1A08-4C66-97F7-6168200CE9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815361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9A353AA0-75CC-497D-91B9-904D63A07C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C6E1ECD-C743-4D6B-BD89-29F8B07C8DD9}" type="slidenum">
              <a:rPr lang="en-US" altLang="en-US">
                <a:latin typeface="Times New Roman" panose="02020603050405020304" pitchFamily="18" charset="0"/>
              </a:rPr>
              <a:pPr/>
              <a:t>57</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9367321B-5D3F-40F6-873F-A0784A9360A5}"/>
              </a:ext>
            </a:extLst>
          </p:cNvPr>
          <p:cNvSpPr>
            <a:spLocks noGrp="1" noRot="1" noChangeAspect="1" noChangeArrowheads="1" noTextEdit="1"/>
          </p:cNvSpPr>
          <p:nvPr>
            <p:ph type="sldImg"/>
          </p:nvPr>
        </p:nvSpPr>
        <p:spPr>
          <a:xfrm>
            <a:off x="407988" y="698500"/>
            <a:ext cx="6196012" cy="3486150"/>
          </a:xfrm>
          <a:ln/>
        </p:spPr>
      </p:sp>
      <p:sp>
        <p:nvSpPr>
          <p:cNvPr id="26627" name="Rectangle 3">
            <a:extLst>
              <a:ext uri="{FF2B5EF4-FFF2-40B4-BE49-F238E27FC236}">
                <a16:creationId xmlns:a16="http://schemas.microsoft.com/office/drawing/2014/main" id="{27737192-9A86-4917-AA29-F5DDF1F61A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210094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3D1CD0EC-DA42-4B0A-91AE-C322FFF596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385A92-FB98-4E13-B633-A2409733F709}" type="slidenum">
              <a:rPr lang="en-US" altLang="en-US">
                <a:latin typeface="Times New Roman" panose="02020603050405020304" pitchFamily="18" charset="0"/>
              </a:rPr>
              <a:pPr/>
              <a:t>58</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A14F7186-B838-47BD-BB46-FCF66D59FA2F}"/>
              </a:ext>
            </a:extLst>
          </p:cNvPr>
          <p:cNvSpPr>
            <a:spLocks noGrp="1" noRot="1" noChangeAspect="1" noChangeArrowheads="1" noTextEdit="1"/>
          </p:cNvSpPr>
          <p:nvPr>
            <p:ph type="sldImg"/>
          </p:nvPr>
        </p:nvSpPr>
        <p:spPr>
          <a:xfrm>
            <a:off x="407988" y="698500"/>
            <a:ext cx="6196012" cy="3486150"/>
          </a:xfrm>
          <a:ln/>
        </p:spPr>
      </p:sp>
      <p:sp>
        <p:nvSpPr>
          <p:cNvPr id="28675" name="Rectangle 3">
            <a:extLst>
              <a:ext uri="{FF2B5EF4-FFF2-40B4-BE49-F238E27FC236}">
                <a16:creationId xmlns:a16="http://schemas.microsoft.com/office/drawing/2014/main" id="{1C57AA80-DBC4-41A7-B1E2-378433EB66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96804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79311C47-F7AB-46DF-911B-8A18B25975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A5BC7FA-2A8F-4C00-BF8D-85AE95F3803B}" type="slidenum">
              <a:rPr lang="en-US" altLang="en-US">
                <a:latin typeface="Times New Roman" panose="02020603050405020304" pitchFamily="18" charset="0"/>
              </a:rPr>
              <a:pPr/>
              <a:t>60</a:t>
            </a:fld>
            <a:endParaRPr lang="en-US" altLang="en-US">
              <a:latin typeface="Times New Roman" panose="02020603050405020304" pitchFamily="18" charset="0"/>
            </a:endParaRPr>
          </a:p>
        </p:txBody>
      </p:sp>
      <p:sp>
        <p:nvSpPr>
          <p:cNvPr id="30722" name="Rectangle 2">
            <a:extLst>
              <a:ext uri="{FF2B5EF4-FFF2-40B4-BE49-F238E27FC236}">
                <a16:creationId xmlns:a16="http://schemas.microsoft.com/office/drawing/2014/main" id="{4BACDE31-FAC6-484D-B679-84D4734C971A}"/>
              </a:ext>
            </a:extLst>
          </p:cNvPr>
          <p:cNvSpPr>
            <a:spLocks noGrp="1" noRot="1" noChangeAspect="1" noChangeArrowheads="1" noTextEdit="1"/>
          </p:cNvSpPr>
          <p:nvPr>
            <p:ph type="sldImg"/>
          </p:nvPr>
        </p:nvSpPr>
        <p:spPr>
          <a:xfrm>
            <a:off x="407988" y="698500"/>
            <a:ext cx="6196012" cy="3486150"/>
          </a:xfrm>
          <a:ln/>
        </p:spPr>
      </p:sp>
      <p:sp>
        <p:nvSpPr>
          <p:cNvPr id="30723" name="Rectangle 3">
            <a:extLst>
              <a:ext uri="{FF2B5EF4-FFF2-40B4-BE49-F238E27FC236}">
                <a16:creationId xmlns:a16="http://schemas.microsoft.com/office/drawing/2014/main" id="{AF1C660C-85C3-44DC-B351-84A7FEC205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179122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2665131B-02A1-4089-8A6A-3ECBBEBF69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93F69B1-EE3C-4C05-93FA-4501AC790494}" type="slidenum">
              <a:rPr lang="en-US" altLang="en-US">
                <a:latin typeface="Times New Roman" panose="02020603050405020304" pitchFamily="18" charset="0"/>
              </a:rPr>
              <a:pPr/>
              <a:t>61</a:t>
            </a:fld>
            <a:endParaRPr lang="en-US" altLang="en-US">
              <a:latin typeface="Times New Roman" panose="02020603050405020304" pitchFamily="18" charset="0"/>
            </a:endParaRPr>
          </a:p>
        </p:txBody>
      </p:sp>
      <p:sp>
        <p:nvSpPr>
          <p:cNvPr id="36866" name="Rectangle 2">
            <a:extLst>
              <a:ext uri="{FF2B5EF4-FFF2-40B4-BE49-F238E27FC236}">
                <a16:creationId xmlns:a16="http://schemas.microsoft.com/office/drawing/2014/main" id="{233FA0CE-6439-42A3-9DCD-EA87FF718DB4}"/>
              </a:ext>
            </a:extLst>
          </p:cNvPr>
          <p:cNvSpPr>
            <a:spLocks noGrp="1" noRot="1" noChangeAspect="1" noChangeArrowheads="1" noTextEdit="1"/>
          </p:cNvSpPr>
          <p:nvPr>
            <p:ph type="sldImg"/>
          </p:nvPr>
        </p:nvSpPr>
        <p:spPr>
          <a:xfrm>
            <a:off x="407988" y="698500"/>
            <a:ext cx="6196012" cy="3486150"/>
          </a:xfrm>
          <a:ln/>
        </p:spPr>
      </p:sp>
      <p:sp>
        <p:nvSpPr>
          <p:cNvPr id="36867" name="Rectangle 3">
            <a:extLst>
              <a:ext uri="{FF2B5EF4-FFF2-40B4-BE49-F238E27FC236}">
                <a16:creationId xmlns:a16="http://schemas.microsoft.com/office/drawing/2014/main" id="{CE0A33F4-52D6-4093-86D6-67B742B188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424658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AD30CC9D-7DD3-44B2-A8FC-073E926D45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C0FE232-0859-4FEB-B794-69908630F257}" type="slidenum">
              <a:rPr lang="en-US" altLang="en-US">
                <a:latin typeface="Times New Roman" panose="02020603050405020304" pitchFamily="18" charset="0"/>
              </a:rPr>
              <a:pPr/>
              <a:t>62</a:t>
            </a:fld>
            <a:endParaRPr lang="en-US" altLang="en-US">
              <a:latin typeface="Times New Roman" panose="02020603050405020304" pitchFamily="18" charset="0"/>
            </a:endParaRPr>
          </a:p>
        </p:txBody>
      </p:sp>
      <p:sp>
        <p:nvSpPr>
          <p:cNvPr id="32770" name="Rectangle 2">
            <a:extLst>
              <a:ext uri="{FF2B5EF4-FFF2-40B4-BE49-F238E27FC236}">
                <a16:creationId xmlns:a16="http://schemas.microsoft.com/office/drawing/2014/main" id="{23748D27-ADCC-4859-912A-07FA26801369}"/>
              </a:ext>
            </a:extLst>
          </p:cNvPr>
          <p:cNvSpPr>
            <a:spLocks noGrp="1" noRot="1" noChangeAspect="1" noChangeArrowheads="1" noTextEdit="1"/>
          </p:cNvSpPr>
          <p:nvPr>
            <p:ph type="sldImg"/>
          </p:nvPr>
        </p:nvSpPr>
        <p:spPr>
          <a:xfrm>
            <a:off x="407988" y="698500"/>
            <a:ext cx="6196012" cy="3486150"/>
          </a:xfrm>
          <a:ln/>
        </p:spPr>
      </p:sp>
      <p:sp>
        <p:nvSpPr>
          <p:cNvPr id="32771" name="Rectangle 3">
            <a:extLst>
              <a:ext uri="{FF2B5EF4-FFF2-40B4-BE49-F238E27FC236}">
                <a16:creationId xmlns:a16="http://schemas.microsoft.com/office/drawing/2014/main" id="{E5E0810E-A480-4FF7-B73F-6679962179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903572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37028435-25E6-4A3F-B20A-EB7193F776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1533BA6-63EA-4C8E-83D6-D75ED0A0DEDD}" type="slidenum">
              <a:rPr lang="en-US" altLang="en-US">
                <a:latin typeface="Times New Roman" panose="02020603050405020304" pitchFamily="18" charset="0"/>
              </a:rPr>
              <a:pPr/>
              <a:t>63</a:t>
            </a:fld>
            <a:endParaRPr lang="en-US" altLang="en-US">
              <a:latin typeface="Times New Roman" panose="02020603050405020304" pitchFamily="18" charset="0"/>
            </a:endParaRPr>
          </a:p>
        </p:txBody>
      </p:sp>
      <p:sp>
        <p:nvSpPr>
          <p:cNvPr id="34818" name="Rectangle 2">
            <a:extLst>
              <a:ext uri="{FF2B5EF4-FFF2-40B4-BE49-F238E27FC236}">
                <a16:creationId xmlns:a16="http://schemas.microsoft.com/office/drawing/2014/main" id="{60FDCA58-DEE3-4954-8951-F43ECB200C64}"/>
              </a:ext>
            </a:extLst>
          </p:cNvPr>
          <p:cNvSpPr>
            <a:spLocks noGrp="1" noRot="1" noChangeAspect="1" noChangeArrowheads="1" noTextEdit="1"/>
          </p:cNvSpPr>
          <p:nvPr>
            <p:ph type="sldImg"/>
          </p:nvPr>
        </p:nvSpPr>
        <p:spPr>
          <a:xfrm>
            <a:off x="407988" y="698500"/>
            <a:ext cx="6196012" cy="3486150"/>
          </a:xfrm>
          <a:ln/>
        </p:spPr>
      </p:sp>
      <p:sp>
        <p:nvSpPr>
          <p:cNvPr id="34819" name="Rectangle 3">
            <a:extLst>
              <a:ext uri="{FF2B5EF4-FFF2-40B4-BE49-F238E27FC236}">
                <a16:creationId xmlns:a16="http://schemas.microsoft.com/office/drawing/2014/main" id="{346113F0-86BE-41CA-9B9F-A08D697B7A9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017422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6792FF15-7A49-43D0-A115-585E2200E2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22923B9-B579-4C76-9C8F-F75E541564F1}" type="slidenum">
              <a:rPr lang="en-US" altLang="en-US">
                <a:latin typeface="Times New Roman" panose="02020603050405020304" pitchFamily="18" charset="0"/>
              </a:rPr>
              <a:pPr/>
              <a:t>64</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0CD7888D-A9DA-4CC5-A90D-5319A897CFD0}"/>
              </a:ext>
            </a:extLst>
          </p:cNvPr>
          <p:cNvSpPr>
            <a:spLocks noGrp="1" noRot="1" noChangeAspect="1" noChangeArrowheads="1" noTextEdit="1"/>
          </p:cNvSpPr>
          <p:nvPr>
            <p:ph type="sldImg"/>
          </p:nvPr>
        </p:nvSpPr>
        <p:spPr>
          <a:xfrm>
            <a:off x="407988" y="698500"/>
            <a:ext cx="6196012" cy="3486150"/>
          </a:xfrm>
          <a:ln/>
        </p:spPr>
      </p:sp>
      <p:sp>
        <p:nvSpPr>
          <p:cNvPr id="38915" name="Rectangle 3">
            <a:extLst>
              <a:ext uri="{FF2B5EF4-FFF2-40B4-BE49-F238E27FC236}">
                <a16:creationId xmlns:a16="http://schemas.microsoft.com/office/drawing/2014/main" id="{8E4F605D-F0FE-4CA7-A649-128C342B29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451269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37DD703A-9D9B-4A3C-94E4-94F0519663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CCD7ED-0622-4446-BEE7-FC6134B518E5}" type="slidenum">
              <a:rPr lang="en-US" altLang="en-US">
                <a:latin typeface="Times New Roman" panose="02020603050405020304" pitchFamily="18" charset="0"/>
              </a:rPr>
              <a:pPr/>
              <a:t>65</a:t>
            </a:fld>
            <a:endParaRPr lang="en-US" altLang="en-US">
              <a:latin typeface="Times New Roman" panose="02020603050405020304" pitchFamily="18" charset="0"/>
            </a:endParaRPr>
          </a:p>
        </p:txBody>
      </p:sp>
      <p:sp>
        <p:nvSpPr>
          <p:cNvPr id="40962" name="Rectangle 2">
            <a:extLst>
              <a:ext uri="{FF2B5EF4-FFF2-40B4-BE49-F238E27FC236}">
                <a16:creationId xmlns:a16="http://schemas.microsoft.com/office/drawing/2014/main" id="{5EED2E36-0063-4F32-BEBB-00285C49C25D}"/>
              </a:ext>
            </a:extLst>
          </p:cNvPr>
          <p:cNvSpPr>
            <a:spLocks noGrp="1" noRot="1" noChangeAspect="1" noChangeArrowheads="1" noTextEdit="1"/>
          </p:cNvSpPr>
          <p:nvPr>
            <p:ph type="sldImg"/>
          </p:nvPr>
        </p:nvSpPr>
        <p:spPr>
          <a:xfrm>
            <a:off x="407988" y="698500"/>
            <a:ext cx="6196012" cy="3486150"/>
          </a:xfrm>
          <a:ln/>
        </p:spPr>
      </p:sp>
      <p:sp>
        <p:nvSpPr>
          <p:cNvPr id="40963" name="Rectangle 3">
            <a:extLst>
              <a:ext uri="{FF2B5EF4-FFF2-40B4-BE49-F238E27FC236}">
                <a16:creationId xmlns:a16="http://schemas.microsoft.com/office/drawing/2014/main" id="{952F800A-2C32-447C-A000-2690B96256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464053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C3333D1D-E65D-4B89-8425-6E44461ABA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42AD3C6-3796-443F-BEF1-D7BB5126679A}" type="slidenum">
              <a:rPr lang="en-US" altLang="en-US">
                <a:latin typeface="Times New Roman" panose="02020603050405020304" pitchFamily="18" charset="0"/>
              </a:rPr>
              <a:pPr/>
              <a:t>66</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60D8270D-05F7-42B0-9BA1-8DD9811B93C1}"/>
              </a:ext>
            </a:extLst>
          </p:cNvPr>
          <p:cNvSpPr>
            <a:spLocks noGrp="1" noRot="1" noChangeAspect="1" noChangeArrowheads="1" noTextEdit="1"/>
          </p:cNvSpPr>
          <p:nvPr>
            <p:ph type="sldImg"/>
          </p:nvPr>
        </p:nvSpPr>
        <p:spPr>
          <a:xfrm>
            <a:off x="407988" y="698500"/>
            <a:ext cx="6196012" cy="3486150"/>
          </a:xfrm>
          <a:ln/>
        </p:spPr>
      </p:sp>
      <p:sp>
        <p:nvSpPr>
          <p:cNvPr id="43011" name="Rectangle 3">
            <a:extLst>
              <a:ext uri="{FF2B5EF4-FFF2-40B4-BE49-F238E27FC236}">
                <a16:creationId xmlns:a16="http://schemas.microsoft.com/office/drawing/2014/main" id="{1ECF7658-4FEB-4CBF-80D9-CB99F52E4A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209953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975D2170-B7E7-4E3E-9E59-992D46F816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7E1D3FD-B35A-4DBF-B791-BA5787967C2A}" type="slidenum">
              <a:rPr lang="en-US" altLang="en-US">
                <a:latin typeface="Times New Roman" panose="02020603050405020304" pitchFamily="18" charset="0"/>
              </a:rPr>
              <a:pPr/>
              <a:t>67</a:t>
            </a:fld>
            <a:endParaRPr lang="en-US" altLang="en-US">
              <a:latin typeface="Times New Roman" panose="02020603050405020304" pitchFamily="18" charset="0"/>
            </a:endParaRPr>
          </a:p>
        </p:txBody>
      </p:sp>
      <p:sp>
        <p:nvSpPr>
          <p:cNvPr id="45058" name="Rectangle 2">
            <a:extLst>
              <a:ext uri="{FF2B5EF4-FFF2-40B4-BE49-F238E27FC236}">
                <a16:creationId xmlns:a16="http://schemas.microsoft.com/office/drawing/2014/main" id="{28803E2A-E437-4C89-A1E5-9341B9B6B614}"/>
              </a:ext>
            </a:extLst>
          </p:cNvPr>
          <p:cNvSpPr>
            <a:spLocks noGrp="1" noRot="1" noChangeAspect="1" noChangeArrowheads="1" noTextEdit="1"/>
          </p:cNvSpPr>
          <p:nvPr>
            <p:ph type="sldImg"/>
          </p:nvPr>
        </p:nvSpPr>
        <p:spPr>
          <a:xfrm>
            <a:off x="407988" y="698500"/>
            <a:ext cx="6196012" cy="3486150"/>
          </a:xfrm>
          <a:ln/>
        </p:spPr>
      </p:sp>
      <p:sp>
        <p:nvSpPr>
          <p:cNvPr id="45059" name="Rectangle 3">
            <a:extLst>
              <a:ext uri="{FF2B5EF4-FFF2-40B4-BE49-F238E27FC236}">
                <a16:creationId xmlns:a16="http://schemas.microsoft.com/office/drawing/2014/main" id="{942161F1-20B1-4BA8-BDB3-5D756C52D9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8551710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A4AF2CC2-7843-4103-B4FD-A7AAC6D1D6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024F6B0-400A-4243-88CD-37282AB90F11}" type="slidenum">
              <a:rPr lang="en-US" altLang="en-US">
                <a:latin typeface="Times New Roman" panose="02020603050405020304" pitchFamily="18" charset="0"/>
              </a:rPr>
              <a:pPr/>
              <a:t>68</a:t>
            </a:fld>
            <a:endParaRPr lang="en-US" altLang="en-US">
              <a:latin typeface="Times New Roman" panose="02020603050405020304" pitchFamily="18" charset="0"/>
            </a:endParaRPr>
          </a:p>
        </p:txBody>
      </p:sp>
      <p:sp>
        <p:nvSpPr>
          <p:cNvPr id="47106" name="Rectangle 2">
            <a:extLst>
              <a:ext uri="{FF2B5EF4-FFF2-40B4-BE49-F238E27FC236}">
                <a16:creationId xmlns:a16="http://schemas.microsoft.com/office/drawing/2014/main" id="{C1843D4D-D422-4E71-885E-FB6A7F165B27}"/>
              </a:ext>
            </a:extLst>
          </p:cNvPr>
          <p:cNvSpPr>
            <a:spLocks noGrp="1" noRot="1" noChangeAspect="1" noChangeArrowheads="1" noTextEdit="1"/>
          </p:cNvSpPr>
          <p:nvPr>
            <p:ph type="sldImg"/>
          </p:nvPr>
        </p:nvSpPr>
        <p:spPr>
          <a:xfrm>
            <a:off x="407988" y="698500"/>
            <a:ext cx="6196012" cy="3486150"/>
          </a:xfrm>
          <a:ln/>
        </p:spPr>
      </p:sp>
      <p:sp>
        <p:nvSpPr>
          <p:cNvPr id="47107" name="Rectangle 3">
            <a:extLst>
              <a:ext uri="{FF2B5EF4-FFF2-40B4-BE49-F238E27FC236}">
                <a16:creationId xmlns:a16="http://schemas.microsoft.com/office/drawing/2014/main" id="{49A406CF-8133-4241-A273-A716941B1C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845668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6628516B-41BA-4A5F-B9F6-4374FDE052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C586326-4BC7-4B67-B6D0-BCE4326A5AA3}" type="slidenum">
              <a:rPr lang="en-US" altLang="en-US">
                <a:latin typeface="Times New Roman" panose="02020603050405020304" pitchFamily="18" charset="0"/>
              </a:rPr>
              <a:pPr/>
              <a:t>69</a:t>
            </a:fld>
            <a:endParaRPr lang="en-US" altLang="en-US">
              <a:latin typeface="Times New Roman" panose="02020603050405020304" pitchFamily="18" charset="0"/>
            </a:endParaRPr>
          </a:p>
        </p:txBody>
      </p:sp>
      <p:sp>
        <p:nvSpPr>
          <p:cNvPr id="49154" name="Rectangle 2">
            <a:extLst>
              <a:ext uri="{FF2B5EF4-FFF2-40B4-BE49-F238E27FC236}">
                <a16:creationId xmlns:a16="http://schemas.microsoft.com/office/drawing/2014/main" id="{70E7C568-95D9-4222-9AF6-17DB50942FAC}"/>
              </a:ext>
            </a:extLst>
          </p:cNvPr>
          <p:cNvSpPr>
            <a:spLocks noGrp="1" noRot="1" noChangeAspect="1" noChangeArrowheads="1" noTextEdit="1"/>
          </p:cNvSpPr>
          <p:nvPr>
            <p:ph type="sldImg"/>
          </p:nvPr>
        </p:nvSpPr>
        <p:spPr>
          <a:xfrm>
            <a:off x="407988" y="698500"/>
            <a:ext cx="6196012" cy="3486150"/>
          </a:xfrm>
          <a:ln/>
        </p:spPr>
      </p:sp>
      <p:sp>
        <p:nvSpPr>
          <p:cNvPr id="49155" name="Rectangle 3">
            <a:extLst>
              <a:ext uri="{FF2B5EF4-FFF2-40B4-BE49-F238E27FC236}">
                <a16:creationId xmlns:a16="http://schemas.microsoft.com/office/drawing/2014/main" id="{A40EED6A-BEA4-4846-8DD6-49230CEDDE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404110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F916C152-73D8-464B-99EE-F6F1FA4B18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929230-05BF-4F8E-AAC6-9C2CABFA3A36}" type="slidenum">
              <a:rPr lang="en-US" altLang="en-US">
                <a:latin typeface="Times New Roman" panose="02020603050405020304" pitchFamily="18" charset="0"/>
              </a:rPr>
              <a:pPr/>
              <a:t>70</a:t>
            </a:fld>
            <a:endParaRPr lang="en-US" altLang="en-US">
              <a:latin typeface="Times New Roman" panose="02020603050405020304" pitchFamily="18" charset="0"/>
            </a:endParaRPr>
          </a:p>
        </p:txBody>
      </p:sp>
      <p:sp>
        <p:nvSpPr>
          <p:cNvPr id="51202" name="Rectangle 2">
            <a:extLst>
              <a:ext uri="{FF2B5EF4-FFF2-40B4-BE49-F238E27FC236}">
                <a16:creationId xmlns:a16="http://schemas.microsoft.com/office/drawing/2014/main" id="{79BA3C69-44B1-47E2-A112-EC9A898C7FDC}"/>
              </a:ext>
            </a:extLst>
          </p:cNvPr>
          <p:cNvSpPr>
            <a:spLocks noGrp="1" noRot="1" noChangeAspect="1" noChangeArrowheads="1" noTextEdit="1"/>
          </p:cNvSpPr>
          <p:nvPr>
            <p:ph type="sldImg"/>
          </p:nvPr>
        </p:nvSpPr>
        <p:spPr>
          <a:xfrm>
            <a:off x="407988" y="698500"/>
            <a:ext cx="6196012" cy="3486150"/>
          </a:xfrm>
          <a:ln/>
        </p:spPr>
      </p:sp>
      <p:sp>
        <p:nvSpPr>
          <p:cNvPr id="51203" name="Rectangle 3">
            <a:extLst>
              <a:ext uri="{FF2B5EF4-FFF2-40B4-BE49-F238E27FC236}">
                <a16:creationId xmlns:a16="http://schemas.microsoft.com/office/drawing/2014/main" id="{836193AF-01D3-4E16-BA42-54D7E3B299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05166335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6DE0041D-EB20-44A4-B890-E4F7209FD8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44A5C6-97A1-4829-A483-FFE95AC41A71}" type="slidenum">
              <a:rPr lang="en-US" altLang="en-US">
                <a:latin typeface="Times New Roman" panose="02020603050405020304" pitchFamily="18" charset="0"/>
              </a:rPr>
              <a:pPr/>
              <a:t>71</a:t>
            </a:fld>
            <a:endParaRPr lang="en-US" altLang="en-US">
              <a:latin typeface="Times New Roman" panose="02020603050405020304" pitchFamily="18" charset="0"/>
            </a:endParaRPr>
          </a:p>
        </p:txBody>
      </p:sp>
      <p:sp>
        <p:nvSpPr>
          <p:cNvPr id="53250" name="Rectangle 2">
            <a:extLst>
              <a:ext uri="{FF2B5EF4-FFF2-40B4-BE49-F238E27FC236}">
                <a16:creationId xmlns:a16="http://schemas.microsoft.com/office/drawing/2014/main" id="{FCB85357-8A0A-45B1-93B2-226D274F6587}"/>
              </a:ext>
            </a:extLst>
          </p:cNvPr>
          <p:cNvSpPr>
            <a:spLocks noGrp="1" noRot="1" noChangeAspect="1" noChangeArrowheads="1" noTextEdit="1"/>
          </p:cNvSpPr>
          <p:nvPr>
            <p:ph type="sldImg"/>
          </p:nvPr>
        </p:nvSpPr>
        <p:spPr>
          <a:xfrm>
            <a:off x="407988" y="698500"/>
            <a:ext cx="6196012" cy="3486150"/>
          </a:xfrm>
          <a:ln/>
        </p:spPr>
      </p:sp>
      <p:sp>
        <p:nvSpPr>
          <p:cNvPr id="53251" name="Rectangle 3">
            <a:extLst>
              <a:ext uri="{FF2B5EF4-FFF2-40B4-BE49-F238E27FC236}">
                <a16:creationId xmlns:a16="http://schemas.microsoft.com/office/drawing/2014/main" id="{46F5FF3A-C78E-4E91-9558-6F09843B9E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5047863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AC5AB899-77D3-455F-9B21-6A69A2B369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7394D91-CE4B-4811-9F12-1C1C3BA044FD}" type="slidenum">
              <a:rPr lang="en-US" altLang="en-US">
                <a:latin typeface="Times New Roman" panose="02020603050405020304" pitchFamily="18" charset="0"/>
              </a:rPr>
              <a:pPr/>
              <a:t>72</a:t>
            </a:fld>
            <a:endParaRPr lang="en-US" altLang="en-US">
              <a:latin typeface="Times New Roman" panose="02020603050405020304" pitchFamily="18" charset="0"/>
            </a:endParaRPr>
          </a:p>
        </p:txBody>
      </p:sp>
      <p:sp>
        <p:nvSpPr>
          <p:cNvPr id="55298" name="Rectangle 2">
            <a:extLst>
              <a:ext uri="{FF2B5EF4-FFF2-40B4-BE49-F238E27FC236}">
                <a16:creationId xmlns:a16="http://schemas.microsoft.com/office/drawing/2014/main" id="{52DB2037-C37A-4CA1-BD76-5F7585DE66BD}"/>
              </a:ext>
            </a:extLst>
          </p:cNvPr>
          <p:cNvSpPr>
            <a:spLocks noGrp="1" noRot="1" noChangeAspect="1" noChangeArrowheads="1" noTextEdit="1"/>
          </p:cNvSpPr>
          <p:nvPr>
            <p:ph type="sldImg"/>
          </p:nvPr>
        </p:nvSpPr>
        <p:spPr>
          <a:xfrm>
            <a:off x="407988" y="698500"/>
            <a:ext cx="6196012" cy="3486150"/>
          </a:xfrm>
          <a:ln/>
        </p:spPr>
      </p:sp>
      <p:sp>
        <p:nvSpPr>
          <p:cNvPr id="55299" name="Rectangle 3">
            <a:extLst>
              <a:ext uri="{FF2B5EF4-FFF2-40B4-BE49-F238E27FC236}">
                <a16:creationId xmlns:a16="http://schemas.microsoft.com/office/drawing/2014/main" id="{07AB9C24-6195-4426-8F5C-F51C8B6148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4854869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FCF99593-3D61-45EC-AE3E-666EA11677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A47E08D-E788-4793-A447-675472F508F1}" type="slidenum">
              <a:rPr lang="en-US" altLang="en-US">
                <a:latin typeface="Times New Roman" panose="02020603050405020304" pitchFamily="18" charset="0"/>
              </a:rPr>
              <a:pPr/>
              <a:t>73</a:t>
            </a:fld>
            <a:endParaRPr lang="en-US" altLang="en-US">
              <a:latin typeface="Times New Roman" panose="02020603050405020304" pitchFamily="18" charset="0"/>
            </a:endParaRPr>
          </a:p>
        </p:txBody>
      </p:sp>
      <p:sp>
        <p:nvSpPr>
          <p:cNvPr id="57346" name="Rectangle 2">
            <a:extLst>
              <a:ext uri="{FF2B5EF4-FFF2-40B4-BE49-F238E27FC236}">
                <a16:creationId xmlns:a16="http://schemas.microsoft.com/office/drawing/2014/main" id="{8F011B3B-A08E-470C-A349-615B552E8C82}"/>
              </a:ext>
            </a:extLst>
          </p:cNvPr>
          <p:cNvSpPr>
            <a:spLocks noGrp="1" noRot="1" noChangeAspect="1" noChangeArrowheads="1" noTextEdit="1"/>
          </p:cNvSpPr>
          <p:nvPr>
            <p:ph type="sldImg"/>
          </p:nvPr>
        </p:nvSpPr>
        <p:spPr>
          <a:xfrm>
            <a:off x="407988" y="698500"/>
            <a:ext cx="6196012" cy="3486150"/>
          </a:xfrm>
          <a:ln/>
        </p:spPr>
      </p:sp>
      <p:sp>
        <p:nvSpPr>
          <p:cNvPr id="57347" name="Rectangle 3">
            <a:extLst>
              <a:ext uri="{FF2B5EF4-FFF2-40B4-BE49-F238E27FC236}">
                <a16:creationId xmlns:a16="http://schemas.microsoft.com/office/drawing/2014/main" id="{F0EC2961-88E3-4417-B379-0A1B1AAAF9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245889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30159211-0323-4C37-9CD9-29B8BAD080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CE425D2-AF5D-4132-9A2F-C7A3D296DE2A}" type="slidenum">
              <a:rPr lang="en-US" altLang="en-US">
                <a:latin typeface="Times New Roman" panose="02020603050405020304" pitchFamily="18" charset="0"/>
              </a:rPr>
              <a:pPr/>
              <a:t>74</a:t>
            </a:fld>
            <a:endParaRPr lang="en-US" altLang="en-US">
              <a:latin typeface="Times New Roman" panose="02020603050405020304" pitchFamily="18" charset="0"/>
            </a:endParaRPr>
          </a:p>
        </p:txBody>
      </p:sp>
      <p:sp>
        <p:nvSpPr>
          <p:cNvPr id="59394" name="Rectangle 2">
            <a:extLst>
              <a:ext uri="{FF2B5EF4-FFF2-40B4-BE49-F238E27FC236}">
                <a16:creationId xmlns:a16="http://schemas.microsoft.com/office/drawing/2014/main" id="{8B34BB0D-33CC-42F0-82C9-4C7D28821B0F}"/>
              </a:ext>
            </a:extLst>
          </p:cNvPr>
          <p:cNvSpPr>
            <a:spLocks noGrp="1" noRot="1" noChangeAspect="1" noChangeArrowheads="1" noTextEdit="1"/>
          </p:cNvSpPr>
          <p:nvPr>
            <p:ph type="sldImg"/>
          </p:nvPr>
        </p:nvSpPr>
        <p:spPr>
          <a:xfrm>
            <a:off x="407988" y="698500"/>
            <a:ext cx="6196012" cy="3486150"/>
          </a:xfrm>
          <a:ln/>
        </p:spPr>
      </p:sp>
      <p:sp>
        <p:nvSpPr>
          <p:cNvPr id="59395" name="Rectangle 3">
            <a:extLst>
              <a:ext uri="{FF2B5EF4-FFF2-40B4-BE49-F238E27FC236}">
                <a16:creationId xmlns:a16="http://schemas.microsoft.com/office/drawing/2014/main" id="{06996B81-6007-4913-82D9-A0BE6BDC1E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3431959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FAC21EC5-CA2D-46EA-97C3-F21B8C2A09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A33DEFD-8CE8-4151-BD0F-A1B90B603367}" type="slidenum">
              <a:rPr lang="en-US" altLang="en-US">
                <a:latin typeface="Times New Roman" panose="02020603050405020304" pitchFamily="18" charset="0"/>
              </a:rPr>
              <a:pPr/>
              <a:t>77</a:t>
            </a:fld>
            <a:endParaRPr lang="en-US" altLang="en-US">
              <a:latin typeface="Times New Roman" panose="02020603050405020304" pitchFamily="18" charset="0"/>
            </a:endParaRPr>
          </a:p>
        </p:txBody>
      </p:sp>
      <p:sp>
        <p:nvSpPr>
          <p:cNvPr id="61442" name="Rectangle 2">
            <a:extLst>
              <a:ext uri="{FF2B5EF4-FFF2-40B4-BE49-F238E27FC236}">
                <a16:creationId xmlns:a16="http://schemas.microsoft.com/office/drawing/2014/main" id="{39EAC599-FAF6-4398-BBBD-0FB3C67A4835}"/>
              </a:ext>
            </a:extLst>
          </p:cNvPr>
          <p:cNvSpPr>
            <a:spLocks noGrp="1" noRot="1" noChangeAspect="1" noChangeArrowheads="1" noTextEdit="1"/>
          </p:cNvSpPr>
          <p:nvPr>
            <p:ph type="sldImg"/>
          </p:nvPr>
        </p:nvSpPr>
        <p:spPr>
          <a:xfrm>
            <a:off x="407988" y="698500"/>
            <a:ext cx="6196012" cy="3486150"/>
          </a:xfrm>
          <a:ln/>
        </p:spPr>
      </p:sp>
      <p:sp>
        <p:nvSpPr>
          <p:cNvPr id="61443" name="Rectangle 3">
            <a:extLst>
              <a:ext uri="{FF2B5EF4-FFF2-40B4-BE49-F238E27FC236}">
                <a16:creationId xmlns:a16="http://schemas.microsoft.com/office/drawing/2014/main" id="{CF563622-5D37-42A4-B057-9D3EA55C5F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9049252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D6E12682-9701-4F39-BB3E-92E4FC21CC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7598336-7757-4016-8252-3D560ED463A8}" type="slidenum">
              <a:rPr lang="en-US" altLang="en-US">
                <a:latin typeface="Times New Roman" panose="02020603050405020304" pitchFamily="18" charset="0"/>
              </a:rPr>
              <a:pPr/>
              <a:t>78</a:t>
            </a:fld>
            <a:endParaRPr lang="en-US" altLang="en-US">
              <a:latin typeface="Times New Roman" panose="02020603050405020304" pitchFamily="18" charset="0"/>
            </a:endParaRPr>
          </a:p>
        </p:txBody>
      </p:sp>
      <p:sp>
        <p:nvSpPr>
          <p:cNvPr id="63490" name="Rectangle 2">
            <a:extLst>
              <a:ext uri="{FF2B5EF4-FFF2-40B4-BE49-F238E27FC236}">
                <a16:creationId xmlns:a16="http://schemas.microsoft.com/office/drawing/2014/main" id="{FE593242-7A5A-4B00-BA3E-61851F35DF6C}"/>
              </a:ext>
            </a:extLst>
          </p:cNvPr>
          <p:cNvSpPr>
            <a:spLocks noGrp="1" noRot="1" noChangeAspect="1" noChangeArrowheads="1" noTextEdit="1"/>
          </p:cNvSpPr>
          <p:nvPr>
            <p:ph type="sldImg"/>
          </p:nvPr>
        </p:nvSpPr>
        <p:spPr>
          <a:xfrm>
            <a:off x="407988" y="698500"/>
            <a:ext cx="6196012" cy="3486150"/>
          </a:xfrm>
          <a:ln/>
        </p:spPr>
      </p:sp>
      <p:sp>
        <p:nvSpPr>
          <p:cNvPr id="63491" name="Rectangle 3">
            <a:extLst>
              <a:ext uri="{FF2B5EF4-FFF2-40B4-BE49-F238E27FC236}">
                <a16:creationId xmlns:a16="http://schemas.microsoft.com/office/drawing/2014/main" id="{EF75FE67-284F-41B4-A1B6-F34F949441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242977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7961B956-A0C3-490F-AA7C-63E1D3F153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44E0DDC-DEED-4536-B61A-5F0C9D5EB9D2}" type="slidenum">
              <a:rPr lang="en-US" altLang="en-US">
                <a:latin typeface="Times New Roman" panose="02020603050405020304" pitchFamily="18" charset="0"/>
              </a:rPr>
              <a:pPr/>
              <a:t>79</a:t>
            </a:fld>
            <a:endParaRPr lang="en-US" altLang="en-US">
              <a:latin typeface="Times New Roman" panose="02020603050405020304" pitchFamily="18" charset="0"/>
            </a:endParaRPr>
          </a:p>
        </p:txBody>
      </p:sp>
      <p:sp>
        <p:nvSpPr>
          <p:cNvPr id="65538" name="Rectangle 2">
            <a:extLst>
              <a:ext uri="{FF2B5EF4-FFF2-40B4-BE49-F238E27FC236}">
                <a16:creationId xmlns:a16="http://schemas.microsoft.com/office/drawing/2014/main" id="{2E350ED2-0623-4ED7-B1A2-C3ED08545029}"/>
              </a:ext>
            </a:extLst>
          </p:cNvPr>
          <p:cNvSpPr>
            <a:spLocks noGrp="1" noRot="1" noChangeAspect="1" noChangeArrowheads="1" noTextEdit="1"/>
          </p:cNvSpPr>
          <p:nvPr>
            <p:ph type="sldImg"/>
          </p:nvPr>
        </p:nvSpPr>
        <p:spPr>
          <a:xfrm>
            <a:off x="407988" y="698500"/>
            <a:ext cx="6196012" cy="3486150"/>
          </a:xfrm>
          <a:ln/>
        </p:spPr>
      </p:sp>
      <p:sp>
        <p:nvSpPr>
          <p:cNvPr id="65539" name="Rectangle 3">
            <a:extLst>
              <a:ext uri="{FF2B5EF4-FFF2-40B4-BE49-F238E27FC236}">
                <a16:creationId xmlns:a16="http://schemas.microsoft.com/office/drawing/2014/main" id="{025808C0-0E5E-4B5C-8D23-736C3CFF29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710081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902642F4-E0F8-4929-B08E-2629073311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5CEC565-1F79-4ED9-AF48-6877F7383DF8}" type="slidenum">
              <a:rPr lang="en-US" altLang="en-US">
                <a:latin typeface="Times New Roman" panose="02020603050405020304" pitchFamily="18" charset="0"/>
              </a:rPr>
              <a:pPr/>
              <a:t>80</a:t>
            </a:fld>
            <a:endParaRPr lang="en-US" altLang="en-US">
              <a:latin typeface="Times New Roman" panose="02020603050405020304" pitchFamily="18" charset="0"/>
            </a:endParaRPr>
          </a:p>
        </p:txBody>
      </p:sp>
      <p:sp>
        <p:nvSpPr>
          <p:cNvPr id="67586" name="Rectangle 2">
            <a:extLst>
              <a:ext uri="{FF2B5EF4-FFF2-40B4-BE49-F238E27FC236}">
                <a16:creationId xmlns:a16="http://schemas.microsoft.com/office/drawing/2014/main" id="{8E27F7D9-8FBC-41BD-A75A-49ABD406C915}"/>
              </a:ext>
            </a:extLst>
          </p:cNvPr>
          <p:cNvSpPr>
            <a:spLocks noGrp="1" noRot="1" noChangeAspect="1" noChangeArrowheads="1" noTextEdit="1"/>
          </p:cNvSpPr>
          <p:nvPr>
            <p:ph type="sldImg"/>
          </p:nvPr>
        </p:nvSpPr>
        <p:spPr>
          <a:xfrm>
            <a:off x="407988" y="698500"/>
            <a:ext cx="6196012" cy="3486150"/>
          </a:xfrm>
          <a:ln/>
        </p:spPr>
      </p:sp>
      <p:sp>
        <p:nvSpPr>
          <p:cNvPr id="67587" name="Rectangle 3">
            <a:extLst>
              <a:ext uri="{FF2B5EF4-FFF2-40B4-BE49-F238E27FC236}">
                <a16:creationId xmlns:a16="http://schemas.microsoft.com/office/drawing/2014/main" id="{B2EC3AE3-96CA-4114-B784-44078F699D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2598184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53DE3335-3CD8-4BE6-8520-4541D24D5D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FF74AF4-5110-4B4D-8D5F-3D303766ACDC}" type="slidenum">
              <a:rPr lang="en-US" altLang="en-US">
                <a:latin typeface="Times New Roman" panose="02020603050405020304" pitchFamily="18" charset="0"/>
              </a:rPr>
              <a:pPr/>
              <a:t>81</a:t>
            </a:fld>
            <a:endParaRPr lang="en-US" altLang="en-US">
              <a:latin typeface="Times New Roman" panose="02020603050405020304" pitchFamily="18" charset="0"/>
            </a:endParaRPr>
          </a:p>
        </p:txBody>
      </p:sp>
      <p:sp>
        <p:nvSpPr>
          <p:cNvPr id="69634" name="Rectangle 2">
            <a:extLst>
              <a:ext uri="{FF2B5EF4-FFF2-40B4-BE49-F238E27FC236}">
                <a16:creationId xmlns:a16="http://schemas.microsoft.com/office/drawing/2014/main" id="{CD171C36-DE07-41E4-B9A5-C9C9558E4CD9}"/>
              </a:ext>
            </a:extLst>
          </p:cNvPr>
          <p:cNvSpPr>
            <a:spLocks noGrp="1" noRot="1" noChangeAspect="1" noChangeArrowheads="1" noTextEdit="1"/>
          </p:cNvSpPr>
          <p:nvPr>
            <p:ph type="sldImg"/>
          </p:nvPr>
        </p:nvSpPr>
        <p:spPr>
          <a:xfrm>
            <a:off x="407988" y="698500"/>
            <a:ext cx="6196012" cy="3486150"/>
          </a:xfrm>
          <a:ln/>
        </p:spPr>
      </p:sp>
      <p:sp>
        <p:nvSpPr>
          <p:cNvPr id="69635" name="Rectangle 3">
            <a:extLst>
              <a:ext uri="{FF2B5EF4-FFF2-40B4-BE49-F238E27FC236}">
                <a16:creationId xmlns:a16="http://schemas.microsoft.com/office/drawing/2014/main" id="{732FE629-FE3C-488F-8CC2-E0AB0D48F2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4079148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C4B30BFB-1565-48F8-9931-E4896EF528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A584267-1E93-4193-AB8C-7CE8D18E655B}" type="slidenum">
              <a:rPr lang="en-US" altLang="en-US">
                <a:latin typeface="Times New Roman" panose="02020603050405020304" pitchFamily="18" charset="0"/>
              </a:rPr>
              <a:pPr/>
              <a:t>82</a:t>
            </a:fld>
            <a:endParaRPr lang="en-US" altLang="en-US">
              <a:latin typeface="Times New Roman" panose="02020603050405020304" pitchFamily="18" charset="0"/>
            </a:endParaRPr>
          </a:p>
        </p:txBody>
      </p:sp>
      <p:sp>
        <p:nvSpPr>
          <p:cNvPr id="71682" name="Rectangle 2">
            <a:extLst>
              <a:ext uri="{FF2B5EF4-FFF2-40B4-BE49-F238E27FC236}">
                <a16:creationId xmlns:a16="http://schemas.microsoft.com/office/drawing/2014/main" id="{5D799F1C-1708-4226-A08B-131126238D91}"/>
              </a:ext>
            </a:extLst>
          </p:cNvPr>
          <p:cNvSpPr>
            <a:spLocks noGrp="1" noRot="1" noChangeAspect="1" noChangeArrowheads="1" noTextEdit="1"/>
          </p:cNvSpPr>
          <p:nvPr>
            <p:ph type="sldImg"/>
          </p:nvPr>
        </p:nvSpPr>
        <p:spPr>
          <a:xfrm>
            <a:off x="407988" y="698500"/>
            <a:ext cx="6196012" cy="3486150"/>
          </a:xfrm>
          <a:ln/>
        </p:spPr>
      </p:sp>
      <p:sp>
        <p:nvSpPr>
          <p:cNvPr id="71683" name="Rectangle 3">
            <a:extLst>
              <a:ext uri="{FF2B5EF4-FFF2-40B4-BE49-F238E27FC236}">
                <a16:creationId xmlns:a16="http://schemas.microsoft.com/office/drawing/2014/main" id="{C8D6CD20-A953-4B1C-8FD6-2765356120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6032081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7EFC8381-020E-475F-9CBF-F1C9278751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4BB14BB-F15E-4364-9A5F-D46CF6966674}" type="slidenum">
              <a:rPr lang="en-US" altLang="en-US">
                <a:latin typeface="Times New Roman" panose="02020603050405020304" pitchFamily="18" charset="0"/>
              </a:rPr>
              <a:pPr/>
              <a:t>83</a:t>
            </a:fld>
            <a:endParaRPr lang="en-US" altLang="en-US">
              <a:latin typeface="Times New Roman" panose="02020603050405020304" pitchFamily="18" charset="0"/>
            </a:endParaRPr>
          </a:p>
        </p:txBody>
      </p:sp>
      <p:sp>
        <p:nvSpPr>
          <p:cNvPr id="73730" name="Rectangle 2">
            <a:extLst>
              <a:ext uri="{FF2B5EF4-FFF2-40B4-BE49-F238E27FC236}">
                <a16:creationId xmlns:a16="http://schemas.microsoft.com/office/drawing/2014/main" id="{E839460C-E25F-4936-8FC3-1571CCB8EF05}"/>
              </a:ext>
            </a:extLst>
          </p:cNvPr>
          <p:cNvSpPr>
            <a:spLocks noGrp="1" noRot="1" noChangeAspect="1" noChangeArrowheads="1" noTextEdit="1"/>
          </p:cNvSpPr>
          <p:nvPr>
            <p:ph type="sldImg"/>
          </p:nvPr>
        </p:nvSpPr>
        <p:spPr>
          <a:xfrm>
            <a:off x="407988" y="698500"/>
            <a:ext cx="6196012" cy="3486150"/>
          </a:xfrm>
          <a:ln/>
        </p:spPr>
      </p:sp>
      <p:sp>
        <p:nvSpPr>
          <p:cNvPr id="73731" name="Rectangle 3">
            <a:extLst>
              <a:ext uri="{FF2B5EF4-FFF2-40B4-BE49-F238E27FC236}">
                <a16:creationId xmlns:a16="http://schemas.microsoft.com/office/drawing/2014/main" id="{1A1B5A7B-2C6F-4732-B6FF-6CAE4DD684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0507142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CA973F4B-8029-49E1-8C56-41A7E92407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2B14046-5666-41B3-886D-062DE8244CAC}" type="slidenum">
              <a:rPr lang="en-US" altLang="en-US">
                <a:latin typeface="Times New Roman" panose="02020603050405020304" pitchFamily="18" charset="0"/>
              </a:rPr>
              <a:pPr/>
              <a:t>86</a:t>
            </a:fld>
            <a:endParaRPr lang="en-US" altLang="en-US">
              <a:latin typeface="Times New Roman" panose="02020603050405020304" pitchFamily="18" charset="0"/>
            </a:endParaRPr>
          </a:p>
        </p:txBody>
      </p:sp>
      <p:sp>
        <p:nvSpPr>
          <p:cNvPr id="75778" name="Rectangle 2">
            <a:extLst>
              <a:ext uri="{FF2B5EF4-FFF2-40B4-BE49-F238E27FC236}">
                <a16:creationId xmlns:a16="http://schemas.microsoft.com/office/drawing/2014/main" id="{B0F8AA49-F542-42B6-975E-C7F0EFD76C26}"/>
              </a:ext>
            </a:extLst>
          </p:cNvPr>
          <p:cNvSpPr>
            <a:spLocks noGrp="1" noRot="1" noChangeAspect="1" noChangeArrowheads="1" noTextEdit="1"/>
          </p:cNvSpPr>
          <p:nvPr>
            <p:ph type="sldImg"/>
          </p:nvPr>
        </p:nvSpPr>
        <p:spPr>
          <a:xfrm>
            <a:off x="407988" y="698500"/>
            <a:ext cx="6196012" cy="3486150"/>
          </a:xfrm>
          <a:ln/>
        </p:spPr>
      </p:sp>
      <p:sp>
        <p:nvSpPr>
          <p:cNvPr id="75779" name="Rectangle 3">
            <a:extLst>
              <a:ext uri="{FF2B5EF4-FFF2-40B4-BE49-F238E27FC236}">
                <a16:creationId xmlns:a16="http://schemas.microsoft.com/office/drawing/2014/main" id="{26BCD7B1-5B82-46B6-AA4C-B0F269BACB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21687182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1CEC2E7B-5B2B-4EB2-AAAD-E5691A6EDE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5A80C5E-8E4D-4DA5-A27C-ECDA1D1CE610}" type="slidenum">
              <a:rPr lang="en-US" altLang="en-US">
                <a:latin typeface="Times New Roman" panose="02020603050405020304" pitchFamily="18" charset="0"/>
              </a:rPr>
              <a:pPr/>
              <a:t>87</a:t>
            </a:fld>
            <a:endParaRPr lang="en-US" altLang="en-US">
              <a:latin typeface="Times New Roman" panose="02020603050405020304" pitchFamily="18" charset="0"/>
            </a:endParaRPr>
          </a:p>
        </p:txBody>
      </p:sp>
      <p:sp>
        <p:nvSpPr>
          <p:cNvPr id="77826" name="Rectangle 2">
            <a:extLst>
              <a:ext uri="{FF2B5EF4-FFF2-40B4-BE49-F238E27FC236}">
                <a16:creationId xmlns:a16="http://schemas.microsoft.com/office/drawing/2014/main" id="{E1E57FEC-A475-42F5-B967-B10F8AB19ACC}"/>
              </a:ext>
            </a:extLst>
          </p:cNvPr>
          <p:cNvSpPr>
            <a:spLocks noGrp="1" noRot="1" noChangeAspect="1" noChangeArrowheads="1" noTextEdit="1"/>
          </p:cNvSpPr>
          <p:nvPr>
            <p:ph type="sldImg"/>
          </p:nvPr>
        </p:nvSpPr>
        <p:spPr>
          <a:xfrm>
            <a:off x="407988" y="698500"/>
            <a:ext cx="6196012" cy="3486150"/>
          </a:xfrm>
          <a:ln/>
        </p:spPr>
      </p:sp>
      <p:sp>
        <p:nvSpPr>
          <p:cNvPr id="77827" name="Rectangle 3">
            <a:extLst>
              <a:ext uri="{FF2B5EF4-FFF2-40B4-BE49-F238E27FC236}">
                <a16:creationId xmlns:a16="http://schemas.microsoft.com/office/drawing/2014/main" id="{648F885B-5E1A-4E3A-B4EE-EBC0DC8DB0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7242755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04A8DED5-9BEB-4215-BE0F-7C846434FD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B925D9D-7534-4064-99E1-C9780FC489DC}" type="slidenum">
              <a:rPr lang="en-US" altLang="en-US">
                <a:latin typeface="Times New Roman" panose="02020603050405020304" pitchFamily="18" charset="0"/>
              </a:rPr>
              <a:pPr/>
              <a:t>88</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80D493A7-4A45-4901-915C-EC9EF0A66176}"/>
              </a:ext>
            </a:extLst>
          </p:cNvPr>
          <p:cNvSpPr>
            <a:spLocks noGrp="1" noRot="1" noChangeAspect="1" noChangeArrowheads="1" noTextEdit="1"/>
          </p:cNvSpPr>
          <p:nvPr>
            <p:ph type="sldImg"/>
          </p:nvPr>
        </p:nvSpPr>
        <p:spPr>
          <a:xfrm>
            <a:off x="407988" y="698500"/>
            <a:ext cx="6196012" cy="3486150"/>
          </a:xfrm>
          <a:ln/>
        </p:spPr>
      </p:sp>
      <p:sp>
        <p:nvSpPr>
          <p:cNvPr id="81923" name="Rectangle 3">
            <a:extLst>
              <a:ext uri="{FF2B5EF4-FFF2-40B4-BE49-F238E27FC236}">
                <a16:creationId xmlns:a16="http://schemas.microsoft.com/office/drawing/2014/main" id="{21F78BDF-9E0C-4AA4-8E28-044D8E9941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4945577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11BBF78D-E4AF-4A4D-839B-A0D51076B0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DB419FD-7D0A-4AA8-B70F-F67AF9A664FE}" type="slidenum">
              <a:rPr lang="en-US" altLang="en-US">
                <a:latin typeface="Times New Roman" panose="02020603050405020304" pitchFamily="18" charset="0"/>
              </a:rPr>
              <a:pPr/>
              <a:t>89</a:t>
            </a:fld>
            <a:endParaRPr lang="en-US" altLang="en-US">
              <a:latin typeface="Times New Roman" panose="02020603050405020304" pitchFamily="18" charset="0"/>
            </a:endParaRPr>
          </a:p>
        </p:txBody>
      </p:sp>
      <p:sp>
        <p:nvSpPr>
          <p:cNvPr id="83970" name="Rectangle 2">
            <a:extLst>
              <a:ext uri="{FF2B5EF4-FFF2-40B4-BE49-F238E27FC236}">
                <a16:creationId xmlns:a16="http://schemas.microsoft.com/office/drawing/2014/main" id="{E5BDA589-16EC-4BAC-BF6D-353F0ABD1106}"/>
              </a:ext>
            </a:extLst>
          </p:cNvPr>
          <p:cNvSpPr>
            <a:spLocks noGrp="1" noRot="1" noChangeAspect="1" noChangeArrowheads="1" noTextEdit="1"/>
          </p:cNvSpPr>
          <p:nvPr>
            <p:ph type="sldImg"/>
          </p:nvPr>
        </p:nvSpPr>
        <p:spPr>
          <a:xfrm>
            <a:off x="407988" y="698500"/>
            <a:ext cx="6196012" cy="3486150"/>
          </a:xfrm>
          <a:ln/>
        </p:spPr>
      </p:sp>
      <p:sp>
        <p:nvSpPr>
          <p:cNvPr id="83971" name="Rectangle 3">
            <a:extLst>
              <a:ext uri="{FF2B5EF4-FFF2-40B4-BE49-F238E27FC236}">
                <a16:creationId xmlns:a16="http://schemas.microsoft.com/office/drawing/2014/main" id="{DAF7CE04-5998-40E0-8D26-F2F5186252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311347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F785276E-E512-431C-9863-60C16073997B}"/>
              </a:ext>
            </a:extLst>
          </p:cNvPr>
          <p:cNvGrpSpPr>
            <a:grpSpLocks/>
          </p:cNvGrpSpPr>
          <p:nvPr/>
        </p:nvGrpSpPr>
        <p:grpSpPr bwMode="auto">
          <a:xfrm>
            <a:off x="264584" y="2960688"/>
            <a:ext cx="11480800" cy="201612"/>
            <a:chOff x="125" y="1865"/>
            <a:chExt cx="5424" cy="127"/>
          </a:xfrm>
        </p:grpSpPr>
        <p:sp>
          <p:nvSpPr>
            <p:cNvPr id="4" name="Rectangle 4">
              <a:extLst>
                <a:ext uri="{FF2B5EF4-FFF2-40B4-BE49-F238E27FC236}">
                  <a16:creationId xmlns:a16="http://schemas.microsoft.com/office/drawing/2014/main" id="{A16CBBBC-832D-4981-B7BE-1E6129BC1A7C}"/>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defRPr/>
              </a:pPr>
              <a:endParaRPr lang="x-none" altLang="x-none"/>
            </a:p>
          </p:txBody>
        </p:sp>
        <p:sp>
          <p:nvSpPr>
            <p:cNvPr id="5" name="Rectangle 5">
              <a:extLst>
                <a:ext uri="{FF2B5EF4-FFF2-40B4-BE49-F238E27FC236}">
                  <a16:creationId xmlns:a16="http://schemas.microsoft.com/office/drawing/2014/main" id="{ECCF6664-2599-48D7-AF8C-34B0B9441612}"/>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defRPr/>
              </a:pPr>
              <a:endParaRPr lang="x-none" altLang="x-none"/>
            </a:p>
          </p:txBody>
        </p:sp>
        <p:sp>
          <p:nvSpPr>
            <p:cNvPr id="6" name="Rectangle 6">
              <a:extLst>
                <a:ext uri="{FF2B5EF4-FFF2-40B4-BE49-F238E27FC236}">
                  <a16:creationId xmlns:a16="http://schemas.microsoft.com/office/drawing/2014/main" id="{C5EC98FB-CBB8-449B-A94E-B0B58773A4D4}"/>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defRPr/>
              </a:pPr>
              <a:endParaRPr lang="x-none" altLang="x-none"/>
            </a:p>
          </p:txBody>
        </p:sp>
      </p:grpSp>
      <p:sp>
        <p:nvSpPr>
          <p:cNvPr id="7" name="Text Box 7">
            <a:extLst>
              <a:ext uri="{FF2B5EF4-FFF2-40B4-BE49-F238E27FC236}">
                <a16:creationId xmlns:a16="http://schemas.microsoft.com/office/drawing/2014/main" id="{F334230E-B06E-4011-9947-832BC9534778}"/>
              </a:ext>
            </a:extLst>
          </p:cNvPr>
          <p:cNvSpPr txBox="1">
            <a:spLocks noChangeArrowheads="1"/>
          </p:cNvSpPr>
          <p:nvPr/>
        </p:nvSpPr>
        <p:spPr bwMode="auto">
          <a:xfrm>
            <a:off x="8652933" y="6588126"/>
            <a:ext cx="3617384"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a16="http://schemas.microsoft.com/office/drawing/2014/main" id="{25BFB58C-5B52-429B-BF7C-2A3DD468AE00}"/>
              </a:ext>
            </a:extLst>
          </p:cNvPr>
          <p:cNvSpPr txBox="1">
            <a:spLocks noChangeArrowheads="1"/>
          </p:cNvSpPr>
          <p:nvPr/>
        </p:nvSpPr>
        <p:spPr bwMode="auto">
          <a:xfrm>
            <a:off x="35984" y="6613526"/>
            <a:ext cx="2730235" cy="246221"/>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sz="1000" b="1" dirty="0">
                <a:solidFill>
                  <a:srgbClr val="336699"/>
                </a:solidFill>
                <a:latin typeface="Helvetica" pitchFamily="-84" charset="0"/>
              </a:rPr>
              <a:t>Operating System Concepts – 10</a:t>
            </a:r>
            <a:r>
              <a:rPr lang="en-US" sz="1000" b="1" baseline="30000" dirty="0">
                <a:solidFill>
                  <a:srgbClr val="336699"/>
                </a:solidFill>
                <a:latin typeface="Helvetica" pitchFamily="-84" charset="0"/>
              </a:rPr>
              <a:t>th</a:t>
            </a:r>
            <a:r>
              <a:rPr lang="en-US" sz="1000" b="1" dirty="0">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D3E76B3A-1933-415B-8018-61828BE854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0984" y="4157663"/>
            <a:ext cx="2749549"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568F85F6-D2B1-49C8-8F26-5A6CD47E8342}"/>
              </a:ext>
            </a:extLst>
          </p:cNvPr>
          <p:cNvSpPr>
            <a:spLocks noChangeArrowheads="1"/>
          </p:cNvSpPr>
          <p:nvPr/>
        </p:nvSpPr>
        <p:spPr bwMode="auto">
          <a:xfrm>
            <a:off x="4298951" y="4006850"/>
            <a:ext cx="3115733"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defRPr/>
            </a:pPr>
            <a:endParaRPr lang="x-none" altLang="x-none"/>
          </a:p>
        </p:txBody>
      </p:sp>
      <p:sp>
        <p:nvSpPr>
          <p:cNvPr id="152578" name="Rectangle 2"/>
          <p:cNvSpPr>
            <a:spLocks noGrp="1" noChangeArrowheads="1"/>
          </p:cNvSpPr>
          <p:nvPr>
            <p:ph type="ctrTitle"/>
          </p:nvPr>
        </p:nvSpPr>
        <p:spPr>
          <a:xfrm>
            <a:off x="914400" y="685800"/>
            <a:ext cx="103632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466835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006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856602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75267" y="1233489"/>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63267" y="1233489"/>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6875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03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34732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4399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700291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43869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9121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88451" y="277813"/>
            <a:ext cx="2859616"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7813"/>
            <a:ext cx="8375651"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39995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34B7DADE-05C1-4235-BC95-7FD16DF5A58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1000" y="0"/>
            <a:ext cx="1593851"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2C13949F-D9D1-4EE3-9FC6-AFE9404AECD0}"/>
              </a:ext>
            </a:extLst>
          </p:cNvPr>
          <p:cNvSpPr>
            <a:spLocks noGrp="1" noChangeArrowheads="1"/>
          </p:cNvSpPr>
          <p:nvPr>
            <p:ph type="title"/>
          </p:nvPr>
        </p:nvSpPr>
        <p:spPr bwMode="auto">
          <a:xfrm>
            <a:off x="609600" y="225425"/>
            <a:ext cx="107696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2156033E-2A1D-44DE-9E54-71D4B4B6E84C}"/>
              </a:ext>
            </a:extLst>
          </p:cNvPr>
          <p:cNvSpPr>
            <a:spLocks noGrp="1" noChangeArrowheads="1"/>
          </p:cNvSpPr>
          <p:nvPr>
            <p:ph type="body" idx="1"/>
          </p:nvPr>
        </p:nvSpPr>
        <p:spPr bwMode="auto">
          <a:xfrm>
            <a:off x="1054101" y="1233489"/>
            <a:ext cx="103251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44A806BF-A0C0-4368-AD58-420F34B3A6F7}"/>
              </a:ext>
            </a:extLst>
          </p:cNvPr>
          <p:cNvSpPr>
            <a:spLocks noChangeArrowheads="1"/>
          </p:cNvSpPr>
          <p:nvPr/>
        </p:nvSpPr>
        <p:spPr bwMode="auto">
          <a:xfrm>
            <a:off x="0" y="0"/>
            <a:ext cx="3048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eaLnBrk="1" hangingPunct="1">
              <a:defRPr/>
            </a:pPr>
            <a:endParaRPr lang="x-none" altLang="x-none" sz="2400">
              <a:latin typeface="Times New Roman" charset="0"/>
            </a:endParaRPr>
          </a:p>
        </p:txBody>
      </p:sp>
      <p:sp>
        <p:nvSpPr>
          <p:cNvPr id="1030" name="Line 6">
            <a:extLst>
              <a:ext uri="{FF2B5EF4-FFF2-40B4-BE49-F238E27FC236}">
                <a16:creationId xmlns:a16="http://schemas.microsoft.com/office/drawing/2014/main" id="{38CA0CBE-E7DB-4B13-BE0C-81E2F34D25C5}"/>
              </a:ext>
            </a:extLst>
          </p:cNvPr>
          <p:cNvSpPr>
            <a:spLocks noChangeShapeType="1"/>
          </p:cNvSpPr>
          <p:nvPr/>
        </p:nvSpPr>
        <p:spPr bwMode="auto">
          <a:xfrm>
            <a:off x="609600" y="860425"/>
            <a:ext cx="107696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E66E26E9-18B9-458C-AE7B-19180B81EF90}"/>
              </a:ext>
            </a:extLst>
          </p:cNvPr>
          <p:cNvSpPr>
            <a:spLocks noChangeArrowheads="1"/>
          </p:cNvSpPr>
          <p:nvPr/>
        </p:nvSpPr>
        <p:spPr bwMode="auto">
          <a:xfrm>
            <a:off x="0" y="2286000"/>
            <a:ext cx="3048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eaLnBrk="1" hangingPunct="1">
              <a:defRPr/>
            </a:pPr>
            <a:endParaRPr lang="x-none" altLang="x-none" sz="2400">
              <a:latin typeface="Times New Roman" charset="0"/>
            </a:endParaRPr>
          </a:p>
        </p:txBody>
      </p:sp>
      <p:sp>
        <p:nvSpPr>
          <p:cNvPr id="1032" name="Rectangle 8">
            <a:extLst>
              <a:ext uri="{FF2B5EF4-FFF2-40B4-BE49-F238E27FC236}">
                <a16:creationId xmlns:a16="http://schemas.microsoft.com/office/drawing/2014/main" id="{2CCFF09E-8C15-497C-99D4-D11290D2DDF6}"/>
              </a:ext>
            </a:extLst>
          </p:cNvPr>
          <p:cNvSpPr>
            <a:spLocks noChangeArrowheads="1"/>
          </p:cNvSpPr>
          <p:nvPr/>
        </p:nvSpPr>
        <p:spPr bwMode="auto">
          <a:xfrm>
            <a:off x="0" y="4572000"/>
            <a:ext cx="3048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eaLnBrk="1" hangingPunct="1">
              <a:defRPr/>
            </a:pPr>
            <a:endParaRPr lang="x-none" altLang="x-none" sz="2400">
              <a:latin typeface="Times New Roman" charset="0"/>
            </a:endParaRPr>
          </a:p>
        </p:txBody>
      </p:sp>
      <p:sp>
        <p:nvSpPr>
          <p:cNvPr id="1033" name="Text Box 9">
            <a:extLst>
              <a:ext uri="{FF2B5EF4-FFF2-40B4-BE49-F238E27FC236}">
                <a16:creationId xmlns:a16="http://schemas.microsoft.com/office/drawing/2014/main" id="{332EE4A3-5FFF-44B0-9A59-5F8CE7D7599F}"/>
              </a:ext>
            </a:extLst>
          </p:cNvPr>
          <p:cNvSpPr txBox="1">
            <a:spLocks noChangeArrowheads="1"/>
          </p:cNvSpPr>
          <p:nvPr/>
        </p:nvSpPr>
        <p:spPr bwMode="auto">
          <a:xfrm>
            <a:off x="5749456" y="6613526"/>
            <a:ext cx="447558" cy="246221"/>
          </a:xfrm>
          <a:prstGeom prst="rect">
            <a:avLst/>
          </a:prstGeom>
          <a:noFill/>
          <a:ln>
            <a:noFill/>
          </a:ln>
        </p:spPr>
        <p:txBody>
          <a:bodyPr wrap="none">
            <a:spAutoFit/>
          </a:bodyP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a:spcBef>
                <a:spcPct val="50000"/>
              </a:spcBef>
              <a:defRPr/>
            </a:pPr>
            <a:r>
              <a:rPr lang="en-US" altLang="x-none" sz="1000" b="1">
                <a:solidFill>
                  <a:srgbClr val="006699"/>
                </a:solidFill>
                <a:latin typeface="Helvetica" charset="0"/>
              </a:rPr>
              <a:t>3.</a:t>
            </a:r>
            <a:fld id="{A6EDADC4-5648-406C-94CA-EDDB863B04E2}" type="slidenum">
              <a:rPr lang="en-US" altLang="x-none" sz="1000" b="1" smtClean="0">
                <a:solidFill>
                  <a:srgbClr val="006699"/>
                </a:solidFill>
                <a:latin typeface="Helvetica" charset="0"/>
              </a:rPr>
              <a:pPr algn="ctr">
                <a:spcBef>
                  <a:spcPct val="50000"/>
                </a:spcBef>
                <a:defRPr/>
              </a:pPr>
              <a:t>‹#›</a:t>
            </a:fld>
            <a:endParaRPr lang="en-US" altLang="x-none" sz="1000" b="1">
              <a:solidFill>
                <a:srgbClr val="006699"/>
              </a:solidFill>
              <a:latin typeface="Helvetica" charset="0"/>
            </a:endParaRPr>
          </a:p>
        </p:txBody>
      </p:sp>
      <p:sp>
        <p:nvSpPr>
          <p:cNvPr id="1034" name="Text Box 10">
            <a:extLst>
              <a:ext uri="{FF2B5EF4-FFF2-40B4-BE49-F238E27FC236}">
                <a16:creationId xmlns:a16="http://schemas.microsoft.com/office/drawing/2014/main" id="{4AE1926B-ED4A-404A-BC01-96D11B8A42EE}"/>
              </a:ext>
            </a:extLst>
          </p:cNvPr>
          <p:cNvSpPr txBox="1">
            <a:spLocks noChangeArrowheads="1"/>
          </p:cNvSpPr>
          <p:nvPr/>
        </p:nvSpPr>
        <p:spPr bwMode="auto">
          <a:xfrm>
            <a:off x="8574618" y="6613526"/>
            <a:ext cx="3617383"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sz="1000" b="1" dirty="0">
                <a:solidFill>
                  <a:srgbClr val="006699"/>
                </a:solidFill>
                <a:latin typeface="Helvetica" pitchFamily="-84" charset="0"/>
              </a:rPr>
              <a:t>Silberschatz, Galvin and Gagne ©2018</a:t>
            </a:r>
          </a:p>
        </p:txBody>
      </p:sp>
      <p:sp>
        <p:nvSpPr>
          <p:cNvPr id="1035" name="Text Box 11">
            <a:extLst>
              <a:ext uri="{FF2B5EF4-FFF2-40B4-BE49-F238E27FC236}">
                <a16:creationId xmlns:a16="http://schemas.microsoft.com/office/drawing/2014/main" id="{32010AC7-36CA-437D-BB87-25E8B15E0034}"/>
              </a:ext>
            </a:extLst>
          </p:cNvPr>
          <p:cNvSpPr txBox="1">
            <a:spLocks noChangeArrowheads="1"/>
          </p:cNvSpPr>
          <p:nvPr/>
        </p:nvSpPr>
        <p:spPr bwMode="auto">
          <a:xfrm>
            <a:off x="247651" y="6594476"/>
            <a:ext cx="2730235" cy="246221"/>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sz="1000" b="1" dirty="0">
                <a:solidFill>
                  <a:srgbClr val="006699"/>
                </a:solidFill>
                <a:latin typeface="Helvetica" pitchFamily="-84" charset="0"/>
              </a:rPr>
              <a:t>Operating System Concepts – 10</a:t>
            </a:r>
            <a:r>
              <a:rPr lang="en-US" sz="1000" b="1" baseline="30000" dirty="0">
                <a:solidFill>
                  <a:srgbClr val="006699"/>
                </a:solidFill>
                <a:latin typeface="Helvetica" pitchFamily="-84" charset="0"/>
              </a:rPr>
              <a:t>th</a:t>
            </a:r>
            <a:r>
              <a:rPr lang="en-US" sz="1000" b="1" dirty="0">
                <a:solidFill>
                  <a:srgbClr val="006699"/>
                </a:solidFill>
                <a:latin typeface="Helvetica" pitchFamily="-84" charset="0"/>
              </a:rPr>
              <a:t> Edition</a:t>
            </a:r>
          </a:p>
        </p:txBody>
      </p:sp>
      <p:pic>
        <p:nvPicPr>
          <p:cNvPr id="1036" name="Picture 12" descr="dino_6">
            <a:extLst>
              <a:ext uri="{FF2B5EF4-FFF2-40B4-BE49-F238E27FC236}">
                <a16:creationId xmlns:a16="http://schemas.microsoft.com/office/drawing/2014/main" id="{09E176C0-BBA8-45C3-9F79-40005E1FFE3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365318" y="5849938"/>
            <a:ext cx="171238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215" r:id="rId1"/>
    <p:sldLayoutId id="2147484205" r:id="rId2"/>
    <p:sldLayoutId id="2147484206" r:id="rId3"/>
    <p:sldLayoutId id="2147484207" r:id="rId4"/>
    <p:sldLayoutId id="2147484208" r:id="rId5"/>
    <p:sldLayoutId id="2147484209" r:id="rId6"/>
    <p:sldLayoutId id="2147484210" r:id="rId7"/>
    <p:sldLayoutId id="2147484211" r:id="rId8"/>
    <p:sldLayoutId id="2147484212" r:id="rId9"/>
    <p:sldLayoutId id="2147484213" r:id="rId10"/>
    <p:sldLayoutId id="2147484214"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7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9BD8569B-4861-4CBE-8902-C2DD5C49C833}"/>
              </a:ext>
            </a:extLst>
          </p:cNvPr>
          <p:cNvSpPr>
            <a:spLocks noGrp="1" noChangeArrowheads="1"/>
          </p:cNvSpPr>
          <p:nvPr>
            <p:ph type="ctrTitle"/>
          </p:nvPr>
        </p:nvSpPr>
        <p:spPr>
          <a:noFill/>
        </p:spPr>
        <p:txBody>
          <a:bodyPr/>
          <a:lstStyle/>
          <a:p>
            <a:pPr eaLnBrk="1" hangingPunct="1"/>
            <a:r>
              <a:rPr lang="en-US" altLang="en-US" dirty="0"/>
              <a:t>Module 3</a:t>
            </a:r>
            <a:br>
              <a:rPr lang="en-US" altLang="en-US" dirty="0"/>
            </a:br>
            <a:r>
              <a:rPr lang="en-US" altLang="en-US" dirty="0"/>
              <a:t>Process Scheduling</a:t>
            </a:r>
          </a:p>
        </p:txBody>
      </p:sp>
      <p:sp>
        <p:nvSpPr>
          <p:cNvPr id="3" name="TextBox 2"/>
          <p:cNvSpPr txBox="1"/>
          <p:nvPr/>
        </p:nvSpPr>
        <p:spPr>
          <a:xfrm>
            <a:off x="1880260" y="5890162"/>
            <a:ext cx="8787741" cy="646331"/>
          </a:xfrm>
          <a:prstGeom prst="rect">
            <a:avLst/>
          </a:prstGeom>
          <a:noFill/>
        </p:spPr>
        <p:txBody>
          <a:bodyPr wrap="square" rtlCol="0">
            <a:spAutoFit/>
          </a:bodyPr>
          <a:lstStyle/>
          <a:p>
            <a:r>
              <a:rPr lang="en-US" dirty="0"/>
              <a:t>Slides are taken from Abraham </a:t>
            </a:r>
            <a:r>
              <a:rPr lang="en-US" dirty="0" err="1"/>
              <a:t>Silberschatz</a:t>
            </a:r>
            <a:r>
              <a:rPr lang="en-US" dirty="0"/>
              <a:t>, Peter B. Galvin, Greg Gagne, "Operating System Concepts", Wiley, 10th Edition, 2018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4470892-247B-BC3F-CCB3-8BB8842FD486}"/>
              </a:ext>
            </a:extLst>
          </p:cNvPr>
          <p:cNvPicPr>
            <a:picLocks noGrp="1" noChangeAspect="1"/>
          </p:cNvPicPr>
          <p:nvPr>
            <p:ph idx="1"/>
          </p:nvPr>
        </p:nvPicPr>
        <p:blipFill>
          <a:blip r:embed="rId2"/>
          <a:stretch>
            <a:fillRect/>
          </a:stretch>
        </p:blipFill>
        <p:spPr bwMode="auto">
          <a:xfrm>
            <a:off x="386080" y="1757680"/>
            <a:ext cx="10993120" cy="2834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36335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218F8D62-A6F5-4F18-9BB3-A18FA6B4E228}"/>
              </a:ext>
            </a:extLst>
          </p:cNvPr>
          <p:cNvSpPr>
            <a:spLocks noGrp="1" noChangeArrowheads="1"/>
          </p:cNvSpPr>
          <p:nvPr>
            <p:ph type="ctrTitle"/>
          </p:nvPr>
        </p:nvSpPr>
        <p:spPr>
          <a:xfrm>
            <a:off x="2209800" y="782638"/>
            <a:ext cx="7772400" cy="2127250"/>
          </a:xfrm>
        </p:spPr>
        <p:txBody>
          <a:bodyPr/>
          <a:lstStyle/>
          <a:p>
            <a:pPr eaLnBrk="1" hangingPunct="1"/>
            <a:r>
              <a:rPr lang="en-US" altLang="en-US" dirty="0"/>
              <a:t>CPU Scheduling</a:t>
            </a:r>
          </a:p>
        </p:txBody>
      </p:sp>
    </p:spTree>
    <p:extLst>
      <p:ext uri="{BB962C8B-B14F-4D97-AF65-F5344CB8AC3E}">
        <p14:creationId xmlns:p14="http://schemas.microsoft.com/office/powerpoint/2010/main" val="1750211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2362200" y="229606"/>
            <a:ext cx="7848600" cy="576262"/>
          </a:xfrm>
        </p:spPr>
        <p:txBody>
          <a:bodyPr/>
          <a:lstStyle/>
          <a:p>
            <a:pPr eaLnBrk="1" hangingPunct="1"/>
            <a:r>
              <a:rPr lang="en-US" altLang="en-US" dirty="0"/>
              <a:t>CPU Scheduler</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2362201" y="1169989"/>
            <a:ext cx="7227276" cy="4808781"/>
          </a:xfrm>
        </p:spPr>
        <p:txBody>
          <a:bodyPr/>
          <a:lstStyle/>
          <a:p>
            <a:pPr>
              <a:defRPr/>
            </a:pPr>
            <a:r>
              <a:rPr lang="en-US" dirty="0">
                <a:ea typeface="ＭＳ Ｐゴシック" charset="0"/>
                <a:cs typeface="ＭＳ Ｐゴシック" charset="0"/>
              </a:rPr>
              <a:t>The</a:t>
            </a:r>
            <a:r>
              <a:rPr lang="en-US" b="1" dirty="0">
                <a:solidFill>
                  <a:srgbClr val="3366FF"/>
                </a:solidFill>
                <a:ea typeface="ＭＳ Ｐゴシック" charset="0"/>
                <a:cs typeface="ＭＳ Ｐゴシック" charset="0"/>
              </a:rPr>
              <a:t> </a:t>
            </a:r>
            <a:r>
              <a:rPr lang="en-US" b="1" dirty="0">
                <a:solidFill>
                  <a:srgbClr val="006699"/>
                </a:solidFill>
                <a:latin typeface="+mj-lt"/>
              </a:rPr>
              <a:t>CPU scheduler </a:t>
            </a:r>
            <a:r>
              <a:rPr lang="en-US" dirty="0">
                <a:ea typeface="ＭＳ Ｐゴシック" charset="-128"/>
                <a:cs typeface="ＭＳ Ｐゴシック" charset="-128"/>
              </a:rPr>
              <a:t>selects from among the processes in ready queue, and allocates a CPU core to one of them</a:t>
            </a:r>
          </a:p>
          <a:p>
            <a:pPr marL="742835" lvl="1">
              <a:defRPr/>
            </a:pPr>
            <a:r>
              <a:rPr lang="en-US" dirty="0">
                <a:ea typeface="ＭＳ Ｐゴシック" charset="-128"/>
              </a:rPr>
              <a:t>Queue may be ordered in various ways</a:t>
            </a:r>
          </a:p>
          <a:p>
            <a:pPr>
              <a:defRPr/>
            </a:pPr>
            <a:r>
              <a:rPr lang="en-US" dirty="0">
                <a:ea typeface="ＭＳ Ｐゴシック" charset="-128"/>
                <a:cs typeface="ＭＳ Ｐゴシック" charset="-128"/>
              </a:rPr>
              <a:t>CPU scheduling decisions may take place when a process:</a:t>
            </a:r>
          </a:p>
          <a:p>
            <a:pPr marL="799900" lvl="1" indent="-342815">
              <a:buNone/>
              <a:defRPr/>
            </a:pPr>
            <a:r>
              <a:rPr lang="en-US" dirty="0">
                <a:solidFill>
                  <a:srgbClr val="CC6600"/>
                </a:solidFill>
                <a:ea typeface="ＭＳ Ｐゴシック" charset="-128"/>
              </a:rPr>
              <a:t>1.	</a:t>
            </a:r>
            <a:r>
              <a:rPr lang="en-US" dirty="0">
                <a:ea typeface="ＭＳ Ｐゴシック" charset="-128"/>
              </a:rPr>
              <a:t>Switches from running to waiting state</a:t>
            </a:r>
          </a:p>
          <a:p>
            <a:pPr marL="799900" lvl="1" indent="-342815">
              <a:buNone/>
              <a:defRPr/>
            </a:pPr>
            <a:r>
              <a:rPr lang="en-US" dirty="0">
                <a:solidFill>
                  <a:srgbClr val="CC6600"/>
                </a:solidFill>
                <a:ea typeface="ＭＳ Ｐゴシック" charset="-128"/>
              </a:rPr>
              <a:t>2.</a:t>
            </a:r>
            <a:r>
              <a:rPr lang="en-US" dirty="0">
                <a:ea typeface="ＭＳ Ｐゴシック" charset="-128"/>
              </a:rPr>
              <a:t>	Switches from running to ready state</a:t>
            </a:r>
          </a:p>
          <a:p>
            <a:pPr marL="799900" lvl="1" indent="-342815">
              <a:buNone/>
              <a:defRPr/>
            </a:pPr>
            <a:r>
              <a:rPr lang="en-US" dirty="0">
                <a:solidFill>
                  <a:srgbClr val="CC6600"/>
                </a:solidFill>
                <a:ea typeface="ＭＳ Ｐゴシック" charset="-128"/>
              </a:rPr>
              <a:t>3.</a:t>
            </a:r>
            <a:r>
              <a:rPr lang="en-US" dirty="0">
                <a:ea typeface="ＭＳ Ｐゴシック" charset="-128"/>
              </a:rPr>
              <a:t>	Switches from waiting to ready</a:t>
            </a:r>
          </a:p>
          <a:p>
            <a:pPr marL="799900" lvl="1" indent="-342815">
              <a:buFont typeface="Monotype Sorts" charset="2"/>
              <a:buAutoNum type="arabicPeriod" startAt="4"/>
              <a:defRPr/>
            </a:pPr>
            <a:r>
              <a:rPr lang="en-US" dirty="0">
                <a:ea typeface="ＭＳ Ｐゴシック" charset="-128"/>
              </a:rPr>
              <a:t>Terminates</a:t>
            </a:r>
          </a:p>
          <a:p>
            <a:pPr>
              <a:defRPr/>
            </a:pPr>
            <a:r>
              <a:rPr lang="en-US" dirty="0">
                <a:ea typeface="ＭＳ Ｐゴシック" charset="-128"/>
                <a:cs typeface="ＭＳ Ｐゴシック" charset="-128"/>
              </a:rPr>
              <a:t>For situations 1 and 4, there is no choice in terms of scheduling. A new process (if one exists in the ready queue) must be selected for execution. </a:t>
            </a:r>
          </a:p>
          <a:p>
            <a:pPr>
              <a:defRPr/>
            </a:pPr>
            <a:r>
              <a:rPr lang="en-US" dirty="0">
                <a:ea typeface="ＭＳ Ｐゴシック" charset="-128"/>
                <a:cs typeface="ＭＳ Ｐゴシック" charset="-128"/>
              </a:rPr>
              <a:t>For situations 2 and 3, however, there is  a choice.</a:t>
            </a:r>
            <a:endParaRPr lang="en-US" b="1" dirty="0">
              <a:solidFill>
                <a:srgbClr val="3366FF"/>
              </a:solidFill>
              <a:ea typeface="ＭＳ Ｐゴシック" charset="0"/>
              <a:cs typeface="ＭＳ Ｐゴシック" charset="0"/>
            </a:endParaRPr>
          </a:p>
        </p:txBody>
      </p:sp>
    </p:spTree>
    <p:extLst>
      <p:ext uri="{BB962C8B-B14F-4D97-AF65-F5344CB8AC3E}">
        <p14:creationId xmlns:p14="http://schemas.microsoft.com/office/powerpoint/2010/main" val="4008061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2760777" y="167086"/>
            <a:ext cx="7848600" cy="576262"/>
          </a:xfrm>
        </p:spPr>
        <p:txBody>
          <a:bodyPr/>
          <a:lstStyle/>
          <a:p>
            <a:pPr eaLnBrk="1" hangingPunct="1"/>
            <a:r>
              <a:rPr lang="en-US" altLang="en-US" sz="2800" dirty="0"/>
              <a:t>Preemptive and Nonpreemptive Scheduling</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2455985" y="1193435"/>
            <a:ext cx="6828692" cy="4707181"/>
          </a:xfrm>
        </p:spPr>
        <p:txBody>
          <a:bodyPr/>
          <a:lstStyle/>
          <a:p>
            <a:pPr>
              <a:defRPr/>
            </a:pPr>
            <a:r>
              <a:rPr lang="en-US" dirty="0">
                <a:ea typeface="ＭＳ Ｐゴシック" charset="0"/>
              </a:rPr>
              <a:t>When scheduling takes place only under circumstances 1 and 4, the scheduling scheme is </a:t>
            </a:r>
            <a:r>
              <a:rPr lang="en-US" b="1" dirty="0">
                <a:solidFill>
                  <a:srgbClr val="006699"/>
                </a:solidFill>
                <a:latin typeface="+mj-lt"/>
              </a:rPr>
              <a:t>nonpreemptive</a:t>
            </a:r>
            <a:r>
              <a:rPr lang="en-US" dirty="0">
                <a:ea typeface="ＭＳ Ｐゴシック" charset="0"/>
              </a:rPr>
              <a:t>.</a:t>
            </a:r>
          </a:p>
          <a:p>
            <a:pPr>
              <a:defRPr/>
            </a:pPr>
            <a:r>
              <a:rPr lang="en-US" dirty="0">
                <a:ea typeface="ＭＳ Ｐゴシック" charset="0"/>
              </a:rPr>
              <a:t>Otherwise, it is </a:t>
            </a:r>
            <a:r>
              <a:rPr lang="en-US" b="1" dirty="0">
                <a:solidFill>
                  <a:srgbClr val="006699"/>
                </a:solidFill>
                <a:latin typeface="+mj-lt"/>
              </a:rPr>
              <a:t>preemptive</a:t>
            </a:r>
            <a:r>
              <a:rPr lang="en-US" dirty="0">
                <a:ea typeface="ＭＳ Ｐゴシック" charset="0"/>
              </a:rPr>
              <a:t>. </a:t>
            </a:r>
          </a:p>
          <a:p>
            <a:pPr>
              <a:defRPr/>
            </a:pPr>
            <a:r>
              <a:rPr lang="en-US" dirty="0">
                <a:ea typeface="ＭＳ Ｐゴシック" charset="0"/>
              </a:rPr>
              <a:t>Under Nonpreemptive scheduling, once the CPU has been allocated to a process, the process keeps the CPU until it releases it either by terminating or by switching to the waiting state. </a:t>
            </a:r>
          </a:p>
          <a:p>
            <a:pPr>
              <a:defRPr/>
            </a:pPr>
            <a:r>
              <a:rPr lang="en-US" dirty="0">
                <a:ea typeface="ＭＳ Ｐゴシック" charset="0"/>
              </a:rPr>
              <a:t>Virtually all modern operating systems including Windows, MacOS, Linux, and UNIX use preemptive scheduling algorithms.</a:t>
            </a:r>
            <a:endParaRPr lang="en-US" dirty="0">
              <a:ea typeface="ＭＳ Ｐゴシック" charset="-128"/>
            </a:endParaRPr>
          </a:p>
        </p:txBody>
      </p:sp>
    </p:spTree>
    <p:extLst>
      <p:ext uri="{BB962C8B-B14F-4D97-AF65-F5344CB8AC3E}">
        <p14:creationId xmlns:p14="http://schemas.microsoft.com/office/powerpoint/2010/main" val="3982433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2760777" y="167086"/>
            <a:ext cx="7848600" cy="576262"/>
          </a:xfrm>
        </p:spPr>
        <p:txBody>
          <a:bodyPr/>
          <a:lstStyle/>
          <a:p>
            <a:pPr eaLnBrk="1" hangingPunct="1"/>
            <a:r>
              <a:rPr lang="en-US" altLang="en-US" sz="2800" dirty="0"/>
              <a:t>Preemptive Scheduling and Race Conditions</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2455985" y="1193435"/>
            <a:ext cx="6273800" cy="4621212"/>
          </a:xfrm>
        </p:spPr>
        <p:txBody>
          <a:bodyPr/>
          <a:lstStyle/>
          <a:p>
            <a:pPr>
              <a:defRPr/>
            </a:pPr>
            <a:r>
              <a:rPr lang="en-US" dirty="0">
                <a:ea typeface="ＭＳ Ｐゴシック" charset="0"/>
              </a:rPr>
              <a:t>Preemptive scheduling can result in race conditions when data are shared among several processes.</a:t>
            </a:r>
          </a:p>
          <a:p>
            <a:pPr>
              <a:defRPr/>
            </a:pPr>
            <a:r>
              <a:rPr lang="en-US" dirty="0">
                <a:ea typeface="ＭＳ Ｐゴシック" charset="0"/>
              </a:rPr>
              <a:t>Consider the case of two processes that share data. While one process is updating the data, it is preempted so that the second process can run. The second process then tries to read the data, which are in an inconsistent state. </a:t>
            </a:r>
          </a:p>
        </p:txBody>
      </p:sp>
    </p:spTree>
    <p:extLst>
      <p:ext uri="{BB962C8B-B14F-4D97-AF65-F5344CB8AC3E}">
        <p14:creationId xmlns:p14="http://schemas.microsoft.com/office/powerpoint/2010/main" val="1536746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C185CC1F-4F14-4AFD-8E13-6930EBB32CE9}"/>
              </a:ext>
            </a:extLst>
          </p:cNvPr>
          <p:cNvSpPr>
            <a:spLocks noGrp="1" noChangeArrowheads="1"/>
          </p:cNvSpPr>
          <p:nvPr>
            <p:ph type="title"/>
          </p:nvPr>
        </p:nvSpPr>
        <p:spPr>
          <a:xfrm>
            <a:off x="1981200" y="217330"/>
            <a:ext cx="8229600" cy="576263"/>
          </a:xfrm>
        </p:spPr>
        <p:txBody>
          <a:bodyPr/>
          <a:lstStyle/>
          <a:p>
            <a:pPr eaLnBrk="1" hangingPunct="1"/>
            <a:r>
              <a:rPr lang="en-US" altLang="en-US" dirty="0"/>
              <a:t>Dispatcher</a:t>
            </a:r>
          </a:p>
        </p:txBody>
      </p:sp>
      <p:sp>
        <p:nvSpPr>
          <p:cNvPr id="17410" name="Rectangle 3">
            <a:extLst>
              <a:ext uri="{FF2B5EF4-FFF2-40B4-BE49-F238E27FC236}">
                <a16:creationId xmlns:a16="http://schemas.microsoft.com/office/drawing/2014/main" id="{E113DAE6-D3A7-45EF-87B5-890976FCB8D4}"/>
              </a:ext>
            </a:extLst>
          </p:cNvPr>
          <p:cNvSpPr>
            <a:spLocks noGrp="1" noChangeArrowheads="1"/>
          </p:cNvSpPr>
          <p:nvPr>
            <p:ph type="body" idx="1"/>
          </p:nvPr>
        </p:nvSpPr>
        <p:spPr>
          <a:xfrm>
            <a:off x="1753958" y="871586"/>
            <a:ext cx="4754548" cy="4515661"/>
          </a:xfrm>
        </p:spPr>
        <p:txBody>
          <a:bodyPr/>
          <a:lstStyle/>
          <a:p>
            <a:r>
              <a:rPr lang="en-US" altLang="en-US" dirty="0"/>
              <a:t>Dispatcher module gives control of the CPU to the process selected by the CPU scheduler; this involves:</a:t>
            </a:r>
          </a:p>
          <a:p>
            <a:pPr lvl="1"/>
            <a:r>
              <a:rPr lang="en-US" altLang="en-US" dirty="0"/>
              <a:t>Switching context</a:t>
            </a:r>
          </a:p>
          <a:p>
            <a:pPr lvl="1"/>
            <a:r>
              <a:rPr lang="en-US" altLang="en-US" dirty="0"/>
              <a:t>Switching to user mode</a:t>
            </a:r>
          </a:p>
          <a:p>
            <a:pPr lvl="1"/>
            <a:r>
              <a:rPr lang="en-US" altLang="en-US" dirty="0"/>
              <a:t>Jumping to the proper location in the user program to restart that program</a:t>
            </a:r>
          </a:p>
          <a:p>
            <a:r>
              <a:rPr lang="en-US" altLang="en-US" b="1" dirty="0">
                <a:solidFill>
                  <a:srgbClr val="006699"/>
                </a:solidFill>
                <a:latin typeface="+mj-lt"/>
              </a:rPr>
              <a:t>Dispatch latency </a:t>
            </a:r>
            <a:r>
              <a:rPr lang="en-US" altLang="en-US" dirty="0"/>
              <a:t>– time it takes for the dispatcher to stop one process and start another running</a:t>
            </a:r>
          </a:p>
        </p:txBody>
      </p:sp>
      <p:pic>
        <p:nvPicPr>
          <p:cNvPr id="2" name="Picture 1"/>
          <p:cNvPicPr>
            <a:picLocks noChangeAspect="1"/>
          </p:cNvPicPr>
          <p:nvPr/>
        </p:nvPicPr>
        <p:blipFill>
          <a:blip r:embed="rId3"/>
          <a:stretch>
            <a:fillRect/>
          </a:stretch>
        </p:blipFill>
        <p:spPr>
          <a:xfrm>
            <a:off x="6638831" y="1020951"/>
            <a:ext cx="3752944" cy="5427475"/>
          </a:xfrm>
          <a:prstGeom prst="rect">
            <a:avLst/>
          </a:prstGeom>
        </p:spPr>
      </p:pic>
    </p:spTree>
    <p:extLst>
      <p:ext uri="{BB962C8B-B14F-4D97-AF65-F5344CB8AC3E}">
        <p14:creationId xmlns:p14="http://schemas.microsoft.com/office/powerpoint/2010/main" val="2577501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684BC100-CBCD-4FBD-A30F-9EBDD59CA0FB}"/>
              </a:ext>
            </a:extLst>
          </p:cNvPr>
          <p:cNvSpPr>
            <a:spLocks noGrp="1" noChangeArrowheads="1"/>
          </p:cNvSpPr>
          <p:nvPr>
            <p:ph type="title"/>
          </p:nvPr>
        </p:nvSpPr>
        <p:spPr>
          <a:xfrm>
            <a:off x="2514600" y="214313"/>
            <a:ext cx="7696200" cy="576262"/>
          </a:xfrm>
        </p:spPr>
        <p:txBody>
          <a:bodyPr/>
          <a:lstStyle/>
          <a:p>
            <a:pPr eaLnBrk="1" hangingPunct="1"/>
            <a:r>
              <a:rPr lang="en-US" altLang="en-US" dirty="0"/>
              <a:t>Scheduling Criteria</a:t>
            </a:r>
          </a:p>
        </p:txBody>
      </p:sp>
      <p:sp>
        <p:nvSpPr>
          <p:cNvPr id="19458" name="Rectangle 3">
            <a:extLst>
              <a:ext uri="{FF2B5EF4-FFF2-40B4-BE49-F238E27FC236}">
                <a16:creationId xmlns:a16="http://schemas.microsoft.com/office/drawing/2014/main" id="{4338C466-115B-47DE-A288-6C7152DF0770}"/>
              </a:ext>
            </a:extLst>
          </p:cNvPr>
          <p:cNvSpPr>
            <a:spLocks noGrp="1" noChangeArrowheads="1"/>
          </p:cNvSpPr>
          <p:nvPr>
            <p:ph type="body" idx="1"/>
          </p:nvPr>
        </p:nvSpPr>
        <p:spPr>
          <a:xfrm>
            <a:off x="2373086" y="1246189"/>
            <a:ext cx="6692761" cy="4904520"/>
          </a:xfrm>
        </p:spPr>
        <p:txBody>
          <a:bodyPr/>
          <a:lstStyle/>
          <a:p>
            <a:r>
              <a:rPr lang="en-US" altLang="en-US" b="1" dirty="0"/>
              <a:t>CPU utilization </a:t>
            </a:r>
            <a:r>
              <a:rPr lang="en-US" altLang="en-US" dirty="0"/>
              <a:t>– keep the CPU as busy as possible</a:t>
            </a:r>
          </a:p>
          <a:p>
            <a:r>
              <a:rPr lang="en-US" altLang="en-US" b="1" dirty="0"/>
              <a:t>Throughput</a:t>
            </a:r>
            <a:r>
              <a:rPr lang="en-US" altLang="en-US" dirty="0"/>
              <a:t> – # of processes that complete their execution per time unit</a:t>
            </a:r>
          </a:p>
          <a:p>
            <a:r>
              <a:rPr lang="en-US" altLang="en-US" b="1" dirty="0"/>
              <a:t>Turnaround time </a:t>
            </a:r>
            <a:r>
              <a:rPr lang="en-US" altLang="en-US" dirty="0"/>
              <a:t>– amount of time to execute a particular process</a:t>
            </a:r>
          </a:p>
          <a:p>
            <a:r>
              <a:rPr lang="en-US" altLang="en-US" b="1" dirty="0"/>
              <a:t>Waiting time </a:t>
            </a:r>
            <a:r>
              <a:rPr lang="en-US" altLang="en-US" dirty="0"/>
              <a:t>– amount of time a process has been waiting in the ready queue</a:t>
            </a:r>
          </a:p>
          <a:p>
            <a:r>
              <a:rPr lang="en-US" altLang="en-US" b="1" dirty="0"/>
              <a:t>Response time </a:t>
            </a:r>
            <a:r>
              <a:rPr lang="en-US" altLang="en-US" dirty="0"/>
              <a:t>– amount of time it takes from when a request was submitted until the first response is produced. </a:t>
            </a:r>
          </a:p>
          <a:p>
            <a:r>
              <a:rPr lang="en-US" dirty="0"/>
              <a:t>The number </a:t>
            </a:r>
            <a:r>
              <a:rPr lang="en-US"/>
              <a:t>of processes currently </a:t>
            </a:r>
            <a:r>
              <a:rPr lang="en-US" dirty="0"/>
              <a:t>in memory is known as the </a:t>
            </a:r>
            <a:r>
              <a:rPr lang="en-US" b="1" dirty="0"/>
              <a:t>degree of multiprogramming</a:t>
            </a:r>
            <a:r>
              <a:rPr lang="en-US" dirty="0"/>
              <a:t>.</a:t>
            </a:r>
            <a:endParaRPr lang="en-US" altLang="en-US" dirty="0"/>
          </a:p>
        </p:txBody>
      </p:sp>
    </p:spTree>
    <p:extLst>
      <p:ext uri="{BB962C8B-B14F-4D97-AF65-F5344CB8AC3E}">
        <p14:creationId xmlns:p14="http://schemas.microsoft.com/office/powerpoint/2010/main" val="3820023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A22DB2EC-3AE5-4A50-BF1F-F8FE7B96CE4B}"/>
              </a:ext>
            </a:extLst>
          </p:cNvPr>
          <p:cNvSpPr>
            <a:spLocks noGrp="1" noChangeArrowheads="1"/>
          </p:cNvSpPr>
          <p:nvPr>
            <p:ph type="title"/>
          </p:nvPr>
        </p:nvSpPr>
        <p:spPr>
          <a:xfrm>
            <a:off x="2947451" y="143942"/>
            <a:ext cx="7513637" cy="576262"/>
          </a:xfrm>
        </p:spPr>
        <p:txBody>
          <a:bodyPr/>
          <a:lstStyle/>
          <a:p>
            <a:pPr eaLnBrk="1" hangingPunct="1"/>
            <a:r>
              <a:rPr lang="en-US" altLang="en-US" sz="2800" dirty="0"/>
              <a:t>Scheduling Algorithm Optimization Criteria</a:t>
            </a:r>
          </a:p>
        </p:txBody>
      </p:sp>
      <p:sp>
        <p:nvSpPr>
          <p:cNvPr id="21506" name="Rectangle 3">
            <a:extLst>
              <a:ext uri="{FF2B5EF4-FFF2-40B4-BE49-F238E27FC236}">
                <a16:creationId xmlns:a16="http://schemas.microsoft.com/office/drawing/2014/main" id="{DA102F21-0BD1-4162-8066-37183DF9B945}"/>
              </a:ext>
            </a:extLst>
          </p:cNvPr>
          <p:cNvSpPr>
            <a:spLocks noGrp="1" noChangeArrowheads="1"/>
          </p:cNvSpPr>
          <p:nvPr>
            <p:ph type="body" idx="1"/>
          </p:nvPr>
        </p:nvSpPr>
        <p:spPr>
          <a:xfrm>
            <a:off x="2376488" y="1113511"/>
            <a:ext cx="6115050" cy="4483100"/>
          </a:xfrm>
        </p:spPr>
        <p:txBody>
          <a:bodyPr/>
          <a:lstStyle/>
          <a:p>
            <a:r>
              <a:rPr lang="en-US" altLang="en-US" dirty="0"/>
              <a:t>Max CPU utilization</a:t>
            </a:r>
          </a:p>
          <a:p>
            <a:r>
              <a:rPr lang="en-US" altLang="en-US" dirty="0"/>
              <a:t>Max throughput</a:t>
            </a:r>
          </a:p>
          <a:p>
            <a:r>
              <a:rPr lang="en-US" altLang="en-US" dirty="0"/>
              <a:t>Min turnaround time </a:t>
            </a:r>
          </a:p>
          <a:p>
            <a:r>
              <a:rPr lang="en-US" altLang="en-US" dirty="0"/>
              <a:t>Min waiting time </a:t>
            </a:r>
          </a:p>
          <a:p>
            <a:r>
              <a:rPr lang="en-US" altLang="en-US" dirty="0"/>
              <a:t>Min response time</a:t>
            </a:r>
          </a:p>
        </p:txBody>
      </p:sp>
    </p:spTree>
    <p:extLst>
      <p:ext uri="{BB962C8B-B14F-4D97-AF65-F5344CB8AC3E}">
        <p14:creationId xmlns:p14="http://schemas.microsoft.com/office/powerpoint/2010/main" val="645168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2631397" y="287515"/>
            <a:ext cx="7997825" cy="457200"/>
          </a:xfrm>
        </p:spPr>
        <p:txBody>
          <a:bodyPr/>
          <a:lstStyle/>
          <a:p>
            <a:pPr eaLnBrk="1" hangingPunct="1"/>
            <a:r>
              <a:rPr lang="en-US" altLang="en-US" sz="2800" dirty="0"/>
              <a:t>First- Come, First-Served (FCFS) Scheduling</a:t>
            </a:r>
          </a:p>
        </p:txBody>
      </p:sp>
      <p:sp>
        <p:nvSpPr>
          <p:cNvPr id="23554" name="Rectangle 3">
            <a:extLst>
              <a:ext uri="{FF2B5EF4-FFF2-40B4-BE49-F238E27FC236}">
                <a16:creationId xmlns:a16="http://schemas.microsoft.com/office/drawing/2014/main" id="{00593719-A5A4-4326-8529-37EC324927D6}"/>
              </a:ext>
            </a:extLst>
          </p:cNvPr>
          <p:cNvSpPr>
            <a:spLocks noGrp="1" noChangeArrowheads="1"/>
          </p:cNvSpPr>
          <p:nvPr>
            <p:ph type="body" idx="1"/>
          </p:nvPr>
        </p:nvSpPr>
        <p:spPr>
          <a:xfrm>
            <a:off x="2357439" y="1250950"/>
            <a:ext cx="7566025" cy="5207000"/>
          </a:xfrm>
        </p:spPr>
        <p:txBody>
          <a:bodyPr/>
          <a:lstStyle/>
          <a:p>
            <a:pPr>
              <a:lnSpc>
                <a:spcPct val="90000"/>
              </a:lnSpc>
              <a:buNone/>
              <a:tabLst>
                <a:tab pos="3028950" algn="ctr"/>
                <a:tab pos="4633913" algn="ctr"/>
              </a:tabLst>
            </a:pPr>
            <a:r>
              <a:rPr lang="en-US" altLang="en-US" sz="1600" dirty="0"/>
              <a:t>		</a:t>
            </a:r>
            <a:r>
              <a:rPr lang="en-US" altLang="en-US" u="sng" dirty="0"/>
              <a:t>Process</a:t>
            </a:r>
            <a:r>
              <a:rPr lang="en-US" altLang="en-US" dirty="0"/>
              <a:t>	</a:t>
            </a:r>
            <a:r>
              <a:rPr lang="en-US" altLang="en-US" u="sng" dirty="0"/>
              <a:t>Burst Time	</a:t>
            </a:r>
          </a:p>
          <a:p>
            <a:pPr>
              <a:lnSpc>
                <a:spcPct val="90000"/>
              </a:lnSpc>
              <a:buNone/>
              <a:tabLst>
                <a:tab pos="3028950" algn="ctr"/>
                <a:tab pos="4633913" algn="ctr"/>
              </a:tabLst>
            </a:pPr>
            <a:r>
              <a:rPr lang="en-US" altLang="en-US" dirty="0"/>
              <a:t>		 </a:t>
            </a:r>
            <a:r>
              <a:rPr lang="en-US" altLang="en-US" i="1" dirty="0"/>
              <a:t>P</a:t>
            </a:r>
            <a:r>
              <a:rPr lang="en-US" altLang="en-US" i="1" baseline="-25000" dirty="0"/>
              <a:t>1</a:t>
            </a:r>
            <a:r>
              <a:rPr lang="en-US" altLang="en-US" dirty="0"/>
              <a:t>	24</a:t>
            </a:r>
          </a:p>
          <a:p>
            <a:pPr>
              <a:lnSpc>
                <a:spcPct val="90000"/>
              </a:lnSpc>
              <a:buNone/>
              <a:tabLst>
                <a:tab pos="3028950" algn="ctr"/>
                <a:tab pos="4633913" algn="ctr"/>
              </a:tabLst>
            </a:pPr>
            <a:r>
              <a:rPr lang="en-US" altLang="en-US" dirty="0"/>
              <a:t>		 </a:t>
            </a:r>
            <a:r>
              <a:rPr lang="en-US" altLang="en-US" i="1" dirty="0"/>
              <a:t>P</a:t>
            </a:r>
            <a:r>
              <a:rPr lang="en-US" altLang="en-US" i="1" baseline="-25000" dirty="0"/>
              <a:t>2</a:t>
            </a:r>
            <a:r>
              <a:rPr lang="en-US" altLang="en-US" dirty="0"/>
              <a:t> 	3</a:t>
            </a:r>
          </a:p>
          <a:p>
            <a:pPr>
              <a:lnSpc>
                <a:spcPct val="90000"/>
              </a:lnSpc>
              <a:buNone/>
              <a:tabLst>
                <a:tab pos="3028950" algn="ctr"/>
                <a:tab pos="4633913" algn="ctr"/>
              </a:tabLst>
            </a:pPr>
            <a:r>
              <a:rPr lang="en-US" altLang="en-US" dirty="0"/>
              <a:t>		 </a:t>
            </a:r>
            <a:r>
              <a:rPr lang="en-US" altLang="en-US" i="1" dirty="0"/>
              <a:t>P</a:t>
            </a:r>
            <a:r>
              <a:rPr lang="en-US" altLang="en-US" i="1" baseline="-25000" dirty="0"/>
              <a:t>3	 </a:t>
            </a:r>
            <a:r>
              <a:rPr lang="en-US" altLang="en-US" dirty="0"/>
              <a:t>3</a:t>
            </a:r>
            <a:r>
              <a:rPr lang="en-US" altLang="en-US" i="1" baseline="-25000" dirty="0"/>
              <a:t> </a:t>
            </a:r>
          </a:p>
          <a:p>
            <a:pPr>
              <a:lnSpc>
                <a:spcPct val="90000"/>
              </a:lnSpc>
              <a:tabLst>
                <a:tab pos="3028950" algn="ctr"/>
                <a:tab pos="4633913" algn="ctr"/>
              </a:tabLst>
            </a:pPr>
            <a:r>
              <a:rPr lang="en-US" altLang="en-US" dirty="0"/>
              <a:t>Suppose that the processes arrive in the order: </a:t>
            </a:r>
            <a:r>
              <a:rPr lang="en-US" altLang="en-US" i="1" dirty="0"/>
              <a:t>P</a:t>
            </a:r>
            <a:r>
              <a:rPr lang="en-US" altLang="en-US" i="1" baseline="-25000" dirty="0"/>
              <a:t>1</a:t>
            </a:r>
            <a:r>
              <a:rPr lang="en-US" altLang="en-US" dirty="0"/>
              <a:t> , </a:t>
            </a:r>
            <a:r>
              <a:rPr lang="en-US" altLang="en-US" i="1" dirty="0"/>
              <a:t>P</a:t>
            </a:r>
            <a:r>
              <a:rPr lang="en-US" altLang="en-US" i="1" baseline="-25000" dirty="0"/>
              <a:t>2</a:t>
            </a:r>
            <a:r>
              <a:rPr lang="en-US" altLang="en-US" dirty="0"/>
              <a:t> , </a:t>
            </a:r>
            <a:r>
              <a:rPr lang="en-US" altLang="en-US" i="1" dirty="0"/>
              <a:t>P</a:t>
            </a:r>
            <a:r>
              <a:rPr lang="en-US" altLang="en-US" i="1" baseline="-25000" dirty="0"/>
              <a:t>3  </a:t>
            </a:r>
            <a:br>
              <a:rPr lang="en-US" altLang="en-US" i="1" baseline="-25000" dirty="0"/>
            </a:br>
            <a:r>
              <a:rPr lang="en-US" altLang="en-US" dirty="0"/>
              <a:t>The Gantt Chart for the schedule is:</a:t>
            </a:r>
            <a:br>
              <a:rPr lang="en-US" altLang="en-US" dirty="0"/>
            </a:br>
            <a:br>
              <a:rPr lang="en-US" altLang="en-US" sz="1600" dirty="0"/>
            </a:br>
            <a:br>
              <a:rPr lang="en-US" altLang="en-US" sz="1600" dirty="0"/>
            </a:br>
            <a:br>
              <a:rPr lang="en-US" altLang="en-US" sz="1600" dirty="0"/>
            </a:br>
            <a:br>
              <a:rPr lang="en-US" altLang="en-US" sz="1600" dirty="0"/>
            </a:br>
            <a:endParaRPr lang="en-US" altLang="en-US" sz="1600" dirty="0"/>
          </a:p>
          <a:p>
            <a:pPr>
              <a:lnSpc>
                <a:spcPct val="90000"/>
              </a:lnSpc>
              <a:buNone/>
              <a:tabLst>
                <a:tab pos="3028950" algn="ctr"/>
                <a:tab pos="4633913" algn="ctr"/>
              </a:tabLst>
            </a:pPr>
            <a:endParaRPr lang="en-US" altLang="en-US" sz="1600" dirty="0"/>
          </a:p>
          <a:p>
            <a:pPr>
              <a:lnSpc>
                <a:spcPct val="90000"/>
              </a:lnSpc>
              <a:tabLst>
                <a:tab pos="3028950" algn="ctr"/>
                <a:tab pos="4633913" algn="ctr"/>
              </a:tabLst>
            </a:pPr>
            <a:r>
              <a:rPr lang="en-US" altLang="en-US" dirty="0"/>
              <a:t>Waiting time for </a:t>
            </a:r>
            <a:r>
              <a:rPr lang="en-US" altLang="en-US" i="1" dirty="0"/>
              <a:t>P</a:t>
            </a:r>
            <a:r>
              <a:rPr lang="en-US" altLang="en-US" i="1" baseline="-25000" dirty="0"/>
              <a:t>1</a:t>
            </a:r>
            <a:r>
              <a:rPr lang="en-US" altLang="en-US" dirty="0"/>
              <a:t>  = 0; </a:t>
            </a:r>
            <a:r>
              <a:rPr lang="en-US" altLang="en-US" i="1" dirty="0"/>
              <a:t>P</a:t>
            </a:r>
            <a:r>
              <a:rPr lang="en-US" altLang="en-US" i="1" baseline="-25000" dirty="0"/>
              <a:t>2</a:t>
            </a:r>
            <a:r>
              <a:rPr lang="en-US" altLang="en-US" dirty="0"/>
              <a:t>  = 24; </a:t>
            </a:r>
            <a:r>
              <a:rPr lang="en-US" altLang="en-US" i="1" dirty="0"/>
              <a:t>P</a:t>
            </a:r>
            <a:r>
              <a:rPr lang="en-US" altLang="en-US" i="1" baseline="-25000" dirty="0"/>
              <a:t>3 </a:t>
            </a:r>
            <a:r>
              <a:rPr lang="en-US" altLang="en-US" dirty="0"/>
              <a:t>= 27</a:t>
            </a:r>
          </a:p>
          <a:p>
            <a:pPr>
              <a:lnSpc>
                <a:spcPct val="90000"/>
              </a:lnSpc>
              <a:tabLst>
                <a:tab pos="3028950" algn="ctr"/>
                <a:tab pos="4633913" algn="ctr"/>
              </a:tabLst>
            </a:pPr>
            <a:r>
              <a:rPr lang="en-US" altLang="en-US" dirty="0"/>
              <a:t>Average waiting time:  (0 + 24 + 27)/3 = 17</a:t>
            </a:r>
          </a:p>
        </p:txBody>
      </p:sp>
      <p:pic>
        <p:nvPicPr>
          <p:cNvPr id="23555" name="Picture 1">
            <a:extLst>
              <a:ext uri="{FF2B5EF4-FFF2-40B4-BE49-F238E27FC236}">
                <a16:creationId xmlns:a16="http://schemas.microsoft.com/office/drawing/2014/main" id="{6693C49E-F1BF-40FA-ACEB-79D52B112D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38350" y="3403600"/>
            <a:ext cx="7885113"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6547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990725" y="130176"/>
            <a:ext cx="8077200" cy="336550"/>
          </a:xfrm>
        </p:spPr>
        <p:txBody>
          <a:bodyPr/>
          <a:lstStyle/>
          <a:p>
            <a:pPr eaLnBrk="1" hangingPunct="1"/>
            <a:r>
              <a:rPr lang="en-US" altLang="en-US" sz="2800" dirty="0"/>
              <a:t>First- Come, First-Served (FCFS) Scheduling</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286903902"/>
              </p:ext>
            </p:extLst>
          </p:nvPr>
        </p:nvGraphicFramePr>
        <p:xfrm>
          <a:off x="1857375" y="1660525"/>
          <a:ext cx="8210550" cy="4389120"/>
        </p:xfrm>
        <a:graphic>
          <a:graphicData uri="http://schemas.openxmlformats.org/drawingml/2006/table">
            <a:tbl>
              <a:tblPr firstRow="1" bandRow="1">
                <a:tableStyleId>{5C22544A-7EE6-4342-B048-85BDC9FD1C3A}</a:tableStyleId>
              </a:tblPr>
              <a:tblGrid>
                <a:gridCol w="1029027">
                  <a:extLst>
                    <a:ext uri="{9D8B030D-6E8A-4147-A177-3AD203B41FA5}">
                      <a16:colId xmlns:a16="http://schemas.microsoft.com/office/drawing/2014/main" val="20000"/>
                    </a:ext>
                  </a:extLst>
                </a:gridCol>
                <a:gridCol w="1483965">
                  <a:extLst>
                    <a:ext uri="{9D8B030D-6E8A-4147-A177-3AD203B41FA5}">
                      <a16:colId xmlns:a16="http://schemas.microsoft.com/office/drawing/2014/main" val="20001"/>
                    </a:ext>
                  </a:extLst>
                </a:gridCol>
                <a:gridCol w="931540">
                  <a:extLst>
                    <a:ext uri="{9D8B030D-6E8A-4147-A177-3AD203B41FA5}">
                      <a16:colId xmlns:a16="http://schemas.microsoft.com/office/drawing/2014/main" val="20002"/>
                    </a:ext>
                  </a:extLst>
                </a:gridCol>
                <a:gridCol w="1072354">
                  <a:extLst>
                    <a:ext uri="{9D8B030D-6E8A-4147-A177-3AD203B41FA5}">
                      <a16:colId xmlns:a16="http://schemas.microsoft.com/office/drawing/2014/main" val="20003"/>
                    </a:ext>
                  </a:extLst>
                </a:gridCol>
                <a:gridCol w="1398341">
                  <a:extLst>
                    <a:ext uri="{9D8B030D-6E8A-4147-A177-3AD203B41FA5}">
                      <a16:colId xmlns:a16="http://schemas.microsoft.com/office/drawing/2014/main" val="20004"/>
                    </a:ext>
                  </a:extLst>
                </a:gridCol>
                <a:gridCol w="1060220">
                  <a:extLst>
                    <a:ext uri="{9D8B030D-6E8A-4147-A177-3AD203B41FA5}">
                      <a16:colId xmlns:a16="http://schemas.microsoft.com/office/drawing/2014/main" val="20005"/>
                    </a:ext>
                  </a:extLst>
                </a:gridCol>
                <a:gridCol w="1235103">
                  <a:extLst>
                    <a:ext uri="{9D8B030D-6E8A-4147-A177-3AD203B41FA5}">
                      <a16:colId xmlns:a16="http://schemas.microsoft.com/office/drawing/2014/main" val="20006"/>
                    </a:ext>
                  </a:extLst>
                </a:gridCol>
              </a:tblGrid>
              <a:tr h="983609">
                <a:tc>
                  <a:txBody>
                    <a:bodyPr/>
                    <a:lstStyle/>
                    <a:p>
                      <a:r>
                        <a:rPr lang="en-US" dirty="0"/>
                        <a:t>Process</a:t>
                      </a:r>
                    </a:p>
                  </a:txBody>
                  <a:tcPr>
                    <a:solidFill>
                      <a:srgbClr val="00B050"/>
                    </a:solidFill>
                  </a:tcPr>
                </a:tc>
                <a:tc>
                  <a:txBody>
                    <a:bodyPr/>
                    <a:lstStyle/>
                    <a:p>
                      <a:r>
                        <a:rPr lang="en-US" dirty="0"/>
                        <a:t>Burst Time(BT)</a:t>
                      </a:r>
                    </a:p>
                  </a:txBody>
                  <a:tcPr>
                    <a:solidFill>
                      <a:srgbClr val="00B050"/>
                    </a:solidFill>
                  </a:tcPr>
                </a:tc>
                <a:tc>
                  <a:txBody>
                    <a:bodyPr/>
                    <a:lstStyle/>
                    <a:p>
                      <a:r>
                        <a:rPr lang="en-US" dirty="0"/>
                        <a:t>CT</a:t>
                      </a:r>
                    </a:p>
                  </a:txBody>
                  <a:tcPr>
                    <a:solidFill>
                      <a:srgbClr val="00B050"/>
                    </a:solidFill>
                  </a:tcPr>
                </a:tc>
                <a:tc>
                  <a:txBody>
                    <a:bodyPr/>
                    <a:lstStyle/>
                    <a:p>
                      <a:r>
                        <a:rPr lang="en-US" dirty="0"/>
                        <a:t>TAT =</a:t>
                      </a:r>
                    </a:p>
                    <a:p>
                      <a:r>
                        <a:rPr lang="en-US" dirty="0"/>
                        <a:t>CT-AT</a:t>
                      </a:r>
                    </a:p>
                  </a:txBody>
                  <a:tcPr>
                    <a:solidFill>
                      <a:srgbClr val="00B050"/>
                    </a:solidFill>
                  </a:tcPr>
                </a:tc>
                <a:tc>
                  <a:txBody>
                    <a:bodyPr/>
                    <a:lstStyle/>
                    <a:p>
                      <a:r>
                        <a:rPr lang="en-US" dirty="0"/>
                        <a:t>WT =</a:t>
                      </a:r>
                    </a:p>
                    <a:p>
                      <a:r>
                        <a:rPr lang="en-US" dirty="0"/>
                        <a:t>TAT-BT</a:t>
                      </a:r>
                    </a:p>
                  </a:txBody>
                  <a:tcPr>
                    <a:solidFill>
                      <a:srgbClr val="00B050"/>
                    </a:solidFill>
                  </a:tcPr>
                </a:tc>
                <a:tc>
                  <a:txBody>
                    <a:bodyPr/>
                    <a:lstStyle/>
                    <a:p>
                      <a:r>
                        <a:rPr lang="en-US" dirty="0"/>
                        <a:t>RT</a:t>
                      </a:r>
                    </a:p>
                  </a:txBody>
                  <a:tcPr>
                    <a:solidFill>
                      <a:srgbClr val="00B050"/>
                    </a:solidFill>
                  </a:tcPr>
                </a:tc>
                <a:tc>
                  <a:txBody>
                    <a:bodyPr/>
                    <a:lstStyle/>
                    <a:p>
                      <a:r>
                        <a:rPr lang="en-US" dirty="0"/>
                        <a:t>Context Switch</a:t>
                      </a:r>
                    </a:p>
                    <a:p>
                      <a:pPr marL="0" marR="0" indent="0" algn="l" defTabSz="457200" rtl="0" eaLnBrk="1" fontAlgn="auto" latinLnBrk="0" hangingPunct="1">
                        <a:lnSpc>
                          <a:spcPct val="100000"/>
                        </a:lnSpc>
                        <a:spcBef>
                          <a:spcPts val="0"/>
                        </a:spcBef>
                        <a:spcAft>
                          <a:spcPts val="0"/>
                        </a:spcAft>
                        <a:buClrTx/>
                        <a:buSzTx/>
                        <a:buFontTx/>
                        <a:buNone/>
                        <a:tabLst/>
                        <a:defRPr/>
                      </a:pPr>
                      <a:r>
                        <a:rPr lang="en-US" dirty="0"/>
                        <a:t>(1ms)</a:t>
                      </a:r>
                    </a:p>
                    <a:p>
                      <a:endParaRPr lang="en-US" dirty="0"/>
                    </a:p>
                  </a:txBody>
                  <a:tcPr>
                    <a:solidFill>
                      <a:srgbClr val="00B050"/>
                    </a:solidFill>
                  </a:tcPr>
                </a:tc>
                <a:extLst>
                  <a:ext uri="{0D108BD9-81ED-4DB2-BD59-A6C34878D82A}">
                    <a16:rowId xmlns:a16="http://schemas.microsoft.com/office/drawing/2014/main" val="10000"/>
                  </a:ext>
                </a:extLst>
              </a:tr>
              <a:tr h="398908">
                <a:tc>
                  <a:txBody>
                    <a:bodyPr/>
                    <a:lstStyle/>
                    <a:p>
                      <a:pPr algn="ctr"/>
                      <a:r>
                        <a:rPr lang="en-US" b="1" dirty="0">
                          <a:solidFill>
                            <a:schemeClr val="bg1"/>
                          </a:solidFill>
                        </a:rPr>
                        <a:t>P1</a:t>
                      </a:r>
                    </a:p>
                  </a:txBody>
                  <a:tcPr>
                    <a:solidFill>
                      <a:srgbClr val="00B050"/>
                    </a:solidFill>
                  </a:tcPr>
                </a:tc>
                <a:tc>
                  <a:txBody>
                    <a:bodyPr/>
                    <a:lstStyle/>
                    <a:p>
                      <a:pPr algn="ctr"/>
                      <a:r>
                        <a:rPr lang="en-US" b="1" dirty="0">
                          <a:solidFill>
                            <a:schemeClr val="bg1"/>
                          </a:solidFill>
                        </a:rPr>
                        <a:t>2</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extLst>
                  <a:ext uri="{0D108BD9-81ED-4DB2-BD59-A6C34878D82A}">
                    <a16:rowId xmlns:a16="http://schemas.microsoft.com/office/drawing/2014/main" val="10001"/>
                  </a:ext>
                </a:extLst>
              </a:tr>
              <a:tr h="398908">
                <a:tc>
                  <a:txBody>
                    <a:bodyPr/>
                    <a:lstStyle/>
                    <a:p>
                      <a:pPr algn="ctr"/>
                      <a:r>
                        <a:rPr lang="en-US" b="1" dirty="0">
                          <a:solidFill>
                            <a:schemeClr val="bg1"/>
                          </a:solidFill>
                        </a:rPr>
                        <a:t>P2</a:t>
                      </a:r>
                    </a:p>
                  </a:txBody>
                  <a:tcPr>
                    <a:solidFill>
                      <a:srgbClr val="00B050"/>
                    </a:solidFill>
                  </a:tcPr>
                </a:tc>
                <a:tc>
                  <a:txBody>
                    <a:bodyPr/>
                    <a:lstStyle/>
                    <a:p>
                      <a:pPr algn="ctr"/>
                      <a:r>
                        <a:rPr lang="en-US" b="1" dirty="0">
                          <a:solidFill>
                            <a:schemeClr val="bg1"/>
                          </a:solidFill>
                        </a:rPr>
                        <a:t>1</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extLst>
                  <a:ext uri="{0D108BD9-81ED-4DB2-BD59-A6C34878D82A}">
                    <a16:rowId xmlns:a16="http://schemas.microsoft.com/office/drawing/2014/main" val="10002"/>
                  </a:ext>
                </a:extLst>
              </a:tr>
              <a:tr h="398908">
                <a:tc>
                  <a:txBody>
                    <a:bodyPr/>
                    <a:lstStyle/>
                    <a:p>
                      <a:pPr algn="ctr"/>
                      <a:r>
                        <a:rPr lang="en-US" b="1" dirty="0">
                          <a:solidFill>
                            <a:schemeClr val="bg1"/>
                          </a:solidFill>
                        </a:rPr>
                        <a:t>P3</a:t>
                      </a:r>
                    </a:p>
                  </a:txBody>
                  <a:tcPr>
                    <a:solidFill>
                      <a:srgbClr val="00B050"/>
                    </a:solidFill>
                  </a:tcPr>
                </a:tc>
                <a:tc>
                  <a:txBody>
                    <a:bodyPr/>
                    <a:lstStyle/>
                    <a:p>
                      <a:pPr algn="ctr"/>
                      <a:r>
                        <a:rPr lang="en-US" b="1" dirty="0">
                          <a:solidFill>
                            <a:schemeClr val="bg1"/>
                          </a:solidFill>
                        </a:rPr>
                        <a:t>3</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extLst>
                  <a:ext uri="{0D108BD9-81ED-4DB2-BD59-A6C34878D82A}">
                    <a16:rowId xmlns:a16="http://schemas.microsoft.com/office/drawing/2014/main" val="10003"/>
                  </a:ext>
                </a:extLst>
              </a:tr>
              <a:tr h="398908">
                <a:tc>
                  <a:txBody>
                    <a:bodyPr/>
                    <a:lstStyle/>
                    <a:p>
                      <a:pPr algn="ctr"/>
                      <a:r>
                        <a:rPr lang="en-US" b="1" dirty="0">
                          <a:solidFill>
                            <a:schemeClr val="bg1"/>
                          </a:solidFill>
                        </a:rPr>
                        <a:t>P4</a:t>
                      </a:r>
                    </a:p>
                  </a:txBody>
                  <a:tcPr>
                    <a:solidFill>
                      <a:srgbClr val="00B050"/>
                    </a:solidFill>
                  </a:tcPr>
                </a:tc>
                <a:tc>
                  <a:txBody>
                    <a:bodyPr/>
                    <a:lstStyle/>
                    <a:p>
                      <a:pPr algn="ctr"/>
                      <a:r>
                        <a:rPr lang="en-US" b="1" dirty="0">
                          <a:solidFill>
                            <a:schemeClr val="bg1"/>
                          </a:solidFill>
                        </a:rPr>
                        <a:t>5</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extLst>
                  <a:ext uri="{0D108BD9-81ED-4DB2-BD59-A6C34878D82A}">
                    <a16:rowId xmlns:a16="http://schemas.microsoft.com/office/drawing/2014/main" val="10004"/>
                  </a:ext>
                </a:extLst>
              </a:tr>
              <a:tr h="398908">
                <a:tc>
                  <a:txBody>
                    <a:bodyPr/>
                    <a:lstStyle/>
                    <a:p>
                      <a:pPr algn="ctr"/>
                      <a:r>
                        <a:rPr lang="en-US" b="1" dirty="0">
                          <a:solidFill>
                            <a:schemeClr val="bg1"/>
                          </a:solidFill>
                        </a:rPr>
                        <a:t>P5</a:t>
                      </a:r>
                    </a:p>
                  </a:txBody>
                  <a:tcPr>
                    <a:solidFill>
                      <a:srgbClr val="00B050"/>
                    </a:solidFill>
                  </a:tcPr>
                </a:tc>
                <a:tc>
                  <a:txBody>
                    <a:bodyPr/>
                    <a:lstStyle/>
                    <a:p>
                      <a:pPr algn="ctr"/>
                      <a:r>
                        <a:rPr lang="en-US" b="1" dirty="0">
                          <a:solidFill>
                            <a:schemeClr val="bg1"/>
                          </a:solidFill>
                        </a:rPr>
                        <a:t>4</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2152650" y="466726"/>
            <a:ext cx="9001125" cy="1477328"/>
          </a:xfrm>
          <a:prstGeom prst="rect">
            <a:avLst/>
          </a:prstGeom>
          <a:noFill/>
        </p:spPr>
        <p:txBody>
          <a:bodyPr wrap="square" rtlCol="0">
            <a:spAutoFit/>
          </a:bodyPr>
          <a:lstStyle/>
          <a:p>
            <a:r>
              <a:rPr lang="en-US" b="1" dirty="0"/>
              <a:t>CT – Completion Time</a:t>
            </a:r>
          </a:p>
          <a:p>
            <a:r>
              <a:rPr lang="en-US" b="1" dirty="0"/>
              <a:t>TAT – Turn Around Time </a:t>
            </a:r>
            <a:r>
              <a:rPr lang="en-US" b="1" dirty="0">
                <a:solidFill>
                  <a:srgbClr val="FF0000"/>
                </a:solidFill>
              </a:rPr>
              <a:t>= WT + BT</a:t>
            </a:r>
          </a:p>
          <a:p>
            <a:r>
              <a:rPr lang="en-US" b="1" dirty="0"/>
              <a:t>WT – Waiting Time</a:t>
            </a:r>
          </a:p>
          <a:p>
            <a:r>
              <a:rPr lang="en-US" b="1" dirty="0"/>
              <a:t>RT – Response Time (First Submission Time – Arrival Time)</a:t>
            </a:r>
          </a:p>
          <a:p>
            <a:endParaRPr lang="en-US" dirty="0"/>
          </a:p>
        </p:txBody>
      </p:sp>
      <p:sp>
        <p:nvSpPr>
          <p:cNvPr id="10" name="TextBox 9"/>
          <p:cNvSpPr txBox="1"/>
          <p:nvPr/>
        </p:nvSpPr>
        <p:spPr>
          <a:xfrm>
            <a:off x="7600951" y="466726"/>
            <a:ext cx="2924175" cy="861774"/>
          </a:xfrm>
          <a:prstGeom prst="rect">
            <a:avLst/>
          </a:prstGeom>
          <a:noFill/>
        </p:spPr>
        <p:txBody>
          <a:bodyPr wrap="square" rtlCol="0">
            <a:spAutoFit/>
          </a:bodyPr>
          <a:lstStyle/>
          <a:p>
            <a:r>
              <a:rPr lang="en-US" sz="1600" b="1" dirty="0">
                <a:solidFill>
                  <a:srgbClr val="FF0000"/>
                </a:solidFill>
              </a:rPr>
              <a:t>1)Arrival Order</a:t>
            </a:r>
          </a:p>
          <a:p>
            <a:endParaRPr lang="en-US" sz="1600" b="1" dirty="0">
              <a:solidFill>
                <a:srgbClr val="FF0000"/>
              </a:solidFill>
            </a:endParaRPr>
          </a:p>
          <a:p>
            <a:r>
              <a:rPr lang="en-US" sz="1600" b="1" dirty="0">
                <a:solidFill>
                  <a:srgbClr val="FF0000"/>
                </a:solidFill>
              </a:rPr>
              <a:t>Arrival Time</a:t>
            </a:r>
          </a:p>
        </p:txBody>
      </p:sp>
      <p:sp>
        <p:nvSpPr>
          <p:cNvPr id="11" name="TextBox 10"/>
          <p:cNvSpPr txBox="1"/>
          <p:nvPr/>
        </p:nvSpPr>
        <p:spPr>
          <a:xfrm>
            <a:off x="1990725" y="5819776"/>
            <a:ext cx="7277100" cy="830997"/>
          </a:xfrm>
          <a:prstGeom prst="rect">
            <a:avLst/>
          </a:prstGeom>
          <a:noFill/>
        </p:spPr>
        <p:txBody>
          <a:bodyPr wrap="square" rtlCol="0">
            <a:spAutoFit/>
          </a:bodyPr>
          <a:lstStyle/>
          <a:p>
            <a:endParaRPr lang="en-US" sz="1600" b="1" dirty="0"/>
          </a:p>
          <a:p>
            <a:r>
              <a:rPr lang="en-US" sz="1600" b="1" dirty="0"/>
              <a:t>2) Gantt Chart: </a:t>
            </a:r>
          </a:p>
          <a:p>
            <a:r>
              <a:rPr lang="en-US" sz="1600" b="1" dirty="0"/>
              <a:t>Average Waiting Time, Average Turnaround Time</a:t>
            </a:r>
          </a:p>
        </p:txBody>
      </p:sp>
    </p:spTree>
    <p:extLst>
      <p:ext uri="{BB962C8B-B14F-4D97-AF65-F5344CB8AC3E}">
        <p14:creationId xmlns:p14="http://schemas.microsoft.com/office/powerpoint/2010/main" val="1890542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990725" y="130176"/>
            <a:ext cx="8077200" cy="336550"/>
          </a:xfrm>
        </p:spPr>
        <p:txBody>
          <a:bodyPr/>
          <a:lstStyle/>
          <a:p>
            <a:pPr eaLnBrk="1" hangingPunct="1"/>
            <a:r>
              <a:rPr lang="en-US" altLang="en-US" sz="2800" dirty="0"/>
              <a:t>First- Come, First-Served (FCFS) Scheduling</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9635886"/>
              </p:ext>
            </p:extLst>
          </p:nvPr>
        </p:nvGraphicFramePr>
        <p:xfrm>
          <a:off x="1857375" y="1803401"/>
          <a:ext cx="8477250" cy="3734813"/>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1304925">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gridCol w="942975">
                  <a:extLst>
                    <a:ext uri="{9D8B030D-6E8A-4147-A177-3AD203B41FA5}">
                      <a16:colId xmlns:a16="http://schemas.microsoft.com/office/drawing/2014/main" val="20004"/>
                    </a:ext>
                  </a:extLst>
                </a:gridCol>
                <a:gridCol w="1229632">
                  <a:extLst>
                    <a:ext uri="{9D8B030D-6E8A-4147-A177-3AD203B41FA5}">
                      <a16:colId xmlns:a16="http://schemas.microsoft.com/office/drawing/2014/main" val="20005"/>
                    </a:ext>
                  </a:extLst>
                </a:gridCol>
                <a:gridCol w="932305">
                  <a:extLst>
                    <a:ext uri="{9D8B030D-6E8A-4147-A177-3AD203B41FA5}">
                      <a16:colId xmlns:a16="http://schemas.microsoft.com/office/drawing/2014/main" val="20006"/>
                    </a:ext>
                  </a:extLst>
                </a:gridCol>
                <a:gridCol w="1086088">
                  <a:extLst>
                    <a:ext uri="{9D8B030D-6E8A-4147-A177-3AD203B41FA5}">
                      <a16:colId xmlns:a16="http://schemas.microsoft.com/office/drawing/2014/main" val="20007"/>
                    </a:ext>
                  </a:extLst>
                </a:gridCol>
              </a:tblGrid>
              <a:tr h="983609">
                <a:tc>
                  <a:txBody>
                    <a:bodyPr/>
                    <a:lstStyle/>
                    <a:p>
                      <a:r>
                        <a:rPr lang="en-US" dirty="0"/>
                        <a:t>Process</a:t>
                      </a:r>
                    </a:p>
                  </a:txBody>
                  <a:tcPr>
                    <a:solidFill>
                      <a:srgbClr val="00B050"/>
                    </a:solidFill>
                  </a:tcPr>
                </a:tc>
                <a:tc>
                  <a:txBody>
                    <a:bodyPr/>
                    <a:lstStyle/>
                    <a:p>
                      <a:r>
                        <a:rPr lang="en-US" dirty="0"/>
                        <a:t>Arrival</a:t>
                      </a:r>
                      <a:r>
                        <a:rPr lang="en-US" baseline="0" dirty="0"/>
                        <a:t> Time(AT)</a:t>
                      </a:r>
                      <a:endParaRPr lang="en-US" dirty="0"/>
                    </a:p>
                  </a:txBody>
                  <a:tcPr>
                    <a:solidFill>
                      <a:srgbClr val="00B050"/>
                    </a:solidFill>
                  </a:tcPr>
                </a:tc>
                <a:tc>
                  <a:txBody>
                    <a:bodyPr/>
                    <a:lstStyle/>
                    <a:p>
                      <a:r>
                        <a:rPr lang="en-US" dirty="0"/>
                        <a:t>Burst Time(BT)</a:t>
                      </a:r>
                    </a:p>
                  </a:txBody>
                  <a:tcPr>
                    <a:solidFill>
                      <a:srgbClr val="00B050"/>
                    </a:solidFill>
                  </a:tcPr>
                </a:tc>
                <a:tc>
                  <a:txBody>
                    <a:bodyPr/>
                    <a:lstStyle/>
                    <a:p>
                      <a:r>
                        <a:rPr lang="en-US" dirty="0"/>
                        <a:t>CT</a:t>
                      </a:r>
                    </a:p>
                  </a:txBody>
                  <a:tcPr>
                    <a:solidFill>
                      <a:srgbClr val="00B050"/>
                    </a:solidFill>
                  </a:tcPr>
                </a:tc>
                <a:tc>
                  <a:txBody>
                    <a:bodyPr/>
                    <a:lstStyle/>
                    <a:p>
                      <a:r>
                        <a:rPr lang="en-US" dirty="0"/>
                        <a:t>TAT =</a:t>
                      </a:r>
                    </a:p>
                    <a:p>
                      <a:r>
                        <a:rPr lang="en-US" dirty="0"/>
                        <a:t>CT-AT</a:t>
                      </a:r>
                    </a:p>
                  </a:txBody>
                  <a:tcPr>
                    <a:solidFill>
                      <a:srgbClr val="00B050"/>
                    </a:solidFill>
                  </a:tcPr>
                </a:tc>
                <a:tc>
                  <a:txBody>
                    <a:bodyPr/>
                    <a:lstStyle/>
                    <a:p>
                      <a:r>
                        <a:rPr lang="en-US" dirty="0"/>
                        <a:t>WT =</a:t>
                      </a:r>
                    </a:p>
                    <a:p>
                      <a:r>
                        <a:rPr lang="en-US" dirty="0"/>
                        <a:t>TAT-BT</a:t>
                      </a:r>
                    </a:p>
                  </a:txBody>
                  <a:tcPr>
                    <a:solidFill>
                      <a:srgbClr val="00B050"/>
                    </a:solidFill>
                  </a:tcPr>
                </a:tc>
                <a:tc>
                  <a:txBody>
                    <a:bodyPr/>
                    <a:lstStyle/>
                    <a:p>
                      <a:r>
                        <a:rPr lang="en-US" dirty="0"/>
                        <a:t>RT</a:t>
                      </a:r>
                    </a:p>
                  </a:txBody>
                  <a:tcPr>
                    <a:solidFill>
                      <a:srgbClr val="00B050"/>
                    </a:solidFill>
                  </a:tcPr>
                </a:tc>
                <a:tc>
                  <a:txBody>
                    <a:bodyPr/>
                    <a:lstStyle/>
                    <a:p>
                      <a:r>
                        <a:rPr lang="en-US" dirty="0"/>
                        <a:t>Context Switch</a:t>
                      </a:r>
                    </a:p>
                    <a:p>
                      <a:r>
                        <a:rPr lang="en-US" dirty="0"/>
                        <a:t>(1ms)</a:t>
                      </a:r>
                    </a:p>
                  </a:txBody>
                  <a:tcPr>
                    <a:solidFill>
                      <a:srgbClr val="00B050"/>
                    </a:solidFill>
                  </a:tcPr>
                </a:tc>
                <a:extLst>
                  <a:ext uri="{0D108BD9-81ED-4DB2-BD59-A6C34878D82A}">
                    <a16:rowId xmlns:a16="http://schemas.microsoft.com/office/drawing/2014/main" val="10000"/>
                  </a:ext>
                </a:extLst>
              </a:tr>
              <a:tr h="398908">
                <a:tc>
                  <a:txBody>
                    <a:bodyPr/>
                    <a:lstStyle/>
                    <a:p>
                      <a:pPr algn="ctr"/>
                      <a:r>
                        <a:rPr lang="en-US" b="1" dirty="0">
                          <a:solidFill>
                            <a:schemeClr val="bg1"/>
                          </a:solidFill>
                        </a:rPr>
                        <a:t>P1</a:t>
                      </a:r>
                    </a:p>
                  </a:txBody>
                  <a:tcPr>
                    <a:solidFill>
                      <a:srgbClr val="00B050"/>
                    </a:solidFill>
                  </a:tcPr>
                </a:tc>
                <a:tc>
                  <a:txBody>
                    <a:bodyPr/>
                    <a:lstStyle/>
                    <a:p>
                      <a:pPr algn="ctr"/>
                      <a:r>
                        <a:rPr lang="en-US" b="1" dirty="0">
                          <a:solidFill>
                            <a:schemeClr val="bg1"/>
                          </a:solidFill>
                        </a:rPr>
                        <a:t>2</a:t>
                      </a:r>
                    </a:p>
                  </a:txBody>
                  <a:tcPr>
                    <a:solidFill>
                      <a:srgbClr val="00B050"/>
                    </a:solidFill>
                  </a:tcPr>
                </a:tc>
                <a:tc>
                  <a:txBody>
                    <a:bodyPr/>
                    <a:lstStyle/>
                    <a:p>
                      <a:pPr algn="ctr"/>
                      <a:r>
                        <a:rPr lang="en-US" b="1" dirty="0">
                          <a:solidFill>
                            <a:schemeClr val="bg1"/>
                          </a:solidFill>
                        </a:rPr>
                        <a:t>2</a:t>
                      </a:r>
                    </a:p>
                  </a:txBody>
                  <a:tcPr>
                    <a:solidFill>
                      <a:srgbClr val="00B050"/>
                    </a:solidFill>
                  </a:tcPr>
                </a:tc>
                <a:tc>
                  <a:txBody>
                    <a:bodyPr/>
                    <a:lstStyle/>
                    <a:p>
                      <a:pPr algn="ctr"/>
                      <a:r>
                        <a:rPr lang="en-US" b="1" dirty="0">
                          <a:solidFill>
                            <a:srgbClr val="002060"/>
                          </a:solidFill>
                        </a:rPr>
                        <a:t>4</a:t>
                      </a:r>
                    </a:p>
                  </a:txBody>
                  <a:tcPr>
                    <a:solidFill>
                      <a:srgbClr val="FFC000"/>
                    </a:solidFill>
                  </a:tcPr>
                </a:tc>
                <a:tc>
                  <a:txBody>
                    <a:bodyPr/>
                    <a:lstStyle/>
                    <a:p>
                      <a:pPr algn="ctr"/>
                      <a:r>
                        <a:rPr lang="en-US" b="1" dirty="0">
                          <a:solidFill>
                            <a:srgbClr val="002060"/>
                          </a:solidFill>
                        </a:rPr>
                        <a:t>2</a:t>
                      </a:r>
                    </a:p>
                  </a:txBody>
                  <a:tcPr>
                    <a:solidFill>
                      <a:srgbClr val="FFC000"/>
                    </a:solidFill>
                  </a:tcPr>
                </a:tc>
                <a:tc>
                  <a:txBody>
                    <a:bodyPr/>
                    <a:lstStyle/>
                    <a:p>
                      <a:pPr algn="ctr"/>
                      <a:r>
                        <a:rPr lang="en-US" b="1" dirty="0">
                          <a:solidFill>
                            <a:srgbClr val="002060"/>
                          </a:solidFill>
                        </a:rPr>
                        <a:t>0</a:t>
                      </a:r>
                    </a:p>
                  </a:txBody>
                  <a:tcPr>
                    <a:solidFill>
                      <a:srgbClr val="FFC000"/>
                    </a:solidFill>
                  </a:tcPr>
                </a:tc>
                <a:tc>
                  <a:txBody>
                    <a:bodyPr/>
                    <a:lstStyle/>
                    <a:p>
                      <a:pPr algn="ctr"/>
                      <a:r>
                        <a:rPr lang="en-US" b="1" dirty="0">
                          <a:solidFill>
                            <a:srgbClr val="002060"/>
                          </a:solidFill>
                        </a:rPr>
                        <a:t>0</a:t>
                      </a:r>
                    </a:p>
                  </a:txBody>
                  <a:tcPr>
                    <a:solidFill>
                      <a:srgbClr val="FFC000"/>
                    </a:solidFill>
                  </a:tcPr>
                </a:tc>
                <a:tc>
                  <a:txBody>
                    <a:bodyPr/>
                    <a:lstStyle/>
                    <a:p>
                      <a:pPr algn="ctr"/>
                      <a:endParaRPr lang="en-US" b="1" dirty="0">
                        <a:solidFill>
                          <a:srgbClr val="002060"/>
                        </a:solidFill>
                      </a:endParaRPr>
                    </a:p>
                  </a:txBody>
                  <a:tcPr>
                    <a:solidFill>
                      <a:srgbClr val="FFC000"/>
                    </a:solidFill>
                  </a:tcPr>
                </a:tc>
                <a:extLst>
                  <a:ext uri="{0D108BD9-81ED-4DB2-BD59-A6C34878D82A}">
                    <a16:rowId xmlns:a16="http://schemas.microsoft.com/office/drawing/2014/main" val="10001"/>
                  </a:ext>
                </a:extLst>
              </a:tr>
              <a:tr h="398908">
                <a:tc>
                  <a:txBody>
                    <a:bodyPr/>
                    <a:lstStyle/>
                    <a:p>
                      <a:pPr algn="ctr"/>
                      <a:r>
                        <a:rPr lang="en-US" b="1" dirty="0">
                          <a:solidFill>
                            <a:schemeClr val="bg1"/>
                          </a:solidFill>
                        </a:rPr>
                        <a:t>P2</a:t>
                      </a:r>
                    </a:p>
                  </a:txBody>
                  <a:tcPr>
                    <a:solidFill>
                      <a:srgbClr val="00B050"/>
                    </a:solidFill>
                  </a:tcPr>
                </a:tc>
                <a:tc>
                  <a:txBody>
                    <a:bodyPr/>
                    <a:lstStyle/>
                    <a:p>
                      <a:pPr algn="ctr"/>
                      <a:r>
                        <a:rPr lang="en-US" b="1" dirty="0">
                          <a:solidFill>
                            <a:schemeClr val="bg1"/>
                          </a:solidFill>
                        </a:rPr>
                        <a:t>0</a:t>
                      </a:r>
                    </a:p>
                  </a:txBody>
                  <a:tcPr>
                    <a:solidFill>
                      <a:srgbClr val="00B050"/>
                    </a:solidFill>
                  </a:tcPr>
                </a:tc>
                <a:tc>
                  <a:txBody>
                    <a:bodyPr/>
                    <a:lstStyle/>
                    <a:p>
                      <a:pPr algn="ctr"/>
                      <a:r>
                        <a:rPr lang="en-US" b="1" dirty="0">
                          <a:solidFill>
                            <a:schemeClr val="bg1"/>
                          </a:solidFill>
                        </a:rPr>
                        <a:t>1</a:t>
                      </a:r>
                    </a:p>
                  </a:txBody>
                  <a:tcPr>
                    <a:solidFill>
                      <a:srgbClr val="00B050"/>
                    </a:solidFill>
                  </a:tcPr>
                </a:tc>
                <a:tc>
                  <a:txBody>
                    <a:bodyPr/>
                    <a:lstStyle/>
                    <a:p>
                      <a:pPr algn="ctr"/>
                      <a:r>
                        <a:rPr lang="en-US" b="1" dirty="0">
                          <a:solidFill>
                            <a:srgbClr val="002060"/>
                          </a:solidFill>
                        </a:rPr>
                        <a:t>1</a:t>
                      </a:r>
                    </a:p>
                  </a:txBody>
                  <a:tcPr>
                    <a:solidFill>
                      <a:srgbClr val="FFC000"/>
                    </a:solidFill>
                  </a:tcPr>
                </a:tc>
                <a:tc>
                  <a:txBody>
                    <a:bodyPr/>
                    <a:lstStyle/>
                    <a:p>
                      <a:pPr algn="ctr"/>
                      <a:r>
                        <a:rPr lang="en-US" b="1" dirty="0">
                          <a:solidFill>
                            <a:srgbClr val="002060"/>
                          </a:solidFill>
                        </a:rPr>
                        <a:t>1</a:t>
                      </a:r>
                    </a:p>
                  </a:txBody>
                  <a:tcPr>
                    <a:solidFill>
                      <a:srgbClr val="FFC000"/>
                    </a:solidFill>
                  </a:tcPr>
                </a:tc>
                <a:tc>
                  <a:txBody>
                    <a:bodyPr/>
                    <a:lstStyle/>
                    <a:p>
                      <a:pPr algn="ctr"/>
                      <a:r>
                        <a:rPr lang="en-US" b="1" dirty="0">
                          <a:solidFill>
                            <a:srgbClr val="002060"/>
                          </a:solidFill>
                        </a:rPr>
                        <a:t>0</a:t>
                      </a:r>
                    </a:p>
                  </a:txBody>
                  <a:tcPr>
                    <a:solidFill>
                      <a:srgbClr val="FFC000"/>
                    </a:solidFill>
                  </a:tcPr>
                </a:tc>
                <a:tc>
                  <a:txBody>
                    <a:bodyPr/>
                    <a:lstStyle/>
                    <a:p>
                      <a:pPr algn="ctr"/>
                      <a:r>
                        <a:rPr lang="en-US" b="1" dirty="0">
                          <a:solidFill>
                            <a:srgbClr val="002060"/>
                          </a:solidFill>
                        </a:rPr>
                        <a:t>0</a:t>
                      </a:r>
                    </a:p>
                  </a:txBody>
                  <a:tcPr>
                    <a:solidFill>
                      <a:srgbClr val="FFC000"/>
                    </a:solidFill>
                  </a:tcPr>
                </a:tc>
                <a:tc>
                  <a:txBody>
                    <a:bodyPr/>
                    <a:lstStyle/>
                    <a:p>
                      <a:pPr algn="ctr"/>
                      <a:endParaRPr lang="en-US" b="1">
                        <a:solidFill>
                          <a:srgbClr val="002060"/>
                        </a:solidFill>
                      </a:endParaRPr>
                    </a:p>
                  </a:txBody>
                  <a:tcPr>
                    <a:solidFill>
                      <a:srgbClr val="FFC000"/>
                    </a:solidFill>
                  </a:tcPr>
                </a:tc>
                <a:extLst>
                  <a:ext uri="{0D108BD9-81ED-4DB2-BD59-A6C34878D82A}">
                    <a16:rowId xmlns:a16="http://schemas.microsoft.com/office/drawing/2014/main" val="10002"/>
                  </a:ext>
                </a:extLst>
              </a:tr>
              <a:tr h="398908">
                <a:tc>
                  <a:txBody>
                    <a:bodyPr/>
                    <a:lstStyle/>
                    <a:p>
                      <a:pPr algn="ctr"/>
                      <a:r>
                        <a:rPr lang="en-US" b="1" dirty="0">
                          <a:solidFill>
                            <a:schemeClr val="bg1"/>
                          </a:solidFill>
                        </a:rPr>
                        <a:t>P3</a:t>
                      </a:r>
                    </a:p>
                  </a:txBody>
                  <a:tcPr>
                    <a:solidFill>
                      <a:srgbClr val="00B050"/>
                    </a:solidFill>
                  </a:tcPr>
                </a:tc>
                <a:tc>
                  <a:txBody>
                    <a:bodyPr/>
                    <a:lstStyle/>
                    <a:p>
                      <a:pPr algn="ctr"/>
                      <a:r>
                        <a:rPr lang="en-US" b="1" dirty="0">
                          <a:solidFill>
                            <a:schemeClr val="bg1"/>
                          </a:solidFill>
                        </a:rPr>
                        <a:t>2</a:t>
                      </a:r>
                    </a:p>
                  </a:txBody>
                  <a:tcPr>
                    <a:solidFill>
                      <a:srgbClr val="00B050"/>
                    </a:solidFill>
                  </a:tcPr>
                </a:tc>
                <a:tc>
                  <a:txBody>
                    <a:bodyPr/>
                    <a:lstStyle/>
                    <a:p>
                      <a:pPr algn="ctr"/>
                      <a:r>
                        <a:rPr lang="en-US" b="1" dirty="0">
                          <a:solidFill>
                            <a:schemeClr val="bg1"/>
                          </a:solidFill>
                        </a:rPr>
                        <a:t>3</a:t>
                      </a:r>
                    </a:p>
                  </a:txBody>
                  <a:tcPr>
                    <a:solidFill>
                      <a:srgbClr val="00B050"/>
                    </a:solidFill>
                  </a:tcPr>
                </a:tc>
                <a:tc>
                  <a:txBody>
                    <a:bodyPr/>
                    <a:lstStyle/>
                    <a:p>
                      <a:pPr algn="ctr"/>
                      <a:r>
                        <a:rPr lang="en-US" b="1" dirty="0">
                          <a:solidFill>
                            <a:srgbClr val="002060"/>
                          </a:solidFill>
                        </a:rPr>
                        <a:t>7</a:t>
                      </a:r>
                    </a:p>
                  </a:txBody>
                  <a:tcPr>
                    <a:solidFill>
                      <a:srgbClr val="FFC000"/>
                    </a:solidFill>
                  </a:tcPr>
                </a:tc>
                <a:tc>
                  <a:txBody>
                    <a:bodyPr/>
                    <a:lstStyle/>
                    <a:p>
                      <a:pPr algn="ctr"/>
                      <a:r>
                        <a:rPr lang="en-US" b="1" dirty="0">
                          <a:solidFill>
                            <a:srgbClr val="002060"/>
                          </a:solidFill>
                        </a:rPr>
                        <a:t>5</a:t>
                      </a:r>
                    </a:p>
                  </a:txBody>
                  <a:tcPr>
                    <a:solidFill>
                      <a:srgbClr val="FFC000"/>
                    </a:solidFill>
                  </a:tcPr>
                </a:tc>
                <a:tc>
                  <a:txBody>
                    <a:bodyPr/>
                    <a:lstStyle/>
                    <a:p>
                      <a:pPr algn="ctr"/>
                      <a:r>
                        <a:rPr lang="en-US" b="1" dirty="0">
                          <a:solidFill>
                            <a:srgbClr val="002060"/>
                          </a:solidFill>
                        </a:rPr>
                        <a:t>2</a:t>
                      </a:r>
                    </a:p>
                  </a:txBody>
                  <a:tcPr>
                    <a:solidFill>
                      <a:srgbClr val="FFC000"/>
                    </a:solidFill>
                  </a:tcPr>
                </a:tc>
                <a:tc>
                  <a:txBody>
                    <a:bodyPr/>
                    <a:lstStyle/>
                    <a:p>
                      <a:pPr algn="ctr"/>
                      <a:r>
                        <a:rPr lang="en-US" b="1" dirty="0">
                          <a:solidFill>
                            <a:srgbClr val="002060"/>
                          </a:solidFill>
                        </a:rPr>
                        <a:t>2</a:t>
                      </a:r>
                    </a:p>
                  </a:txBody>
                  <a:tcPr>
                    <a:solidFill>
                      <a:srgbClr val="FFC000"/>
                    </a:solidFill>
                  </a:tcPr>
                </a:tc>
                <a:tc>
                  <a:txBody>
                    <a:bodyPr/>
                    <a:lstStyle/>
                    <a:p>
                      <a:pPr algn="ctr"/>
                      <a:endParaRPr lang="en-US" b="1">
                        <a:solidFill>
                          <a:srgbClr val="002060"/>
                        </a:solidFill>
                      </a:endParaRPr>
                    </a:p>
                  </a:txBody>
                  <a:tcPr>
                    <a:solidFill>
                      <a:srgbClr val="FFC000"/>
                    </a:solidFill>
                  </a:tcPr>
                </a:tc>
                <a:extLst>
                  <a:ext uri="{0D108BD9-81ED-4DB2-BD59-A6C34878D82A}">
                    <a16:rowId xmlns:a16="http://schemas.microsoft.com/office/drawing/2014/main" val="10003"/>
                  </a:ext>
                </a:extLst>
              </a:tr>
              <a:tr h="398908">
                <a:tc>
                  <a:txBody>
                    <a:bodyPr/>
                    <a:lstStyle/>
                    <a:p>
                      <a:pPr algn="ctr"/>
                      <a:r>
                        <a:rPr lang="en-US" b="1" dirty="0">
                          <a:solidFill>
                            <a:schemeClr val="bg1"/>
                          </a:solidFill>
                        </a:rPr>
                        <a:t>P4</a:t>
                      </a:r>
                    </a:p>
                  </a:txBody>
                  <a:tcPr>
                    <a:solidFill>
                      <a:srgbClr val="00B050"/>
                    </a:solidFill>
                  </a:tcPr>
                </a:tc>
                <a:tc>
                  <a:txBody>
                    <a:bodyPr/>
                    <a:lstStyle/>
                    <a:p>
                      <a:pPr algn="ctr"/>
                      <a:r>
                        <a:rPr lang="en-US" b="1" dirty="0">
                          <a:solidFill>
                            <a:schemeClr val="bg1"/>
                          </a:solidFill>
                        </a:rPr>
                        <a:t>3</a:t>
                      </a:r>
                    </a:p>
                  </a:txBody>
                  <a:tcPr>
                    <a:solidFill>
                      <a:srgbClr val="00B050"/>
                    </a:solidFill>
                  </a:tcPr>
                </a:tc>
                <a:tc>
                  <a:txBody>
                    <a:bodyPr/>
                    <a:lstStyle/>
                    <a:p>
                      <a:pPr algn="ctr"/>
                      <a:r>
                        <a:rPr lang="en-US" b="1" dirty="0">
                          <a:solidFill>
                            <a:schemeClr val="bg1"/>
                          </a:solidFill>
                        </a:rPr>
                        <a:t>5</a:t>
                      </a:r>
                    </a:p>
                  </a:txBody>
                  <a:tcPr>
                    <a:solidFill>
                      <a:srgbClr val="00B050"/>
                    </a:solidFill>
                  </a:tcPr>
                </a:tc>
                <a:tc>
                  <a:txBody>
                    <a:bodyPr/>
                    <a:lstStyle/>
                    <a:p>
                      <a:pPr algn="ctr"/>
                      <a:r>
                        <a:rPr lang="en-US" b="1" dirty="0">
                          <a:solidFill>
                            <a:srgbClr val="002060"/>
                          </a:solidFill>
                        </a:rPr>
                        <a:t>12</a:t>
                      </a:r>
                    </a:p>
                    <a:p>
                      <a:pPr algn="ctr"/>
                      <a:endParaRPr lang="en-US" b="1" dirty="0">
                        <a:solidFill>
                          <a:srgbClr val="002060"/>
                        </a:solidFill>
                      </a:endParaRPr>
                    </a:p>
                  </a:txBody>
                  <a:tcPr>
                    <a:solidFill>
                      <a:srgbClr val="FFC000"/>
                    </a:solidFill>
                  </a:tcPr>
                </a:tc>
                <a:tc>
                  <a:txBody>
                    <a:bodyPr/>
                    <a:lstStyle/>
                    <a:p>
                      <a:pPr algn="ctr"/>
                      <a:r>
                        <a:rPr lang="en-US" b="1" dirty="0">
                          <a:solidFill>
                            <a:srgbClr val="002060"/>
                          </a:solidFill>
                        </a:rPr>
                        <a:t>9</a:t>
                      </a:r>
                    </a:p>
                  </a:txBody>
                  <a:tcPr>
                    <a:solidFill>
                      <a:srgbClr val="FFC000"/>
                    </a:solidFill>
                  </a:tcPr>
                </a:tc>
                <a:tc>
                  <a:txBody>
                    <a:bodyPr/>
                    <a:lstStyle/>
                    <a:p>
                      <a:pPr algn="ctr"/>
                      <a:r>
                        <a:rPr lang="en-US" b="1" dirty="0">
                          <a:solidFill>
                            <a:srgbClr val="002060"/>
                          </a:solidFill>
                        </a:rPr>
                        <a:t>4</a:t>
                      </a:r>
                    </a:p>
                  </a:txBody>
                  <a:tcPr>
                    <a:solidFill>
                      <a:srgbClr val="FFC000"/>
                    </a:solidFill>
                  </a:tcPr>
                </a:tc>
                <a:tc>
                  <a:txBody>
                    <a:bodyPr/>
                    <a:lstStyle/>
                    <a:p>
                      <a:pPr algn="ctr"/>
                      <a:r>
                        <a:rPr lang="en-US" b="1" dirty="0">
                          <a:solidFill>
                            <a:srgbClr val="002060"/>
                          </a:solidFill>
                        </a:rPr>
                        <a:t>4</a:t>
                      </a:r>
                    </a:p>
                  </a:txBody>
                  <a:tcPr>
                    <a:solidFill>
                      <a:srgbClr val="FFC000"/>
                    </a:solidFill>
                  </a:tcPr>
                </a:tc>
                <a:tc>
                  <a:txBody>
                    <a:bodyPr/>
                    <a:lstStyle/>
                    <a:p>
                      <a:pPr algn="ctr"/>
                      <a:endParaRPr lang="en-US" b="1" dirty="0">
                        <a:solidFill>
                          <a:srgbClr val="002060"/>
                        </a:solidFill>
                      </a:endParaRPr>
                    </a:p>
                  </a:txBody>
                  <a:tcPr>
                    <a:solidFill>
                      <a:srgbClr val="FFC000"/>
                    </a:solidFill>
                  </a:tcPr>
                </a:tc>
                <a:extLst>
                  <a:ext uri="{0D108BD9-81ED-4DB2-BD59-A6C34878D82A}">
                    <a16:rowId xmlns:a16="http://schemas.microsoft.com/office/drawing/2014/main" val="10004"/>
                  </a:ext>
                </a:extLst>
              </a:tr>
              <a:tr h="398908">
                <a:tc>
                  <a:txBody>
                    <a:bodyPr/>
                    <a:lstStyle/>
                    <a:p>
                      <a:pPr algn="ctr"/>
                      <a:r>
                        <a:rPr lang="en-US" b="1" dirty="0">
                          <a:solidFill>
                            <a:schemeClr val="bg1"/>
                          </a:solidFill>
                        </a:rPr>
                        <a:t>P5</a:t>
                      </a:r>
                    </a:p>
                  </a:txBody>
                  <a:tcPr>
                    <a:solidFill>
                      <a:srgbClr val="00B050"/>
                    </a:solidFill>
                  </a:tcPr>
                </a:tc>
                <a:tc>
                  <a:txBody>
                    <a:bodyPr/>
                    <a:lstStyle/>
                    <a:p>
                      <a:pPr algn="ctr"/>
                      <a:r>
                        <a:rPr lang="en-US" b="1" dirty="0">
                          <a:solidFill>
                            <a:schemeClr val="bg1"/>
                          </a:solidFill>
                        </a:rPr>
                        <a:t>4</a:t>
                      </a:r>
                    </a:p>
                  </a:txBody>
                  <a:tcPr>
                    <a:solidFill>
                      <a:srgbClr val="00B050"/>
                    </a:solidFill>
                  </a:tcPr>
                </a:tc>
                <a:tc>
                  <a:txBody>
                    <a:bodyPr/>
                    <a:lstStyle/>
                    <a:p>
                      <a:pPr algn="ctr"/>
                      <a:r>
                        <a:rPr lang="en-US" b="1" dirty="0">
                          <a:solidFill>
                            <a:schemeClr val="bg1"/>
                          </a:solidFill>
                        </a:rPr>
                        <a:t>4</a:t>
                      </a:r>
                    </a:p>
                  </a:txBody>
                  <a:tcPr>
                    <a:solidFill>
                      <a:srgbClr val="00B050"/>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b="1" dirty="0">
                          <a:solidFill>
                            <a:srgbClr val="002060"/>
                          </a:solidFill>
                        </a:rPr>
                        <a:t>16</a:t>
                      </a:r>
                    </a:p>
                    <a:p>
                      <a:pPr algn="ctr"/>
                      <a:endParaRPr lang="en-US" b="1" dirty="0">
                        <a:solidFill>
                          <a:srgbClr val="002060"/>
                        </a:solidFill>
                      </a:endParaRPr>
                    </a:p>
                    <a:p>
                      <a:pPr algn="ctr"/>
                      <a:endParaRPr lang="en-US" b="1" dirty="0">
                        <a:solidFill>
                          <a:srgbClr val="002060"/>
                        </a:solidFill>
                      </a:endParaRPr>
                    </a:p>
                  </a:txBody>
                  <a:tcPr>
                    <a:solidFill>
                      <a:srgbClr val="FFC000"/>
                    </a:solidFill>
                  </a:tcPr>
                </a:tc>
                <a:tc>
                  <a:txBody>
                    <a:bodyPr/>
                    <a:lstStyle/>
                    <a:p>
                      <a:pPr algn="ctr"/>
                      <a:r>
                        <a:rPr lang="en-US" b="1" dirty="0">
                          <a:solidFill>
                            <a:srgbClr val="002060"/>
                          </a:solidFill>
                        </a:rPr>
                        <a:t>12</a:t>
                      </a:r>
                    </a:p>
                  </a:txBody>
                  <a:tcPr>
                    <a:solidFill>
                      <a:srgbClr val="FFC000"/>
                    </a:solidFill>
                  </a:tcPr>
                </a:tc>
                <a:tc>
                  <a:txBody>
                    <a:bodyPr/>
                    <a:lstStyle/>
                    <a:p>
                      <a:pPr algn="ctr"/>
                      <a:r>
                        <a:rPr lang="en-US" b="1" dirty="0">
                          <a:solidFill>
                            <a:srgbClr val="002060"/>
                          </a:solidFill>
                        </a:rPr>
                        <a:t>8</a:t>
                      </a:r>
                    </a:p>
                  </a:txBody>
                  <a:tcPr>
                    <a:solidFill>
                      <a:srgbClr val="FFC000"/>
                    </a:solidFill>
                  </a:tcPr>
                </a:tc>
                <a:tc>
                  <a:txBody>
                    <a:bodyPr/>
                    <a:lstStyle/>
                    <a:p>
                      <a:pPr algn="ctr"/>
                      <a:r>
                        <a:rPr lang="en-US" b="1" dirty="0">
                          <a:solidFill>
                            <a:srgbClr val="002060"/>
                          </a:solidFill>
                        </a:rPr>
                        <a:t>8</a:t>
                      </a:r>
                    </a:p>
                  </a:txBody>
                  <a:tcPr>
                    <a:solidFill>
                      <a:srgbClr val="FFC000"/>
                    </a:solidFill>
                  </a:tcPr>
                </a:tc>
                <a:tc>
                  <a:txBody>
                    <a:bodyPr/>
                    <a:lstStyle/>
                    <a:p>
                      <a:pPr algn="ctr"/>
                      <a:endParaRPr lang="en-US" b="1" dirty="0">
                        <a:solidFill>
                          <a:srgbClr val="002060"/>
                        </a:solidFill>
                      </a:endParaRPr>
                    </a:p>
                  </a:txBody>
                  <a:tcPr>
                    <a:solidFill>
                      <a:srgbClr val="FFC000"/>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2152650" y="466726"/>
            <a:ext cx="8286750" cy="1477328"/>
          </a:xfrm>
          <a:prstGeom prst="rect">
            <a:avLst/>
          </a:prstGeom>
          <a:noFill/>
        </p:spPr>
        <p:txBody>
          <a:bodyPr wrap="square" rtlCol="0">
            <a:spAutoFit/>
          </a:bodyPr>
          <a:lstStyle/>
          <a:p>
            <a:r>
              <a:rPr lang="en-US" b="1" dirty="0"/>
              <a:t>CT – Completion Time</a:t>
            </a:r>
          </a:p>
          <a:p>
            <a:r>
              <a:rPr lang="en-US" b="1" dirty="0"/>
              <a:t>TAT – Turn Around Time </a:t>
            </a:r>
            <a:r>
              <a:rPr lang="en-US" b="1" dirty="0">
                <a:solidFill>
                  <a:srgbClr val="FF0000"/>
                </a:solidFill>
              </a:rPr>
              <a:t>= WT + BT</a:t>
            </a:r>
            <a:endParaRPr lang="en-US" b="1" dirty="0"/>
          </a:p>
          <a:p>
            <a:r>
              <a:rPr lang="en-US" b="1" dirty="0"/>
              <a:t>WT – Waiting Time</a:t>
            </a:r>
          </a:p>
          <a:p>
            <a:r>
              <a:rPr lang="en-US" b="1" dirty="0"/>
              <a:t>RT – Response Time (First Submission Time – Arrival Time)</a:t>
            </a:r>
          </a:p>
          <a:p>
            <a:endParaRPr lang="en-US" dirty="0"/>
          </a:p>
        </p:txBody>
      </p:sp>
      <p:sp>
        <p:nvSpPr>
          <p:cNvPr id="10" name="TextBox 9"/>
          <p:cNvSpPr txBox="1"/>
          <p:nvPr/>
        </p:nvSpPr>
        <p:spPr>
          <a:xfrm>
            <a:off x="7600951" y="466726"/>
            <a:ext cx="2924175" cy="861774"/>
          </a:xfrm>
          <a:prstGeom prst="rect">
            <a:avLst/>
          </a:prstGeom>
          <a:noFill/>
        </p:spPr>
        <p:txBody>
          <a:bodyPr wrap="square" rtlCol="0">
            <a:spAutoFit/>
          </a:bodyPr>
          <a:lstStyle/>
          <a:p>
            <a:r>
              <a:rPr lang="en-US" sz="1600" b="1" dirty="0"/>
              <a:t>Arrival Order</a:t>
            </a:r>
          </a:p>
          <a:p>
            <a:endParaRPr lang="en-US" sz="1600" b="1" dirty="0"/>
          </a:p>
          <a:p>
            <a:r>
              <a:rPr lang="en-US" sz="1600" b="1" dirty="0"/>
              <a:t>Arrival Time</a:t>
            </a:r>
          </a:p>
        </p:txBody>
      </p:sp>
      <p:sp>
        <p:nvSpPr>
          <p:cNvPr id="11" name="TextBox 10"/>
          <p:cNvSpPr txBox="1"/>
          <p:nvPr/>
        </p:nvSpPr>
        <p:spPr>
          <a:xfrm>
            <a:off x="1990725" y="5819776"/>
            <a:ext cx="7277100" cy="830997"/>
          </a:xfrm>
          <a:prstGeom prst="rect">
            <a:avLst/>
          </a:prstGeom>
          <a:noFill/>
        </p:spPr>
        <p:txBody>
          <a:bodyPr wrap="square" rtlCol="0">
            <a:spAutoFit/>
          </a:bodyPr>
          <a:lstStyle/>
          <a:p>
            <a:endParaRPr lang="en-US" sz="1600" b="1" dirty="0"/>
          </a:p>
          <a:p>
            <a:r>
              <a:rPr lang="en-US" sz="1600" b="1" dirty="0"/>
              <a:t>Gantt Chart: </a:t>
            </a:r>
          </a:p>
          <a:p>
            <a:r>
              <a:rPr lang="en-US" sz="1600" b="1" dirty="0"/>
              <a:t>Average Waiting Time, Average Turnaround Time</a:t>
            </a:r>
          </a:p>
        </p:txBody>
      </p:sp>
    </p:spTree>
    <p:extLst>
      <p:ext uri="{BB962C8B-B14F-4D97-AF65-F5344CB8AC3E}">
        <p14:creationId xmlns:p14="http://schemas.microsoft.com/office/powerpoint/2010/main" val="916040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990725" y="130176"/>
            <a:ext cx="8077200" cy="336550"/>
          </a:xfrm>
        </p:spPr>
        <p:txBody>
          <a:bodyPr/>
          <a:lstStyle/>
          <a:p>
            <a:pPr eaLnBrk="1" hangingPunct="1"/>
            <a:r>
              <a:rPr lang="en-US" altLang="en-US" sz="2800" dirty="0"/>
              <a:t>First- Come, First-Served (FCFS) Scheduling</a:t>
            </a:r>
          </a:p>
        </p:txBody>
      </p:sp>
      <p:sp>
        <p:nvSpPr>
          <p:cNvPr id="10" name="TextBox 9"/>
          <p:cNvSpPr txBox="1"/>
          <p:nvPr/>
        </p:nvSpPr>
        <p:spPr>
          <a:xfrm>
            <a:off x="2457450" y="466728"/>
            <a:ext cx="7181850" cy="461665"/>
          </a:xfrm>
          <a:prstGeom prst="rect">
            <a:avLst/>
          </a:prstGeom>
          <a:noFill/>
        </p:spPr>
        <p:txBody>
          <a:bodyPr wrap="square" rtlCol="0">
            <a:spAutoFit/>
          </a:bodyPr>
          <a:lstStyle/>
          <a:p>
            <a:r>
              <a:rPr lang="en-US" sz="2400" b="1" dirty="0">
                <a:solidFill>
                  <a:srgbClr val="FF0000"/>
                </a:solidFill>
              </a:rPr>
              <a:t>With CPU Burst time and IO Time</a:t>
            </a:r>
          </a:p>
        </p:txBody>
      </p:sp>
      <p:sp>
        <p:nvSpPr>
          <p:cNvPr id="2" name="Content Placeholder 1"/>
          <p:cNvSpPr>
            <a:spLocks noGrp="1"/>
          </p:cNvSpPr>
          <p:nvPr>
            <p:ph idx="1"/>
          </p:nvPr>
        </p:nvSpPr>
        <p:spPr>
          <a:xfrm>
            <a:off x="2066926" y="1289051"/>
            <a:ext cx="7743825" cy="4530725"/>
          </a:xfrm>
        </p:spPr>
        <p:txBody>
          <a:bodyPr/>
          <a:lstStyle/>
          <a:p>
            <a:r>
              <a:rPr lang="en-US" sz="3200" b="1" dirty="0"/>
              <a:t>Three processes P1, P2 and P3 with process time 20, 30, 10 respectively. Each process uses the first 30% of its process time in CPU, then 50% in IO and the last 20% in CPU. Draw Gantt Chart and find average TAT and AWT.</a:t>
            </a:r>
          </a:p>
        </p:txBody>
      </p:sp>
    </p:spTree>
    <p:extLst>
      <p:ext uri="{BB962C8B-B14F-4D97-AF65-F5344CB8AC3E}">
        <p14:creationId xmlns:p14="http://schemas.microsoft.com/office/powerpoint/2010/main" val="1162469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2524708441"/>
              </p:ext>
            </p:extLst>
          </p:nvPr>
        </p:nvGraphicFramePr>
        <p:xfrm>
          <a:off x="1814513" y="1955800"/>
          <a:ext cx="8467724" cy="2416176"/>
        </p:xfrm>
        <a:graphic>
          <a:graphicData uri="http://schemas.openxmlformats.org/drawingml/2006/table">
            <a:tbl>
              <a:tblPr firstRow="1" bandRow="1">
                <a:tableStyleId>{5C22544A-7EE6-4342-B048-85BDC9FD1C3A}</a:tableStyleId>
              </a:tblPr>
              <a:tblGrid>
                <a:gridCol w="952864">
                  <a:extLst>
                    <a:ext uri="{9D8B030D-6E8A-4147-A177-3AD203B41FA5}">
                      <a16:colId xmlns:a16="http://schemas.microsoft.com/office/drawing/2014/main" val="20000"/>
                    </a:ext>
                  </a:extLst>
                </a:gridCol>
                <a:gridCol w="982334">
                  <a:extLst>
                    <a:ext uri="{9D8B030D-6E8A-4147-A177-3AD203B41FA5}">
                      <a16:colId xmlns:a16="http://schemas.microsoft.com/office/drawing/2014/main" val="20001"/>
                    </a:ext>
                  </a:extLst>
                </a:gridCol>
                <a:gridCol w="1168978">
                  <a:extLst>
                    <a:ext uri="{9D8B030D-6E8A-4147-A177-3AD203B41FA5}">
                      <a16:colId xmlns:a16="http://schemas.microsoft.com/office/drawing/2014/main" val="20002"/>
                    </a:ext>
                  </a:extLst>
                </a:gridCol>
                <a:gridCol w="1090391">
                  <a:extLst>
                    <a:ext uri="{9D8B030D-6E8A-4147-A177-3AD203B41FA5}">
                      <a16:colId xmlns:a16="http://schemas.microsoft.com/office/drawing/2014/main" val="20003"/>
                    </a:ext>
                  </a:extLst>
                </a:gridCol>
                <a:gridCol w="864454">
                  <a:extLst>
                    <a:ext uri="{9D8B030D-6E8A-4147-A177-3AD203B41FA5}">
                      <a16:colId xmlns:a16="http://schemas.microsoft.com/office/drawing/2014/main" val="20004"/>
                    </a:ext>
                  </a:extLst>
                </a:gridCol>
                <a:gridCol w="1119861">
                  <a:extLst>
                    <a:ext uri="{9D8B030D-6E8A-4147-A177-3AD203B41FA5}">
                      <a16:colId xmlns:a16="http://schemas.microsoft.com/office/drawing/2014/main" val="20005"/>
                    </a:ext>
                  </a:extLst>
                </a:gridCol>
                <a:gridCol w="550107">
                  <a:extLst>
                    <a:ext uri="{9D8B030D-6E8A-4147-A177-3AD203B41FA5}">
                      <a16:colId xmlns:a16="http://schemas.microsoft.com/office/drawing/2014/main" val="20006"/>
                    </a:ext>
                  </a:extLst>
                </a:gridCol>
                <a:gridCol w="628694">
                  <a:extLst>
                    <a:ext uri="{9D8B030D-6E8A-4147-A177-3AD203B41FA5}">
                      <a16:colId xmlns:a16="http://schemas.microsoft.com/office/drawing/2014/main" val="20007"/>
                    </a:ext>
                  </a:extLst>
                </a:gridCol>
                <a:gridCol w="559930">
                  <a:extLst>
                    <a:ext uri="{9D8B030D-6E8A-4147-A177-3AD203B41FA5}">
                      <a16:colId xmlns:a16="http://schemas.microsoft.com/office/drawing/2014/main" val="20008"/>
                    </a:ext>
                  </a:extLst>
                </a:gridCol>
                <a:gridCol w="550111">
                  <a:extLst>
                    <a:ext uri="{9D8B030D-6E8A-4147-A177-3AD203B41FA5}">
                      <a16:colId xmlns:a16="http://schemas.microsoft.com/office/drawing/2014/main" val="20009"/>
                    </a:ext>
                  </a:extLst>
                </a:gridCol>
              </a:tblGrid>
              <a:tr h="825684">
                <a:tc>
                  <a:txBody>
                    <a:bodyPr/>
                    <a:lstStyle/>
                    <a:p>
                      <a:r>
                        <a:rPr lang="en-US" dirty="0"/>
                        <a:t>Process</a:t>
                      </a:r>
                    </a:p>
                  </a:txBody>
                  <a:tcPr>
                    <a:solidFill>
                      <a:srgbClr val="00B050"/>
                    </a:solidFill>
                  </a:tcPr>
                </a:tc>
                <a:tc>
                  <a:txBody>
                    <a:bodyPr/>
                    <a:lstStyle/>
                    <a:p>
                      <a:r>
                        <a:rPr lang="en-US" dirty="0"/>
                        <a:t>Arrival</a:t>
                      </a:r>
                      <a:r>
                        <a:rPr lang="en-US" baseline="0" dirty="0"/>
                        <a:t> Time</a:t>
                      </a:r>
                      <a:endParaRPr lang="en-US" dirty="0"/>
                    </a:p>
                  </a:txBody>
                  <a:tcPr>
                    <a:solidFill>
                      <a:srgbClr val="00B050"/>
                    </a:solidFill>
                  </a:tcPr>
                </a:tc>
                <a:tc>
                  <a:txBody>
                    <a:bodyPr/>
                    <a:lstStyle/>
                    <a:p>
                      <a:r>
                        <a:rPr lang="en-US" dirty="0"/>
                        <a:t>Process Time</a:t>
                      </a:r>
                    </a:p>
                  </a:txBody>
                  <a:tcPr>
                    <a:solidFill>
                      <a:srgbClr val="00B050"/>
                    </a:solidFill>
                  </a:tcPr>
                </a:tc>
                <a:tc>
                  <a:txBody>
                    <a:bodyPr/>
                    <a:lstStyle/>
                    <a:p>
                      <a:r>
                        <a:rPr lang="en-US" dirty="0"/>
                        <a:t>CPU BT (30%)</a:t>
                      </a:r>
                    </a:p>
                  </a:txBody>
                  <a:tcPr>
                    <a:solidFill>
                      <a:srgbClr val="00B050"/>
                    </a:solidFill>
                  </a:tcPr>
                </a:tc>
                <a:tc>
                  <a:txBody>
                    <a:bodyPr/>
                    <a:lstStyle/>
                    <a:p>
                      <a:r>
                        <a:rPr lang="en-US" dirty="0"/>
                        <a:t>IO</a:t>
                      </a:r>
                    </a:p>
                    <a:p>
                      <a:r>
                        <a:rPr lang="en-US" dirty="0"/>
                        <a:t>(50%)</a:t>
                      </a:r>
                    </a:p>
                  </a:txBody>
                  <a:tcPr>
                    <a:solidFill>
                      <a:srgbClr val="00B050"/>
                    </a:solidFill>
                  </a:tcPr>
                </a:tc>
                <a:tc>
                  <a:txBody>
                    <a:bodyPr/>
                    <a:lstStyle/>
                    <a:p>
                      <a:r>
                        <a:rPr lang="en-US" dirty="0"/>
                        <a:t>CPU BT (20%)</a:t>
                      </a:r>
                    </a:p>
                  </a:txBody>
                  <a:tcPr>
                    <a:solidFill>
                      <a:srgbClr val="00B050"/>
                    </a:solidFill>
                  </a:tcPr>
                </a:tc>
                <a:tc>
                  <a:txBody>
                    <a:bodyPr/>
                    <a:lstStyle/>
                    <a:p>
                      <a:r>
                        <a:rPr lang="en-US" dirty="0"/>
                        <a:t>CT</a:t>
                      </a:r>
                    </a:p>
                  </a:txBody>
                  <a:tcPr>
                    <a:solidFill>
                      <a:srgbClr val="00B050"/>
                    </a:solidFill>
                  </a:tcPr>
                </a:tc>
                <a:tc>
                  <a:txBody>
                    <a:bodyPr/>
                    <a:lstStyle/>
                    <a:p>
                      <a:r>
                        <a:rPr lang="en-US" dirty="0"/>
                        <a:t>TAT</a:t>
                      </a:r>
                    </a:p>
                  </a:txBody>
                  <a:tcPr>
                    <a:solidFill>
                      <a:srgbClr val="00B050"/>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WT</a:t>
                      </a:r>
                    </a:p>
                    <a:p>
                      <a:endParaRPr lang="en-US" dirty="0"/>
                    </a:p>
                  </a:txBody>
                  <a:tcPr>
                    <a:solidFill>
                      <a:srgbClr val="00B050"/>
                    </a:solidFill>
                  </a:tcPr>
                </a:tc>
                <a:tc>
                  <a:txBody>
                    <a:bodyPr/>
                    <a:lstStyle/>
                    <a:p>
                      <a:r>
                        <a:rPr lang="en-US" dirty="0"/>
                        <a:t>RT</a:t>
                      </a:r>
                    </a:p>
                  </a:txBody>
                  <a:tcPr>
                    <a:solidFill>
                      <a:srgbClr val="00B050"/>
                    </a:solidFill>
                  </a:tcPr>
                </a:tc>
                <a:extLst>
                  <a:ext uri="{0D108BD9-81ED-4DB2-BD59-A6C34878D82A}">
                    <a16:rowId xmlns:a16="http://schemas.microsoft.com/office/drawing/2014/main" val="10000"/>
                  </a:ext>
                </a:extLst>
              </a:tr>
              <a:tr h="530164">
                <a:tc>
                  <a:txBody>
                    <a:bodyPr/>
                    <a:lstStyle/>
                    <a:p>
                      <a:pPr algn="ctr"/>
                      <a:r>
                        <a:rPr lang="en-US" sz="2000" b="1" dirty="0">
                          <a:solidFill>
                            <a:schemeClr val="bg1"/>
                          </a:solidFill>
                        </a:rPr>
                        <a:t>P1</a:t>
                      </a:r>
                    </a:p>
                  </a:txBody>
                  <a:tcPr>
                    <a:solidFill>
                      <a:srgbClr val="00B050"/>
                    </a:solidFill>
                  </a:tcPr>
                </a:tc>
                <a:tc>
                  <a:txBody>
                    <a:bodyPr/>
                    <a:lstStyle/>
                    <a:p>
                      <a:pPr algn="ctr"/>
                      <a:r>
                        <a:rPr lang="en-US" sz="2000" b="1" dirty="0">
                          <a:solidFill>
                            <a:schemeClr val="bg1"/>
                          </a:solidFill>
                        </a:rPr>
                        <a:t>0</a:t>
                      </a:r>
                    </a:p>
                  </a:txBody>
                  <a:tcPr>
                    <a:solidFill>
                      <a:srgbClr val="00B050"/>
                    </a:solidFill>
                  </a:tcPr>
                </a:tc>
                <a:tc>
                  <a:txBody>
                    <a:bodyPr/>
                    <a:lstStyle/>
                    <a:p>
                      <a:pPr algn="ctr"/>
                      <a:r>
                        <a:rPr lang="en-US" sz="2000" b="1" dirty="0">
                          <a:solidFill>
                            <a:schemeClr val="bg1"/>
                          </a:solidFill>
                        </a:rPr>
                        <a:t>20</a:t>
                      </a:r>
                    </a:p>
                  </a:txBody>
                  <a:tcPr>
                    <a:solidFill>
                      <a:srgbClr val="00B050"/>
                    </a:solidFill>
                  </a:tcPr>
                </a:tc>
                <a:tc>
                  <a:txBody>
                    <a:bodyPr/>
                    <a:lstStyle/>
                    <a:p>
                      <a:pPr algn="ctr"/>
                      <a:r>
                        <a:rPr lang="en-US" sz="2400" b="1" dirty="0">
                          <a:solidFill>
                            <a:schemeClr val="bg1"/>
                          </a:solidFill>
                        </a:rPr>
                        <a:t>6</a:t>
                      </a:r>
                    </a:p>
                  </a:txBody>
                  <a:tcPr>
                    <a:solidFill>
                      <a:srgbClr val="00B050"/>
                    </a:solidFill>
                  </a:tcPr>
                </a:tc>
                <a:tc>
                  <a:txBody>
                    <a:bodyPr/>
                    <a:lstStyle/>
                    <a:p>
                      <a:pPr algn="ctr"/>
                      <a:r>
                        <a:rPr lang="en-US" sz="2400" b="1" dirty="0">
                          <a:solidFill>
                            <a:schemeClr val="bg1"/>
                          </a:solidFill>
                        </a:rPr>
                        <a:t>10</a:t>
                      </a:r>
                    </a:p>
                  </a:txBody>
                  <a:tcPr>
                    <a:solidFill>
                      <a:srgbClr val="00B050"/>
                    </a:solidFill>
                  </a:tcPr>
                </a:tc>
                <a:tc>
                  <a:txBody>
                    <a:bodyPr/>
                    <a:lstStyle/>
                    <a:p>
                      <a:pPr algn="ctr"/>
                      <a:r>
                        <a:rPr lang="en-US" sz="2400" b="1" dirty="0">
                          <a:solidFill>
                            <a:schemeClr val="bg1"/>
                          </a:solidFill>
                        </a:rPr>
                        <a:t>4</a:t>
                      </a:r>
                    </a:p>
                  </a:txBody>
                  <a:tcPr>
                    <a:solidFill>
                      <a:srgbClr val="00B050"/>
                    </a:solidFill>
                  </a:tcPr>
                </a:tc>
                <a:tc>
                  <a:txBody>
                    <a:bodyPr/>
                    <a:lstStyle/>
                    <a:p>
                      <a:pPr algn="ctr"/>
                      <a:r>
                        <a:rPr lang="en-US" b="1" dirty="0">
                          <a:solidFill>
                            <a:srgbClr val="002060"/>
                          </a:solidFill>
                        </a:rPr>
                        <a:t>22</a:t>
                      </a:r>
                    </a:p>
                  </a:txBody>
                  <a:tcPr>
                    <a:solidFill>
                      <a:srgbClr val="FFC000"/>
                    </a:solidFill>
                  </a:tcPr>
                </a:tc>
                <a:tc>
                  <a:txBody>
                    <a:bodyPr/>
                    <a:lstStyle/>
                    <a:p>
                      <a:pPr algn="ctr"/>
                      <a:r>
                        <a:rPr lang="en-US" b="1" dirty="0">
                          <a:solidFill>
                            <a:srgbClr val="002060"/>
                          </a:solidFill>
                        </a:rPr>
                        <a:t>22</a:t>
                      </a:r>
                    </a:p>
                  </a:txBody>
                  <a:tcPr>
                    <a:solidFill>
                      <a:srgbClr val="FFC000"/>
                    </a:solidFill>
                  </a:tcPr>
                </a:tc>
                <a:tc>
                  <a:txBody>
                    <a:bodyPr/>
                    <a:lstStyle/>
                    <a:p>
                      <a:r>
                        <a:rPr lang="en-US" b="1" dirty="0"/>
                        <a:t>12</a:t>
                      </a:r>
                    </a:p>
                  </a:txBody>
                  <a:tcPr>
                    <a:solidFill>
                      <a:srgbClr val="FFC000"/>
                    </a:solidFill>
                  </a:tcPr>
                </a:tc>
                <a:tc>
                  <a:txBody>
                    <a:bodyPr/>
                    <a:lstStyle/>
                    <a:p>
                      <a:pPr algn="ctr"/>
                      <a:r>
                        <a:rPr lang="en-US" b="1" dirty="0">
                          <a:solidFill>
                            <a:srgbClr val="002060"/>
                          </a:solidFill>
                        </a:rPr>
                        <a:t>0</a:t>
                      </a:r>
                    </a:p>
                  </a:txBody>
                  <a:tcPr>
                    <a:solidFill>
                      <a:srgbClr val="FFC000"/>
                    </a:solidFill>
                  </a:tcPr>
                </a:tc>
                <a:extLst>
                  <a:ext uri="{0D108BD9-81ED-4DB2-BD59-A6C34878D82A}">
                    <a16:rowId xmlns:a16="http://schemas.microsoft.com/office/drawing/2014/main" val="10001"/>
                  </a:ext>
                </a:extLst>
              </a:tr>
              <a:tr h="530164">
                <a:tc>
                  <a:txBody>
                    <a:bodyPr/>
                    <a:lstStyle/>
                    <a:p>
                      <a:pPr algn="ctr"/>
                      <a:r>
                        <a:rPr lang="en-US" sz="2000" b="1" dirty="0">
                          <a:solidFill>
                            <a:schemeClr val="bg1"/>
                          </a:solidFill>
                        </a:rPr>
                        <a:t>P2</a:t>
                      </a:r>
                    </a:p>
                  </a:txBody>
                  <a:tcPr>
                    <a:solidFill>
                      <a:srgbClr val="00B050"/>
                    </a:solidFill>
                  </a:tcPr>
                </a:tc>
                <a:tc>
                  <a:txBody>
                    <a:bodyPr/>
                    <a:lstStyle/>
                    <a:p>
                      <a:pPr algn="ctr"/>
                      <a:r>
                        <a:rPr lang="en-US" sz="2000" b="1" dirty="0">
                          <a:solidFill>
                            <a:schemeClr val="bg1"/>
                          </a:solidFill>
                        </a:rPr>
                        <a:t>0</a:t>
                      </a:r>
                    </a:p>
                  </a:txBody>
                  <a:tcPr>
                    <a:solidFill>
                      <a:srgbClr val="00B050"/>
                    </a:solidFill>
                  </a:tcPr>
                </a:tc>
                <a:tc>
                  <a:txBody>
                    <a:bodyPr/>
                    <a:lstStyle/>
                    <a:p>
                      <a:pPr algn="ctr"/>
                      <a:r>
                        <a:rPr lang="en-US" sz="2000" b="1" dirty="0">
                          <a:solidFill>
                            <a:schemeClr val="bg1"/>
                          </a:solidFill>
                        </a:rPr>
                        <a:t>30</a:t>
                      </a:r>
                    </a:p>
                  </a:txBody>
                  <a:tcPr>
                    <a:solidFill>
                      <a:srgbClr val="00B050"/>
                    </a:solidFill>
                  </a:tcPr>
                </a:tc>
                <a:tc>
                  <a:txBody>
                    <a:bodyPr/>
                    <a:lstStyle/>
                    <a:p>
                      <a:pPr algn="ctr"/>
                      <a:r>
                        <a:rPr lang="en-US" sz="2400" b="1" dirty="0">
                          <a:solidFill>
                            <a:schemeClr val="bg1"/>
                          </a:solidFill>
                        </a:rPr>
                        <a:t>9</a:t>
                      </a:r>
                    </a:p>
                  </a:txBody>
                  <a:tcPr>
                    <a:solidFill>
                      <a:srgbClr val="00B050"/>
                    </a:solidFill>
                  </a:tcPr>
                </a:tc>
                <a:tc>
                  <a:txBody>
                    <a:bodyPr/>
                    <a:lstStyle/>
                    <a:p>
                      <a:pPr algn="ctr"/>
                      <a:r>
                        <a:rPr lang="en-US" sz="2400" b="1" dirty="0">
                          <a:solidFill>
                            <a:schemeClr val="bg1"/>
                          </a:solidFill>
                        </a:rPr>
                        <a:t>15</a:t>
                      </a:r>
                    </a:p>
                  </a:txBody>
                  <a:tcPr>
                    <a:solidFill>
                      <a:srgbClr val="00B050"/>
                    </a:solidFill>
                  </a:tcPr>
                </a:tc>
                <a:tc>
                  <a:txBody>
                    <a:bodyPr/>
                    <a:lstStyle/>
                    <a:p>
                      <a:pPr algn="ctr"/>
                      <a:r>
                        <a:rPr lang="en-US" sz="2400" b="1" dirty="0">
                          <a:solidFill>
                            <a:schemeClr val="bg1"/>
                          </a:solidFill>
                        </a:rPr>
                        <a:t>6</a:t>
                      </a:r>
                    </a:p>
                  </a:txBody>
                  <a:tcPr>
                    <a:solidFill>
                      <a:srgbClr val="00B050"/>
                    </a:solidFill>
                  </a:tcPr>
                </a:tc>
                <a:tc>
                  <a:txBody>
                    <a:bodyPr/>
                    <a:lstStyle/>
                    <a:p>
                      <a:pPr algn="ctr"/>
                      <a:r>
                        <a:rPr lang="en-US" b="1" dirty="0">
                          <a:solidFill>
                            <a:srgbClr val="002060"/>
                          </a:solidFill>
                        </a:rPr>
                        <a:t>36</a:t>
                      </a:r>
                    </a:p>
                  </a:txBody>
                  <a:tcPr>
                    <a:solidFill>
                      <a:srgbClr val="FFC000"/>
                    </a:solidFill>
                  </a:tcPr>
                </a:tc>
                <a:tc>
                  <a:txBody>
                    <a:bodyPr/>
                    <a:lstStyle/>
                    <a:p>
                      <a:pPr algn="ctr"/>
                      <a:r>
                        <a:rPr lang="en-US" b="1" dirty="0">
                          <a:solidFill>
                            <a:srgbClr val="002060"/>
                          </a:solidFill>
                        </a:rPr>
                        <a:t>36</a:t>
                      </a:r>
                    </a:p>
                  </a:txBody>
                  <a:tcPr>
                    <a:solidFill>
                      <a:srgbClr val="FFC000"/>
                    </a:solidFill>
                  </a:tcPr>
                </a:tc>
                <a:tc>
                  <a:txBody>
                    <a:bodyPr/>
                    <a:lstStyle/>
                    <a:p>
                      <a:r>
                        <a:rPr lang="en-US" b="1" dirty="0"/>
                        <a:t>21</a:t>
                      </a:r>
                    </a:p>
                  </a:txBody>
                  <a:tcPr>
                    <a:solidFill>
                      <a:srgbClr val="FFC000"/>
                    </a:solidFill>
                  </a:tcPr>
                </a:tc>
                <a:tc>
                  <a:txBody>
                    <a:bodyPr/>
                    <a:lstStyle/>
                    <a:p>
                      <a:pPr algn="ctr"/>
                      <a:r>
                        <a:rPr lang="en-US" b="1" dirty="0">
                          <a:solidFill>
                            <a:srgbClr val="002060"/>
                          </a:solidFill>
                        </a:rPr>
                        <a:t>6</a:t>
                      </a:r>
                    </a:p>
                  </a:txBody>
                  <a:tcPr>
                    <a:solidFill>
                      <a:srgbClr val="FFC000"/>
                    </a:solidFill>
                  </a:tcPr>
                </a:tc>
                <a:extLst>
                  <a:ext uri="{0D108BD9-81ED-4DB2-BD59-A6C34878D82A}">
                    <a16:rowId xmlns:a16="http://schemas.microsoft.com/office/drawing/2014/main" val="10002"/>
                  </a:ext>
                </a:extLst>
              </a:tr>
              <a:tr h="530164">
                <a:tc>
                  <a:txBody>
                    <a:bodyPr/>
                    <a:lstStyle/>
                    <a:p>
                      <a:pPr algn="ctr"/>
                      <a:r>
                        <a:rPr lang="en-US" sz="2000" b="1" dirty="0">
                          <a:solidFill>
                            <a:schemeClr val="bg1"/>
                          </a:solidFill>
                        </a:rPr>
                        <a:t>P3</a:t>
                      </a:r>
                    </a:p>
                  </a:txBody>
                  <a:tcPr>
                    <a:solidFill>
                      <a:srgbClr val="00B050"/>
                    </a:solidFill>
                  </a:tcPr>
                </a:tc>
                <a:tc>
                  <a:txBody>
                    <a:bodyPr/>
                    <a:lstStyle/>
                    <a:p>
                      <a:pPr algn="ctr"/>
                      <a:r>
                        <a:rPr lang="en-US" sz="2000" b="1" dirty="0">
                          <a:solidFill>
                            <a:schemeClr val="bg1"/>
                          </a:solidFill>
                        </a:rPr>
                        <a:t>0</a:t>
                      </a:r>
                    </a:p>
                  </a:txBody>
                  <a:tcPr>
                    <a:solidFill>
                      <a:srgbClr val="00B050"/>
                    </a:solidFill>
                  </a:tcPr>
                </a:tc>
                <a:tc>
                  <a:txBody>
                    <a:bodyPr/>
                    <a:lstStyle/>
                    <a:p>
                      <a:pPr algn="ctr"/>
                      <a:r>
                        <a:rPr lang="en-US" sz="2000" b="1" dirty="0">
                          <a:solidFill>
                            <a:schemeClr val="bg1"/>
                          </a:solidFill>
                        </a:rPr>
                        <a:t>10</a:t>
                      </a:r>
                    </a:p>
                  </a:txBody>
                  <a:tcPr>
                    <a:solidFill>
                      <a:srgbClr val="00B050"/>
                    </a:solidFill>
                  </a:tcPr>
                </a:tc>
                <a:tc>
                  <a:txBody>
                    <a:bodyPr/>
                    <a:lstStyle/>
                    <a:p>
                      <a:pPr algn="ctr"/>
                      <a:r>
                        <a:rPr lang="en-US" sz="2400" b="1" dirty="0">
                          <a:solidFill>
                            <a:schemeClr val="bg1"/>
                          </a:solidFill>
                        </a:rPr>
                        <a:t>3</a:t>
                      </a:r>
                    </a:p>
                  </a:txBody>
                  <a:tcPr>
                    <a:solidFill>
                      <a:srgbClr val="00B050"/>
                    </a:solidFill>
                  </a:tcPr>
                </a:tc>
                <a:tc>
                  <a:txBody>
                    <a:bodyPr/>
                    <a:lstStyle/>
                    <a:p>
                      <a:pPr algn="ctr"/>
                      <a:r>
                        <a:rPr lang="en-US" sz="2400" b="1" dirty="0">
                          <a:solidFill>
                            <a:schemeClr val="bg1"/>
                          </a:solidFill>
                        </a:rPr>
                        <a:t>5</a:t>
                      </a:r>
                    </a:p>
                  </a:txBody>
                  <a:tcPr>
                    <a:solidFill>
                      <a:srgbClr val="00B050"/>
                    </a:solidFill>
                  </a:tcPr>
                </a:tc>
                <a:tc>
                  <a:txBody>
                    <a:bodyPr/>
                    <a:lstStyle/>
                    <a:p>
                      <a:pPr algn="ctr"/>
                      <a:r>
                        <a:rPr lang="en-US" sz="2400" b="1" dirty="0">
                          <a:solidFill>
                            <a:schemeClr val="bg1"/>
                          </a:solidFill>
                        </a:rPr>
                        <a:t>2</a:t>
                      </a:r>
                    </a:p>
                  </a:txBody>
                  <a:tcPr>
                    <a:solidFill>
                      <a:srgbClr val="00B050"/>
                    </a:solidFill>
                  </a:tcPr>
                </a:tc>
                <a:tc>
                  <a:txBody>
                    <a:bodyPr/>
                    <a:lstStyle/>
                    <a:p>
                      <a:pPr algn="ctr"/>
                      <a:r>
                        <a:rPr lang="en-US" b="1" dirty="0">
                          <a:solidFill>
                            <a:srgbClr val="002060"/>
                          </a:solidFill>
                        </a:rPr>
                        <a:t>25</a:t>
                      </a:r>
                    </a:p>
                  </a:txBody>
                  <a:tcPr>
                    <a:solidFill>
                      <a:srgbClr val="FFC000"/>
                    </a:solidFill>
                  </a:tcPr>
                </a:tc>
                <a:tc>
                  <a:txBody>
                    <a:bodyPr/>
                    <a:lstStyle/>
                    <a:p>
                      <a:pPr algn="ctr"/>
                      <a:r>
                        <a:rPr lang="en-US" b="1" dirty="0">
                          <a:solidFill>
                            <a:srgbClr val="002060"/>
                          </a:solidFill>
                        </a:rPr>
                        <a:t>25</a:t>
                      </a:r>
                    </a:p>
                  </a:txBody>
                  <a:tcPr>
                    <a:solidFill>
                      <a:srgbClr val="FFC000"/>
                    </a:solidFill>
                  </a:tcPr>
                </a:tc>
                <a:tc>
                  <a:txBody>
                    <a:bodyPr/>
                    <a:lstStyle/>
                    <a:p>
                      <a:r>
                        <a:rPr lang="en-US" b="1" dirty="0"/>
                        <a:t>20</a:t>
                      </a:r>
                    </a:p>
                  </a:txBody>
                  <a:tcPr>
                    <a:solidFill>
                      <a:srgbClr val="FFC000"/>
                    </a:solidFill>
                  </a:tcPr>
                </a:tc>
                <a:tc>
                  <a:txBody>
                    <a:bodyPr/>
                    <a:lstStyle/>
                    <a:p>
                      <a:pPr algn="ctr"/>
                      <a:r>
                        <a:rPr lang="en-US" b="1" dirty="0">
                          <a:solidFill>
                            <a:srgbClr val="002060"/>
                          </a:solidFill>
                        </a:rPr>
                        <a:t>15</a:t>
                      </a:r>
                    </a:p>
                  </a:txBody>
                  <a:tcPr>
                    <a:solidFill>
                      <a:srgbClr val="FFC000"/>
                    </a:solidFill>
                  </a:tcPr>
                </a:tc>
                <a:extLst>
                  <a:ext uri="{0D108BD9-81ED-4DB2-BD59-A6C34878D82A}">
                    <a16:rowId xmlns:a16="http://schemas.microsoft.com/office/drawing/2014/main" val="10003"/>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118119245"/>
              </p:ext>
            </p:extLst>
          </p:nvPr>
        </p:nvGraphicFramePr>
        <p:xfrm>
          <a:off x="2047874" y="5581907"/>
          <a:ext cx="6370320" cy="640080"/>
        </p:xfrm>
        <a:graphic>
          <a:graphicData uri="http://schemas.openxmlformats.org/drawingml/2006/table">
            <a:tbl>
              <a:tblPr firstRow="1" bandRow="1">
                <a:tableStyleId>{5C22544A-7EE6-4342-B048-85BDC9FD1C3A}</a:tableStyleId>
              </a:tblPr>
              <a:tblGrid>
                <a:gridCol w="796290">
                  <a:extLst>
                    <a:ext uri="{9D8B030D-6E8A-4147-A177-3AD203B41FA5}">
                      <a16:colId xmlns:a16="http://schemas.microsoft.com/office/drawing/2014/main" val="20000"/>
                    </a:ext>
                  </a:extLst>
                </a:gridCol>
                <a:gridCol w="796290">
                  <a:extLst>
                    <a:ext uri="{9D8B030D-6E8A-4147-A177-3AD203B41FA5}">
                      <a16:colId xmlns:a16="http://schemas.microsoft.com/office/drawing/2014/main" val="20001"/>
                    </a:ext>
                  </a:extLst>
                </a:gridCol>
                <a:gridCol w="796290">
                  <a:extLst>
                    <a:ext uri="{9D8B030D-6E8A-4147-A177-3AD203B41FA5}">
                      <a16:colId xmlns:a16="http://schemas.microsoft.com/office/drawing/2014/main" val="20002"/>
                    </a:ext>
                  </a:extLst>
                </a:gridCol>
                <a:gridCol w="796290">
                  <a:extLst>
                    <a:ext uri="{9D8B030D-6E8A-4147-A177-3AD203B41FA5}">
                      <a16:colId xmlns:a16="http://schemas.microsoft.com/office/drawing/2014/main" val="20003"/>
                    </a:ext>
                  </a:extLst>
                </a:gridCol>
                <a:gridCol w="796290">
                  <a:extLst>
                    <a:ext uri="{9D8B030D-6E8A-4147-A177-3AD203B41FA5}">
                      <a16:colId xmlns:a16="http://schemas.microsoft.com/office/drawing/2014/main" val="20004"/>
                    </a:ext>
                  </a:extLst>
                </a:gridCol>
                <a:gridCol w="796290">
                  <a:extLst>
                    <a:ext uri="{9D8B030D-6E8A-4147-A177-3AD203B41FA5}">
                      <a16:colId xmlns:a16="http://schemas.microsoft.com/office/drawing/2014/main" val="20005"/>
                    </a:ext>
                  </a:extLst>
                </a:gridCol>
                <a:gridCol w="796290">
                  <a:extLst>
                    <a:ext uri="{9D8B030D-6E8A-4147-A177-3AD203B41FA5}">
                      <a16:colId xmlns:a16="http://schemas.microsoft.com/office/drawing/2014/main" val="20006"/>
                    </a:ext>
                  </a:extLst>
                </a:gridCol>
                <a:gridCol w="796290">
                  <a:extLst>
                    <a:ext uri="{9D8B030D-6E8A-4147-A177-3AD203B41FA5}">
                      <a16:colId xmlns:a16="http://schemas.microsoft.com/office/drawing/2014/main" val="20007"/>
                    </a:ext>
                  </a:extLst>
                </a:gridCol>
              </a:tblGrid>
              <a:tr h="584201">
                <a:tc>
                  <a:txBody>
                    <a:bodyPr/>
                    <a:lstStyle/>
                    <a:p>
                      <a:r>
                        <a:rPr lang="en-US" dirty="0">
                          <a:solidFill>
                            <a:srgbClr val="C00000"/>
                          </a:solidFill>
                        </a:rPr>
                        <a:t>P1</a:t>
                      </a:r>
                    </a:p>
                  </a:txBody>
                  <a:tcPr/>
                </a:tc>
                <a:tc>
                  <a:txBody>
                    <a:bodyPr/>
                    <a:lstStyle/>
                    <a:p>
                      <a:r>
                        <a:rPr lang="en-US" dirty="0">
                          <a:solidFill>
                            <a:srgbClr val="C00000"/>
                          </a:solidFill>
                        </a:rPr>
                        <a:t>P2</a:t>
                      </a:r>
                    </a:p>
                  </a:txBody>
                  <a:tcPr/>
                </a:tc>
                <a:tc>
                  <a:txBody>
                    <a:bodyPr/>
                    <a:lstStyle/>
                    <a:p>
                      <a:r>
                        <a:rPr lang="en-US" dirty="0">
                          <a:solidFill>
                            <a:srgbClr val="C00000"/>
                          </a:solidFill>
                        </a:rPr>
                        <a:t>P3</a:t>
                      </a:r>
                    </a:p>
                  </a:txBody>
                  <a:tcPr/>
                </a:tc>
                <a:tc>
                  <a:txBody>
                    <a:bodyPr/>
                    <a:lstStyle/>
                    <a:p>
                      <a:r>
                        <a:rPr lang="en-US" dirty="0">
                          <a:solidFill>
                            <a:srgbClr val="C00000"/>
                          </a:solidFill>
                        </a:rPr>
                        <a:t>P1</a:t>
                      </a:r>
                    </a:p>
                  </a:txBody>
                  <a:tcPr/>
                </a:tc>
                <a:tc>
                  <a:txBody>
                    <a:bodyPr/>
                    <a:lstStyle/>
                    <a:p>
                      <a:r>
                        <a:rPr lang="en-US" dirty="0">
                          <a:solidFill>
                            <a:srgbClr val="C00000"/>
                          </a:solidFill>
                        </a:rPr>
                        <a:t>Idle</a:t>
                      </a:r>
                    </a:p>
                  </a:txBody>
                  <a:tcPr/>
                </a:tc>
                <a:tc>
                  <a:txBody>
                    <a:bodyPr/>
                    <a:lstStyle/>
                    <a:p>
                      <a:r>
                        <a:rPr lang="en-US" dirty="0">
                          <a:solidFill>
                            <a:srgbClr val="C00000"/>
                          </a:solidFill>
                        </a:rPr>
                        <a:t>P3</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solidFill>
                            <a:srgbClr val="C00000"/>
                          </a:solidFill>
                        </a:rPr>
                        <a:t>Idle</a:t>
                      </a:r>
                    </a:p>
                    <a:p>
                      <a:endParaRPr lang="en-US" dirty="0">
                        <a:solidFill>
                          <a:srgbClr val="C00000"/>
                        </a:solidFill>
                      </a:endParaRPr>
                    </a:p>
                  </a:txBody>
                  <a:tcPr/>
                </a:tc>
                <a:tc>
                  <a:txBody>
                    <a:bodyPr/>
                    <a:lstStyle/>
                    <a:p>
                      <a:r>
                        <a:rPr lang="en-US" dirty="0">
                          <a:solidFill>
                            <a:srgbClr val="C00000"/>
                          </a:solidFill>
                        </a:rPr>
                        <a:t>P2</a:t>
                      </a:r>
                    </a:p>
                  </a:txBody>
                  <a:tcPr/>
                </a:tc>
                <a:extLst>
                  <a:ext uri="{0D108BD9-81ED-4DB2-BD59-A6C34878D82A}">
                    <a16:rowId xmlns:a16="http://schemas.microsoft.com/office/drawing/2014/main" val="10000"/>
                  </a:ext>
                </a:extLst>
              </a:tr>
            </a:tbl>
          </a:graphicData>
        </a:graphic>
      </p:graphicFrame>
      <p:sp>
        <p:nvSpPr>
          <p:cNvPr id="3" name="Rectangle 2"/>
          <p:cNvSpPr/>
          <p:nvPr/>
        </p:nvSpPr>
        <p:spPr>
          <a:xfrm>
            <a:off x="2203823" y="5111234"/>
            <a:ext cx="1859805" cy="369332"/>
          </a:xfrm>
          <a:prstGeom prst="rect">
            <a:avLst/>
          </a:prstGeom>
        </p:spPr>
        <p:txBody>
          <a:bodyPr wrap="none">
            <a:spAutoFit/>
          </a:bodyPr>
          <a:lstStyle/>
          <a:p>
            <a:r>
              <a:rPr lang="en-US" b="1" dirty="0"/>
              <a:t>Gantt Chart: </a:t>
            </a:r>
          </a:p>
        </p:txBody>
      </p:sp>
      <p:sp>
        <p:nvSpPr>
          <p:cNvPr id="6" name="Rectangle 5"/>
          <p:cNvSpPr/>
          <p:nvPr/>
        </p:nvSpPr>
        <p:spPr>
          <a:xfrm>
            <a:off x="1905000" y="342038"/>
            <a:ext cx="8105775" cy="1200329"/>
          </a:xfrm>
          <a:prstGeom prst="rect">
            <a:avLst/>
          </a:prstGeom>
        </p:spPr>
        <p:txBody>
          <a:bodyPr wrap="square">
            <a:spAutoFit/>
          </a:bodyPr>
          <a:lstStyle/>
          <a:p>
            <a:pPr algn="just"/>
            <a:r>
              <a:rPr lang="en-US" b="1" dirty="0">
                <a:solidFill>
                  <a:srgbClr val="FF0000"/>
                </a:solidFill>
              </a:rPr>
              <a:t>Three processes P1, P2 and P3 with </a:t>
            </a:r>
            <a:r>
              <a:rPr lang="en-US" b="1" dirty="0">
                <a:solidFill>
                  <a:srgbClr val="0070C0"/>
                </a:solidFill>
              </a:rPr>
              <a:t>process time 20, 30, 10 </a:t>
            </a:r>
            <a:r>
              <a:rPr lang="en-US" b="1" dirty="0">
                <a:solidFill>
                  <a:srgbClr val="FF0000"/>
                </a:solidFill>
              </a:rPr>
              <a:t>respectively. Each process uses the </a:t>
            </a:r>
            <a:r>
              <a:rPr lang="en-US" b="1" dirty="0">
                <a:solidFill>
                  <a:srgbClr val="0070C0"/>
                </a:solidFill>
              </a:rPr>
              <a:t>first 30%</a:t>
            </a:r>
            <a:r>
              <a:rPr lang="en-US" b="1" dirty="0">
                <a:solidFill>
                  <a:srgbClr val="FF0000"/>
                </a:solidFill>
              </a:rPr>
              <a:t> of its process time </a:t>
            </a:r>
            <a:r>
              <a:rPr lang="en-US" b="1" dirty="0">
                <a:solidFill>
                  <a:srgbClr val="0070C0"/>
                </a:solidFill>
              </a:rPr>
              <a:t>in CPU</a:t>
            </a:r>
            <a:r>
              <a:rPr lang="en-US" b="1" dirty="0">
                <a:solidFill>
                  <a:srgbClr val="FF0000"/>
                </a:solidFill>
              </a:rPr>
              <a:t>, then </a:t>
            </a:r>
            <a:r>
              <a:rPr lang="en-US" b="1" dirty="0">
                <a:solidFill>
                  <a:srgbClr val="0070C0"/>
                </a:solidFill>
              </a:rPr>
              <a:t>50% in IO </a:t>
            </a:r>
            <a:r>
              <a:rPr lang="en-US" b="1" dirty="0">
                <a:solidFill>
                  <a:srgbClr val="FF0000"/>
                </a:solidFill>
              </a:rPr>
              <a:t>and the </a:t>
            </a:r>
            <a:r>
              <a:rPr lang="en-US" b="1" dirty="0">
                <a:solidFill>
                  <a:srgbClr val="0070C0"/>
                </a:solidFill>
              </a:rPr>
              <a:t>last 20% in CPU</a:t>
            </a:r>
            <a:r>
              <a:rPr lang="en-US" b="1" dirty="0">
                <a:solidFill>
                  <a:srgbClr val="FF0000"/>
                </a:solidFill>
              </a:rPr>
              <a:t>. Draw Gantt Chart and find average TAT and AWT.</a:t>
            </a:r>
          </a:p>
        </p:txBody>
      </p:sp>
      <p:sp>
        <p:nvSpPr>
          <p:cNvPr id="8" name="TextBox 7"/>
          <p:cNvSpPr txBox="1"/>
          <p:nvPr/>
        </p:nvSpPr>
        <p:spPr>
          <a:xfrm>
            <a:off x="5307197" y="4496395"/>
            <a:ext cx="3724275" cy="923330"/>
          </a:xfrm>
          <a:prstGeom prst="rect">
            <a:avLst/>
          </a:prstGeom>
          <a:noFill/>
        </p:spPr>
        <p:txBody>
          <a:bodyPr wrap="square" rtlCol="0">
            <a:spAutoFit/>
          </a:bodyPr>
          <a:lstStyle/>
          <a:p>
            <a:r>
              <a:rPr lang="en-US" b="1" dirty="0"/>
              <a:t>P1 will come back at </a:t>
            </a:r>
          </a:p>
          <a:p>
            <a:r>
              <a:rPr lang="en-US" b="1" dirty="0"/>
              <a:t>P2 will come back at  </a:t>
            </a:r>
          </a:p>
          <a:p>
            <a:r>
              <a:rPr lang="en-US" b="1" dirty="0"/>
              <a:t>P3 will come back at </a:t>
            </a:r>
            <a:endParaRPr lang="en-US" dirty="0"/>
          </a:p>
        </p:txBody>
      </p:sp>
      <p:sp>
        <p:nvSpPr>
          <p:cNvPr id="9" name="TextBox 8"/>
          <p:cNvSpPr txBox="1"/>
          <p:nvPr/>
        </p:nvSpPr>
        <p:spPr>
          <a:xfrm>
            <a:off x="1904999" y="6204466"/>
            <a:ext cx="184522" cy="369332"/>
          </a:xfrm>
          <a:prstGeom prst="rect">
            <a:avLst/>
          </a:prstGeom>
          <a:noFill/>
        </p:spPr>
        <p:txBody>
          <a:bodyPr wrap="square" rtlCol="0">
            <a:spAutoFit/>
          </a:bodyPr>
          <a:lstStyle/>
          <a:p>
            <a:r>
              <a:rPr lang="en-US" dirty="0"/>
              <a:t>0</a:t>
            </a:r>
          </a:p>
        </p:txBody>
      </p:sp>
      <p:sp>
        <p:nvSpPr>
          <p:cNvPr id="12" name="TextBox 11"/>
          <p:cNvSpPr txBox="1"/>
          <p:nvPr/>
        </p:nvSpPr>
        <p:spPr>
          <a:xfrm>
            <a:off x="2648887" y="6181725"/>
            <a:ext cx="184522" cy="369332"/>
          </a:xfrm>
          <a:prstGeom prst="rect">
            <a:avLst/>
          </a:prstGeom>
          <a:noFill/>
        </p:spPr>
        <p:txBody>
          <a:bodyPr wrap="square" rtlCol="0">
            <a:spAutoFit/>
          </a:bodyPr>
          <a:lstStyle/>
          <a:p>
            <a:r>
              <a:rPr lang="en-US" dirty="0"/>
              <a:t>6</a:t>
            </a:r>
          </a:p>
        </p:txBody>
      </p:sp>
      <p:sp>
        <p:nvSpPr>
          <p:cNvPr id="13" name="TextBox 12"/>
          <p:cNvSpPr txBox="1"/>
          <p:nvPr/>
        </p:nvSpPr>
        <p:spPr>
          <a:xfrm>
            <a:off x="5042270" y="6181725"/>
            <a:ext cx="529855" cy="369332"/>
          </a:xfrm>
          <a:prstGeom prst="rect">
            <a:avLst/>
          </a:prstGeom>
          <a:noFill/>
        </p:spPr>
        <p:txBody>
          <a:bodyPr wrap="square" rtlCol="0">
            <a:spAutoFit/>
          </a:bodyPr>
          <a:lstStyle/>
          <a:p>
            <a:r>
              <a:rPr lang="en-US" dirty="0"/>
              <a:t>22</a:t>
            </a:r>
          </a:p>
        </p:txBody>
      </p:sp>
      <p:sp>
        <p:nvSpPr>
          <p:cNvPr id="14" name="TextBox 13"/>
          <p:cNvSpPr txBox="1"/>
          <p:nvPr/>
        </p:nvSpPr>
        <p:spPr>
          <a:xfrm>
            <a:off x="4286249" y="6204466"/>
            <a:ext cx="533401" cy="369332"/>
          </a:xfrm>
          <a:prstGeom prst="rect">
            <a:avLst/>
          </a:prstGeom>
          <a:noFill/>
        </p:spPr>
        <p:txBody>
          <a:bodyPr wrap="square" rtlCol="0">
            <a:spAutoFit/>
          </a:bodyPr>
          <a:lstStyle/>
          <a:p>
            <a:r>
              <a:rPr lang="en-US" dirty="0"/>
              <a:t>18</a:t>
            </a:r>
          </a:p>
        </p:txBody>
      </p:sp>
      <p:sp>
        <p:nvSpPr>
          <p:cNvPr id="15" name="TextBox 14"/>
          <p:cNvSpPr txBox="1"/>
          <p:nvPr/>
        </p:nvSpPr>
        <p:spPr>
          <a:xfrm>
            <a:off x="3392775" y="6204466"/>
            <a:ext cx="521442" cy="369332"/>
          </a:xfrm>
          <a:prstGeom prst="rect">
            <a:avLst/>
          </a:prstGeom>
          <a:noFill/>
        </p:spPr>
        <p:txBody>
          <a:bodyPr wrap="square" rtlCol="0">
            <a:spAutoFit/>
          </a:bodyPr>
          <a:lstStyle/>
          <a:p>
            <a:r>
              <a:rPr lang="en-US" dirty="0"/>
              <a:t>15</a:t>
            </a:r>
          </a:p>
        </p:txBody>
      </p:sp>
      <p:sp>
        <p:nvSpPr>
          <p:cNvPr id="16" name="TextBox 15"/>
          <p:cNvSpPr txBox="1"/>
          <p:nvPr/>
        </p:nvSpPr>
        <p:spPr>
          <a:xfrm>
            <a:off x="5743572" y="6185416"/>
            <a:ext cx="529855" cy="369332"/>
          </a:xfrm>
          <a:prstGeom prst="rect">
            <a:avLst/>
          </a:prstGeom>
          <a:noFill/>
        </p:spPr>
        <p:txBody>
          <a:bodyPr wrap="square" rtlCol="0">
            <a:spAutoFit/>
          </a:bodyPr>
          <a:lstStyle/>
          <a:p>
            <a:r>
              <a:rPr lang="en-US" dirty="0"/>
              <a:t>23</a:t>
            </a:r>
          </a:p>
        </p:txBody>
      </p:sp>
      <p:sp>
        <p:nvSpPr>
          <p:cNvPr id="17" name="TextBox 16"/>
          <p:cNvSpPr txBox="1"/>
          <p:nvPr/>
        </p:nvSpPr>
        <p:spPr>
          <a:xfrm>
            <a:off x="6519859" y="6204466"/>
            <a:ext cx="529855" cy="369332"/>
          </a:xfrm>
          <a:prstGeom prst="rect">
            <a:avLst/>
          </a:prstGeom>
          <a:noFill/>
        </p:spPr>
        <p:txBody>
          <a:bodyPr wrap="square" rtlCol="0">
            <a:spAutoFit/>
          </a:bodyPr>
          <a:lstStyle/>
          <a:p>
            <a:r>
              <a:rPr lang="en-US" dirty="0"/>
              <a:t>25</a:t>
            </a:r>
          </a:p>
        </p:txBody>
      </p:sp>
      <p:sp>
        <p:nvSpPr>
          <p:cNvPr id="18" name="TextBox 17"/>
          <p:cNvSpPr txBox="1"/>
          <p:nvPr/>
        </p:nvSpPr>
        <p:spPr>
          <a:xfrm>
            <a:off x="7296146" y="6181725"/>
            <a:ext cx="529855" cy="369332"/>
          </a:xfrm>
          <a:prstGeom prst="rect">
            <a:avLst/>
          </a:prstGeom>
          <a:noFill/>
        </p:spPr>
        <p:txBody>
          <a:bodyPr wrap="square" rtlCol="0">
            <a:spAutoFit/>
          </a:bodyPr>
          <a:lstStyle/>
          <a:p>
            <a:r>
              <a:rPr lang="en-US" dirty="0"/>
              <a:t>30</a:t>
            </a:r>
          </a:p>
        </p:txBody>
      </p:sp>
      <p:sp>
        <p:nvSpPr>
          <p:cNvPr id="19" name="TextBox 18"/>
          <p:cNvSpPr txBox="1"/>
          <p:nvPr/>
        </p:nvSpPr>
        <p:spPr>
          <a:xfrm>
            <a:off x="8072433" y="6181725"/>
            <a:ext cx="529855" cy="369332"/>
          </a:xfrm>
          <a:prstGeom prst="rect">
            <a:avLst/>
          </a:prstGeom>
          <a:noFill/>
        </p:spPr>
        <p:txBody>
          <a:bodyPr wrap="square" rtlCol="0">
            <a:spAutoFit/>
          </a:bodyPr>
          <a:lstStyle/>
          <a:p>
            <a:r>
              <a:rPr lang="en-US" dirty="0"/>
              <a:t>36</a:t>
            </a:r>
          </a:p>
        </p:txBody>
      </p:sp>
    </p:spTree>
    <p:extLst>
      <p:ext uri="{BB962C8B-B14F-4D97-AF65-F5344CB8AC3E}">
        <p14:creationId xmlns:p14="http://schemas.microsoft.com/office/powerpoint/2010/main" val="3394384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624DA10D-55B3-4B35-A002-F73DC17E003A}"/>
              </a:ext>
            </a:extLst>
          </p:cNvPr>
          <p:cNvSpPr>
            <a:spLocks noGrp="1" noChangeArrowheads="1"/>
          </p:cNvSpPr>
          <p:nvPr>
            <p:ph type="title"/>
          </p:nvPr>
        </p:nvSpPr>
        <p:spPr>
          <a:xfrm>
            <a:off x="2506664" y="231158"/>
            <a:ext cx="7704137" cy="576262"/>
          </a:xfrm>
        </p:spPr>
        <p:txBody>
          <a:bodyPr/>
          <a:lstStyle/>
          <a:p>
            <a:pPr eaLnBrk="1" hangingPunct="1"/>
            <a:r>
              <a:rPr lang="en-US" altLang="en-US" dirty="0"/>
              <a:t>FCFS Scheduling (Cont.)</a:t>
            </a:r>
          </a:p>
        </p:txBody>
      </p:sp>
      <p:sp>
        <p:nvSpPr>
          <p:cNvPr id="13315" name="Rectangle 3">
            <a:extLst>
              <a:ext uri="{FF2B5EF4-FFF2-40B4-BE49-F238E27FC236}">
                <a16:creationId xmlns:a16="http://schemas.microsoft.com/office/drawing/2014/main" id="{332EE341-968F-42D6-9F71-9462061509EC}"/>
              </a:ext>
            </a:extLst>
          </p:cNvPr>
          <p:cNvSpPr>
            <a:spLocks noGrp="1" noChangeArrowheads="1"/>
          </p:cNvSpPr>
          <p:nvPr>
            <p:ph type="body" idx="1"/>
          </p:nvPr>
        </p:nvSpPr>
        <p:spPr>
          <a:xfrm>
            <a:off x="2379664" y="1233489"/>
            <a:ext cx="7704137" cy="4530725"/>
          </a:xfrm>
        </p:spPr>
        <p:txBody>
          <a:bodyPr/>
          <a:lstStyle/>
          <a:p>
            <a:pPr>
              <a:buNone/>
              <a:tabLst>
                <a:tab pos="3649345" algn="ctr"/>
              </a:tabLst>
              <a:defRPr/>
            </a:pPr>
            <a:r>
              <a:rPr lang="en-US" altLang="en-US" dirty="0">
                <a:cs typeface="ＭＳ Ｐゴシック" charset="-128"/>
              </a:rPr>
              <a:t>Suppose that the processes arrive in the order:</a:t>
            </a:r>
          </a:p>
          <a:p>
            <a:pPr>
              <a:buNone/>
              <a:tabLst>
                <a:tab pos="3649345"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p>
          <a:p>
            <a:pPr>
              <a:tabLst>
                <a:tab pos="3649345" algn="ctr"/>
              </a:tabLst>
              <a:defRPr/>
            </a:pPr>
            <a:r>
              <a:rPr lang="en-US" altLang="en-US" dirty="0">
                <a:cs typeface="ＭＳ Ｐゴシック" charset="-128"/>
              </a:rPr>
              <a:t>The Gantt chart for the schedule is:</a:t>
            </a:r>
            <a:br>
              <a:rPr lang="en-US" altLang="en-US" dirty="0">
                <a:cs typeface="ＭＳ Ｐゴシック" charset="-128"/>
              </a:rPr>
            </a:br>
            <a:endParaRPr lang="en-US" altLang="en-US" dirty="0">
              <a:cs typeface="ＭＳ Ｐゴシック" charset="-128"/>
            </a:endParaRPr>
          </a:p>
          <a:p>
            <a:pPr>
              <a:tabLst>
                <a:tab pos="3649345" algn="ctr"/>
              </a:tabLst>
              <a:defRPr/>
            </a:pPr>
            <a:endParaRPr lang="en-US" altLang="en-US" dirty="0">
              <a:cs typeface="ＭＳ Ｐゴシック" charset="-128"/>
            </a:endParaRPr>
          </a:p>
          <a:p>
            <a:pPr>
              <a:tabLst>
                <a:tab pos="3649345" algn="ctr"/>
              </a:tabLst>
              <a:defRPr/>
            </a:pPr>
            <a:endParaRPr lang="en-US" altLang="en-US" dirty="0">
              <a:cs typeface="ＭＳ Ｐゴシック" charset="-128"/>
            </a:endParaRPr>
          </a:p>
          <a:p>
            <a:pPr marL="0" indent="0">
              <a:buNone/>
              <a:tabLst>
                <a:tab pos="3649345" algn="ctr"/>
              </a:tabLst>
              <a:defRPr/>
            </a:pPr>
            <a:endParaRPr lang="en-US" altLang="en-US" dirty="0">
              <a:cs typeface="ＭＳ Ｐゴシック" charset="-128"/>
            </a:endParaRPr>
          </a:p>
          <a:p>
            <a:pPr>
              <a:tabLst>
                <a:tab pos="3649345" algn="ctr"/>
              </a:tabLst>
              <a:defRPr/>
            </a:pPr>
            <a:r>
              <a:rPr lang="en-US" altLang="en-US" dirty="0">
                <a:cs typeface="ＭＳ Ｐゴシック" charset="-128"/>
              </a:rPr>
              <a:t>Waiting time for </a:t>
            </a:r>
            <a:r>
              <a:rPr lang="en-US" altLang="en-US" i="1" dirty="0">
                <a:cs typeface="ＭＳ Ｐゴシック" charset="-128"/>
              </a:rPr>
              <a:t>P</a:t>
            </a:r>
            <a:r>
              <a:rPr lang="en-US" altLang="en-US" i="1" baseline="-25000" dirty="0">
                <a:cs typeface="ＭＳ Ｐゴシック" charset="-128"/>
              </a:rPr>
              <a:t>1 </a:t>
            </a:r>
            <a:r>
              <a:rPr lang="en-US" altLang="en-US" i="1" dirty="0">
                <a:cs typeface="ＭＳ Ｐゴシック" charset="-128"/>
              </a:rPr>
              <a:t>=</a:t>
            </a:r>
            <a:r>
              <a:rPr lang="en-US" altLang="en-US" dirty="0">
                <a:cs typeface="ＭＳ Ｐゴシック" charset="-128"/>
              </a:rPr>
              <a:t> 6</a:t>
            </a:r>
            <a:r>
              <a:rPr lang="en-US" altLang="en-US" i="1" dirty="0">
                <a:cs typeface="ＭＳ Ｐゴシック" charset="-128"/>
              </a:rPr>
              <a:t>;</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0</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3 </a:t>
            </a:r>
            <a:r>
              <a:rPr lang="en-US" altLang="en-US" i="1" dirty="0">
                <a:cs typeface="ＭＳ Ｐゴシック" charset="-128"/>
              </a:rPr>
              <a:t>= </a:t>
            </a:r>
            <a:r>
              <a:rPr lang="en-US" altLang="en-US" dirty="0">
                <a:cs typeface="ＭＳ Ｐゴシック" charset="-128"/>
              </a:rPr>
              <a:t>3</a:t>
            </a:r>
            <a:endParaRPr lang="en-US" altLang="en-US" i="1" dirty="0">
              <a:cs typeface="ＭＳ Ｐゴシック" charset="-128"/>
            </a:endParaRPr>
          </a:p>
          <a:p>
            <a:pPr>
              <a:tabLst>
                <a:tab pos="3649345" algn="ctr"/>
              </a:tabLst>
              <a:defRPr/>
            </a:pPr>
            <a:r>
              <a:rPr lang="en-US" altLang="en-US" dirty="0">
                <a:cs typeface="ＭＳ Ｐゴシック" charset="-128"/>
              </a:rPr>
              <a:t>Average waiting time:   (6 + 0 + 3)/3 = 3</a:t>
            </a:r>
          </a:p>
          <a:p>
            <a:pPr>
              <a:tabLst>
                <a:tab pos="3649345" algn="ctr"/>
              </a:tabLst>
              <a:defRPr/>
            </a:pPr>
            <a:r>
              <a:rPr lang="en-US" altLang="en-US" dirty="0">
                <a:cs typeface="ＭＳ Ｐゴシック" charset="-128"/>
              </a:rPr>
              <a:t>Much better than previous case</a:t>
            </a:r>
          </a:p>
          <a:p>
            <a:pPr>
              <a:tabLst>
                <a:tab pos="3649345" algn="ctr"/>
              </a:tabLst>
              <a:defRPr/>
            </a:pPr>
            <a:r>
              <a:rPr lang="en-US" altLang="en-US" b="1" dirty="0">
                <a:solidFill>
                  <a:srgbClr val="006699"/>
                </a:solidFill>
                <a:latin typeface="+mj-lt"/>
              </a:rPr>
              <a:t>Convoy</a:t>
            </a:r>
            <a:r>
              <a:rPr lang="en-US" altLang="en-US" b="1" dirty="0">
                <a:solidFill>
                  <a:srgbClr val="3366FF"/>
                </a:solidFill>
                <a:cs typeface="ＭＳ Ｐゴシック" charset="-128"/>
              </a:rPr>
              <a:t> </a:t>
            </a:r>
            <a:r>
              <a:rPr lang="en-US" altLang="en-US" b="1" dirty="0">
                <a:solidFill>
                  <a:srgbClr val="006699"/>
                </a:solidFill>
                <a:latin typeface="+mj-lt"/>
              </a:rPr>
              <a:t>effect</a:t>
            </a:r>
            <a:r>
              <a:rPr lang="en-US" altLang="en-US" b="1" dirty="0">
                <a:solidFill>
                  <a:srgbClr val="3366FF"/>
                </a:solidFill>
                <a:cs typeface="ＭＳ Ｐゴシック" charset="-128"/>
              </a:rPr>
              <a:t> </a:t>
            </a:r>
            <a:r>
              <a:rPr lang="en-US" altLang="en-US" dirty="0">
                <a:cs typeface="ＭＳ Ｐゴシック" charset="-128"/>
              </a:rPr>
              <a:t>- short process behind long process</a:t>
            </a:r>
          </a:p>
          <a:p>
            <a:pPr lvl="1">
              <a:tabLst>
                <a:tab pos="3649345" algn="ctr"/>
              </a:tabLst>
              <a:defRPr/>
            </a:pPr>
            <a:r>
              <a:rPr lang="en-US" altLang="en-US" dirty="0"/>
              <a:t>Consider one CPU-bound and many I/O-bound processes</a:t>
            </a:r>
          </a:p>
        </p:txBody>
      </p:sp>
      <p:pic>
        <p:nvPicPr>
          <p:cNvPr id="25603" name="Picture 1">
            <a:extLst>
              <a:ext uri="{FF2B5EF4-FFF2-40B4-BE49-F238E27FC236}">
                <a16:creationId xmlns:a16="http://schemas.microsoft.com/office/drawing/2014/main" id="{AA51E2F7-6758-4662-8420-58D4F08902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94001" y="2632076"/>
            <a:ext cx="7123113"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9895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5370DA6-23EE-4245-8D59-2BE3CA11205A}"/>
              </a:ext>
            </a:extLst>
          </p:cNvPr>
          <p:cNvSpPr>
            <a:spLocks noGrp="1" noChangeArrowheads="1"/>
          </p:cNvSpPr>
          <p:nvPr>
            <p:ph type="title"/>
          </p:nvPr>
        </p:nvSpPr>
        <p:spPr>
          <a:xfrm>
            <a:off x="2632910" y="129252"/>
            <a:ext cx="7704137" cy="576262"/>
          </a:xfrm>
        </p:spPr>
        <p:txBody>
          <a:bodyPr/>
          <a:lstStyle/>
          <a:p>
            <a:pPr eaLnBrk="1" hangingPunct="1"/>
            <a:r>
              <a:rPr lang="en-US" altLang="en-US" dirty="0"/>
              <a:t>Shortest-Job-First (SJF) Scheduling</a:t>
            </a:r>
          </a:p>
        </p:txBody>
      </p:sp>
      <p:sp>
        <p:nvSpPr>
          <p:cNvPr id="27650" name="Rectangle 3">
            <a:extLst>
              <a:ext uri="{FF2B5EF4-FFF2-40B4-BE49-F238E27FC236}">
                <a16:creationId xmlns:a16="http://schemas.microsoft.com/office/drawing/2014/main" id="{823814F7-CEBB-4A55-80A1-4EA7BB1EEA9B}"/>
              </a:ext>
            </a:extLst>
          </p:cNvPr>
          <p:cNvSpPr>
            <a:spLocks noGrp="1" noChangeArrowheads="1"/>
          </p:cNvSpPr>
          <p:nvPr>
            <p:ph type="body" idx="1"/>
          </p:nvPr>
        </p:nvSpPr>
        <p:spPr>
          <a:xfrm>
            <a:off x="2345094" y="1233489"/>
            <a:ext cx="6760325" cy="4345509"/>
          </a:xfrm>
        </p:spPr>
        <p:txBody>
          <a:bodyPr/>
          <a:lstStyle/>
          <a:p>
            <a:r>
              <a:rPr lang="en-US" altLang="en-US" dirty="0"/>
              <a:t>Associate with each process the length of its next CPU burst</a:t>
            </a:r>
          </a:p>
          <a:p>
            <a:pPr lvl="1"/>
            <a:r>
              <a:rPr lang="en-US" altLang="en-US" dirty="0"/>
              <a:t>Use these lengths to schedule the process with the shortest time</a:t>
            </a:r>
          </a:p>
          <a:p>
            <a:r>
              <a:rPr lang="en-US" altLang="en-US" dirty="0"/>
              <a:t>SJF is optimal – gives minimum average waiting time for a given set of processes</a:t>
            </a:r>
          </a:p>
          <a:p>
            <a:r>
              <a:rPr lang="en-US" altLang="en-US" dirty="0">
                <a:cs typeface="ＭＳ Ｐゴシック" charset="-128"/>
              </a:rPr>
              <a:t>Preemptive version called </a:t>
            </a:r>
            <a:r>
              <a:rPr lang="en-US" altLang="en-US" b="1" dirty="0">
                <a:solidFill>
                  <a:srgbClr val="006699"/>
                </a:solidFill>
                <a:latin typeface="+mj-lt"/>
              </a:rPr>
              <a:t>shortest-remaining-time-first</a:t>
            </a:r>
          </a:p>
          <a:p>
            <a:r>
              <a:rPr lang="en-US" altLang="en-US" dirty="0"/>
              <a:t>How do we determine the length of the next CPU burst?</a:t>
            </a:r>
          </a:p>
          <a:p>
            <a:pPr lvl="1"/>
            <a:r>
              <a:rPr lang="en-US" altLang="en-US" dirty="0"/>
              <a:t>Could ask the user</a:t>
            </a:r>
          </a:p>
          <a:p>
            <a:pPr lvl="1"/>
            <a:r>
              <a:rPr lang="en-US" altLang="en-US" dirty="0"/>
              <a:t>Estimate</a:t>
            </a:r>
          </a:p>
          <a:p>
            <a:pPr lvl="1"/>
            <a:endParaRPr lang="en-US" altLang="en-US" dirty="0"/>
          </a:p>
        </p:txBody>
      </p:sp>
    </p:spTree>
    <p:extLst>
      <p:ext uri="{BB962C8B-B14F-4D97-AF65-F5344CB8AC3E}">
        <p14:creationId xmlns:p14="http://schemas.microsoft.com/office/powerpoint/2010/main" val="2515211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1388404164"/>
              </p:ext>
            </p:extLst>
          </p:nvPr>
        </p:nvGraphicFramePr>
        <p:xfrm>
          <a:off x="1066800" y="1924528"/>
          <a:ext cx="9458326" cy="4114800"/>
        </p:xfrm>
        <a:graphic>
          <a:graphicData uri="http://schemas.openxmlformats.org/drawingml/2006/table">
            <a:tbl>
              <a:tblPr firstRow="1" bandRow="1">
                <a:tableStyleId>{5C22544A-7EE6-4342-B048-85BDC9FD1C3A}</a:tableStyleId>
              </a:tblPr>
              <a:tblGrid>
                <a:gridCol w="1185411">
                  <a:extLst>
                    <a:ext uri="{9D8B030D-6E8A-4147-A177-3AD203B41FA5}">
                      <a16:colId xmlns:a16="http://schemas.microsoft.com/office/drawing/2014/main" val="20000"/>
                    </a:ext>
                  </a:extLst>
                </a:gridCol>
                <a:gridCol w="1709487">
                  <a:extLst>
                    <a:ext uri="{9D8B030D-6E8A-4147-A177-3AD203B41FA5}">
                      <a16:colId xmlns:a16="http://schemas.microsoft.com/office/drawing/2014/main" val="20001"/>
                    </a:ext>
                  </a:extLst>
                </a:gridCol>
                <a:gridCol w="1073108">
                  <a:extLst>
                    <a:ext uri="{9D8B030D-6E8A-4147-A177-3AD203B41FA5}">
                      <a16:colId xmlns:a16="http://schemas.microsoft.com/office/drawing/2014/main" val="20002"/>
                    </a:ext>
                  </a:extLst>
                </a:gridCol>
                <a:gridCol w="1235322">
                  <a:extLst>
                    <a:ext uri="{9D8B030D-6E8A-4147-A177-3AD203B41FA5}">
                      <a16:colId xmlns:a16="http://schemas.microsoft.com/office/drawing/2014/main" val="20003"/>
                    </a:ext>
                  </a:extLst>
                </a:gridCol>
                <a:gridCol w="1610850">
                  <a:extLst>
                    <a:ext uri="{9D8B030D-6E8A-4147-A177-3AD203B41FA5}">
                      <a16:colId xmlns:a16="http://schemas.microsoft.com/office/drawing/2014/main" val="20004"/>
                    </a:ext>
                  </a:extLst>
                </a:gridCol>
                <a:gridCol w="1221344">
                  <a:extLst>
                    <a:ext uri="{9D8B030D-6E8A-4147-A177-3AD203B41FA5}">
                      <a16:colId xmlns:a16="http://schemas.microsoft.com/office/drawing/2014/main" val="20005"/>
                    </a:ext>
                  </a:extLst>
                </a:gridCol>
                <a:gridCol w="1422804">
                  <a:extLst>
                    <a:ext uri="{9D8B030D-6E8A-4147-A177-3AD203B41FA5}">
                      <a16:colId xmlns:a16="http://schemas.microsoft.com/office/drawing/2014/main" val="20006"/>
                    </a:ext>
                  </a:extLst>
                </a:gridCol>
              </a:tblGrid>
              <a:tr h="983609">
                <a:tc>
                  <a:txBody>
                    <a:bodyPr/>
                    <a:lstStyle/>
                    <a:p>
                      <a:r>
                        <a:rPr lang="en-US" dirty="0">
                          <a:solidFill>
                            <a:schemeClr val="bg2">
                              <a:lumMod val="60000"/>
                              <a:lumOff val="40000"/>
                            </a:schemeClr>
                          </a:solidFill>
                        </a:rPr>
                        <a:t>Process</a:t>
                      </a:r>
                    </a:p>
                  </a:txBody>
                  <a:tcPr>
                    <a:solidFill>
                      <a:srgbClr val="00B050"/>
                    </a:solidFill>
                  </a:tcPr>
                </a:tc>
                <a:tc>
                  <a:txBody>
                    <a:bodyPr/>
                    <a:lstStyle/>
                    <a:p>
                      <a:r>
                        <a:rPr lang="en-US" dirty="0">
                          <a:solidFill>
                            <a:schemeClr val="bg2">
                              <a:lumMod val="60000"/>
                              <a:lumOff val="40000"/>
                            </a:schemeClr>
                          </a:solidFill>
                        </a:rPr>
                        <a:t>Burst Time(BT)</a:t>
                      </a:r>
                    </a:p>
                  </a:txBody>
                  <a:tcPr>
                    <a:solidFill>
                      <a:srgbClr val="00B050"/>
                    </a:solidFill>
                  </a:tcPr>
                </a:tc>
                <a:tc>
                  <a:txBody>
                    <a:bodyPr/>
                    <a:lstStyle/>
                    <a:p>
                      <a:r>
                        <a:rPr lang="en-US" sz="2400" dirty="0">
                          <a:solidFill>
                            <a:schemeClr val="bg2">
                              <a:lumMod val="60000"/>
                              <a:lumOff val="40000"/>
                            </a:schemeClr>
                          </a:solidFill>
                        </a:rPr>
                        <a:t>CT</a:t>
                      </a:r>
                    </a:p>
                  </a:txBody>
                  <a:tcPr>
                    <a:solidFill>
                      <a:srgbClr val="00B050"/>
                    </a:solidFill>
                  </a:tcPr>
                </a:tc>
                <a:tc>
                  <a:txBody>
                    <a:bodyPr/>
                    <a:lstStyle/>
                    <a:p>
                      <a:r>
                        <a:rPr lang="en-US" sz="2400" dirty="0">
                          <a:solidFill>
                            <a:schemeClr val="bg2">
                              <a:lumMod val="60000"/>
                              <a:lumOff val="40000"/>
                            </a:schemeClr>
                          </a:solidFill>
                        </a:rPr>
                        <a:t>TAT =</a:t>
                      </a:r>
                    </a:p>
                    <a:p>
                      <a:r>
                        <a:rPr lang="en-US" sz="2400" dirty="0">
                          <a:solidFill>
                            <a:schemeClr val="bg2">
                              <a:lumMod val="60000"/>
                              <a:lumOff val="40000"/>
                            </a:schemeClr>
                          </a:solidFill>
                        </a:rPr>
                        <a:t>CT-AT</a:t>
                      </a:r>
                    </a:p>
                  </a:txBody>
                  <a:tcPr>
                    <a:solidFill>
                      <a:srgbClr val="00B050"/>
                    </a:solidFill>
                  </a:tcPr>
                </a:tc>
                <a:tc>
                  <a:txBody>
                    <a:bodyPr/>
                    <a:lstStyle/>
                    <a:p>
                      <a:r>
                        <a:rPr lang="en-US" sz="2400" dirty="0">
                          <a:solidFill>
                            <a:schemeClr val="bg2">
                              <a:lumMod val="60000"/>
                              <a:lumOff val="40000"/>
                            </a:schemeClr>
                          </a:solidFill>
                        </a:rPr>
                        <a:t>WT =</a:t>
                      </a:r>
                    </a:p>
                    <a:p>
                      <a:r>
                        <a:rPr lang="en-US" sz="2400" dirty="0">
                          <a:solidFill>
                            <a:schemeClr val="bg2">
                              <a:lumMod val="60000"/>
                              <a:lumOff val="40000"/>
                            </a:schemeClr>
                          </a:solidFill>
                        </a:rPr>
                        <a:t>TAT-BT</a:t>
                      </a:r>
                    </a:p>
                  </a:txBody>
                  <a:tcPr>
                    <a:solidFill>
                      <a:srgbClr val="00B050"/>
                    </a:solidFill>
                  </a:tcPr>
                </a:tc>
                <a:tc>
                  <a:txBody>
                    <a:bodyPr/>
                    <a:lstStyle/>
                    <a:p>
                      <a:r>
                        <a:rPr lang="en-US" sz="2400" dirty="0">
                          <a:solidFill>
                            <a:schemeClr val="bg2">
                              <a:lumMod val="60000"/>
                              <a:lumOff val="40000"/>
                            </a:schemeClr>
                          </a:solidFill>
                        </a:rPr>
                        <a:t>RT</a:t>
                      </a:r>
                    </a:p>
                  </a:txBody>
                  <a:tcPr>
                    <a:solidFill>
                      <a:srgbClr val="00B050"/>
                    </a:solidFill>
                  </a:tcPr>
                </a:tc>
                <a:tc>
                  <a:txBody>
                    <a:bodyPr/>
                    <a:lstStyle/>
                    <a:p>
                      <a:r>
                        <a:rPr lang="en-US" sz="2400" dirty="0">
                          <a:solidFill>
                            <a:schemeClr val="bg2">
                              <a:lumMod val="60000"/>
                              <a:lumOff val="40000"/>
                            </a:schemeClr>
                          </a:solidFill>
                        </a:rPr>
                        <a:t>Context Switch</a:t>
                      </a:r>
                    </a:p>
                    <a:p>
                      <a:pPr marL="0" marR="0" indent="0" algn="l" defTabSz="457200" rtl="0" eaLnBrk="1" fontAlgn="auto" latinLnBrk="0" hangingPunct="1">
                        <a:lnSpc>
                          <a:spcPct val="100000"/>
                        </a:lnSpc>
                        <a:spcBef>
                          <a:spcPts val="0"/>
                        </a:spcBef>
                        <a:spcAft>
                          <a:spcPts val="0"/>
                        </a:spcAft>
                        <a:buClrTx/>
                        <a:buSzTx/>
                        <a:buFontTx/>
                        <a:buNone/>
                        <a:tabLst/>
                        <a:defRPr/>
                      </a:pPr>
                      <a:r>
                        <a:rPr lang="en-US" sz="2400" dirty="0">
                          <a:solidFill>
                            <a:schemeClr val="bg2">
                              <a:lumMod val="60000"/>
                              <a:lumOff val="40000"/>
                            </a:schemeClr>
                          </a:solidFill>
                        </a:rPr>
                        <a:t>(1ms)</a:t>
                      </a:r>
                    </a:p>
                    <a:p>
                      <a:endParaRPr lang="en-US" sz="2400" dirty="0">
                        <a:solidFill>
                          <a:schemeClr val="bg2">
                            <a:lumMod val="60000"/>
                            <a:lumOff val="40000"/>
                          </a:schemeClr>
                        </a:solidFill>
                      </a:endParaRPr>
                    </a:p>
                  </a:txBody>
                  <a:tcPr>
                    <a:solidFill>
                      <a:srgbClr val="00B050"/>
                    </a:solidFill>
                  </a:tcPr>
                </a:tc>
                <a:extLst>
                  <a:ext uri="{0D108BD9-81ED-4DB2-BD59-A6C34878D82A}">
                    <a16:rowId xmlns:a16="http://schemas.microsoft.com/office/drawing/2014/main" val="10000"/>
                  </a:ext>
                </a:extLst>
              </a:tr>
              <a:tr h="398908">
                <a:tc>
                  <a:txBody>
                    <a:bodyPr/>
                    <a:lstStyle/>
                    <a:p>
                      <a:pPr algn="ctr"/>
                      <a:r>
                        <a:rPr lang="en-US" sz="2800" b="1" dirty="0">
                          <a:solidFill>
                            <a:schemeClr val="bg2">
                              <a:lumMod val="60000"/>
                              <a:lumOff val="40000"/>
                            </a:schemeClr>
                          </a:solidFill>
                        </a:rPr>
                        <a:t>P1</a:t>
                      </a:r>
                    </a:p>
                  </a:txBody>
                  <a:tcPr>
                    <a:solidFill>
                      <a:srgbClr val="00B050"/>
                    </a:solidFill>
                  </a:tcPr>
                </a:tc>
                <a:tc>
                  <a:txBody>
                    <a:bodyPr/>
                    <a:lstStyle/>
                    <a:p>
                      <a:pPr algn="ctr"/>
                      <a:r>
                        <a:rPr lang="en-US" sz="2800" b="1" dirty="0">
                          <a:solidFill>
                            <a:schemeClr val="bg2">
                              <a:lumMod val="60000"/>
                              <a:lumOff val="40000"/>
                            </a:schemeClr>
                          </a:solidFill>
                        </a:rPr>
                        <a:t>6</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extLst>
                  <a:ext uri="{0D108BD9-81ED-4DB2-BD59-A6C34878D82A}">
                    <a16:rowId xmlns:a16="http://schemas.microsoft.com/office/drawing/2014/main" val="10001"/>
                  </a:ext>
                </a:extLst>
              </a:tr>
              <a:tr h="398908">
                <a:tc>
                  <a:txBody>
                    <a:bodyPr/>
                    <a:lstStyle/>
                    <a:p>
                      <a:pPr algn="ctr"/>
                      <a:r>
                        <a:rPr lang="en-US" sz="2800" b="1" dirty="0">
                          <a:solidFill>
                            <a:schemeClr val="bg2">
                              <a:lumMod val="60000"/>
                              <a:lumOff val="40000"/>
                            </a:schemeClr>
                          </a:solidFill>
                        </a:rPr>
                        <a:t>P2</a:t>
                      </a:r>
                    </a:p>
                  </a:txBody>
                  <a:tcPr>
                    <a:solidFill>
                      <a:srgbClr val="00B050"/>
                    </a:solidFill>
                  </a:tcPr>
                </a:tc>
                <a:tc>
                  <a:txBody>
                    <a:bodyPr/>
                    <a:lstStyle/>
                    <a:p>
                      <a:pPr algn="ctr"/>
                      <a:r>
                        <a:rPr lang="en-US" sz="2800" b="1" dirty="0">
                          <a:solidFill>
                            <a:schemeClr val="bg2">
                              <a:lumMod val="60000"/>
                              <a:lumOff val="40000"/>
                            </a:schemeClr>
                          </a:solidFill>
                        </a:rPr>
                        <a:t>8</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extLst>
                  <a:ext uri="{0D108BD9-81ED-4DB2-BD59-A6C34878D82A}">
                    <a16:rowId xmlns:a16="http://schemas.microsoft.com/office/drawing/2014/main" val="10002"/>
                  </a:ext>
                </a:extLst>
              </a:tr>
              <a:tr h="398908">
                <a:tc>
                  <a:txBody>
                    <a:bodyPr/>
                    <a:lstStyle/>
                    <a:p>
                      <a:pPr algn="ctr"/>
                      <a:r>
                        <a:rPr lang="en-US" sz="2800" b="1" dirty="0">
                          <a:solidFill>
                            <a:schemeClr val="bg2">
                              <a:lumMod val="60000"/>
                              <a:lumOff val="40000"/>
                            </a:schemeClr>
                          </a:solidFill>
                        </a:rPr>
                        <a:t>P3</a:t>
                      </a:r>
                    </a:p>
                  </a:txBody>
                  <a:tcPr>
                    <a:solidFill>
                      <a:srgbClr val="00B050"/>
                    </a:solidFill>
                  </a:tcPr>
                </a:tc>
                <a:tc>
                  <a:txBody>
                    <a:bodyPr/>
                    <a:lstStyle/>
                    <a:p>
                      <a:pPr algn="ctr"/>
                      <a:r>
                        <a:rPr lang="en-US" sz="2800" b="1" dirty="0">
                          <a:solidFill>
                            <a:schemeClr val="bg2">
                              <a:lumMod val="60000"/>
                              <a:lumOff val="40000"/>
                            </a:schemeClr>
                          </a:solidFill>
                        </a:rPr>
                        <a:t>7</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extLst>
                  <a:ext uri="{0D108BD9-81ED-4DB2-BD59-A6C34878D82A}">
                    <a16:rowId xmlns:a16="http://schemas.microsoft.com/office/drawing/2014/main" val="10003"/>
                  </a:ext>
                </a:extLst>
              </a:tr>
              <a:tr h="398908">
                <a:tc>
                  <a:txBody>
                    <a:bodyPr/>
                    <a:lstStyle/>
                    <a:p>
                      <a:pPr algn="ctr"/>
                      <a:r>
                        <a:rPr lang="en-US" sz="2800" b="1" dirty="0">
                          <a:solidFill>
                            <a:schemeClr val="bg2">
                              <a:lumMod val="60000"/>
                              <a:lumOff val="40000"/>
                            </a:schemeClr>
                          </a:solidFill>
                        </a:rPr>
                        <a:t>P4</a:t>
                      </a:r>
                    </a:p>
                  </a:txBody>
                  <a:tcPr>
                    <a:solidFill>
                      <a:srgbClr val="00B050"/>
                    </a:solidFill>
                  </a:tcPr>
                </a:tc>
                <a:tc>
                  <a:txBody>
                    <a:bodyPr/>
                    <a:lstStyle/>
                    <a:p>
                      <a:pPr algn="ctr"/>
                      <a:r>
                        <a:rPr lang="en-US" sz="2800" b="1" dirty="0">
                          <a:solidFill>
                            <a:schemeClr val="bg2">
                              <a:lumMod val="60000"/>
                              <a:lumOff val="40000"/>
                            </a:schemeClr>
                          </a:solidFill>
                        </a:rPr>
                        <a:t>3</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2124075" y="666751"/>
            <a:ext cx="9001125" cy="1477328"/>
          </a:xfrm>
          <a:prstGeom prst="rect">
            <a:avLst/>
          </a:prstGeom>
          <a:noFill/>
        </p:spPr>
        <p:txBody>
          <a:bodyPr wrap="square" rtlCol="0">
            <a:spAutoFit/>
          </a:bodyPr>
          <a:lstStyle/>
          <a:p>
            <a:r>
              <a:rPr lang="en-US" b="1" dirty="0"/>
              <a:t>CT – Completion Time</a:t>
            </a:r>
          </a:p>
          <a:p>
            <a:r>
              <a:rPr lang="en-US" b="1" dirty="0"/>
              <a:t>TAT – Turn Around Time </a:t>
            </a:r>
            <a:r>
              <a:rPr lang="en-US" b="1" dirty="0">
                <a:solidFill>
                  <a:srgbClr val="FF0000"/>
                </a:solidFill>
              </a:rPr>
              <a:t>= WT + BT</a:t>
            </a:r>
          </a:p>
          <a:p>
            <a:r>
              <a:rPr lang="en-US" b="1" dirty="0"/>
              <a:t>WT – Waiting Time</a:t>
            </a:r>
          </a:p>
          <a:p>
            <a:r>
              <a:rPr lang="en-US" b="1" dirty="0"/>
              <a:t>RT – Response Time (First Submission Time – Arrival Time)</a:t>
            </a:r>
          </a:p>
          <a:p>
            <a:endParaRPr lang="en-US" dirty="0"/>
          </a:p>
        </p:txBody>
      </p:sp>
      <p:sp>
        <p:nvSpPr>
          <p:cNvPr id="10" name="TextBox 9"/>
          <p:cNvSpPr txBox="1"/>
          <p:nvPr/>
        </p:nvSpPr>
        <p:spPr>
          <a:xfrm>
            <a:off x="7600951" y="466726"/>
            <a:ext cx="2924175" cy="861774"/>
          </a:xfrm>
          <a:prstGeom prst="rect">
            <a:avLst/>
          </a:prstGeom>
          <a:noFill/>
        </p:spPr>
        <p:txBody>
          <a:bodyPr wrap="square" rtlCol="0">
            <a:spAutoFit/>
          </a:bodyPr>
          <a:lstStyle/>
          <a:p>
            <a:r>
              <a:rPr lang="en-US" sz="1600" b="1" dirty="0">
                <a:solidFill>
                  <a:srgbClr val="FF0000"/>
                </a:solidFill>
              </a:rPr>
              <a:t>1)Arrival Order</a:t>
            </a:r>
          </a:p>
          <a:p>
            <a:endParaRPr lang="en-US" sz="1600" b="1" dirty="0">
              <a:solidFill>
                <a:srgbClr val="FF0000"/>
              </a:solidFill>
            </a:endParaRPr>
          </a:p>
          <a:p>
            <a:r>
              <a:rPr lang="en-US" sz="1600" b="1" dirty="0">
                <a:solidFill>
                  <a:srgbClr val="FF0000"/>
                </a:solidFill>
              </a:rPr>
              <a:t>Arrival Time</a:t>
            </a:r>
          </a:p>
        </p:txBody>
      </p:sp>
      <p:sp>
        <p:nvSpPr>
          <p:cNvPr id="11" name="TextBox 10"/>
          <p:cNvSpPr txBox="1"/>
          <p:nvPr/>
        </p:nvSpPr>
        <p:spPr>
          <a:xfrm>
            <a:off x="1990725" y="5819776"/>
            <a:ext cx="7277100" cy="830997"/>
          </a:xfrm>
          <a:prstGeom prst="rect">
            <a:avLst/>
          </a:prstGeom>
          <a:noFill/>
        </p:spPr>
        <p:txBody>
          <a:bodyPr wrap="square" rtlCol="0">
            <a:spAutoFit/>
          </a:bodyPr>
          <a:lstStyle/>
          <a:p>
            <a:endParaRPr lang="en-US" sz="1600" b="1" dirty="0"/>
          </a:p>
          <a:p>
            <a:r>
              <a:rPr lang="en-US" sz="1600" b="1" dirty="0"/>
              <a:t>2) Gantt Chart: </a:t>
            </a:r>
          </a:p>
          <a:p>
            <a:r>
              <a:rPr lang="en-US" sz="1600" b="1" dirty="0"/>
              <a:t>Average Waiting Time, Average Turnaround Time</a:t>
            </a:r>
          </a:p>
        </p:txBody>
      </p:sp>
      <p:sp>
        <p:nvSpPr>
          <p:cNvPr id="9" name="Rectangle 2">
            <a:extLst>
              <a:ext uri="{FF2B5EF4-FFF2-40B4-BE49-F238E27FC236}">
                <a16:creationId xmlns:a16="http://schemas.microsoft.com/office/drawing/2014/main" id="{75370DA6-23EE-4245-8D59-2BE3CA11205A}"/>
              </a:ext>
            </a:extLst>
          </p:cNvPr>
          <p:cNvSpPr txBox="1">
            <a:spLocks noChangeArrowheads="1"/>
          </p:cNvSpPr>
          <p:nvPr/>
        </p:nvSpPr>
        <p:spPr bwMode="auto">
          <a:xfrm>
            <a:off x="1463041" y="0"/>
            <a:ext cx="9458326"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3200" b="1">
                <a:solidFill>
                  <a:srgbClr val="006699"/>
                </a:solidFill>
                <a:latin typeface="+mj-lt"/>
                <a:ea typeface="MS PGothic"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r>
              <a:rPr lang="en-US" altLang="en-US" sz="2400" kern="0" dirty="0"/>
              <a:t>Shortest-Job-First (SJF) Scheduling – Non Preemptive</a:t>
            </a:r>
          </a:p>
        </p:txBody>
      </p:sp>
    </p:spTree>
    <p:extLst>
      <p:ext uri="{BB962C8B-B14F-4D97-AF65-F5344CB8AC3E}">
        <p14:creationId xmlns:p14="http://schemas.microsoft.com/office/powerpoint/2010/main" val="4095722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124075" y="666751"/>
            <a:ext cx="9001125" cy="1477328"/>
          </a:xfrm>
          <a:prstGeom prst="rect">
            <a:avLst/>
          </a:prstGeom>
          <a:noFill/>
        </p:spPr>
        <p:txBody>
          <a:bodyPr wrap="square" rtlCol="0">
            <a:spAutoFit/>
          </a:bodyPr>
          <a:lstStyle/>
          <a:p>
            <a:r>
              <a:rPr lang="en-US" b="1" dirty="0"/>
              <a:t>CT – Completion Time</a:t>
            </a:r>
          </a:p>
          <a:p>
            <a:r>
              <a:rPr lang="en-US" b="1" dirty="0"/>
              <a:t>TAT – Turn Around Time </a:t>
            </a:r>
            <a:r>
              <a:rPr lang="en-US" b="1" dirty="0">
                <a:solidFill>
                  <a:srgbClr val="FF0000"/>
                </a:solidFill>
              </a:rPr>
              <a:t>= WT + BT</a:t>
            </a:r>
          </a:p>
          <a:p>
            <a:r>
              <a:rPr lang="en-US" b="1" dirty="0"/>
              <a:t>WT – Waiting Time</a:t>
            </a:r>
          </a:p>
          <a:p>
            <a:r>
              <a:rPr lang="en-US" b="1" dirty="0"/>
              <a:t>RT – Response Time (First Submission Time – Arrival Time)</a:t>
            </a:r>
          </a:p>
          <a:p>
            <a:endParaRPr lang="en-US" dirty="0"/>
          </a:p>
        </p:txBody>
      </p:sp>
      <p:sp>
        <p:nvSpPr>
          <p:cNvPr id="10" name="TextBox 9"/>
          <p:cNvSpPr txBox="1"/>
          <p:nvPr/>
        </p:nvSpPr>
        <p:spPr>
          <a:xfrm>
            <a:off x="7600951" y="466726"/>
            <a:ext cx="2924175" cy="861774"/>
          </a:xfrm>
          <a:prstGeom prst="rect">
            <a:avLst/>
          </a:prstGeom>
          <a:noFill/>
        </p:spPr>
        <p:txBody>
          <a:bodyPr wrap="square" rtlCol="0">
            <a:spAutoFit/>
          </a:bodyPr>
          <a:lstStyle/>
          <a:p>
            <a:r>
              <a:rPr lang="en-US" sz="1600" b="1" dirty="0">
                <a:solidFill>
                  <a:srgbClr val="FF0000"/>
                </a:solidFill>
              </a:rPr>
              <a:t>1)Arrival Order</a:t>
            </a:r>
          </a:p>
          <a:p>
            <a:endParaRPr lang="en-US" sz="1600" b="1" dirty="0">
              <a:solidFill>
                <a:srgbClr val="FF0000"/>
              </a:solidFill>
            </a:endParaRPr>
          </a:p>
          <a:p>
            <a:r>
              <a:rPr lang="en-US" sz="1600" b="1" dirty="0">
                <a:solidFill>
                  <a:srgbClr val="FF0000"/>
                </a:solidFill>
              </a:rPr>
              <a:t>Arrival Time</a:t>
            </a:r>
          </a:p>
        </p:txBody>
      </p:sp>
      <p:sp>
        <p:nvSpPr>
          <p:cNvPr id="11" name="TextBox 10"/>
          <p:cNvSpPr txBox="1"/>
          <p:nvPr/>
        </p:nvSpPr>
        <p:spPr>
          <a:xfrm>
            <a:off x="1990725" y="5819776"/>
            <a:ext cx="7277100" cy="830997"/>
          </a:xfrm>
          <a:prstGeom prst="rect">
            <a:avLst/>
          </a:prstGeom>
          <a:noFill/>
        </p:spPr>
        <p:txBody>
          <a:bodyPr wrap="square" rtlCol="0">
            <a:spAutoFit/>
          </a:bodyPr>
          <a:lstStyle/>
          <a:p>
            <a:endParaRPr lang="en-US" sz="1600" b="1" dirty="0"/>
          </a:p>
          <a:p>
            <a:r>
              <a:rPr lang="en-US" sz="1600" b="1" dirty="0"/>
              <a:t>2) Gantt Chart: </a:t>
            </a:r>
          </a:p>
          <a:p>
            <a:r>
              <a:rPr lang="en-US" sz="1600" b="1" dirty="0"/>
              <a:t>Average Waiting Time, Average Turnaround Time</a:t>
            </a:r>
          </a:p>
        </p:txBody>
      </p:sp>
      <p:sp>
        <p:nvSpPr>
          <p:cNvPr id="9" name="Rectangle 2">
            <a:extLst>
              <a:ext uri="{FF2B5EF4-FFF2-40B4-BE49-F238E27FC236}">
                <a16:creationId xmlns:a16="http://schemas.microsoft.com/office/drawing/2014/main" id="{75370DA6-23EE-4245-8D59-2BE3CA11205A}"/>
              </a:ext>
            </a:extLst>
          </p:cNvPr>
          <p:cNvSpPr txBox="1">
            <a:spLocks noChangeArrowheads="1"/>
          </p:cNvSpPr>
          <p:nvPr/>
        </p:nvSpPr>
        <p:spPr bwMode="auto">
          <a:xfrm>
            <a:off x="1524001" y="178595"/>
            <a:ext cx="7704137"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3200" b="1">
                <a:solidFill>
                  <a:srgbClr val="006699"/>
                </a:solidFill>
                <a:latin typeface="+mj-lt"/>
                <a:ea typeface="MS PGothic"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r>
              <a:rPr lang="en-US" altLang="en-US" sz="2400" kern="0" dirty="0"/>
              <a:t>Shortest-Job-First (SJF) Scheduling – Non Preemptive</a:t>
            </a:r>
          </a:p>
        </p:txBody>
      </p:sp>
      <p:graphicFrame>
        <p:nvGraphicFramePr>
          <p:cNvPr id="12" name="Content Placeholder 6"/>
          <p:cNvGraphicFramePr>
            <a:graphicFrameLocks/>
          </p:cNvGraphicFramePr>
          <p:nvPr>
            <p:extLst>
              <p:ext uri="{D42A27DB-BD31-4B8C-83A1-F6EECF244321}">
                <p14:modId xmlns:p14="http://schemas.microsoft.com/office/powerpoint/2010/main" val="3130485496"/>
              </p:ext>
            </p:extLst>
          </p:nvPr>
        </p:nvGraphicFramePr>
        <p:xfrm>
          <a:off x="335280" y="1786495"/>
          <a:ext cx="10302240" cy="4480560"/>
        </p:xfrm>
        <a:graphic>
          <a:graphicData uri="http://schemas.openxmlformats.org/drawingml/2006/table">
            <a:tbl>
              <a:tblPr firstRow="1" bandRow="1">
                <a:tableStyleId>{5C22544A-7EE6-4342-B048-85BDC9FD1C3A}</a:tableStyleId>
              </a:tblPr>
              <a:tblGrid>
                <a:gridCol w="1099677">
                  <a:extLst>
                    <a:ext uri="{9D8B030D-6E8A-4147-A177-3AD203B41FA5}">
                      <a16:colId xmlns:a16="http://schemas.microsoft.com/office/drawing/2014/main" val="20000"/>
                    </a:ext>
                  </a:extLst>
                </a:gridCol>
                <a:gridCol w="1527973">
                  <a:extLst>
                    <a:ext uri="{9D8B030D-6E8A-4147-A177-3AD203B41FA5}">
                      <a16:colId xmlns:a16="http://schemas.microsoft.com/office/drawing/2014/main" val="20001"/>
                    </a:ext>
                  </a:extLst>
                </a:gridCol>
                <a:gridCol w="1585850">
                  <a:extLst>
                    <a:ext uri="{9D8B030D-6E8A-4147-A177-3AD203B41FA5}">
                      <a16:colId xmlns:a16="http://schemas.microsoft.com/office/drawing/2014/main" val="20002"/>
                    </a:ext>
                  </a:extLst>
                </a:gridCol>
                <a:gridCol w="995497">
                  <a:extLst>
                    <a:ext uri="{9D8B030D-6E8A-4147-A177-3AD203B41FA5}">
                      <a16:colId xmlns:a16="http://schemas.microsoft.com/office/drawing/2014/main" val="20003"/>
                    </a:ext>
                  </a:extLst>
                </a:gridCol>
                <a:gridCol w="1145979">
                  <a:extLst>
                    <a:ext uri="{9D8B030D-6E8A-4147-A177-3AD203B41FA5}">
                      <a16:colId xmlns:a16="http://schemas.microsoft.com/office/drawing/2014/main" val="20004"/>
                    </a:ext>
                  </a:extLst>
                </a:gridCol>
                <a:gridCol w="1494349">
                  <a:extLst>
                    <a:ext uri="{9D8B030D-6E8A-4147-A177-3AD203B41FA5}">
                      <a16:colId xmlns:a16="http://schemas.microsoft.com/office/drawing/2014/main" val="20005"/>
                    </a:ext>
                  </a:extLst>
                </a:gridCol>
                <a:gridCol w="1133013">
                  <a:extLst>
                    <a:ext uri="{9D8B030D-6E8A-4147-A177-3AD203B41FA5}">
                      <a16:colId xmlns:a16="http://schemas.microsoft.com/office/drawing/2014/main" val="20006"/>
                    </a:ext>
                  </a:extLst>
                </a:gridCol>
                <a:gridCol w="1319902">
                  <a:extLst>
                    <a:ext uri="{9D8B030D-6E8A-4147-A177-3AD203B41FA5}">
                      <a16:colId xmlns:a16="http://schemas.microsoft.com/office/drawing/2014/main" val="20007"/>
                    </a:ext>
                  </a:extLst>
                </a:gridCol>
              </a:tblGrid>
              <a:tr h="983609">
                <a:tc>
                  <a:txBody>
                    <a:bodyPr/>
                    <a:lstStyle/>
                    <a:p>
                      <a:r>
                        <a:rPr lang="en-US" sz="2400" dirty="0">
                          <a:solidFill>
                            <a:schemeClr val="bg2">
                              <a:lumMod val="60000"/>
                              <a:lumOff val="40000"/>
                            </a:schemeClr>
                          </a:solidFill>
                        </a:rPr>
                        <a:t>Process</a:t>
                      </a:r>
                    </a:p>
                  </a:txBody>
                  <a:tcPr>
                    <a:solidFill>
                      <a:srgbClr val="00B050"/>
                    </a:solidFill>
                  </a:tcPr>
                </a:tc>
                <a:tc>
                  <a:txBody>
                    <a:bodyPr/>
                    <a:lstStyle/>
                    <a:p>
                      <a:r>
                        <a:rPr lang="en-US" sz="2400" dirty="0">
                          <a:solidFill>
                            <a:schemeClr val="bg2">
                              <a:lumMod val="60000"/>
                              <a:lumOff val="40000"/>
                            </a:schemeClr>
                          </a:solidFill>
                        </a:rPr>
                        <a:t>Arrival</a:t>
                      </a:r>
                      <a:r>
                        <a:rPr lang="en-US" sz="2400" baseline="0" dirty="0">
                          <a:solidFill>
                            <a:schemeClr val="bg2">
                              <a:lumMod val="60000"/>
                              <a:lumOff val="40000"/>
                            </a:schemeClr>
                          </a:solidFill>
                        </a:rPr>
                        <a:t> Time(AT)</a:t>
                      </a:r>
                      <a:endParaRPr lang="en-US" sz="2400" dirty="0">
                        <a:solidFill>
                          <a:schemeClr val="bg2">
                            <a:lumMod val="60000"/>
                            <a:lumOff val="40000"/>
                          </a:schemeClr>
                        </a:solidFill>
                      </a:endParaRPr>
                    </a:p>
                  </a:txBody>
                  <a:tcPr>
                    <a:solidFill>
                      <a:srgbClr val="00B050"/>
                    </a:solidFill>
                  </a:tcPr>
                </a:tc>
                <a:tc>
                  <a:txBody>
                    <a:bodyPr/>
                    <a:lstStyle/>
                    <a:p>
                      <a:r>
                        <a:rPr lang="en-US" sz="2400" dirty="0">
                          <a:solidFill>
                            <a:schemeClr val="bg2">
                              <a:lumMod val="60000"/>
                              <a:lumOff val="40000"/>
                            </a:schemeClr>
                          </a:solidFill>
                        </a:rPr>
                        <a:t>Burst Time(BT)</a:t>
                      </a:r>
                    </a:p>
                  </a:txBody>
                  <a:tcPr>
                    <a:solidFill>
                      <a:srgbClr val="00B050"/>
                    </a:solidFill>
                  </a:tcPr>
                </a:tc>
                <a:tc>
                  <a:txBody>
                    <a:bodyPr/>
                    <a:lstStyle/>
                    <a:p>
                      <a:r>
                        <a:rPr lang="en-US" sz="2400" dirty="0">
                          <a:solidFill>
                            <a:schemeClr val="bg2">
                              <a:lumMod val="60000"/>
                              <a:lumOff val="40000"/>
                            </a:schemeClr>
                          </a:solidFill>
                        </a:rPr>
                        <a:t>CT</a:t>
                      </a:r>
                    </a:p>
                  </a:txBody>
                  <a:tcPr>
                    <a:solidFill>
                      <a:srgbClr val="00B050"/>
                    </a:solidFill>
                  </a:tcPr>
                </a:tc>
                <a:tc>
                  <a:txBody>
                    <a:bodyPr/>
                    <a:lstStyle/>
                    <a:p>
                      <a:r>
                        <a:rPr lang="en-US" sz="2400" dirty="0">
                          <a:solidFill>
                            <a:schemeClr val="bg2">
                              <a:lumMod val="60000"/>
                              <a:lumOff val="40000"/>
                            </a:schemeClr>
                          </a:solidFill>
                        </a:rPr>
                        <a:t>TAT =</a:t>
                      </a:r>
                    </a:p>
                    <a:p>
                      <a:r>
                        <a:rPr lang="en-US" sz="2400" dirty="0">
                          <a:solidFill>
                            <a:schemeClr val="bg2">
                              <a:lumMod val="60000"/>
                              <a:lumOff val="40000"/>
                            </a:schemeClr>
                          </a:solidFill>
                        </a:rPr>
                        <a:t>CT-AT</a:t>
                      </a:r>
                    </a:p>
                  </a:txBody>
                  <a:tcPr>
                    <a:solidFill>
                      <a:srgbClr val="00B050"/>
                    </a:solidFill>
                  </a:tcPr>
                </a:tc>
                <a:tc>
                  <a:txBody>
                    <a:bodyPr/>
                    <a:lstStyle/>
                    <a:p>
                      <a:r>
                        <a:rPr lang="en-US" sz="2400" dirty="0">
                          <a:solidFill>
                            <a:schemeClr val="bg2">
                              <a:lumMod val="60000"/>
                              <a:lumOff val="40000"/>
                            </a:schemeClr>
                          </a:solidFill>
                        </a:rPr>
                        <a:t>WT =</a:t>
                      </a:r>
                    </a:p>
                    <a:p>
                      <a:r>
                        <a:rPr lang="en-US" sz="2400" dirty="0">
                          <a:solidFill>
                            <a:schemeClr val="bg2">
                              <a:lumMod val="60000"/>
                              <a:lumOff val="40000"/>
                            </a:schemeClr>
                          </a:solidFill>
                        </a:rPr>
                        <a:t>TAT-BT</a:t>
                      </a:r>
                    </a:p>
                  </a:txBody>
                  <a:tcPr>
                    <a:solidFill>
                      <a:srgbClr val="00B050"/>
                    </a:solidFill>
                  </a:tcPr>
                </a:tc>
                <a:tc>
                  <a:txBody>
                    <a:bodyPr/>
                    <a:lstStyle/>
                    <a:p>
                      <a:r>
                        <a:rPr lang="en-US" sz="2400" dirty="0">
                          <a:solidFill>
                            <a:schemeClr val="bg2">
                              <a:lumMod val="60000"/>
                              <a:lumOff val="40000"/>
                            </a:schemeClr>
                          </a:solidFill>
                        </a:rPr>
                        <a:t>RT</a:t>
                      </a:r>
                    </a:p>
                  </a:txBody>
                  <a:tcPr>
                    <a:solidFill>
                      <a:srgbClr val="00B050"/>
                    </a:solidFill>
                  </a:tcPr>
                </a:tc>
                <a:tc>
                  <a:txBody>
                    <a:bodyPr/>
                    <a:lstStyle/>
                    <a:p>
                      <a:r>
                        <a:rPr lang="en-US" sz="2400" dirty="0">
                          <a:solidFill>
                            <a:schemeClr val="bg2">
                              <a:lumMod val="60000"/>
                              <a:lumOff val="40000"/>
                            </a:schemeClr>
                          </a:solidFill>
                        </a:rPr>
                        <a:t>Context Switch</a:t>
                      </a:r>
                    </a:p>
                    <a:p>
                      <a:r>
                        <a:rPr lang="en-US" sz="2400" dirty="0">
                          <a:solidFill>
                            <a:schemeClr val="bg2">
                              <a:lumMod val="60000"/>
                              <a:lumOff val="40000"/>
                            </a:schemeClr>
                          </a:solidFill>
                        </a:rPr>
                        <a:t>(1ms)</a:t>
                      </a:r>
                    </a:p>
                  </a:txBody>
                  <a:tcPr>
                    <a:solidFill>
                      <a:srgbClr val="00B050"/>
                    </a:solidFill>
                  </a:tcPr>
                </a:tc>
                <a:extLst>
                  <a:ext uri="{0D108BD9-81ED-4DB2-BD59-A6C34878D82A}">
                    <a16:rowId xmlns:a16="http://schemas.microsoft.com/office/drawing/2014/main" val="10000"/>
                  </a:ext>
                </a:extLst>
              </a:tr>
              <a:tr h="398908">
                <a:tc>
                  <a:txBody>
                    <a:bodyPr/>
                    <a:lstStyle/>
                    <a:p>
                      <a:pPr algn="ctr"/>
                      <a:r>
                        <a:rPr lang="en-US" sz="3200" b="1" dirty="0">
                          <a:solidFill>
                            <a:schemeClr val="bg2">
                              <a:lumMod val="60000"/>
                              <a:lumOff val="40000"/>
                            </a:schemeClr>
                          </a:solidFill>
                        </a:rPr>
                        <a:t>P1</a:t>
                      </a:r>
                    </a:p>
                  </a:txBody>
                  <a:tcPr>
                    <a:solidFill>
                      <a:srgbClr val="00B050"/>
                    </a:solidFill>
                  </a:tcPr>
                </a:tc>
                <a:tc>
                  <a:txBody>
                    <a:bodyPr/>
                    <a:lstStyle/>
                    <a:p>
                      <a:pPr algn="ctr"/>
                      <a:r>
                        <a:rPr lang="en-US" sz="3200" b="1" dirty="0">
                          <a:solidFill>
                            <a:schemeClr val="bg2">
                              <a:lumMod val="60000"/>
                              <a:lumOff val="40000"/>
                            </a:schemeClr>
                          </a:solidFill>
                        </a:rPr>
                        <a:t>0</a:t>
                      </a:r>
                    </a:p>
                  </a:txBody>
                  <a:tcPr>
                    <a:solidFill>
                      <a:srgbClr val="00B050"/>
                    </a:solidFill>
                  </a:tcPr>
                </a:tc>
                <a:tc>
                  <a:txBody>
                    <a:bodyPr/>
                    <a:lstStyle/>
                    <a:p>
                      <a:pPr algn="ctr"/>
                      <a:r>
                        <a:rPr lang="en-US" sz="3200" b="1" dirty="0">
                          <a:solidFill>
                            <a:schemeClr val="bg2">
                              <a:lumMod val="60000"/>
                              <a:lumOff val="40000"/>
                            </a:schemeClr>
                          </a:solidFill>
                        </a:rPr>
                        <a:t>6</a:t>
                      </a:r>
                    </a:p>
                  </a:txBody>
                  <a:tcPr>
                    <a:solidFill>
                      <a:srgbClr val="00B050"/>
                    </a:solidFill>
                  </a:tcPr>
                </a:tc>
                <a:tc>
                  <a:txBody>
                    <a:bodyPr/>
                    <a:lstStyle/>
                    <a:p>
                      <a:endParaRPr lang="en-US" sz="2400" b="1" dirty="0">
                        <a:solidFill>
                          <a:schemeClr val="bg2">
                            <a:lumMod val="60000"/>
                            <a:lumOff val="40000"/>
                          </a:schemeClr>
                        </a:solidFill>
                      </a:endParaRPr>
                    </a:p>
                    <a:p>
                      <a:endParaRPr lang="en-US" sz="2400" b="1" dirty="0">
                        <a:solidFill>
                          <a:schemeClr val="bg2">
                            <a:lumMod val="60000"/>
                            <a:lumOff val="40000"/>
                          </a:schemeClr>
                        </a:solidFill>
                      </a:endParaRPr>
                    </a:p>
                  </a:txBody>
                  <a:tcPr>
                    <a:solidFill>
                      <a:srgbClr val="FFC000"/>
                    </a:solidFill>
                  </a:tcPr>
                </a:tc>
                <a:tc>
                  <a:txBody>
                    <a:bodyPr/>
                    <a:lstStyle/>
                    <a:p>
                      <a:endParaRPr lang="en-US" sz="2400" b="1">
                        <a:solidFill>
                          <a:schemeClr val="bg2">
                            <a:lumMod val="60000"/>
                            <a:lumOff val="40000"/>
                          </a:schemeClr>
                        </a:solidFill>
                      </a:endParaRPr>
                    </a:p>
                  </a:txBody>
                  <a:tcPr>
                    <a:solidFill>
                      <a:srgbClr val="FFC000"/>
                    </a:solidFill>
                  </a:tcPr>
                </a:tc>
                <a:tc>
                  <a:txBody>
                    <a:bodyPr/>
                    <a:lstStyle/>
                    <a:p>
                      <a:endParaRPr lang="en-US" sz="2400" b="1">
                        <a:solidFill>
                          <a:schemeClr val="bg2">
                            <a:lumMod val="60000"/>
                            <a:lumOff val="40000"/>
                          </a:schemeClr>
                        </a:solidFill>
                      </a:endParaRPr>
                    </a:p>
                  </a:txBody>
                  <a:tcPr>
                    <a:solidFill>
                      <a:srgbClr val="FFC000"/>
                    </a:solidFill>
                  </a:tcPr>
                </a:tc>
                <a:tc>
                  <a:txBody>
                    <a:bodyPr/>
                    <a:lstStyle/>
                    <a:p>
                      <a:endParaRPr lang="en-US" sz="2400" b="1">
                        <a:solidFill>
                          <a:schemeClr val="bg2">
                            <a:lumMod val="60000"/>
                            <a:lumOff val="40000"/>
                          </a:schemeClr>
                        </a:solidFill>
                      </a:endParaRPr>
                    </a:p>
                  </a:txBody>
                  <a:tcPr>
                    <a:solidFill>
                      <a:srgbClr val="FFC000"/>
                    </a:solidFill>
                  </a:tcPr>
                </a:tc>
                <a:tc>
                  <a:txBody>
                    <a:bodyPr/>
                    <a:lstStyle/>
                    <a:p>
                      <a:endParaRPr lang="en-US" sz="2400" b="1">
                        <a:solidFill>
                          <a:schemeClr val="bg2">
                            <a:lumMod val="60000"/>
                            <a:lumOff val="40000"/>
                          </a:schemeClr>
                        </a:solidFill>
                      </a:endParaRPr>
                    </a:p>
                  </a:txBody>
                  <a:tcPr>
                    <a:solidFill>
                      <a:srgbClr val="FFC000"/>
                    </a:solidFill>
                  </a:tcPr>
                </a:tc>
                <a:extLst>
                  <a:ext uri="{0D108BD9-81ED-4DB2-BD59-A6C34878D82A}">
                    <a16:rowId xmlns:a16="http://schemas.microsoft.com/office/drawing/2014/main" val="10001"/>
                  </a:ext>
                </a:extLst>
              </a:tr>
              <a:tr h="398908">
                <a:tc>
                  <a:txBody>
                    <a:bodyPr/>
                    <a:lstStyle/>
                    <a:p>
                      <a:pPr algn="ctr"/>
                      <a:r>
                        <a:rPr lang="en-US" sz="3200" b="1" dirty="0">
                          <a:solidFill>
                            <a:schemeClr val="bg2">
                              <a:lumMod val="60000"/>
                              <a:lumOff val="40000"/>
                            </a:schemeClr>
                          </a:solidFill>
                        </a:rPr>
                        <a:t>P2</a:t>
                      </a:r>
                    </a:p>
                  </a:txBody>
                  <a:tcPr>
                    <a:solidFill>
                      <a:srgbClr val="00B050"/>
                    </a:solidFill>
                  </a:tcPr>
                </a:tc>
                <a:tc>
                  <a:txBody>
                    <a:bodyPr/>
                    <a:lstStyle/>
                    <a:p>
                      <a:pPr algn="ctr"/>
                      <a:r>
                        <a:rPr lang="en-US" sz="3200" b="1" dirty="0">
                          <a:solidFill>
                            <a:schemeClr val="bg2">
                              <a:lumMod val="60000"/>
                              <a:lumOff val="40000"/>
                            </a:schemeClr>
                          </a:solidFill>
                        </a:rPr>
                        <a:t>2</a:t>
                      </a:r>
                    </a:p>
                  </a:txBody>
                  <a:tcPr>
                    <a:solidFill>
                      <a:srgbClr val="00B050"/>
                    </a:solidFill>
                  </a:tcPr>
                </a:tc>
                <a:tc>
                  <a:txBody>
                    <a:bodyPr/>
                    <a:lstStyle/>
                    <a:p>
                      <a:pPr algn="ctr"/>
                      <a:r>
                        <a:rPr lang="en-US" sz="3200" b="1" dirty="0">
                          <a:solidFill>
                            <a:schemeClr val="bg2">
                              <a:lumMod val="60000"/>
                              <a:lumOff val="40000"/>
                            </a:schemeClr>
                          </a:solidFill>
                        </a:rPr>
                        <a:t>8</a:t>
                      </a:r>
                    </a:p>
                  </a:txBody>
                  <a:tcPr>
                    <a:solidFill>
                      <a:srgbClr val="00B050"/>
                    </a:solidFill>
                  </a:tcPr>
                </a:tc>
                <a:tc>
                  <a:txBody>
                    <a:bodyPr/>
                    <a:lstStyle/>
                    <a:p>
                      <a:endParaRPr lang="en-US" sz="2400" b="1" dirty="0">
                        <a:solidFill>
                          <a:schemeClr val="bg2">
                            <a:lumMod val="60000"/>
                            <a:lumOff val="40000"/>
                          </a:schemeClr>
                        </a:solidFill>
                      </a:endParaRPr>
                    </a:p>
                    <a:p>
                      <a:endParaRPr lang="en-US" sz="2400" b="1" dirty="0">
                        <a:solidFill>
                          <a:schemeClr val="bg2">
                            <a:lumMod val="60000"/>
                            <a:lumOff val="40000"/>
                          </a:schemeClr>
                        </a:solidFill>
                      </a:endParaRPr>
                    </a:p>
                  </a:txBody>
                  <a:tcPr>
                    <a:solidFill>
                      <a:srgbClr val="FFC000"/>
                    </a:solidFill>
                  </a:tcPr>
                </a:tc>
                <a:tc>
                  <a:txBody>
                    <a:bodyPr/>
                    <a:lstStyle/>
                    <a:p>
                      <a:endParaRPr lang="en-US" sz="2400" b="1" dirty="0">
                        <a:solidFill>
                          <a:schemeClr val="bg2">
                            <a:lumMod val="60000"/>
                            <a:lumOff val="40000"/>
                          </a:schemeClr>
                        </a:solidFill>
                      </a:endParaRPr>
                    </a:p>
                  </a:txBody>
                  <a:tcPr>
                    <a:solidFill>
                      <a:srgbClr val="FFC000"/>
                    </a:solidFill>
                  </a:tcPr>
                </a:tc>
                <a:tc>
                  <a:txBody>
                    <a:bodyPr/>
                    <a:lstStyle/>
                    <a:p>
                      <a:endParaRPr lang="en-US" sz="2400" b="1" dirty="0">
                        <a:solidFill>
                          <a:schemeClr val="bg2">
                            <a:lumMod val="60000"/>
                            <a:lumOff val="40000"/>
                          </a:schemeClr>
                        </a:solidFill>
                      </a:endParaRPr>
                    </a:p>
                  </a:txBody>
                  <a:tcPr>
                    <a:solidFill>
                      <a:srgbClr val="FFC000"/>
                    </a:solidFill>
                  </a:tcPr>
                </a:tc>
                <a:tc>
                  <a:txBody>
                    <a:bodyPr/>
                    <a:lstStyle/>
                    <a:p>
                      <a:endParaRPr lang="en-US" sz="2400" b="1">
                        <a:solidFill>
                          <a:schemeClr val="bg2">
                            <a:lumMod val="60000"/>
                            <a:lumOff val="40000"/>
                          </a:schemeClr>
                        </a:solidFill>
                      </a:endParaRPr>
                    </a:p>
                  </a:txBody>
                  <a:tcPr>
                    <a:solidFill>
                      <a:srgbClr val="FFC000"/>
                    </a:solidFill>
                  </a:tcPr>
                </a:tc>
                <a:tc>
                  <a:txBody>
                    <a:bodyPr/>
                    <a:lstStyle/>
                    <a:p>
                      <a:endParaRPr lang="en-US" sz="2400" b="1">
                        <a:solidFill>
                          <a:schemeClr val="bg2">
                            <a:lumMod val="60000"/>
                            <a:lumOff val="40000"/>
                          </a:schemeClr>
                        </a:solidFill>
                      </a:endParaRPr>
                    </a:p>
                  </a:txBody>
                  <a:tcPr>
                    <a:solidFill>
                      <a:srgbClr val="FFC000"/>
                    </a:solidFill>
                  </a:tcPr>
                </a:tc>
                <a:extLst>
                  <a:ext uri="{0D108BD9-81ED-4DB2-BD59-A6C34878D82A}">
                    <a16:rowId xmlns:a16="http://schemas.microsoft.com/office/drawing/2014/main" val="10002"/>
                  </a:ext>
                </a:extLst>
              </a:tr>
              <a:tr h="398908">
                <a:tc>
                  <a:txBody>
                    <a:bodyPr/>
                    <a:lstStyle/>
                    <a:p>
                      <a:pPr algn="ctr"/>
                      <a:r>
                        <a:rPr lang="en-US" sz="3200" b="1" dirty="0">
                          <a:solidFill>
                            <a:schemeClr val="bg2">
                              <a:lumMod val="60000"/>
                              <a:lumOff val="40000"/>
                            </a:schemeClr>
                          </a:solidFill>
                        </a:rPr>
                        <a:t>P3</a:t>
                      </a:r>
                    </a:p>
                  </a:txBody>
                  <a:tcPr>
                    <a:solidFill>
                      <a:srgbClr val="00B050"/>
                    </a:solidFill>
                  </a:tcPr>
                </a:tc>
                <a:tc>
                  <a:txBody>
                    <a:bodyPr/>
                    <a:lstStyle/>
                    <a:p>
                      <a:pPr algn="ctr"/>
                      <a:r>
                        <a:rPr lang="en-US" sz="3200" b="1" dirty="0">
                          <a:solidFill>
                            <a:schemeClr val="bg2">
                              <a:lumMod val="60000"/>
                              <a:lumOff val="40000"/>
                            </a:schemeClr>
                          </a:solidFill>
                        </a:rPr>
                        <a:t>3</a:t>
                      </a:r>
                    </a:p>
                  </a:txBody>
                  <a:tcPr>
                    <a:solidFill>
                      <a:srgbClr val="00B050"/>
                    </a:solidFill>
                  </a:tcPr>
                </a:tc>
                <a:tc>
                  <a:txBody>
                    <a:bodyPr/>
                    <a:lstStyle/>
                    <a:p>
                      <a:pPr algn="ctr"/>
                      <a:r>
                        <a:rPr lang="en-US" sz="3200" b="1" dirty="0">
                          <a:solidFill>
                            <a:schemeClr val="bg2">
                              <a:lumMod val="60000"/>
                              <a:lumOff val="40000"/>
                            </a:schemeClr>
                          </a:solidFill>
                        </a:rPr>
                        <a:t>7</a:t>
                      </a:r>
                    </a:p>
                  </a:txBody>
                  <a:tcPr>
                    <a:solidFill>
                      <a:srgbClr val="00B050"/>
                    </a:solidFill>
                  </a:tcPr>
                </a:tc>
                <a:tc>
                  <a:txBody>
                    <a:bodyPr/>
                    <a:lstStyle/>
                    <a:p>
                      <a:endParaRPr lang="en-US" sz="2400" b="1" dirty="0">
                        <a:solidFill>
                          <a:schemeClr val="bg2">
                            <a:lumMod val="60000"/>
                            <a:lumOff val="40000"/>
                          </a:schemeClr>
                        </a:solidFill>
                      </a:endParaRPr>
                    </a:p>
                    <a:p>
                      <a:endParaRPr lang="en-US" sz="2400" b="1" dirty="0">
                        <a:solidFill>
                          <a:schemeClr val="bg2">
                            <a:lumMod val="60000"/>
                            <a:lumOff val="40000"/>
                          </a:schemeClr>
                        </a:solidFill>
                      </a:endParaRPr>
                    </a:p>
                  </a:txBody>
                  <a:tcPr>
                    <a:solidFill>
                      <a:srgbClr val="FFC000"/>
                    </a:solidFill>
                  </a:tcPr>
                </a:tc>
                <a:tc>
                  <a:txBody>
                    <a:bodyPr/>
                    <a:lstStyle/>
                    <a:p>
                      <a:endParaRPr lang="en-US" sz="2400" b="1" dirty="0">
                        <a:solidFill>
                          <a:schemeClr val="bg2">
                            <a:lumMod val="60000"/>
                            <a:lumOff val="40000"/>
                          </a:schemeClr>
                        </a:solidFill>
                      </a:endParaRPr>
                    </a:p>
                  </a:txBody>
                  <a:tcPr>
                    <a:solidFill>
                      <a:srgbClr val="FFC000"/>
                    </a:solidFill>
                  </a:tcPr>
                </a:tc>
                <a:tc>
                  <a:txBody>
                    <a:bodyPr/>
                    <a:lstStyle/>
                    <a:p>
                      <a:endParaRPr lang="en-US" sz="2400" b="1" dirty="0">
                        <a:solidFill>
                          <a:schemeClr val="bg2">
                            <a:lumMod val="60000"/>
                            <a:lumOff val="40000"/>
                          </a:schemeClr>
                        </a:solidFill>
                      </a:endParaRPr>
                    </a:p>
                  </a:txBody>
                  <a:tcPr>
                    <a:solidFill>
                      <a:srgbClr val="FFC000"/>
                    </a:solidFill>
                  </a:tcPr>
                </a:tc>
                <a:tc>
                  <a:txBody>
                    <a:bodyPr/>
                    <a:lstStyle/>
                    <a:p>
                      <a:endParaRPr lang="en-US" sz="2400" b="1" dirty="0">
                        <a:solidFill>
                          <a:schemeClr val="bg2">
                            <a:lumMod val="60000"/>
                            <a:lumOff val="40000"/>
                          </a:schemeClr>
                        </a:solidFill>
                      </a:endParaRPr>
                    </a:p>
                  </a:txBody>
                  <a:tcPr>
                    <a:solidFill>
                      <a:srgbClr val="FFC000"/>
                    </a:solidFill>
                  </a:tcPr>
                </a:tc>
                <a:tc>
                  <a:txBody>
                    <a:bodyPr/>
                    <a:lstStyle/>
                    <a:p>
                      <a:endParaRPr lang="en-US" sz="2400" b="1">
                        <a:solidFill>
                          <a:schemeClr val="bg2">
                            <a:lumMod val="60000"/>
                            <a:lumOff val="40000"/>
                          </a:schemeClr>
                        </a:solidFill>
                      </a:endParaRPr>
                    </a:p>
                  </a:txBody>
                  <a:tcPr>
                    <a:solidFill>
                      <a:srgbClr val="FFC000"/>
                    </a:solidFill>
                  </a:tcPr>
                </a:tc>
                <a:extLst>
                  <a:ext uri="{0D108BD9-81ED-4DB2-BD59-A6C34878D82A}">
                    <a16:rowId xmlns:a16="http://schemas.microsoft.com/office/drawing/2014/main" val="10003"/>
                  </a:ext>
                </a:extLst>
              </a:tr>
              <a:tr h="398908">
                <a:tc>
                  <a:txBody>
                    <a:bodyPr/>
                    <a:lstStyle/>
                    <a:p>
                      <a:pPr algn="ctr"/>
                      <a:r>
                        <a:rPr lang="en-US" sz="3200" b="1" dirty="0">
                          <a:solidFill>
                            <a:schemeClr val="bg2">
                              <a:lumMod val="60000"/>
                              <a:lumOff val="40000"/>
                            </a:schemeClr>
                          </a:solidFill>
                        </a:rPr>
                        <a:t>P4</a:t>
                      </a:r>
                    </a:p>
                  </a:txBody>
                  <a:tcPr>
                    <a:solidFill>
                      <a:srgbClr val="00B050"/>
                    </a:solidFill>
                  </a:tcPr>
                </a:tc>
                <a:tc>
                  <a:txBody>
                    <a:bodyPr/>
                    <a:lstStyle/>
                    <a:p>
                      <a:pPr algn="ctr"/>
                      <a:r>
                        <a:rPr lang="en-US" sz="3200" b="1" dirty="0">
                          <a:solidFill>
                            <a:schemeClr val="bg2">
                              <a:lumMod val="60000"/>
                              <a:lumOff val="40000"/>
                            </a:schemeClr>
                          </a:solidFill>
                        </a:rPr>
                        <a:t>4</a:t>
                      </a:r>
                    </a:p>
                  </a:txBody>
                  <a:tcPr>
                    <a:solidFill>
                      <a:srgbClr val="00B050"/>
                    </a:solidFill>
                  </a:tcPr>
                </a:tc>
                <a:tc>
                  <a:txBody>
                    <a:bodyPr/>
                    <a:lstStyle/>
                    <a:p>
                      <a:pPr algn="ctr"/>
                      <a:r>
                        <a:rPr lang="en-US" sz="3200" b="1" dirty="0">
                          <a:solidFill>
                            <a:schemeClr val="bg2">
                              <a:lumMod val="60000"/>
                              <a:lumOff val="40000"/>
                            </a:schemeClr>
                          </a:solidFill>
                        </a:rPr>
                        <a:t>3</a:t>
                      </a:r>
                    </a:p>
                  </a:txBody>
                  <a:tcPr>
                    <a:solidFill>
                      <a:srgbClr val="00B050"/>
                    </a:solidFill>
                  </a:tcPr>
                </a:tc>
                <a:tc>
                  <a:txBody>
                    <a:bodyPr/>
                    <a:lstStyle/>
                    <a:p>
                      <a:endParaRPr lang="en-US" sz="2400" b="1" dirty="0">
                        <a:solidFill>
                          <a:schemeClr val="bg2">
                            <a:lumMod val="60000"/>
                            <a:lumOff val="40000"/>
                          </a:schemeClr>
                        </a:solidFill>
                      </a:endParaRPr>
                    </a:p>
                    <a:p>
                      <a:endParaRPr lang="en-US" sz="2400" b="1" dirty="0">
                        <a:solidFill>
                          <a:schemeClr val="bg2">
                            <a:lumMod val="60000"/>
                            <a:lumOff val="40000"/>
                          </a:schemeClr>
                        </a:solidFill>
                      </a:endParaRPr>
                    </a:p>
                  </a:txBody>
                  <a:tcPr>
                    <a:solidFill>
                      <a:srgbClr val="FFC000"/>
                    </a:solidFill>
                  </a:tcPr>
                </a:tc>
                <a:tc>
                  <a:txBody>
                    <a:bodyPr/>
                    <a:lstStyle/>
                    <a:p>
                      <a:endParaRPr lang="en-US" sz="2400" b="1">
                        <a:solidFill>
                          <a:schemeClr val="bg2">
                            <a:lumMod val="60000"/>
                            <a:lumOff val="40000"/>
                          </a:schemeClr>
                        </a:solidFill>
                      </a:endParaRPr>
                    </a:p>
                  </a:txBody>
                  <a:tcPr>
                    <a:solidFill>
                      <a:srgbClr val="FFC000"/>
                    </a:solidFill>
                  </a:tcPr>
                </a:tc>
                <a:tc>
                  <a:txBody>
                    <a:bodyPr/>
                    <a:lstStyle/>
                    <a:p>
                      <a:endParaRPr lang="en-US" sz="2400" b="1" dirty="0">
                        <a:solidFill>
                          <a:schemeClr val="bg2">
                            <a:lumMod val="60000"/>
                            <a:lumOff val="40000"/>
                          </a:schemeClr>
                        </a:solidFill>
                      </a:endParaRPr>
                    </a:p>
                  </a:txBody>
                  <a:tcPr>
                    <a:solidFill>
                      <a:srgbClr val="FFC000"/>
                    </a:solidFill>
                  </a:tcPr>
                </a:tc>
                <a:tc>
                  <a:txBody>
                    <a:bodyPr/>
                    <a:lstStyle/>
                    <a:p>
                      <a:endParaRPr lang="en-US" sz="2400" b="1" dirty="0">
                        <a:solidFill>
                          <a:schemeClr val="bg2">
                            <a:lumMod val="60000"/>
                            <a:lumOff val="40000"/>
                          </a:schemeClr>
                        </a:solidFill>
                      </a:endParaRPr>
                    </a:p>
                  </a:txBody>
                  <a:tcPr>
                    <a:solidFill>
                      <a:srgbClr val="FFC000"/>
                    </a:solidFill>
                  </a:tcPr>
                </a:tc>
                <a:tc>
                  <a:txBody>
                    <a:bodyPr/>
                    <a:lstStyle/>
                    <a:p>
                      <a:endParaRPr lang="en-US" sz="2400" b="1" dirty="0">
                        <a:solidFill>
                          <a:schemeClr val="bg2">
                            <a:lumMod val="60000"/>
                            <a:lumOff val="40000"/>
                          </a:schemeClr>
                        </a:solidFill>
                      </a:endParaRPr>
                    </a:p>
                  </a:txBody>
                  <a:tcPr>
                    <a:solidFill>
                      <a:srgbClr val="FFC000"/>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4353447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285875" y="665838"/>
            <a:ext cx="9305925" cy="336550"/>
          </a:xfrm>
        </p:spPr>
        <p:txBody>
          <a:bodyPr/>
          <a:lstStyle/>
          <a:p>
            <a:pPr eaLnBrk="1" hangingPunct="1"/>
            <a:r>
              <a:rPr lang="en-US" altLang="en-US" sz="2800" dirty="0"/>
              <a:t>Shortest Remaining Time First (SRTF) </a:t>
            </a:r>
            <a:br>
              <a:rPr lang="en-US" altLang="en-US" sz="2800" dirty="0"/>
            </a:br>
            <a:r>
              <a:rPr lang="en-US" altLang="en-US" sz="2800" dirty="0">
                <a:solidFill>
                  <a:srgbClr val="FF0000"/>
                </a:solidFill>
              </a:rPr>
              <a:t>SJF - Preemptive Scheduling</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220168718"/>
              </p:ext>
            </p:extLst>
          </p:nvPr>
        </p:nvGraphicFramePr>
        <p:xfrm>
          <a:off x="386080" y="1517651"/>
          <a:ext cx="10505439" cy="4480560"/>
        </p:xfrm>
        <a:graphic>
          <a:graphicData uri="http://schemas.openxmlformats.org/drawingml/2006/table">
            <a:tbl>
              <a:tblPr firstRow="1" bandRow="1">
                <a:tableStyleId>{5C22544A-7EE6-4342-B048-85BDC9FD1C3A}</a:tableStyleId>
              </a:tblPr>
              <a:tblGrid>
                <a:gridCol w="1121367">
                  <a:extLst>
                    <a:ext uri="{9D8B030D-6E8A-4147-A177-3AD203B41FA5}">
                      <a16:colId xmlns:a16="http://schemas.microsoft.com/office/drawing/2014/main" val="20000"/>
                    </a:ext>
                  </a:extLst>
                </a:gridCol>
                <a:gridCol w="1558110">
                  <a:extLst>
                    <a:ext uri="{9D8B030D-6E8A-4147-A177-3AD203B41FA5}">
                      <a16:colId xmlns:a16="http://schemas.microsoft.com/office/drawing/2014/main" val="20001"/>
                    </a:ext>
                  </a:extLst>
                </a:gridCol>
                <a:gridCol w="1617130">
                  <a:extLst>
                    <a:ext uri="{9D8B030D-6E8A-4147-A177-3AD203B41FA5}">
                      <a16:colId xmlns:a16="http://schemas.microsoft.com/office/drawing/2014/main" val="20002"/>
                    </a:ext>
                  </a:extLst>
                </a:gridCol>
                <a:gridCol w="1015133">
                  <a:extLst>
                    <a:ext uri="{9D8B030D-6E8A-4147-A177-3AD203B41FA5}">
                      <a16:colId xmlns:a16="http://schemas.microsoft.com/office/drawing/2014/main" val="20003"/>
                    </a:ext>
                  </a:extLst>
                </a:gridCol>
                <a:gridCol w="1168582">
                  <a:extLst>
                    <a:ext uri="{9D8B030D-6E8A-4147-A177-3AD203B41FA5}">
                      <a16:colId xmlns:a16="http://schemas.microsoft.com/office/drawing/2014/main" val="20004"/>
                    </a:ext>
                  </a:extLst>
                </a:gridCol>
                <a:gridCol w="1523822">
                  <a:extLst>
                    <a:ext uri="{9D8B030D-6E8A-4147-A177-3AD203B41FA5}">
                      <a16:colId xmlns:a16="http://schemas.microsoft.com/office/drawing/2014/main" val="20005"/>
                    </a:ext>
                  </a:extLst>
                </a:gridCol>
                <a:gridCol w="1155359">
                  <a:extLst>
                    <a:ext uri="{9D8B030D-6E8A-4147-A177-3AD203B41FA5}">
                      <a16:colId xmlns:a16="http://schemas.microsoft.com/office/drawing/2014/main" val="20006"/>
                    </a:ext>
                  </a:extLst>
                </a:gridCol>
                <a:gridCol w="1345936">
                  <a:extLst>
                    <a:ext uri="{9D8B030D-6E8A-4147-A177-3AD203B41FA5}">
                      <a16:colId xmlns:a16="http://schemas.microsoft.com/office/drawing/2014/main" val="20007"/>
                    </a:ext>
                  </a:extLst>
                </a:gridCol>
              </a:tblGrid>
              <a:tr h="983609">
                <a:tc>
                  <a:txBody>
                    <a:bodyPr/>
                    <a:lstStyle/>
                    <a:p>
                      <a:r>
                        <a:rPr lang="en-US" sz="2400" dirty="0">
                          <a:solidFill>
                            <a:schemeClr val="bg2">
                              <a:lumMod val="60000"/>
                              <a:lumOff val="40000"/>
                            </a:schemeClr>
                          </a:solidFill>
                        </a:rPr>
                        <a:t>Process</a:t>
                      </a:r>
                    </a:p>
                  </a:txBody>
                  <a:tcPr>
                    <a:solidFill>
                      <a:srgbClr val="00B050"/>
                    </a:solidFill>
                  </a:tcPr>
                </a:tc>
                <a:tc>
                  <a:txBody>
                    <a:bodyPr/>
                    <a:lstStyle/>
                    <a:p>
                      <a:r>
                        <a:rPr lang="en-US" sz="2400" dirty="0">
                          <a:solidFill>
                            <a:schemeClr val="bg2">
                              <a:lumMod val="60000"/>
                              <a:lumOff val="40000"/>
                            </a:schemeClr>
                          </a:solidFill>
                        </a:rPr>
                        <a:t>Arrival</a:t>
                      </a:r>
                      <a:r>
                        <a:rPr lang="en-US" sz="2400" baseline="0" dirty="0">
                          <a:solidFill>
                            <a:schemeClr val="bg2">
                              <a:lumMod val="60000"/>
                              <a:lumOff val="40000"/>
                            </a:schemeClr>
                          </a:solidFill>
                        </a:rPr>
                        <a:t> Time(AT)</a:t>
                      </a:r>
                      <a:endParaRPr lang="en-US" sz="2400" dirty="0">
                        <a:solidFill>
                          <a:schemeClr val="bg2">
                            <a:lumMod val="60000"/>
                            <a:lumOff val="40000"/>
                          </a:schemeClr>
                        </a:solidFill>
                      </a:endParaRPr>
                    </a:p>
                  </a:txBody>
                  <a:tcPr>
                    <a:solidFill>
                      <a:srgbClr val="00B050"/>
                    </a:solidFill>
                  </a:tcPr>
                </a:tc>
                <a:tc>
                  <a:txBody>
                    <a:bodyPr/>
                    <a:lstStyle/>
                    <a:p>
                      <a:r>
                        <a:rPr lang="en-US" sz="2400" dirty="0">
                          <a:solidFill>
                            <a:schemeClr val="bg2">
                              <a:lumMod val="60000"/>
                              <a:lumOff val="40000"/>
                            </a:schemeClr>
                          </a:solidFill>
                        </a:rPr>
                        <a:t>Burst Time(BT)</a:t>
                      </a:r>
                    </a:p>
                  </a:txBody>
                  <a:tcPr>
                    <a:solidFill>
                      <a:srgbClr val="00B050"/>
                    </a:solidFill>
                  </a:tcPr>
                </a:tc>
                <a:tc>
                  <a:txBody>
                    <a:bodyPr/>
                    <a:lstStyle/>
                    <a:p>
                      <a:r>
                        <a:rPr lang="en-US" sz="2400" dirty="0">
                          <a:solidFill>
                            <a:schemeClr val="bg2">
                              <a:lumMod val="60000"/>
                              <a:lumOff val="40000"/>
                            </a:schemeClr>
                          </a:solidFill>
                        </a:rPr>
                        <a:t>CT</a:t>
                      </a:r>
                    </a:p>
                  </a:txBody>
                  <a:tcPr>
                    <a:solidFill>
                      <a:srgbClr val="00B050"/>
                    </a:solidFill>
                  </a:tcPr>
                </a:tc>
                <a:tc>
                  <a:txBody>
                    <a:bodyPr/>
                    <a:lstStyle/>
                    <a:p>
                      <a:r>
                        <a:rPr lang="en-US" sz="2400" dirty="0">
                          <a:solidFill>
                            <a:schemeClr val="bg2">
                              <a:lumMod val="60000"/>
                              <a:lumOff val="40000"/>
                            </a:schemeClr>
                          </a:solidFill>
                        </a:rPr>
                        <a:t>TAT =</a:t>
                      </a:r>
                    </a:p>
                    <a:p>
                      <a:r>
                        <a:rPr lang="en-US" sz="2400" dirty="0">
                          <a:solidFill>
                            <a:schemeClr val="bg2">
                              <a:lumMod val="60000"/>
                              <a:lumOff val="40000"/>
                            </a:schemeClr>
                          </a:solidFill>
                        </a:rPr>
                        <a:t>CT-AT</a:t>
                      </a:r>
                    </a:p>
                  </a:txBody>
                  <a:tcPr>
                    <a:solidFill>
                      <a:srgbClr val="00B050"/>
                    </a:solidFill>
                  </a:tcPr>
                </a:tc>
                <a:tc>
                  <a:txBody>
                    <a:bodyPr/>
                    <a:lstStyle/>
                    <a:p>
                      <a:r>
                        <a:rPr lang="en-US" sz="2400" dirty="0">
                          <a:solidFill>
                            <a:schemeClr val="bg2">
                              <a:lumMod val="60000"/>
                              <a:lumOff val="40000"/>
                            </a:schemeClr>
                          </a:solidFill>
                        </a:rPr>
                        <a:t>WT</a:t>
                      </a:r>
                    </a:p>
                  </a:txBody>
                  <a:tcPr>
                    <a:solidFill>
                      <a:srgbClr val="00B050"/>
                    </a:solidFill>
                  </a:tcPr>
                </a:tc>
                <a:tc>
                  <a:txBody>
                    <a:bodyPr/>
                    <a:lstStyle/>
                    <a:p>
                      <a:r>
                        <a:rPr lang="en-US" sz="2400" dirty="0">
                          <a:solidFill>
                            <a:schemeClr val="bg2">
                              <a:lumMod val="60000"/>
                              <a:lumOff val="40000"/>
                            </a:schemeClr>
                          </a:solidFill>
                        </a:rPr>
                        <a:t>RT</a:t>
                      </a:r>
                    </a:p>
                  </a:txBody>
                  <a:tcPr>
                    <a:solidFill>
                      <a:srgbClr val="00B050"/>
                    </a:solidFill>
                  </a:tcPr>
                </a:tc>
                <a:tc>
                  <a:txBody>
                    <a:bodyPr/>
                    <a:lstStyle/>
                    <a:p>
                      <a:r>
                        <a:rPr lang="en-US" sz="2400" dirty="0">
                          <a:solidFill>
                            <a:schemeClr val="bg2">
                              <a:lumMod val="60000"/>
                              <a:lumOff val="40000"/>
                            </a:schemeClr>
                          </a:solidFill>
                        </a:rPr>
                        <a:t>Context Switch</a:t>
                      </a:r>
                    </a:p>
                    <a:p>
                      <a:r>
                        <a:rPr lang="en-US" sz="2400" dirty="0">
                          <a:solidFill>
                            <a:schemeClr val="bg2">
                              <a:lumMod val="60000"/>
                              <a:lumOff val="40000"/>
                            </a:schemeClr>
                          </a:solidFill>
                        </a:rPr>
                        <a:t>(1ms)</a:t>
                      </a:r>
                    </a:p>
                  </a:txBody>
                  <a:tcPr>
                    <a:solidFill>
                      <a:srgbClr val="00B050"/>
                    </a:solidFill>
                  </a:tcPr>
                </a:tc>
                <a:extLst>
                  <a:ext uri="{0D108BD9-81ED-4DB2-BD59-A6C34878D82A}">
                    <a16:rowId xmlns:a16="http://schemas.microsoft.com/office/drawing/2014/main" val="10000"/>
                  </a:ext>
                </a:extLst>
              </a:tr>
              <a:tr h="398908">
                <a:tc>
                  <a:txBody>
                    <a:bodyPr/>
                    <a:lstStyle/>
                    <a:p>
                      <a:pPr algn="ctr"/>
                      <a:r>
                        <a:rPr lang="en-US" sz="3200" b="1" dirty="0">
                          <a:solidFill>
                            <a:schemeClr val="bg2">
                              <a:lumMod val="60000"/>
                              <a:lumOff val="40000"/>
                            </a:schemeClr>
                          </a:solidFill>
                        </a:rPr>
                        <a:t>P1</a:t>
                      </a:r>
                    </a:p>
                  </a:txBody>
                  <a:tcPr>
                    <a:solidFill>
                      <a:srgbClr val="00B050"/>
                    </a:solidFill>
                  </a:tcPr>
                </a:tc>
                <a:tc>
                  <a:txBody>
                    <a:bodyPr/>
                    <a:lstStyle/>
                    <a:p>
                      <a:pPr algn="ctr"/>
                      <a:r>
                        <a:rPr lang="en-US" sz="3200" b="1" dirty="0">
                          <a:solidFill>
                            <a:schemeClr val="bg2">
                              <a:lumMod val="60000"/>
                              <a:lumOff val="40000"/>
                            </a:schemeClr>
                          </a:solidFill>
                        </a:rPr>
                        <a:t>0</a:t>
                      </a:r>
                    </a:p>
                  </a:txBody>
                  <a:tcPr>
                    <a:solidFill>
                      <a:srgbClr val="00B050"/>
                    </a:solidFill>
                  </a:tcPr>
                </a:tc>
                <a:tc>
                  <a:txBody>
                    <a:bodyPr/>
                    <a:lstStyle/>
                    <a:p>
                      <a:pPr algn="ctr"/>
                      <a:r>
                        <a:rPr lang="en-US" sz="3200" b="1" dirty="0">
                          <a:solidFill>
                            <a:schemeClr val="bg2">
                              <a:lumMod val="60000"/>
                              <a:lumOff val="40000"/>
                            </a:schemeClr>
                          </a:solidFill>
                        </a:rPr>
                        <a:t>8</a:t>
                      </a:r>
                    </a:p>
                  </a:txBody>
                  <a:tcPr>
                    <a:solidFill>
                      <a:srgbClr val="00B050"/>
                    </a:solidFill>
                  </a:tcPr>
                </a:tc>
                <a:tc>
                  <a:txBody>
                    <a:bodyPr/>
                    <a:lstStyle/>
                    <a:p>
                      <a:endParaRPr lang="en-US" sz="2400" b="1" dirty="0">
                        <a:solidFill>
                          <a:schemeClr val="bg2">
                            <a:lumMod val="60000"/>
                            <a:lumOff val="40000"/>
                          </a:schemeClr>
                        </a:solidFill>
                      </a:endParaRPr>
                    </a:p>
                    <a:p>
                      <a:endParaRPr lang="en-US" sz="2400" b="1" dirty="0">
                        <a:solidFill>
                          <a:schemeClr val="bg2">
                            <a:lumMod val="60000"/>
                            <a:lumOff val="40000"/>
                          </a:schemeClr>
                        </a:solidFill>
                      </a:endParaRPr>
                    </a:p>
                  </a:txBody>
                  <a:tcPr>
                    <a:solidFill>
                      <a:srgbClr val="FFC000"/>
                    </a:solidFill>
                  </a:tcPr>
                </a:tc>
                <a:tc>
                  <a:txBody>
                    <a:bodyPr/>
                    <a:lstStyle/>
                    <a:p>
                      <a:endParaRPr lang="en-US" sz="2400" b="1">
                        <a:solidFill>
                          <a:schemeClr val="bg2">
                            <a:lumMod val="60000"/>
                            <a:lumOff val="40000"/>
                          </a:schemeClr>
                        </a:solidFill>
                      </a:endParaRPr>
                    </a:p>
                  </a:txBody>
                  <a:tcPr>
                    <a:solidFill>
                      <a:srgbClr val="FFC000"/>
                    </a:solidFill>
                  </a:tcPr>
                </a:tc>
                <a:tc>
                  <a:txBody>
                    <a:bodyPr/>
                    <a:lstStyle/>
                    <a:p>
                      <a:endParaRPr lang="en-US" sz="2400" b="1">
                        <a:solidFill>
                          <a:schemeClr val="bg2">
                            <a:lumMod val="60000"/>
                            <a:lumOff val="40000"/>
                          </a:schemeClr>
                        </a:solidFill>
                      </a:endParaRPr>
                    </a:p>
                  </a:txBody>
                  <a:tcPr>
                    <a:solidFill>
                      <a:srgbClr val="FFC000"/>
                    </a:solidFill>
                  </a:tcPr>
                </a:tc>
                <a:tc>
                  <a:txBody>
                    <a:bodyPr/>
                    <a:lstStyle/>
                    <a:p>
                      <a:endParaRPr lang="en-US" sz="2400" b="1">
                        <a:solidFill>
                          <a:schemeClr val="bg2">
                            <a:lumMod val="60000"/>
                            <a:lumOff val="40000"/>
                          </a:schemeClr>
                        </a:solidFill>
                      </a:endParaRPr>
                    </a:p>
                  </a:txBody>
                  <a:tcPr>
                    <a:solidFill>
                      <a:srgbClr val="FFC000"/>
                    </a:solidFill>
                  </a:tcPr>
                </a:tc>
                <a:tc>
                  <a:txBody>
                    <a:bodyPr/>
                    <a:lstStyle/>
                    <a:p>
                      <a:endParaRPr lang="en-US" sz="2400" b="1">
                        <a:solidFill>
                          <a:schemeClr val="bg2">
                            <a:lumMod val="60000"/>
                            <a:lumOff val="40000"/>
                          </a:schemeClr>
                        </a:solidFill>
                      </a:endParaRPr>
                    </a:p>
                  </a:txBody>
                  <a:tcPr>
                    <a:solidFill>
                      <a:srgbClr val="FFC000"/>
                    </a:solidFill>
                  </a:tcPr>
                </a:tc>
                <a:extLst>
                  <a:ext uri="{0D108BD9-81ED-4DB2-BD59-A6C34878D82A}">
                    <a16:rowId xmlns:a16="http://schemas.microsoft.com/office/drawing/2014/main" val="10001"/>
                  </a:ext>
                </a:extLst>
              </a:tr>
              <a:tr h="398908">
                <a:tc>
                  <a:txBody>
                    <a:bodyPr/>
                    <a:lstStyle/>
                    <a:p>
                      <a:pPr algn="ctr"/>
                      <a:r>
                        <a:rPr lang="en-US" sz="3200" b="1" dirty="0">
                          <a:solidFill>
                            <a:schemeClr val="bg2">
                              <a:lumMod val="60000"/>
                              <a:lumOff val="40000"/>
                            </a:schemeClr>
                          </a:solidFill>
                        </a:rPr>
                        <a:t>P2</a:t>
                      </a:r>
                    </a:p>
                  </a:txBody>
                  <a:tcPr>
                    <a:solidFill>
                      <a:srgbClr val="00B050"/>
                    </a:solidFill>
                  </a:tcPr>
                </a:tc>
                <a:tc>
                  <a:txBody>
                    <a:bodyPr/>
                    <a:lstStyle/>
                    <a:p>
                      <a:pPr algn="ctr"/>
                      <a:r>
                        <a:rPr lang="en-US" sz="3200" b="1" dirty="0">
                          <a:solidFill>
                            <a:schemeClr val="bg2">
                              <a:lumMod val="60000"/>
                              <a:lumOff val="40000"/>
                            </a:schemeClr>
                          </a:solidFill>
                        </a:rPr>
                        <a:t>1</a:t>
                      </a:r>
                    </a:p>
                  </a:txBody>
                  <a:tcPr>
                    <a:solidFill>
                      <a:srgbClr val="00B050"/>
                    </a:solidFill>
                  </a:tcPr>
                </a:tc>
                <a:tc>
                  <a:txBody>
                    <a:bodyPr/>
                    <a:lstStyle/>
                    <a:p>
                      <a:pPr algn="ctr"/>
                      <a:r>
                        <a:rPr lang="en-US" sz="3200" b="1" dirty="0">
                          <a:solidFill>
                            <a:schemeClr val="bg2">
                              <a:lumMod val="60000"/>
                              <a:lumOff val="40000"/>
                            </a:schemeClr>
                          </a:solidFill>
                        </a:rPr>
                        <a:t>4</a:t>
                      </a:r>
                    </a:p>
                  </a:txBody>
                  <a:tcPr>
                    <a:solidFill>
                      <a:srgbClr val="00B050"/>
                    </a:solidFill>
                  </a:tcPr>
                </a:tc>
                <a:tc>
                  <a:txBody>
                    <a:bodyPr/>
                    <a:lstStyle/>
                    <a:p>
                      <a:endParaRPr lang="en-US" sz="2400" b="1" dirty="0">
                        <a:solidFill>
                          <a:schemeClr val="bg2">
                            <a:lumMod val="60000"/>
                            <a:lumOff val="40000"/>
                          </a:schemeClr>
                        </a:solidFill>
                      </a:endParaRPr>
                    </a:p>
                    <a:p>
                      <a:endParaRPr lang="en-US" sz="2400" b="1" dirty="0">
                        <a:solidFill>
                          <a:schemeClr val="bg2">
                            <a:lumMod val="60000"/>
                            <a:lumOff val="40000"/>
                          </a:schemeClr>
                        </a:solidFill>
                      </a:endParaRPr>
                    </a:p>
                  </a:txBody>
                  <a:tcPr>
                    <a:solidFill>
                      <a:srgbClr val="FFC000"/>
                    </a:solidFill>
                  </a:tcPr>
                </a:tc>
                <a:tc>
                  <a:txBody>
                    <a:bodyPr/>
                    <a:lstStyle/>
                    <a:p>
                      <a:endParaRPr lang="en-US" sz="2400" b="1" dirty="0">
                        <a:solidFill>
                          <a:schemeClr val="bg2">
                            <a:lumMod val="60000"/>
                            <a:lumOff val="40000"/>
                          </a:schemeClr>
                        </a:solidFill>
                      </a:endParaRPr>
                    </a:p>
                  </a:txBody>
                  <a:tcPr>
                    <a:solidFill>
                      <a:srgbClr val="FFC000"/>
                    </a:solidFill>
                  </a:tcPr>
                </a:tc>
                <a:tc>
                  <a:txBody>
                    <a:bodyPr/>
                    <a:lstStyle/>
                    <a:p>
                      <a:endParaRPr lang="en-US" sz="2400" b="1" dirty="0">
                        <a:solidFill>
                          <a:schemeClr val="bg2">
                            <a:lumMod val="60000"/>
                            <a:lumOff val="40000"/>
                          </a:schemeClr>
                        </a:solidFill>
                      </a:endParaRPr>
                    </a:p>
                  </a:txBody>
                  <a:tcPr>
                    <a:solidFill>
                      <a:srgbClr val="FFC000"/>
                    </a:solidFill>
                  </a:tcPr>
                </a:tc>
                <a:tc>
                  <a:txBody>
                    <a:bodyPr/>
                    <a:lstStyle/>
                    <a:p>
                      <a:endParaRPr lang="en-US" sz="2400" b="1">
                        <a:solidFill>
                          <a:schemeClr val="bg2">
                            <a:lumMod val="60000"/>
                            <a:lumOff val="40000"/>
                          </a:schemeClr>
                        </a:solidFill>
                      </a:endParaRPr>
                    </a:p>
                  </a:txBody>
                  <a:tcPr>
                    <a:solidFill>
                      <a:srgbClr val="FFC000"/>
                    </a:solidFill>
                  </a:tcPr>
                </a:tc>
                <a:tc>
                  <a:txBody>
                    <a:bodyPr/>
                    <a:lstStyle/>
                    <a:p>
                      <a:endParaRPr lang="en-US" sz="2400" b="1">
                        <a:solidFill>
                          <a:schemeClr val="bg2">
                            <a:lumMod val="60000"/>
                            <a:lumOff val="40000"/>
                          </a:schemeClr>
                        </a:solidFill>
                      </a:endParaRPr>
                    </a:p>
                  </a:txBody>
                  <a:tcPr>
                    <a:solidFill>
                      <a:srgbClr val="FFC000"/>
                    </a:solidFill>
                  </a:tcPr>
                </a:tc>
                <a:extLst>
                  <a:ext uri="{0D108BD9-81ED-4DB2-BD59-A6C34878D82A}">
                    <a16:rowId xmlns:a16="http://schemas.microsoft.com/office/drawing/2014/main" val="10002"/>
                  </a:ext>
                </a:extLst>
              </a:tr>
              <a:tr h="398908">
                <a:tc>
                  <a:txBody>
                    <a:bodyPr/>
                    <a:lstStyle/>
                    <a:p>
                      <a:pPr algn="ctr"/>
                      <a:r>
                        <a:rPr lang="en-US" sz="3200" b="1" dirty="0">
                          <a:solidFill>
                            <a:schemeClr val="bg2">
                              <a:lumMod val="60000"/>
                              <a:lumOff val="40000"/>
                            </a:schemeClr>
                          </a:solidFill>
                        </a:rPr>
                        <a:t>P3</a:t>
                      </a:r>
                    </a:p>
                  </a:txBody>
                  <a:tcPr>
                    <a:solidFill>
                      <a:srgbClr val="00B050"/>
                    </a:solidFill>
                  </a:tcPr>
                </a:tc>
                <a:tc>
                  <a:txBody>
                    <a:bodyPr/>
                    <a:lstStyle/>
                    <a:p>
                      <a:pPr algn="ctr"/>
                      <a:r>
                        <a:rPr lang="en-US" sz="3200" b="1" dirty="0">
                          <a:solidFill>
                            <a:schemeClr val="bg2">
                              <a:lumMod val="60000"/>
                              <a:lumOff val="40000"/>
                            </a:schemeClr>
                          </a:solidFill>
                        </a:rPr>
                        <a:t>2</a:t>
                      </a:r>
                    </a:p>
                  </a:txBody>
                  <a:tcPr>
                    <a:solidFill>
                      <a:srgbClr val="00B050"/>
                    </a:solidFill>
                  </a:tcPr>
                </a:tc>
                <a:tc>
                  <a:txBody>
                    <a:bodyPr/>
                    <a:lstStyle/>
                    <a:p>
                      <a:pPr algn="ctr"/>
                      <a:r>
                        <a:rPr lang="en-US" sz="3200" b="1" dirty="0">
                          <a:solidFill>
                            <a:schemeClr val="bg2">
                              <a:lumMod val="60000"/>
                              <a:lumOff val="40000"/>
                            </a:schemeClr>
                          </a:solidFill>
                        </a:rPr>
                        <a:t>9</a:t>
                      </a:r>
                    </a:p>
                  </a:txBody>
                  <a:tcPr>
                    <a:solidFill>
                      <a:srgbClr val="00B050"/>
                    </a:solidFill>
                  </a:tcPr>
                </a:tc>
                <a:tc>
                  <a:txBody>
                    <a:bodyPr/>
                    <a:lstStyle/>
                    <a:p>
                      <a:endParaRPr lang="en-US" sz="2400" b="1" dirty="0">
                        <a:solidFill>
                          <a:schemeClr val="bg2">
                            <a:lumMod val="60000"/>
                            <a:lumOff val="40000"/>
                          </a:schemeClr>
                        </a:solidFill>
                      </a:endParaRPr>
                    </a:p>
                    <a:p>
                      <a:endParaRPr lang="en-US" sz="2400" b="1" dirty="0">
                        <a:solidFill>
                          <a:schemeClr val="bg2">
                            <a:lumMod val="60000"/>
                            <a:lumOff val="40000"/>
                          </a:schemeClr>
                        </a:solidFill>
                      </a:endParaRPr>
                    </a:p>
                  </a:txBody>
                  <a:tcPr>
                    <a:solidFill>
                      <a:srgbClr val="FFC000"/>
                    </a:solidFill>
                  </a:tcPr>
                </a:tc>
                <a:tc>
                  <a:txBody>
                    <a:bodyPr/>
                    <a:lstStyle/>
                    <a:p>
                      <a:endParaRPr lang="en-US" sz="2400" b="1" dirty="0">
                        <a:solidFill>
                          <a:schemeClr val="bg2">
                            <a:lumMod val="60000"/>
                            <a:lumOff val="40000"/>
                          </a:schemeClr>
                        </a:solidFill>
                      </a:endParaRPr>
                    </a:p>
                  </a:txBody>
                  <a:tcPr>
                    <a:solidFill>
                      <a:srgbClr val="FFC000"/>
                    </a:solidFill>
                  </a:tcPr>
                </a:tc>
                <a:tc>
                  <a:txBody>
                    <a:bodyPr/>
                    <a:lstStyle/>
                    <a:p>
                      <a:endParaRPr lang="en-US" sz="2400" b="1" dirty="0">
                        <a:solidFill>
                          <a:schemeClr val="bg2">
                            <a:lumMod val="60000"/>
                            <a:lumOff val="40000"/>
                          </a:schemeClr>
                        </a:solidFill>
                      </a:endParaRPr>
                    </a:p>
                  </a:txBody>
                  <a:tcPr>
                    <a:solidFill>
                      <a:srgbClr val="FFC000"/>
                    </a:solidFill>
                  </a:tcPr>
                </a:tc>
                <a:tc>
                  <a:txBody>
                    <a:bodyPr/>
                    <a:lstStyle/>
                    <a:p>
                      <a:endParaRPr lang="en-US" sz="2400" b="1">
                        <a:solidFill>
                          <a:schemeClr val="bg2">
                            <a:lumMod val="60000"/>
                            <a:lumOff val="40000"/>
                          </a:schemeClr>
                        </a:solidFill>
                      </a:endParaRPr>
                    </a:p>
                  </a:txBody>
                  <a:tcPr>
                    <a:solidFill>
                      <a:srgbClr val="FFC000"/>
                    </a:solidFill>
                  </a:tcPr>
                </a:tc>
                <a:tc>
                  <a:txBody>
                    <a:bodyPr/>
                    <a:lstStyle/>
                    <a:p>
                      <a:endParaRPr lang="en-US" sz="2400" b="1">
                        <a:solidFill>
                          <a:schemeClr val="bg2">
                            <a:lumMod val="60000"/>
                            <a:lumOff val="40000"/>
                          </a:schemeClr>
                        </a:solidFill>
                      </a:endParaRPr>
                    </a:p>
                  </a:txBody>
                  <a:tcPr>
                    <a:solidFill>
                      <a:srgbClr val="FFC000"/>
                    </a:solidFill>
                  </a:tcPr>
                </a:tc>
                <a:extLst>
                  <a:ext uri="{0D108BD9-81ED-4DB2-BD59-A6C34878D82A}">
                    <a16:rowId xmlns:a16="http://schemas.microsoft.com/office/drawing/2014/main" val="10003"/>
                  </a:ext>
                </a:extLst>
              </a:tr>
              <a:tr h="398908">
                <a:tc>
                  <a:txBody>
                    <a:bodyPr/>
                    <a:lstStyle/>
                    <a:p>
                      <a:pPr algn="ctr"/>
                      <a:r>
                        <a:rPr lang="en-US" sz="3200" b="1" dirty="0">
                          <a:solidFill>
                            <a:schemeClr val="bg2">
                              <a:lumMod val="60000"/>
                              <a:lumOff val="40000"/>
                            </a:schemeClr>
                          </a:solidFill>
                        </a:rPr>
                        <a:t>P4</a:t>
                      </a:r>
                    </a:p>
                  </a:txBody>
                  <a:tcPr>
                    <a:solidFill>
                      <a:srgbClr val="00B050"/>
                    </a:solidFill>
                  </a:tcPr>
                </a:tc>
                <a:tc>
                  <a:txBody>
                    <a:bodyPr/>
                    <a:lstStyle/>
                    <a:p>
                      <a:pPr algn="ctr"/>
                      <a:r>
                        <a:rPr lang="en-US" sz="3200" b="1" dirty="0">
                          <a:solidFill>
                            <a:schemeClr val="bg2">
                              <a:lumMod val="60000"/>
                              <a:lumOff val="40000"/>
                            </a:schemeClr>
                          </a:solidFill>
                        </a:rPr>
                        <a:t>3</a:t>
                      </a:r>
                    </a:p>
                  </a:txBody>
                  <a:tcPr>
                    <a:solidFill>
                      <a:srgbClr val="00B050"/>
                    </a:solidFill>
                  </a:tcPr>
                </a:tc>
                <a:tc>
                  <a:txBody>
                    <a:bodyPr/>
                    <a:lstStyle/>
                    <a:p>
                      <a:pPr algn="ctr"/>
                      <a:r>
                        <a:rPr lang="en-US" sz="3200" b="1" dirty="0">
                          <a:solidFill>
                            <a:schemeClr val="bg2">
                              <a:lumMod val="60000"/>
                              <a:lumOff val="40000"/>
                            </a:schemeClr>
                          </a:solidFill>
                        </a:rPr>
                        <a:t>5</a:t>
                      </a:r>
                    </a:p>
                  </a:txBody>
                  <a:tcPr>
                    <a:solidFill>
                      <a:srgbClr val="00B050"/>
                    </a:solidFill>
                  </a:tcPr>
                </a:tc>
                <a:tc>
                  <a:txBody>
                    <a:bodyPr/>
                    <a:lstStyle/>
                    <a:p>
                      <a:endParaRPr lang="en-US" sz="2400" b="1" dirty="0">
                        <a:solidFill>
                          <a:schemeClr val="bg2">
                            <a:lumMod val="60000"/>
                            <a:lumOff val="40000"/>
                          </a:schemeClr>
                        </a:solidFill>
                      </a:endParaRPr>
                    </a:p>
                    <a:p>
                      <a:endParaRPr lang="en-US" sz="2400" b="1" dirty="0">
                        <a:solidFill>
                          <a:schemeClr val="bg2">
                            <a:lumMod val="60000"/>
                            <a:lumOff val="40000"/>
                          </a:schemeClr>
                        </a:solidFill>
                      </a:endParaRPr>
                    </a:p>
                  </a:txBody>
                  <a:tcPr>
                    <a:solidFill>
                      <a:srgbClr val="FFC000"/>
                    </a:solidFill>
                  </a:tcPr>
                </a:tc>
                <a:tc>
                  <a:txBody>
                    <a:bodyPr/>
                    <a:lstStyle/>
                    <a:p>
                      <a:endParaRPr lang="en-US" sz="2400" b="1">
                        <a:solidFill>
                          <a:schemeClr val="bg2">
                            <a:lumMod val="60000"/>
                            <a:lumOff val="40000"/>
                          </a:schemeClr>
                        </a:solidFill>
                      </a:endParaRPr>
                    </a:p>
                  </a:txBody>
                  <a:tcPr>
                    <a:solidFill>
                      <a:srgbClr val="FFC000"/>
                    </a:solidFill>
                  </a:tcPr>
                </a:tc>
                <a:tc>
                  <a:txBody>
                    <a:bodyPr/>
                    <a:lstStyle/>
                    <a:p>
                      <a:endParaRPr lang="en-US" sz="2400" b="1" dirty="0">
                        <a:solidFill>
                          <a:schemeClr val="bg2">
                            <a:lumMod val="60000"/>
                            <a:lumOff val="40000"/>
                          </a:schemeClr>
                        </a:solidFill>
                      </a:endParaRPr>
                    </a:p>
                  </a:txBody>
                  <a:tcPr>
                    <a:solidFill>
                      <a:srgbClr val="FFC000"/>
                    </a:solidFill>
                  </a:tcPr>
                </a:tc>
                <a:tc>
                  <a:txBody>
                    <a:bodyPr/>
                    <a:lstStyle/>
                    <a:p>
                      <a:endParaRPr lang="en-US" sz="2400" b="1" dirty="0">
                        <a:solidFill>
                          <a:schemeClr val="bg2">
                            <a:lumMod val="60000"/>
                            <a:lumOff val="40000"/>
                          </a:schemeClr>
                        </a:solidFill>
                      </a:endParaRPr>
                    </a:p>
                  </a:txBody>
                  <a:tcPr>
                    <a:solidFill>
                      <a:srgbClr val="FFC000"/>
                    </a:solidFill>
                  </a:tcPr>
                </a:tc>
                <a:tc>
                  <a:txBody>
                    <a:bodyPr/>
                    <a:lstStyle/>
                    <a:p>
                      <a:endParaRPr lang="en-US" sz="2400" b="1" dirty="0">
                        <a:solidFill>
                          <a:schemeClr val="bg2">
                            <a:lumMod val="60000"/>
                            <a:lumOff val="40000"/>
                          </a:schemeClr>
                        </a:solidFill>
                      </a:endParaRPr>
                    </a:p>
                  </a:txBody>
                  <a:tcPr>
                    <a:solidFill>
                      <a:srgbClr val="FFC000"/>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1990725" y="5819776"/>
            <a:ext cx="7277100" cy="830997"/>
          </a:xfrm>
          <a:prstGeom prst="rect">
            <a:avLst/>
          </a:prstGeom>
          <a:noFill/>
        </p:spPr>
        <p:txBody>
          <a:bodyPr wrap="square" rtlCol="0">
            <a:spAutoFit/>
          </a:bodyPr>
          <a:lstStyle/>
          <a:p>
            <a:endParaRPr lang="en-US" sz="1600" b="1" dirty="0"/>
          </a:p>
          <a:p>
            <a:r>
              <a:rPr lang="en-US" sz="1600" b="1" dirty="0"/>
              <a:t>Gantt Chart: </a:t>
            </a:r>
          </a:p>
          <a:p>
            <a:r>
              <a:rPr lang="en-US" sz="1600" b="1" dirty="0"/>
              <a:t>Average Waiting Time, Average Turnaround Time</a:t>
            </a:r>
          </a:p>
        </p:txBody>
      </p:sp>
    </p:spTree>
    <p:extLst>
      <p:ext uri="{BB962C8B-B14F-4D97-AF65-F5344CB8AC3E}">
        <p14:creationId xmlns:p14="http://schemas.microsoft.com/office/powerpoint/2010/main" val="3121495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2631397" y="287515"/>
            <a:ext cx="7997825" cy="457200"/>
          </a:xfrm>
        </p:spPr>
        <p:txBody>
          <a:bodyPr/>
          <a:lstStyle/>
          <a:p>
            <a:pPr eaLnBrk="1" hangingPunct="1"/>
            <a:r>
              <a:rPr lang="en-US" altLang="en-US" dirty="0"/>
              <a:t>Example of SJF</a:t>
            </a:r>
          </a:p>
        </p:txBody>
      </p:sp>
      <p:sp>
        <p:nvSpPr>
          <p:cNvPr id="23554" name="Rectangle 3">
            <a:extLst>
              <a:ext uri="{FF2B5EF4-FFF2-40B4-BE49-F238E27FC236}">
                <a16:creationId xmlns:a16="http://schemas.microsoft.com/office/drawing/2014/main" id="{00593719-A5A4-4326-8529-37EC324927D6}"/>
              </a:ext>
            </a:extLst>
          </p:cNvPr>
          <p:cNvSpPr>
            <a:spLocks noGrp="1" noChangeArrowheads="1"/>
          </p:cNvSpPr>
          <p:nvPr>
            <p:ph type="body" idx="1"/>
          </p:nvPr>
        </p:nvSpPr>
        <p:spPr>
          <a:xfrm>
            <a:off x="2357438" y="1250950"/>
            <a:ext cx="7788048" cy="4594679"/>
          </a:xfrm>
        </p:spPr>
        <p:txBody>
          <a:bodyPr/>
          <a:lstStyle/>
          <a:p>
            <a:pPr>
              <a:lnSpc>
                <a:spcPct val="90000"/>
              </a:lnSpc>
              <a:buNone/>
              <a:tabLst>
                <a:tab pos="3028950" algn="ctr"/>
                <a:tab pos="4633913" algn="ctr"/>
              </a:tabLst>
            </a:pPr>
            <a:r>
              <a:rPr lang="en-US" altLang="en-US" sz="1600" dirty="0"/>
              <a:t>		</a:t>
            </a:r>
            <a:r>
              <a:rPr lang="en-US" altLang="en-US" u="sng" dirty="0"/>
              <a:t>Process</a:t>
            </a:r>
            <a:r>
              <a:rPr lang="en-US" altLang="en-US" dirty="0"/>
              <a:t>	</a:t>
            </a:r>
            <a:r>
              <a:rPr lang="en-US" altLang="en-US" u="sng" dirty="0"/>
              <a:t>Burst Time	</a:t>
            </a:r>
          </a:p>
          <a:p>
            <a:pPr>
              <a:lnSpc>
                <a:spcPct val="90000"/>
              </a:lnSpc>
              <a:buNone/>
              <a:tabLst>
                <a:tab pos="3028950" algn="ctr"/>
                <a:tab pos="4633913" algn="ctr"/>
              </a:tabLst>
            </a:pPr>
            <a:r>
              <a:rPr lang="en-US" altLang="en-US" dirty="0"/>
              <a:t>		 </a:t>
            </a:r>
            <a:r>
              <a:rPr lang="en-US" altLang="en-US" i="1" dirty="0"/>
              <a:t>P</a:t>
            </a:r>
            <a:r>
              <a:rPr lang="en-US" altLang="en-US" i="1" baseline="-25000" dirty="0"/>
              <a:t>1</a:t>
            </a:r>
            <a:r>
              <a:rPr lang="en-US" altLang="en-US" dirty="0"/>
              <a:t>	6</a:t>
            </a:r>
          </a:p>
          <a:p>
            <a:pPr>
              <a:lnSpc>
                <a:spcPct val="90000"/>
              </a:lnSpc>
              <a:buNone/>
              <a:tabLst>
                <a:tab pos="3028950" algn="ctr"/>
                <a:tab pos="4633913" algn="ctr"/>
              </a:tabLst>
            </a:pPr>
            <a:r>
              <a:rPr lang="en-US" altLang="en-US" dirty="0"/>
              <a:t>		 </a:t>
            </a:r>
            <a:r>
              <a:rPr lang="en-US" altLang="en-US" i="1" dirty="0"/>
              <a:t>P</a:t>
            </a:r>
            <a:r>
              <a:rPr lang="en-US" altLang="en-US" i="1" baseline="-25000" dirty="0"/>
              <a:t>2</a:t>
            </a:r>
            <a:r>
              <a:rPr lang="en-US" altLang="en-US" dirty="0"/>
              <a:t> 	8</a:t>
            </a:r>
          </a:p>
          <a:p>
            <a:pPr>
              <a:lnSpc>
                <a:spcPct val="90000"/>
              </a:lnSpc>
              <a:buNone/>
              <a:tabLst>
                <a:tab pos="3028950" algn="ctr"/>
                <a:tab pos="4633913" algn="ctr"/>
              </a:tabLst>
            </a:pPr>
            <a:r>
              <a:rPr lang="en-US" altLang="en-US" dirty="0"/>
              <a:t>		 </a:t>
            </a:r>
            <a:r>
              <a:rPr lang="en-US" altLang="en-US" i="1" dirty="0"/>
              <a:t>P</a:t>
            </a:r>
            <a:r>
              <a:rPr lang="en-US" altLang="en-US" i="1" baseline="-25000" dirty="0"/>
              <a:t>3	 </a:t>
            </a:r>
            <a:r>
              <a:rPr lang="en-US" altLang="en-US" dirty="0"/>
              <a:t>7</a:t>
            </a:r>
          </a:p>
          <a:p>
            <a:pPr>
              <a:lnSpc>
                <a:spcPct val="90000"/>
              </a:lnSpc>
              <a:buNone/>
              <a:tabLst>
                <a:tab pos="3028950" algn="ctr"/>
                <a:tab pos="4633913" algn="ctr"/>
              </a:tabLst>
            </a:pPr>
            <a:r>
              <a:rPr lang="en-US" altLang="en-US" i="1" baseline="-25000" dirty="0"/>
              <a:t>                                                                    </a:t>
            </a:r>
            <a:r>
              <a:rPr lang="en-US" altLang="en-US" i="1" dirty="0"/>
              <a:t>P</a:t>
            </a:r>
            <a:r>
              <a:rPr lang="en-US" altLang="en-US" i="1" baseline="-25000" dirty="0"/>
              <a:t>4	 </a:t>
            </a:r>
            <a:r>
              <a:rPr lang="en-US" altLang="en-US" dirty="0"/>
              <a:t>3</a:t>
            </a:r>
          </a:p>
          <a:p>
            <a:pPr>
              <a:lnSpc>
                <a:spcPct val="90000"/>
              </a:lnSpc>
              <a:buNone/>
              <a:tabLst>
                <a:tab pos="3028950" algn="ctr"/>
                <a:tab pos="4633913" algn="ctr"/>
              </a:tabLst>
            </a:pPr>
            <a:endParaRPr lang="en-US" altLang="en-US" i="1" baseline="-25000" dirty="0"/>
          </a:p>
          <a:p>
            <a:pPr>
              <a:lnSpc>
                <a:spcPct val="90000"/>
              </a:lnSpc>
              <a:tabLst>
                <a:tab pos="3028950" algn="ctr"/>
                <a:tab pos="4633913" algn="ctr"/>
              </a:tabLst>
            </a:pPr>
            <a:r>
              <a:rPr lang="en-US" altLang="en-US" dirty="0"/>
              <a:t>SJF scheduling chart</a:t>
            </a:r>
            <a:br>
              <a:rPr lang="en-US" altLang="en-US" dirty="0"/>
            </a:br>
            <a:br>
              <a:rPr lang="en-US" altLang="en-US" sz="1600" dirty="0"/>
            </a:br>
            <a:br>
              <a:rPr lang="en-US" altLang="en-US" sz="1600" dirty="0"/>
            </a:br>
            <a:br>
              <a:rPr lang="en-US" altLang="en-US" sz="1600" dirty="0"/>
            </a:br>
            <a:br>
              <a:rPr lang="en-US" altLang="en-US" sz="1600" dirty="0"/>
            </a:br>
            <a:endParaRPr lang="en-US" altLang="en-US" sz="1600" dirty="0"/>
          </a:p>
          <a:p>
            <a:pPr marL="0" indent="0">
              <a:lnSpc>
                <a:spcPct val="90000"/>
              </a:lnSpc>
              <a:buNone/>
              <a:tabLst>
                <a:tab pos="3028950" algn="ctr"/>
                <a:tab pos="4633913" algn="ctr"/>
              </a:tabLst>
            </a:pPr>
            <a:endParaRPr lang="en-US" altLang="en-US" dirty="0"/>
          </a:p>
          <a:p>
            <a:pPr>
              <a:lnSpc>
                <a:spcPct val="90000"/>
              </a:lnSpc>
              <a:tabLst>
                <a:tab pos="3028950" algn="ctr"/>
                <a:tab pos="4633913" algn="ctr"/>
              </a:tabLst>
            </a:pPr>
            <a:r>
              <a:rPr lang="en-US" altLang="en-US" dirty="0"/>
              <a:t>Average waiting time = (3 + 16 + 9 + 0) / 4 = 7</a:t>
            </a:r>
          </a:p>
        </p:txBody>
      </p:sp>
      <p:pic>
        <p:nvPicPr>
          <p:cNvPr id="5" name="Picture 1">
            <a:extLst>
              <a:ext uri="{FF2B5EF4-FFF2-40B4-BE49-F238E27FC236}">
                <a16:creationId xmlns:a16="http://schemas.microsoft.com/office/drawing/2014/main" id="{DADC6AF8-4597-4452-983E-FCBE4FEE15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50952" y="3755574"/>
            <a:ext cx="6093760" cy="827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427088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E841C6C2-8CFF-4FDC-A9E1-6B260CB17106}"/>
              </a:ext>
            </a:extLst>
          </p:cNvPr>
          <p:cNvSpPr>
            <a:spLocks noGrp="1" noChangeArrowheads="1"/>
          </p:cNvSpPr>
          <p:nvPr>
            <p:ph type="title"/>
          </p:nvPr>
        </p:nvSpPr>
        <p:spPr>
          <a:xfrm>
            <a:off x="2028980" y="517524"/>
            <a:ext cx="7594600" cy="576262"/>
          </a:xfrm>
        </p:spPr>
        <p:txBody>
          <a:bodyPr/>
          <a:lstStyle/>
          <a:p>
            <a:pPr eaLnBrk="1" hangingPunct="1"/>
            <a:r>
              <a:rPr lang="en-US" altLang="en-US" sz="3000" dirty="0"/>
              <a:t>SJF – Preemptive Scheduling</a:t>
            </a:r>
            <a:br>
              <a:rPr lang="en-US" altLang="en-US" sz="3000" dirty="0"/>
            </a:br>
            <a:r>
              <a:rPr lang="en-US" altLang="en-US" sz="3000" dirty="0"/>
              <a:t>Example of Shortest-remaining-time-first</a:t>
            </a:r>
          </a:p>
        </p:txBody>
      </p:sp>
      <p:sp>
        <p:nvSpPr>
          <p:cNvPr id="19459" name="Rectangle 36">
            <a:extLst>
              <a:ext uri="{FF2B5EF4-FFF2-40B4-BE49-F238E27FC236}">
                <a16:creationId xmlns:a16="http://schemas.microsoft.com/office/drawing/2014/main" id="{F6B280F4-20CD-4AA5-887B-A75AC06E0F7C}"/>
              </a:ext>
            </a:extLst>
          </p:cNvPr>
          <p:cNvSpPr>
            <a:spLocks noGrp="1" noChangeArrowheads="1"/>
          </p:cNvSpPr>
          <p:nvPr>
            <p:ph type="body" idx="1"/>
          </p:nvPr>
        </p:nvSpPr>
        <p:spPr>
          <a:xfrm>
            <a:off x="2326434" y="1233489"/>
            <a:ext cx="7707085" cy="4530725"/>
          </a:xfrm>
        </p:spPr>
        <p:txBody>
          <a:bodyPr/>
          <a:lstStyle/>
          <a:p>
            <a:pPr>
              <a:tabLst>
                <a:tab pos="1601312" algn="ctr"/>
                <a:tab pos="3252629" algn="ctr"/>
                <a:tab pos="5141754" algn="ctr"/>
              </a:tabLst>
              <a:defRPr/>
            </a:pPr>
            <a:r>
              <a:rPr lang="en-US" altLang="en-US" dirty="0">
                <a:cs typeface="ＭＳ Ｐゴシック" charset="-128"/>
              </a:rPr>
              <a:t>Now we add the concepts of varying arrival times and preemption to the analysis</a:t>
            </a:r>
          </a:p>
          <a:p>
            <a:pPr>
              <a:buNone/>
              <a:tabLst>
                <a:tab pos="1601312" algn="ctr"/>
                <a:tab pos="3252629" algn="ctr"/>
                <a:tab pos="5141754" algn="ctr"/>
              </a:tabLst>
              <a:defRPr/>
            </a:pPr>
            <a:r>
              <a:rPr lang="en-US" altLang="en-US" dirty="0">
                <a:cs typeface="ＭＳ Ｐゴシック" charset="-128"/>
              </a:rPr>
              <a:t>		               </a:t>
            </a:r>
            <a:r>
              <a:rPr lang="en-US" altLang="en-US" u="sng" dirty="0">
                <a:cs typeface="ＭＳ Ｐゴシック" charset="-128"/>
              </a:rPr>
              <a:t>Process</a:t>
            </a:r>
            <a:r>
              <a:rPr lang="en-US" altLang="en-US" u="sng" dirty="0">
                <a:solidFill>
                  <a:schemeClr val="bg1"/>
                </a:solidFill>
                <a:cs typeface="ＭＳ Ｐゴシック" charset="-128"/>
              </a:rPr>
              <a:t>      </a:t>
            </a:r>
            <a:r>
              <a:rPr lang="en-US" altLang="en-US" u="sng" dirty="0" err="1">
                <a:solidFill>
                  <a:schemeClr val="bg1"/>
                </a:solidFill>
                <a:cs typeface="ＭＳ Ｐゴシック" charset="-128"/>
              </a:rPr>
              <a:t>i</a:t>
            </a:r>
            <a:r>
              <a:rPr lang="en-US" altLang="en-US" u="sng" dirty="0">
                <a:solidFill>
                  <a:schemeClr val="bg1"/>
                </a:solidFill>
                <a:cs typeface="ＭＳ Ｐゴシック" charset="-128"/>
              </a:rPr>
              <a:t> </a:t>
            </a:r>
            <a:r>
              <a:rPr lang="en-US" altLang="en-US" i="1" u="sng" dirty="0">
                <a:cs typeface="ＭＳ Ｐゴシック" charset="-128"/>
              </a:rPr>
              <a:t>Arrival </a:t>
            </a:r>
            <a:r>
              <a:rPr lang="en-US" altLang="en-US" u="sng" dirty="0" err="1">
                <a:cs typeface="ＭＳ Ｐゴシック" charset="-128"/>
              </a:rPr>
              <a:t>Time</a:t>
            </a:r>
            <a:r>
              <a:rPr lang="en-US" altLang="en-US" u="sng" dirty="0" err="1">
                <a:solidFill>
                  <a:schemeClr val="bg1"/>
                </a:solidFill>
                <a:cs typeface="ＭＳ Ｐゴシック" charset="-128"/>
              </a:rPr>
              <a:t>T</a:t>
            </a:r>
            <a:r>
              <a:rPr lang="en-US" altLang="en-US" dirty="0">
                <a:cs typeface="ＭＳ Ｐゴシック" charset="-128"/>
              </a:rPr>
              <a:t>	</a:t>
            </a:r>
            <a:r>
              <a:rPr lang="en-US" altLang="en-US" u="sng" dirty="0">
                <a:cs typeface="ＭＳ Ｐゴシック" charset="-128"/>
              </a:rPr>
              <a:t>Burst Time</a:t>
            </a:r>
            <a:endParaRPr lang="en-US" altLang="en-US" dirty="0">
              <a:cs typeface="ＭＳ Ｐゴシック" charset="-128"/>
            </a:endParaRPr>
          </a:p>
          <a:p>
            <a:pPr>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r>
              <a:rPr lang="en-US" altLang="en-US" dirty="0">
                <a:solidFill>
                  <a:srgbClr val="000000"/>
                </a:solidFill>
                <a:cs typeface="ＭＳ Ｐゴシック" charset="-128"/>
              </a:rPr>
              <a:t>0</a:t>
            </a:r>
            <a:r>
              <a:rPr lang="en-US" altLang="en-US" dirty="0">
                <a:cs typeface="ＭＳ Ｐゴシック" charset="-128"/>
              </a:rPr>
              <a:t>	8</a:t>
            </a:r>
          </a:p>
          <a:p>
            <a:pPr>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 	</a:t>
            </a:r>
            <a:r>
              <a:rPr lang="en-US" altLang="en-US" dirty="0">
                <a:solidFill>
                  <a:srgbClr val="000000"/>
                </a:solidFill>
                <a:cs typeface="ＭＳ Ｐゴシック" charset="-128"/>
              </a:rPr>
              <a:t>1</a:t>
            </a:r>
            <a:r>
              <a:rPr lang="en-US" altLang="en-US" dirty="0">
                <a:cs typeface="ＭＳ Ｐゴシック" charset="-128"/>
              </a:rPr>
              <a:t>	4</a:t>
            </a:r>
          </a:p>
          <a:p>
            <a:pPr>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a:t>
            </a:r>
            <a:r>
              <a:rPr lang="en-US" altLang="en-US" dirty="0">
                <a:solidFill>
                  <a:srgbClr val="000000"/>
                </a:solidFill>
                <a:cs typeface="ＭＳ Ｐゴシック" charset="-128"/>
              </a:rPr>
              <a:t>2</a:t>
            </a:r>
            <a:r>
              <a:rPr lang="en-US" altLang="en-US" dirty="0">
                <a:cs typeface="ＭＳ Ｐゴシック" charset="-128"/>
              </a:rPr>
              <a:t>	9</a:t>
            </a:r>
          </a:p>
          <a:p>
            <a:pPr>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4</a:t>
            </a:r>
            <a:r>
              <a:rPr lang="en-US" altLang="en-US" dirty="0">
                <a:cs typeface="ＭＳ Ｐゴシック" charset="-128"/>
              </a:rPr>
              <a:t>	</a:t>
            </a:r>
            <a:r>
              <a:rPr lang="en-US" altLang="en-US" dirty="0">
                <a:solidFill>
                  <a:srgbClr val="000000"/>
                </a:solidFill>
                <a:cs typeface="ＭＳ Ｐゴシック" charset="-128"/>
              </a:rPr>
              <a:t>3</a:t>
            </a:r>
            <a:r>
              <a:rPr lang="en-US" altLang="en-US" dirty="0">
                <a:cs typeface="ＭＳ Ｐゴシック" charset="-128"/>
              </a:rPr>
              <a:t>	5</a:t>
            </a:r>
          </a:p>
          <a:p>
            <a:pPr>
              <a:tabLst>
                <a:tab pos="1601312" algn="ctr"/>
                <a:tab pos="3252629" algn="ctr"/>
                <a:tab pos="5141754" algn="ctr"/>
              </a:tabLst>
              <a:defRPr/>
            </a:pPr>
            <a:r>
              <a:rPr lang="en-US" altLang="en-US" i="1" dirty="0">
                <a:cs typeface="ＭＳ Ｐゴシック" charset="-128"/>
              </a:rPr>
              <a:t>Preemptive </a:t>
            </a:r>
            <a:r>
              <a:rPr lang="en-US" altLang="en-US" dirty="0">
                <a:cs typeface="ＭＳ Ｐゴシック" charset="-128"/>
              </a:rPr>
              <a:t>SJF Gantt Chart</a:t>
            </a:r>
          </a:p>
          <a:p>
            <a:pPr>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endParaRPr lang="en-US" altLang="en-US" dirty="0">
              <a:cs typeface="ＭＳ Ｐゴシック" charset="-128"/>
            </a:endParaRPr>
          </a:p>
          <a:p>
            <a:pPr marL="0" indent="0">
              <a:buNone/>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r>
              <a:rPr lang="en-US" altLang="en-US" dirty="0">
                <a:cs typeface="ＭＳ Ｐゴシック" charset="-128"/>
              </a:rPr>
              <a:t>Average waiting time = [(10-1)+(1-1)+(17-2)+(5-3)]/4 = 26/4 = 6.5</a:t>
            </a:r>
          </a:p>
          <a:p>
            <a:pPr>
              <a:tabLst>
                <a:tab pos="1601312" algn="ctr"/>
                <a:tab pos="3252629" algn="ctr"/>
                <a:tab pos="5141754" algn="ctr"/>
              </a:tabLst>
              <a:defRPr/>
            </a:pPr>
            <a:endParaRPr lang="en-US" altLang="en-US" i="1" baseline="-25000" dirty="0">
              <a:cs typeface="ＭＳ Ｐゴシック" charset="-128"/>
            </a:endParaRPr>
          </a:p>
          <a:p>
            <a:pPr>
              <a:buNone/>
              <a:tabLst>
                <a:tab pos="1601312" algn="ctr"/>
                <a:tab pos="3252629" algn="ctr"/>
                <a:tab pos="5141754" algn="ctr"/>
              </a:tabLst>
              <a:defRPr/>
            </a:pPr>
            <a:endParaRPr lang="en-US" altLang="en-US" i="1" baseline="-25000" dirty="0">
              <a:cs typeface="ＭＳ Ｐゴシック" charset="-128"/>
            </a:endParaRPr>
          </a:p>
        </p:txBody>
      </p:sp>
      <p:pic>
        <p:nvPicPr>
          <p:cNvPr id="37891" name="Picture 1">
            <a:extLst>
              <a:ext uri="{FF2B5EF4-FFF2-40B4-BE49-F238E27FC236}">
                <a16:creationId xmlns:a16="http://schemas.microsoft.com/office/drawing/2014/main" id="{100802A9-2833-4519-B21E-A1B2D0AF971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70214" y="4284663"/>
            <a:ext cx="653573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70339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0C539CA8-5BE8-4B08-A540-B4382F3C2212}"/>
              </a:ext>
            </a:extLst>
          </p:cNvPr>
          <p:cNvSpPr>
            <a:spLocks noGrp="1" noChangeArrowheads="1"/>
          </p:cNvSpPr>
          <p:nvPr>
            <p:ph type="title"/>
          </p:nvPr>
        </p:nvSpPr>
        <p:spPr>
          <a:xfrm>
            <a:off x="1981200" y="153418"/>
            <a:ext cx="8229600" cy="576262"/>
          </a:xfrm>
        </p:spPr>
        <p:txBody>
          <a:bodyPr/>
          <a:lstStyle/>
          <a:p>
            <a:pPr eaLnBrk="1" hangingPunct="1"/>
            <a:r>
              <a:rPr lang="en-US" altLang="en-US" dirty="0"/>
              <a:t>Round Robin (RR)</a:t>
            </a:r>
          </a:p>
        </p:txBody>
      </p:sp>
      <p:sp>
        <p:nvSpPr>
          <p:cNvPr id="39938" name="Rectangle 3">
            <a:extLst>
              <a:ext uri="{FF2B5EF4-FFF2-40B4-BE49-F238E27FC236}">
                <a16:creationId xmlns:a16="http://schemas.microsoft.com/office/drawing/2014/main" id="{8A6C6617-67BF-4484-A025-320FA2994436}"/>
              </a:ext>
            </a:extLst>
          </p:cNvPr>
          <p:cNvSpPr>
            <a:spLocks noGrp="1" noChangeArrowheads="1"/>
          </p:cNvSpPr>
          <p:nvPr>
            <p:ph type="body" idx="1"/>
          </p:nvPr>
        </p:nvSpPr>
        <p:spPr>
          <a:xfrm>
            <a:off x="2335764" y="1058277"/>
            <a:ext cx="7244217" cy="4381822"/>
          </a:xfrm>
        </p:spPr>
        <p:txBody>
          <a:bodyPr/>
          <a:lstStyle/>
          <a:p>
            <a:r>
              <a:rPr lang="en-US" altLang="en-US" dirty="0"/>
              <a:t>Each process gets a small unit of CPU time (</a:t>
            </a:r>
            <a:r>
              <a:rPr lang="en-US" altLang="en-US" b="1" dirty="0">
                <a:solidFill>
                  <a:srgbClr val="006699"/>
                </a:solidFill>
                <a:latin typeface="+mj-lt"/>
              </a:rPr>
              <a:t>time quantum </a:t>
            </a:r>
            <a:r>
              <a:rPr lang="en-US" altLang="en-US" i="1" dirty="0"/>
              <a:t>q</a:t>
            </a:r>
            <a:r>
              <a:rPr lang="en-US" altLang="en-US" dirty="0"/>
              <a:t>), usually 10-100 milliseconds.  After this time has elapsed, the process is preempted and added to the end of the ready queue.</a:t>
            </a:r>
          </a:p>
          <a:p>
            <a:r>
              <a:rPr lang="en-US" altLang="en-US" dirty="0"/>
              <a:t>If there are </a:t>
            </a:r>
            <a:r>
              <a:rPr lang="en-US" altLang="en-US" i="1" dirty="0"/>
              <a:t>n</a:t>
            </a:r>
            <a:r>
              <a:rPr lang="en-US" altLang="en-US" dirty="0"/>
              <a:t> processes in the ready queue and the time quantum is </a:t>
            </a:r>
            <a:r>
              <a:rPr lang="en-US" altLang="en-US" i="1" dirty="0"/>
              <a:t>q</a:t>
            </a:r>
            <a:r>
              <a:rPr lang="en-US" altLang="en-US" dirty="0"/>
              <a:t>, then each process gets 1/</a:t>
            </a:r>
            <a:r>
              <a:rPr lang="en-US" altLang="en-US" i="1" dirty="0"/>
              <a:t>n</a:t>
            </a:r>
            <a:r>
              <a:rPr lang="en-US" altLang="en-US" dirty="0"/>
              <a:t> of the CPU time in chunks of at most </a:t>
            </a:r>
            <a:r>
              <a:rPr lang="en-US" altLang="en-US" i="1" dirty="0"/>
              <a:t>q</a:t>
            </a:r>
            <a:r>
              <a:rPr lang="en-US" altLang="en-US" dirty="0"/>
              <a:t> time units at once.  No process waits more than (</a:t>
            </a:r>
            <a:r>
              <a:rPr lang="en-US" altLang="en-US" i="1" dirty="0"/>
              <a:t>n</a:t>
            </a:r>
            <a:r>
              <a:rPr lang="en-US" altLang="en-US" dirty="0"/>
              <a:t>-1)</a:t>
            </a:r>
            <a:r>
              <a:rPr lang="en-US" altLang="en-US" i="1" dirty="0"/>
              <a:t>q </a:t>
            </a:r>
            <a:r>
              <a:rPr lang="en-US" altLang="en-US" dirty="0"/>
              <a:t>time units.</a:t>
            </a:r>
          </a:p>
          <a:p>
            <a:r>
              <a:rPr lang="en-US" altLang="en-US" dirty="0"/>
              <a:t>Timer interrupts every quantum to schedule next process</a:t>
            </a:r>
          </a:p>
          <a:p>
            <a:r>
              <a:rPr lang="en-US" altLang="en-US" dirty="0"/>
              <a:t>Performance</a:t>
            </a:r>
          </a:p>
          <a:p>
            <a:pPr lvl="1"/>
            <a:r>
              <a:rPr lang="en-US" altLang="en-US" i="1" dirty="0"/>
              <a:t>q</a:t>
            </a:r>
            <a:r>
              <a:rPr lang="en-US" altLang="en-US" dirty="0"/>
              <a:t> large </a:t>
            </a:r>
            <a:r>
              <a:rPr lang="en-US" altLang="en-US" dirty="0">
                <a:sym typeface="Symbol" panose="05050102010706020507" pitchFamily="18" charset="2"/>
              </a:rPr>
              <a:t> FIFO (FCFS)</a:t>
            </a:r>
          </a:p>
          <a:p>
            <a:pPr lvl="1"/>
            <a:r>
              <a:rPr lang="en-US" altLang="en-US" i="1" dirty="0">
                <a:sym typeface="Symbol" panose="05050102010706020507" pitchFamily="18" charset="2"/>
              </a:rPr>
              <a:t>q </a:t>
            </a:r>
            <a:r>
              <a:rPr lang="en-US" altLang="en-US" dirty="0">
                <a:sym typeface="Symbol" panose="05050102010706020507" pitchFamily="18" charset="2"/>
              </a:rPr>
              <a:t>small  RR</a:t>
            </a:r>
          </a:p>
          <a:p>
            <a:r>
              <a:rPr lang="en-US" altLang="en-US" dirty="0">
                <a:sym typeface="Symbol" panose="05050102010706020507" pitchFamily="18" charset="2"/>
              </a:rPr>
              <a:t>Note that q must be large with respect to context switch, otherwise overhead is too high</a:t>
            </a:r>
          </a:p>
        </p:txBody>
      </p:sp>
    </p:spTree>
    <p:extLst>
      <p:ext uri="{BB962C8B-B14F-4D97-AF65-F5344CB8AC3E}">
        <p14:creationId xmlns:p14="http://schemas.microsoft.com/office/powerpoint/2010/main" val="14597759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6DF101FA-59C2-4431-9504-FC73D47453BC}"/>
              </a:ext>
            </a:extLst>
          </p:cNvPr>
          <p:cNvSpPr>
            <a:spLocks noGrp="1" noChangeArrowheads="1"/>
          </p:cNvSpPr>
          <p:nvPr>
            <p:ph type="title"/>
          </p:nvPr>
        </p:nvSpPr>
        <p:spPr>
          <a:xfrm>
            <a:off x="2503833" y="86668"/>
            <a:ext cx="8418610" cy="647700"/>
          </a:xfrm>
        </p:spPr>
        <p:txBody>
          <a:bodyPr/>
          <a:lstStyle/>
          <a:p>
            <a:pPr eaLnBrk="1" hangingPunct="1"/>
            <a:r>
              <a:rPr lang="en-US" altLang="en-US" dirty="0"/>
              <a:t>Example of RR with Time Quantum = 4</a:t>
            </a:r>
          </a:p>
        </p:txBody>
      </p:sp>
      <p:sp>
        <p:nvSpPr>
          <p:cNvPr id="41986" name="Rectangle 3">
            <a:extLst>
              <a:ext uri="{FF2B5EF4-FFF2-40B4-BE49-F238E27FC236}">
                <a16:creationId xmlns:a16="http://schemas.microsoft.com/office/drawing/2014/main" id="{E17EE130-D776-4D6D-84E6-F464A160ACBF}"/>
              </a:ext>
            </a:extLst>
          </p:cNvPr>
          <p:cNvSpPr>
            <a:spLocks noGrp="1" noChangeArrowheads="1"/>
          </p:cNvSpPr>
          <p:nvPr>
            <p:ph type="body" idx="1"/>
          </p:nvPr>
        </p:nvSpPr>
        <p:spPr>
          <a:xfrm>
            <a:off x="2478088" y="1193800"/>
            <a:ext cx="7460707" cy="4639841"/>
          </a:xfrm>
        </p:spPr>
        <p:txBody>
          <a:bodyPr/>
          <a:lstStyle/>
          <a:p>
            <a:pPr>
              <a:lnSpc>
                <a:spcPct val="90000"/>
              </a:lnSpc>
              <a:buNone/>
              <a:tabLst>
                <a:tab pos="2219325" algn="ctr"/>
                <a:tab pos="3994150" algn="ctr"/>
              </a:tabLst>
            </a:pPr>
            <a:r>
              <a:rPr lang="en-US" altLang="en-US" dirty="0"/>
              <a:t>		</a:t>
            </a:r>
            <a:r>
              <a:rPr lang="en-US" altLang="en-US" u="sng" dirty="0"/>
              <a:t>Process</a:t>
            </a:r>
            <a:r>
              <a:rPr lang="en-US" altLang="en-US" dirty="0"/>
              <a:t>	</a:t>
            </a:r>
            <a:r>
              <a:rPr lang="en-US" altLang="en-US" u="sng" dirty="0"/>
              <a:t>Burst Time</a:t>
            </a:r>
          </a:p>
          <a:p>
            <a:pPr>
              <a:lnSpc>
                <a:spcPct val="90000"/>
              </a:lnSpc>
              <a:buNone/>
              <a:tabLst>
                <a:tab pos="2219325" algn="ctr"/>
                <a:tab pos="3994150" algn="ctr"/>
              </a:tabLst>
            </a:pPr>
            <a:r>
              <a:rPr lang="en-US" altLang="en-US" i="1" dirty="0"/>
              <a:t>		P</a:t>
            </a:r>
            <a:r>
              <a:rPr lang="en-US" altLang="en-US" i="1" baseline="-25000" dirty="0"/>
              <a:t>1	</a:t>
            </a:r>
            <a:r>
              <a:rPr lang="en-US" altLang="en-US" dirty="0"/>
              <a:t>24</a:t>
            </a:r>
          </a:p>
          <a:p>
            <a:pPr>
              <a:lnSpc>
                <a:spcPct val="90000"/>
              </a:lnSpc>
              <a:buNone/>
              <a:tabLst>
                <a:tab pos="2219325" algn="ctr"/>
                <a:tab pos="3994150" algn="ctr"/>
              </a:tabLst>
            </a:pPr>
            <a:r>
              <a:rPr lang="en-US" altLang="en-US" dirty="0"/>
              <a:t>		 </a:t>
            </a:r>
            <a:r>
              <a:rPr lang="en-US" altLang="en-US" i="1" dirty="0"/>
              <a:t>P</a:t>
            </a:r>
            <a:r>
              <a:rPr lang="en-US" altLang="en-US" i="1" baseline="-25000" dirty="0"/>
              <a:t>2	 </a:t>
            </a:r>
            <a:r>
              <a:rPr lang="en-US" altLang="en-US" dirty="0"/>
              <a:t>3</a:t>
            </a:r>
          </a:p>
          <a:p>
            <a:pPr>
              <a:lnSpc>
                <a:spcPct val="90000"/>
              </a:lnSpc>
              <a:buNone/>
              <a:tabLst>
                <a:tab pos="2219325" algn="ctr"/>
                <a:tab pos="3994150" algn="ctr"/>
              </a:tabLst>
            </a:pPr>
            <a:r>
              <a:rPr lang="en-US" altLang="en-US" dirty="0"/>
              <a:t>		 </a:t>
            </a:r>
            <a:r>
              <a:rPr lang="en-US" altLang="en-US" i="1" dirty="0"/>
              <a:t>P</a:t>
            </a:r>
            <a:r>
              <a:rPr lang="en-US" altLang="en-US" i="1" baseline="-25000" dirty="0"/>
              <a:t>3	</a:t>
            </a:r>
            <a:r>
              <a:rPr lang="en-US" altLang="en-US" dirty="0"/>
              <a:t>3	</a:t>
            </a:r>
          </a:p>
          <a:p>
            <a:pPr>
              <a:lnSpc>
                <a:spcPct val="90000"/>
              </a:lnSpc>
              <a:tabLst>
                <a:tab pos="2219325" algn="ctr"/>
                <a:tab pos="3994150" algn="ctr"/>
              </a:tabLst>
            </a:pPr>
            <a:r>
              <a:rPr lang="en-US" altLang="en-US" dirty="0"/>
              <a:t>The Gantt chart is: </a:t>
            </a:r>
            <a:br>
              <a:rPr lang="en-US" altLang="en-US" dirty="0"/>
            </a:br>
            <a:br>
              <a:rPr lang="en-US" altLang="en-US" dirty="0"/>
            </a:br>
            <a:br>
              <a:rPr lang="en-US" altLang="en-US" dirty="0"/>
            </a:br>
            <a:br>
              <a:rPr lang="en-US" altLang="en-US" dirty="0"/>
            </a:br>
            <a:endParaRPr lang="en-US" altLang="en-US" dirty="0"/>
          </a:p>
          <a:p>
            <a:pPr>
              <a:lnSpc>
                <a:spcPct val="90000"/>
              </a:lnSpc>
              <a:tabLst>
                <a:tab pos="2219325" algn="ctr"/>
                <a:tab pos="3994150" algn="ctr"/>
              </a:tabLst>
            </a:pPr>
            <a:r>
              <a:rPr lang="en-US" altLang="en-US" dirty="0"/>
              <a:t>Typically, higher average turnaround than SJF, but better </a:t>
            </a:r>
            <a:r>
              <a:rPr lang="en-US" altLang="en-US" b="1" i="1" dirty="0"/>
              <a:t>response</a:t>
            </a:r>
          </a:p>
          <a:p>
            <a:pPr>
              <a:lnSpc>
                <a:spcPct val="90000"/>
              </a:lnSpc>
              <a:tabLst>
                <a:tab pos="2219325" algn="ctr"/>
                <a:tab pos="3994150" algn="ctr"/>
              </a:tabLst>
            </a:pPr>
            <a:r>
              <a:rPr lang="en-US" altLang="en-US" dirty="0"/>
              <a:t>q should be large compared to context switch time</a:t>
            </a:r>
          </a:p>
          <a:p>
            <a:pPr lvl="1">
              <a:lnSpc>
                <a:spcPct val="90000"/>
              </a:lnSpc>
              <a:tabLst>
                <a:tab pos="2219325" algn="ctr"/>
                <a:tab pos="3994150" algn="ctr"/>
              </a:tabLst>
            </a:pPr>
            <a:r>
              <a:rPr lang="en-US" altLang="en-US" dirty="0"/>
              <a:t>q usually 10 milliseconds  to 100 milliseconds, </a:t>
            </a:r>
          </a:p>
          <a:p>
            <a:pPr lvl="1">
              <a:lnSpc>
                <a:spcPct val="90000"/>
              </a:lnSpc>
              <a:tabLst>
                <a:tab pos="2219325" algn="ctr"/>
                <a:tab pos="3994150" algn="ctr"/>
              </a:tabLst>
            </a:pPr>
            <a:r>
              <a:rPr lang="en-US" altLang="en-US" dirty="0"/>
              <a:t>Context switch &lt; 10 microseconds</a:t>
            </a:r>
          </a:p>
        </p:txBody>
      </p:sp>
      <p:pic>
        <p:nvPicPr>
          <p:cNvPr id="41987" name="Picture 1">
            <a:extLst>
              <a:ext uri="{FF2B5EF4-FFF2-40B4-BE49-F238E27FC236}">
                <a16:creationId xmlns:a16="http://schemas.microsoft.com/office/drawing/2014/main" id="{0835376E-2FE4-439A-B19A-4C86254AE5E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22589" y="2926443"/>
            <a:ext cx="6770687"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50501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285875" y="665838"/>
            <a:ext cx="9305925" cy="336550"/>
          </a:xfrm>
        </p:spPr>
        <p:txBody>
          <a:bodyPr/>
          <a:lstStyle/>
          <a:p>
            <a:pPr eaLnBrk="1" hangingPunct="1"/>
            <a:r>
              <a:rPr lang="en-US" altLang="en-US" sz="2800" dirty="0"/>
              <a:t>Round Robin (RR) Scheduling</a:t>
            </a:r>
            <a:br>
              <a:rPr lang="en-US" altLang="en-US" sz="2800" dirty="0"/>
            </a:br>
            <a:endParaRPr lang="en-US" altLang="en-US" sz="2800" dirty="0">
              <a:solidFill>
                <a:srgbClr val="FF0000"/>
              </a:solidFill>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324066380"/>
              </p:ext>
            </p:extLst>
          </p:nvPr>
        </p:nvGraphicFramePr>
        <p:xfrm>
          <a:off x="2047875" y="1250951"/>
          <a:ext cx="7219950" cy="2903849"/>
        </p:xfrm>
        <a:graphic>
          <a:graphicData uri="http://schemas.openxmlformats.org/drawingml/2006/table">
            <a:tbl>
              <a:tblPr firstRow="1" bandRow="1">
                <a:tableStyleId>{5C22544A-7EE6-4342-B048-85BDC9FD1C3A}</a:tableStyleId>
              </a:tblPr>
              <a:tblGrid>
                <a:gridCol w="904875">
                  <a:extLst>
                    <a:ext uri="{9D8B030D-6E8A-4147-A177-3AD203B41FA5}">
                      <a16:colId xmlns:a16="http://schemas.microsoft.com/office/drawing/2014/main" val="20000"/>
                    </a:ext>
                  </a:extLst>
                </a:gridCol>
                <a:gridCol w="1304925">
                  <a:extLst>
                    <a:ext uri="{9D8B030D-6E8A-4147-A177-3AD203B41FA5}">
                      <a16:colId xmlns:a16="http://schemas.microsoft.com/office/drawing/2014/main" val="20001"/>
                    </a:ext>
                  </a:extLst>
                </a:gridCol>
                <a:gridCol w="819150">
                  <a:extLst>
                    <a:ext uri="{9D8B030D-6E8A-4147-A177-3AD203B41FA5}">
                      <a16:colId xmlns:a16="http://schemas.microsoft.com/office/drawing/2014/main" val="20002"/>
                    </a:ext>
                  </a:extLst>
                </a:gridCol>
                <a:gridCol w="942975">
                  <a:extLst>
                    <a:ext uri="{9D8B030D-6E8A-4147-A177-3AD203B41FA5}">
                      <a16:colId xmlns:a16="http://schemas.microsoft.com/office/drawing/2014/main" val="20003"/>
                    </a:ext>
                  </a:extLst>
                </a:gridCol>
                <a:gridCol w="1229632">
                  <a:extLst>
                    <a:ext uri="{9D8B030D-6E8A-4147-A177-3AD203B41FA5}">
                      <a16:colId xmlns:a16="http://schemas.microsoft.com/office/drawing/2014/main" val="20004"/>
                    </a:ext>
                  </a:extLst>
                </a:gridCol>
                <a:gridCol w="932305">
                  <a:extLst>
                    <a:ext uri="{9D8B030D-6E8A-4147-A177-3AD203B41FA5}">
                      <a16:colId xmlns:a16="http://schemas.microsoft.com/office/drawing/2014/main" val="20005"/>
                    </a:ext>
                  </a:extLst>
                </a:gridCol>
                <a:gridCol w="1086088">
                  <a:extLst>
                    <a:ext uri="{9D8B030D-6E8A-4147-A177-3AD203B41FA5}">
                      <a16:colId xmlns:a16="http://schemas.microsoft.com/office/drawing/2014/main" val="20006"/>
                    </a:ext>
                  </a:extLst>
                </a:gridCol>
              </a:tblGrid>
              <a:tr h="983609">
                <a:tc>
                  <a:txBody>
                    <a:bodyPr/>
                    <a:lstStyle/>
                    <a:p>
                      <a:r>
                        <a:rPr lang="en-US" dirty="0"/>
                        <a:t>Process</a:t>
                      </a:r>
                    </a:p>
                  </a:txBody>
                  <a:tcPr>
                    <a:solidFill>
                      <a:srgbClr val="00B050"/>
                    </a:solidFill>
                  </a:tcPr>
                </a:tc>
                <a:tc>
                  <a:txBody>
                    <a:bodyPr/>
                    <a:lstStyle/>
                    <a:p>
                      <a:r>
                        <a:rPr lang="en-US" dirty="0"/>
                        <a:t>Burst Time(BT)</a:t>
                      </a:r>
                    </a:p>
                  </a:txBody>
                  <a:tcPr>
                    <a:solidFill>
                      <a:srgbClr val="00B050"/>
                    </a:solidFill>
                  </a:tcPr>
                </a:tc>
                <a:tc>
                  <a:txBody>
                    <a:bodyPr/>
                    <a:lstStyle/>
                    <a:p>
                      <a:r>
                        <a:rPr lang="en-US" dirty="0"/>
                        <a:t>CT</a:t>
                      </a:r>
                    </a:p>
                  </a:txBody>
                  <a:tcPr>
                    <a:solidFill>
                      <a:srgbClr val="00B050"/>
                    </a:solidFill>
                  </a:tcPr>
                </a:tc>
                <a:tc>
                  <a:txBody>
                    <a:bodyPr/>
                    <a:lstStyle/>
                    <a:p>
                      <a:r>
                        <a:rPr lang="en-US" dirty="0"/>
                        <a:t>TAT =</a:t>
                      </a:r>
                    </a:p>
                    <a:p>
                      <a:r>
                        <a:rPr lang="en-US" dirty="0"/>
                        <a:t>CT-AT</a:t>
                      </a:r>
                    </a:p>
                  </a:txBody>
                  <a:tcPr>
                    <a:solidFill>
                      <a:srgbClr val="00B050"/>
                    </a:solidFill>
                  </a:tcPr>
                </a:tc>
                <a:tc>
                  <a:txBody>
                    <a:bodyPr/>
                    <a:lstStyle/>
                    <a:p>
                      <a:r>
                        <a:rPr lang="en-US" dirty="0"/>
                        <a:t>WT</a:t>
                      </a:r>
                    </a:p>
                  </a:txBody>
                  <a:tcPr>
                    <a:solidFill>
                      <a:srgbClr val="00B050"/>
                    </a:solidFill>
                  </a:tcPr>
                </a:tc>
                <a:tc>
                  <a:txBody>
                    <a:bodyPr/>
                    <a:lstStyle/>
                    <a:p>
                      <a:r>
                        <a:rPr lang="en-US" dirty="0"/>
                        <a:t>RT</a:t>
                      </a:r>
                    </a:p>
                  </a:txBody>
                  <a:tcPr>
                    <a:solidFill>
                      <a:srgbClr val="00B050"/>
                    </a:solidFill>
                  </a:tcPr>
                </a:tc>
                <a:tc>
                  <a:txBody>
                    <a:bodyPr/>
                    <a:lstStyle/>
                    <a:p>
                      <a:r>
                        <a:rPr lang="en-US" dirty="0"/>
                        <a:t>Context Switch</a:t>
                      </a:r>
                    </a:p>
                    <a:p>
                      <a:r>
                        <a:rPr lang="en-US" dirty="0"/>
                        <a:t>(1ms)</a:t>
                      </a:r>
                    </a:p>
                  </a:txBody>
                  <a:tcPr>
                    <a:solidFill>
                      <a:srgbClr val="00B050"/>
                    </a:solidFill>
                  </a:tcPr>
                </a:tc>
                <a:extLst>
                  <a:ext uri="{0D108BD9-81ED-4DB2-BD59-A6C34878D82A}">
                    <a16:rowId xmlns:a16="http://schemas.microsoft.com/office/drawing/2014/main" val="10000"/>
                  </a:ext>
                </a:extLst>
              </a:tr>
              <a:tr h="398908">
                <a:tc>
                  <a:txBody>
                    <a:bodyPr/>
                    <a:lstStyle/>
                    <a:p>
                      <a:pPr algn="ctr"/>
                      <a:r>
                        <a:rPr lang="en-US" b="1" dirty="0">
                          <a:solidFill>
                            <a:schemeClr val="bg1"/>
                          </a:solidFill>
                        </a:rPr>
                        <a:t>P1</a:t>
                      </a:r>
                    </a:p>
                  </a:txBody>
                  <a:tcPr>
                    <a:solidFill>
                      <a:srgbClr val="00B050"/>
                    </a:solidFill>
                  </a:tcPr>
                </a:tc>
                <a:tc>
                  <a:txBody>
                    <a:bodyPr/>
                    <a:lstStyle/>
                    <a:p>
                      <a:pPr algn="ctr"/>
                      <a:r>
                        <a:rPr lang="en-US" b="1" dirty="0">
                          <a:solidFill>
                            <a:schemeClr val="bg1"/>
                          </a:solidFill>
                        </a:rPr>
                        <a:t>24</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extLst>
                  <a:ext uri="{0D108BD9-81ED-4DB2-BD59-A6C34878D82A}">
                    <a16:rowId xmlns:a16="http://schemas.microsoft.com/office/drawing/2014/main" val="10001"/>
                  </a:ext>
                </a:extLst>
              </a:tr>
              <a:tr h="398908">
                <a:tc>
                  <a:txBody>
                    <a:bodyPr/>
                    <a:lstStyle/>
                    <a:p>
                      <a:pPr algn="ctr"/>
                      <a:r>
                        <a:rPr lang="en-US" b="1" dirty="0">
                          <a:solidFill>
                            <a:schemeClr val="bg1"/>
                          </a:solidFill>
                        </a:rPr>
                        <a:t>P2</a:t>
                      </a:r>
                    </a:p>
                  </a:txBody>
                  <a:tcPr>
                    <a:solidFill>
                      <a:srgbClr val="00B050"/>
                    </a:solidFill>
                  </a:tcPr>
                </a:tc>
                <a:tc>
                  <a:txBody>
                    <a:bodyPr/>
                    <a:lstStyle/>
                    <a:p>
                      <a:pPr algn="ctr"/>
                      <a:r>
                        <a:rPr lang="en-US" b="1" dirty="0">
                          <a:solidFill>
                            <a:schemeClr val="bg1"/>
                          </a:solidFill>
                        </a:rPr>
                        <a:t>3</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extLst>
                  <a:ext uri="{0D108BD9-81ED-4DB2-BD59-A6C34878D82A}">
                    <a16:rowId xmlns:a16="http://schemas.microsoft.com/office/drawing/2014/main" val="10002"/>
                  </a:ext>
                </a:extLst>
              </a:tr>
              <a:tr h="398908">
                <a:tc>
                  <a:txBody>
                    <a:bodyPr/>
                    <a:lstStyle/>
                    <a:p>
                      <a:pPr algn="ctr"/>
                      <a:r>
                        <a:rPr lang="en-US" b="1" dirty="0">
                          <a:solidFill>
                            <a:schemeClr val="bg1"/>
                          </a:solidFill>
                        </a:rPr>
                        <a:t>P3</a:t>
                      </a:r>
                    </a:p>
                  </a:txBody>
                  <a:tcPr>
                    <a:solidFill>
                      <a:srgbClr val="00B050"/>
                    </a:solidFill>
                  </a:tcPr>
                </a:tc>
                <a:tc>
                  <a:txBody>
                    <a:bodyPr/>
                    <a:lstStyle/>
                    <a:p>
                      <a:pPr algn="ctr"/>
                      <a:r>
                        <a:rPr lang="en-US" b="1" dirty="0">
                          <a:solidFill>
                            <a:schemeClr val="bg1"/>
                          </a:solidFill>
                        </a:rPr>
                        <a:t>3</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1990725" y="5819776"/>
            <a:ext cx="7277100" cy="830997"/>
          </a:xfrm>
          <a:prstGeom prst="rect">
            <a:avLst/>
          </a:prstGeom>
          <a:noFill/>
        </p:spPr>
        <p:txBody>
          <a:bodyPr wrap="square" rtlCol="0">
            <a:spAutoFit/>
          </a:bodyPr>
          <a:lstStyle/>
          <a:p>
            <a:endParaRPr lang="en-US" sz="1600" b="1" dirty="0"/>
          </a:p>
          <a:p>
            <a:r>
              <a:rPr lang="en-US" sz="1600" b="1" dirty="0"/>
              <a:t>Gantt Chart: </a:t>
            </a:r>
          </a:p>
          <a:p>
            <a:r>
              <a:rPr lang="en-US" sz="1600" b="1" dirty="0"/>
              <a:t>Average Waiting Time, Average Turnaround Time</a:t>
            </a:r>
          </a:p>
        </p:txBody>
      </p:sp>
      <p:sp>
        <p:nvSpPr>
          <p:cNvPr id="2" name="Rectangle 1"/>
          <p:cNvSpPr/>
          <p:nvPr/>
        </p:nvSpPr>
        <p:spPr>
          <a:xfrm>
            <a:off x="1895475" y="4369564"/>
            <a:ext cx="8553451" cy="1754326"/>
          </a:xfrm>
          <a:prstGeom prst="rect">
            <a:avLst/>
          </a:prstGeom>
        </p:spPr>
        <p:txBody>
          <a:bodyPr wrap="square">
            <a:spAutoFit/>
          </a:bodyPr>
          <a:lstStyle/>
          <a:p>
            <a:pPr algn="just"/>
            <a:r>
              <a:rPr lang="en-US" b="1" dirty="0">
                <a:solidFill>
                  <a:srgbClr val="FF0000"/>
                </a:solidFill>
              </a:rPr>
              <a:t>Convoy effect </a:t>
            </a:r>
            <a:r>
              <a:rPr lang="en-US" dirty="0"/>
              <a:t>occurs in </a:t>
            </a:r>
            <a:r>
              <a:rPr lang="en-US" b="1" dirty="0">
                <a:solidFill>
                  <a:srgbClr val="0070C0"/>
                </a:solidFill>
              </a:rPr>
              <a:t>First-Come-First-Serve (FCFS) scheduling when one long process delays all shorter ones</a:t>
            </a:r>
            <a:r>
              <a:rPr lang="en-US" dirty="0"/>
              <a:t>, while </a:t>
            </a:r>
            <a:r>
              <a:rPr lang="en-US" b="1" dirty="0">
                <a:solidFill>
                  <a:srgbClr val="FF0000"/>
                </a:solidFill>
              </a:rPr>
              <a:t>starvation</a:t>
            </a:r>
            <a:r>
              <a:rPr lang="en-US" dirty="0"/>
              <a:t> happens </a:t>
            </a:r>
            <a:r>
              <a:rPr lang="en-US" b="1" dirty="0">
                <a:solidFill>
                  <a:srgbClr val="0070C0"/>
                </a:solidFill>
              </a:rPr>
              <a:t>in priority-based scheduling when low-priority processes wait indefinitely because higher-priority tasks </a:t>
            </a:r>
            <a:r>
              <a:rPr lang="en-US" dirty="0"/>
              <a:t>keep getting CPU time. Both degrade system performance but in different ways.</a:t>
            </a:r>
          </a:p>
        </p:txBody>
      </p:sp>
    </p:spTree>
    <p:extLst>
      <p:ext uri="{BB962C8B-B14F-4D97-AF65-F5344CB8AC3E}">
        <p14:creationId xmlns:p14="http://schemas.microsoft.com/office/powerpoint/2010/main" val="29622877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285875" y="665838"/>
            <a:ext cx="9305925" cy="336550"/>
          </a:xfrm>
        </p:spPr>
        <p:txBody>
          <a:bodyPr/>
          <a:lstStyle/>
          <a:p>
            <a:pPr eaLnBrk="1" hangingPunct="1"/>
            <a:r>
              <a:rPr lang="en-US" altLang="en-US" sz="2800" dirty="0"/>
              <a:t>Round Robin (RR) Scheduling</a:t>
            </a:r>
            <a:br>
              <a:rPr lang="en-US" altLang="en-US" sz="2800" dirty="0"/>
            </a:br>
            <a:endParaRPr lang="en-US" altLang="en-US" sz="2800" dirty="0">
              <a:solidFill>
                <a:srgbClr val="FF0000"/>
              </a:solidFill>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327394423"/>
              </p:ext>
            </p:extLst>
          </p:nvPr>
        </p:nvGraphicFramePr>
        <p:xfrm>
          <a:off x="447040" y="1176834"/>
          <a:ext cx="10224772" cy="5486400"/>
        </p:xfrm>
        <a:graphic>
          <a:graphicData uri="http://schemas.openxmlformats.org/drawingml/2006/table">
            <a:tbl>
              <a:tblPr firstRow="1" bandRow="1">
                <a:tableStyleId>{5C22544A-7EE6-4342-B048-85BDC9FD1C3A}</a:tableStyleId>
              </a:tblPr>
              <a:tblGrid>
                <a:gridCol w="1091408">
                  <a:extLst>
                    <a:ext uri="{9D8B030D-6E8A-4147-A177-3AD203B41FA5}">
                      <a16:colId xmlns:a16="http://schemas.microsoft.com/office/drawing/2014/main" val="20000"/>
                    </a:ext>
                  </a:extLst>
                </a:gridCol>
                <a:gridCol w="1516483">
                  <a:extLst>
                    <a:ext uri="{9D8B030D-6E8A-4147-A177-3AD203B41FA5}">
                      <a16:colId xmlns:a16="http://schemas.microsoft.com/office/drawing/2014/main" val="20001"/>
                    </a:ext>
                  </a:extLst>
                </a:gridCol>
                <a:gridCol w="1573926">
                  <a:extLst>
                    <a:ext uri="{9D8B030D-6E8A-4147-A177-3AD203B41FA5}">
                      <a16:colId xmlns:a16="http://schemas.microsoft.com/office/drawing/2014/main" val="20002"/>
                    </a:ext>
                  </a:extLst>
                </a:gridCol>
                <a:gridCol w="988011">
                  <a:extLst>
                    <a:ext uri="{9D8B030D-6E8A-4147-A177-3AD203B41FA5}">
                      <a16:colId xmlns:a16="http://schemas.microsoft.com/office/drawing/2014/main" val="20003"/>
                    </a:ext>
                  </a:extLst>
                </a:gridCol>
                <a:gridCol w="1137362">
                  <a:extLst>
                    <a:ext uri="{9D8B030D-6E8A-4147-A177-3AD203B41FA5}">
                      <a16:colId xmlns:a16="http://schemas.microsoft.com/office/drawing/2014/main" val="20004"/>
                    </a:ext>
                  </a:extLst>
                </a:gridCol>
                <a:gridCol w="1483112">
                  <a:extLst>
                    <a:ext uri="{9D8B030D-6E8A-4147-A177-3AD203B41FA5}">
                      <a16:colId xmlns:a16="http://schemas.microsoft.com/office/drawing/2014/main" val="20005"/>
                    </a:ext>
                  </a:extLst>
                </a:gridCol>
                <a:gridCol w="1124493">
                  <a:extLst>
                    <a:ext uri="{9D8B030D-6E8A-4147-A177-3AD203B41FA5}">
                      <a16:colId xmlns:a16="http://schemas.microsoft.com/office/drawing/2014/main" val="20006"/>
                    </a:ext>
                  </a:extLst>
                </a:gridCol>
                <a:gridCol w="1309977">
                  <a:extLst>
                    <a:ext uri="{9D8B030D-6E8A-4147-A177-3AD203B41FA5}">
                      <a16:colId xmlns:a16="http://schemas.microsoft.com/office/drawing/2014/main" val="20007"/>
                    </a:ext>
                  </a:extLst>
                </a:gridCol>
              </a:tblGrid>
              <a:tr h="983609">
                <a:tc>
                  <a:txBody>
                    <a:bodyPr/>
                    <a:lstStyle/>
                    <a:p>
                      <a:r>
                        <a:rPr lang="en-US" sz="2400" dirty="0">
                          <a:solidFill>
                            <a:srgbClr val="FFFF00"/>
                          </a:solidFill>
                        </a:rPr>
                        <a:t>Process</a:t>
                      </a:r>
                    </a:p>
                  </a:txBody>
                  <a:tcPr>
                    <a:solidFill>
                      <a:srgbClr val="00B050"/>
                    </a:solidFill>
                  </a:tcPr>
                </a:tc>
                <a:tc>
                  <a:txBody>
                    <a:bodyPr/>
                    <a:lstStyle/>
                    <a:p>
                      <a:r>
                        <a:rPr lang="en-US" sz="2400" dirty="0">
                          <a:solidFill>
                            <a:srgbClr val="FFFF00"/>
                          </a:solidFill>
                        </a:rPr>
                        <a:t>Arrival</a:t>
                      </a:r>
                      <a:r>
                        <a:rPr lang="en-US" sz="2400" baseline="0" dirty="0">
                          <a:solidFill>
                            <a:srgbClr val="FFFF00"/>
                          </a:solidFill>
                        </a:rPr>
                        <a:t> Time(AT)</a:t>
                      </a:r>
                      <a:endParaRPr lang="en-US" sz="2400" dirty="0">
                        <a:solidFill>
                          <a:srgbClr val="FFFF00"/>
                        </a:solidFill>
                      </a:endParaRPr>
                    </a:p>
                  </a:txBody>
                  <a:tcPr>
                    <a:solidFill>
                      <a:srgbClr val="00B050"/>
                    </a:solidFill>
                  </a:tcPr>
                </a:tc>
                <a:tc>
                  <a:txBody>
                    <a:bodyPr/>
                    <a:lstStyle/>
                    <a:p>
                      <a:r>
                        <a:rPr lang="en-US" sz="2400" dirty="0">
                          <a:solidFill>
                            <a:srgbClr val="FFFF00"/>
                          </a:solidFill>
                        </a:rPr>
                        <a:t>Burst Time(BT)</a:t>
                      </a:r>
                    </a:p>
                  </a:txBody>
                  <a:tcPr>
                    <a:solidFill>
                      <a:srgbClr val="00B050"/>
                    </a:solidFill>
                  </a:tcPr>
                </a:tc>
                <a:tc>
                  <a:txBody>
                    <a:bodyPr/>
                    <a:lstStyle/>
                    <a:p>
                      <a:r>
                        <a:rPr lang="en-US" sz="2400" dirty="0">
                          <a:solidFill>
                            <a:srgbClr val="FFFF00"/>
                          </a:solidFill>
                        </a:rPr>
                        <a:t>CT</a:t>
                      </a:r>
                    </a:p>
                  </a:txBody>
                  <a:tcPr>
                    <a:solidFill>
                      <a:srgbClr val="00B050"/>
                    </a:solidFill>
                  </a:tcPr>
                </a:tc>
                <a:tc>
                  <a:txBody>
                    <a:bodyPr/>
                    <a:lstStyle/>
                    <a:p>
                      <a:r>
                        <a:rPr lang="en-US" sz="2400" dirty="0">
                          <a:solidFill>
                            <a:srgbClr val="FFFF00"/>
                          </a:solidFill>
                        </a:rPr>
                        <a:t>TAT =</a:t>
                      </a:r>
                    </a:p>
                    <a:p>
                      <a:r>
                        <a:rPr lang="en-US" sz="2400" dirty="0">
                          <a:solidFill>
                            <a:srgbClr val="FFFF00"/>
                          </a:solidFill>
                        </a:rPr>
                        <a:t>CT-AT</a:t>
                      </a:r>
                    </a:p>
                  </a:txBody>
                  <a:tcPr>
                    <a:solidFill>
                      <a:srgbClr val="00B050"/>
                    </a:solidFill>
                  </a:tcPr>
                </a:tc>
                <a:tc>
                  <a:txBody>
                    <a:bodyPr/>
                    <a:lstStyle/>
                    <a:p>
                      <a:r>
                        <a:rPr lang="en-US" sz="2400" dirty="0">
                          <a:solidFill>
                            <a:srgbClr val="FFFF00"/>
                          </a:solidFill>
                        </a:rPr>
                        <a:t>WT</a:t>
                      </a:r>
                    </a:p>
                  </a:txBody>
                  <a:tcPr>
                    <a:solidFill>
                      <a:srgbClr val="00B050"/>
                    </a:solidFill>
                  </a:tcPr>
                </a:tc>
                <a:tc>
                  <a:txBody>
                    <a:bodyPr/>
                    <a:lstStyle/>
                    <a:p>
                      <a:r>
                        <a:rPr lang="en-US" sz="2400" dirty="0">
                          <a:solidFill>
                            <a:srgbClr val="FFFF00"/>
                          </a:solidFill>
                        </a:rPr>
                        <a:t>RT</a:t>
                      </a:r>
                    </a:p>
                  </a:txBody>
                  <a:tcPr>
                    <a:solidFill>
                      <a:srgbClr val="00B050"/>
                    </a:solidFill>
                  </a:tcPr>
                </a:tc>
                <a:tc>
                  <a:txBody>
                    <a:bodyPr/>
                    <a:lstStyle/>
                    <a:p>
                      <a:r>
                        <a:rPr lang="en-US" sz="2400" dirty="0">
                          <a:solidFill>
                            <a:srgbClr val="FFFF00"/>
                          </a:solidFill>
                        </a:rPr>
                        <a:t>Context Switch</a:t>
                      </a:r>
                    </a:p>
                    <a:p>
                      <a:r>
                        <a:rPr lang="en-US" sz="2400" dirty="0">
                          <a:solidFill>
                            <a:srgbClr val="FFFF00"/>
                          </a:solidFill>
                        </a:rPr>
                        <a:t>(1ms)</a:t>
                      </a:r>
                    </a:p>
                  </a:txBody>
                  <a:tcPr>
                    <a:solidFill>
                      <a:srgbClr val="00B050"/>
                    </a:solidFill>
                  </a:tcPr>
                </a:tc>
                <a:extLst>
                  <a:ext uri="{0D108BD9-81ED-4DB2-BD59-A6C34878D82A}">
                    <a16:rowId xmlns:a16="http://schemas.microsoft.com/office/drawing/2014/main" val="10000"/>
                  </a:ext>
                </a:extLst>
              </a:tr>
              <a:tr h="480066">
                <a:tc>
                  <a:txBody>
                    <a:bodyPr/>
                    <a:lstStyle/>
                    <a:p>
                      <a:pPr algn="ctr"/>
                      <a:r>
                        <a:rPr lang="en-US" sz="3600" b="1" dirty="0">
                          <a:solidFill>
                            <a:srgbClr val="FFFF00"/>
                          </a:solidFill>
                        </a:rPr>
                        <a:t>P1</a:t>
                      </a:r>
                    </a:p>
                  </a:txBody>
                  <a:tcPr>
                    <a:solidFill>
                      <a:srgbClr val="00B050"/>
                    </a:solidFill>
                  </a:tcPr>
                </a:tc>
                <a:tc>
                  <a:txBody>
                    <a:bodyPr/>
                    <a:lstStyle/>
                    <a:p>
                      <a:pPr algn="ctr"/>
                      <a:r>
                        <a:rPr lang="en-US" sz="3600" b="1" dirty="0">
                          <a:solidFill>
                            <a:srgbClr val="FFFF00"/>
                          </a:solidFill>
                        </a:rPr>
                        <a:t>0</a:t>
                      </a:r>
                    </a:p>
                  </a:txBody>
                  <a:tcPr>
                    <a:solidFill>
                      <a:srgbClr val="00B050"/>
                    </a:solidFill>
                  </a:tcPr>
                </a:tc>
                <a:tc>
                  <a:txBody>
                    <a:bodyPr/>
                    <a:lstStyle/>
                    <a:p>
                      <a:pPr algn="ctr"/>
                      <a:r>
                        <a:rPr lang="en-US" sz="3600" b="1" dirty="0">
                          <a:solidFill>
                            <a:srgbClr val="FFFF00"/>
                          </a:solidFill>
                        </a:rPr>
                        <a:t>8</a:t>
                      </a:r>
                    </a:p>
                  </a:txBody>
                  <a:tcPr>
                    <a:solidFill>
                      <a:srgbClr val="00B050"/>
                    </a:solidFill>
                  </a:tcPr>
                </a:tc>
                <a:tc>
                  <a:txBody>
                    <a:bodyPr/>
                    <a:lstStyle/>
                    <a:p>
                      <a:endParaRPr lang="en-US" sz="2400" b="1" dirty="0">
                        <a:solidFill>
                          <a:srgbClr val="FFFF00"/>
                        </a:solidFill>
                      </a:endParaRPr>
                    </a:p>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tc>
                  <a:txBody>
                    <a:bodyPr/>
                    <a:lstStyle/>
                    <a:p>
                      <a:endParaRPr lang="en-US" sz="2400" b="1">
                        <a:solidFill>
                          <a:srgbClr val="FFFF00"/>
                        </a:solidFill>
                      </a:endParaRPr>
                    </a:p>
                  </a:txBody>
                  <a:tcPr>
                    <a:solidFill>
                      <a:srgbClr val="FFC000"/>
                    </a:solidFill>
                  </a:tcPr>
                </a:tc>
                <a:tc>
                  <a:txBody>
                    <a:bodyPr/>
                    <a:lstStyle/>
                    <a:p>
                      <a:endParaRPr lang="en-US" sz="2400" b="1">
                        <a:solidFill>
                          <a:srgbClr val="FFFF00"/>
                        </a:solidFill>
                      </a:endParaRPr>
                    </a:p>
                  </a:txBody>
                  <a:tcPr>
                    <a:solidFill>
                      <a:srgbClr val="FFC000"/>
                    </a:solidFill>
                  </a:tcPr>
                </a:tc>
                <a:extLst>
                  <a:ext uri="{0D108BD9-81ED-4DB2-BD59-A6C34878D82A}">
                    <a16:rowId xmlns:a16="http://schemas.microsoft.com/office/drawing/2014/main" val="10001"/>
                  </a:ext>
                </a:extLst>
              </a:tr>
              <a:tr h="398908">
                <a:tc>
                  <a:txBody>
                    <a:bodyPr/>
                    <a:lstStyle/>
                    <a:p>
                      <a:pPr algn="ctr"/>
                      <a:r>
                        <a:rPr lang="en-US" sz="3600" b="1" dirty="0">
                          <a:solidFill>
                            <a:srgbClr val="FFFF00"/>
                          </a:solidFill>
                        </a:rPr>
                        <a:t>P2</a:t>
                      </a:r>
                    </a:p>
                  </a:txBody>
                  <a:tcPr>
                    <a:solidFill>
                      <a:srgbClr val="00B050"/>
                    </a:solidFill>
                  </a:tcPr>
                </a:tc>
                <a:tc>
                  <a:txBody>
                    <a:bodyPr/>
                    <a:lstStyle/>
                    <a:p>
                      <a:pPr algn="ctr"/>
                      <a:r>
                        <a:rPr lang="en-US" sz="3600" b="1" dirty="0">
                          <a:solidFill>
                            <a:srgbClr val="FFFF00"/>
                          </a:solidFill>
                        </a:rPr>
                        <a:t>5</a:t>
                      </a:r>
                    </a:p>
                  </a:txBody>
                  <a:tcPr>
                    <a:solidFill>
                      <a:srgbClr val="00B050"/>
                    </a:solidFill>
                  </a:tcPr>
                </a:tc>
                <a:tc>
                  <a:txBody>
                    <a:bodyPr/>
                    <a:lstStyle/>
                    <a:p>
                      <a:pPr algn="ctr"/>
                      <a:r>
                        <a:rPr lang="en-US" sz="3600" b="1" dirty="0">
                          <a:solidFill>
                            <a:srgbClr val="FFFF00"/>
                          </a:solidFill>
                        </a:rPr>
                        <a:t>2</a:t>
                      </a:r>
                    </a:p>
                  </a:txBody>
                  <a:tcPr>
                    <a:solidFill>
                      <a:srgbClr val="00B050"/>
                    </a:solidFill>
                  </a:tcPr>
                </a:tc>
                <a:tc>
                  <a:txBody>
                    <a:bodyPr/>
                    <a:lstStyle/>
                    <a:p>
                      <a:endParaRPr lang="en-US" sz="2400" b="1" dirty="0">
                        <a:solidFill>
                          <a:srgbClr val="FFFF00"/>
                        </a:solidFill>
                      </a:endParaRPr>
                    </a:p>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tc>
                  <a:txBody>
                    <a:bodyPr/>
                    <a:lstStyle/>
                    <a:p>
                      <a:endParaRPr lang="en-US" sz="2400" b="1">
                        <a:solidFill>
                          <a:srgbClr val="FFFF00"/>
                        </a:solidFill>
                      </a:endParaRPr>
                    </a:p>
                  </a:txBody>
                  <a:tcPr>
                    <a:solidFill>
                      <a:srgbClr val="FFC000"/>
                    </a:solidFill>
                  </a:tcPr>
                </a:tc>
                <a:tc>
                  <a:txBody>
                    <a:bodyPr/>
                    <a:lstStyle/>
                    <a:p>
                      <a:endParaRPr lang="en-US" sz="2400" b="1">
                        <a:solidFill>
                          <a:srgbClr val="FFFF00"/>
                        </a:solidFill>
                      </a:endParaRPr>
                    </a:p>
                  </a:txBody>
                  <a:tcPr>
                    <a:solidFill>
                      <a:srgbClr val="FFC000"/>
                    </a:solidFill>
                  </a:tcPr>
                </a:tc>
                <a:extLst>
                  <a:ext uri="{0D108BD9-81ED-4DB2-BD59-A6C34878D82A}">
                    <a16:rowId xmlns:a16="http://schemas.microsoft.com/office/drawing/2014/main" val="10002"/>
                  </a:ext>
                </a:extLst>
              </a:tr>
              <a:tr h="398908">
                <a:tc>
                  <a:txBody>
                    <a:bodyPr/>
                    <a:lstStyle/>
                    <a:p>
                      <a:pPr algn="ctr"/>
                      <a:r>
                        <a:rPr lang="en-US" sz="3600" b="1" dirty="0">
                          <a:solidFill>
                            <a:srgbClr val="FFFF00"/>
                          </a:solidFill>
                        </a:rPr>
                        <a:t>P3</a:t>
                      </a:r>
                    </a:p>
                  </a:txBody>
                  <a:tcPr>
                    <a:solidFill>
                      <a:srgbClr val="00B050"/>
                    </a:solidFill>
                  </a:tcPr>
                </a:tc>
                <a:tc>
                  <a:txBody>
                    <a:bodyPr/>
                    <a:lstStyle/>
                    <a:p>
                      <a:pPr algn="ctr"/>
                      <a:r>
                        <a:rPr lang="en-US" sz="3600" b="1" dirty="0">
                          <a:solidFill>
                            <a:srgbClr val="FFFF00"/>
                          </a:solidFill>
                        </a:rPr>
                        <a:t>1</a:t>
                      </a:r>
                    </a:p>
                  </a:txBody>
                  <a:tcPr>
                    <a:solidFill>
                      <a:srgbClr val="00B050"/>
                    </a:solidFill>
                  </a:tcPr>
                </a:tc>
                <a:tc>
                  <a:txBody>
                    <a:bodyPr/>
                    <a:lstStyle/>
                    <a:p>
                      <a:pPr algn="ctr"/>
                      <a:r>
                        <a:rPr lang="en-US" sz="3600" b="1" dirty="0">
                          <a:solidFill>
                            <a:srgbClr val="FFFF00"/>
                          </a:solidFill>
                        </a:rPr>
                        <a:t>7</a:t>
                      </a:r>
                    </a:p>
                  </a:txBody>
                  <a:tcPr>
                    <a:solidFill>
                      <a:srgbClr val="00B050"/>
                    </a:solidFill>
                  </a:tcPr>
                </a:tc>
                <a:tc>
                  <a:txBody>
                    <a:bodyPr/>
                    <a:lstStyle/>
                    <a:p>
                      <a:endParaRPr lang="en-US" sz="2400" b="1" dirty="0">
                        <a:solidFill>
                          <a:srgbClr val="FFFF00"/>
                        </a:solidFill>
                      </a:endParaRPr>
                    </a:p>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tc>
                  <a:txBody>
                    <a:bodyPr/>
                    <a:lstStyle/>
                    <a:p>
                      <a:endParaRPr lang="en-US" sz="2400" b="1">
                        <a:solidFill>
                          <a:srgbClr val="FFFF00"/>
                        </a:solidFill>
                      </a:endParaRPr>
                    </a:p>
                  </a:txBody>
                  <a:tcPr>
                    <a:solidFill>
                      <a:srgbClr val="FFC000"/>
                    </a:solidFill>
                  </a:tcPr>
                </a:tc>
                <a:tc>
                  <a:txBody>
                    <a:bodyPr/>
                    <a:lstStyle/>
                    <a:p>
                      <a:endParaRPr lang="en-US" sz="2400" b="1">
                        <a:solidFill>
                          <a:srgbClr val="FFFF00"/>
                        </a:solidFill>
                      </a:endParaRPr>
                    </a:p>
                  </a:txBody>
                  <a:tcPr>
                    <a:solidFill>
                      <a:srgbClr val="FFC000"/>
                    </a:solidFill>
                  </a:tcPr>
                </a:tc>
                <a:extLst>
                  <a:ext uri="{0D108BD9-81ED-4DB2-BD59-A6C34878D82A}">
                    <a16:rowId xmlns:a16="http://schemas.microsoft.com/office/drawing/2014/main" val="10003"/>
                  </a:ext>
                </a:extLst>
              </a:tr>
              <a:tr h="398908">
                <a:tc>
                  <a:txBody>
                    <a:bodyPr/>
                    <a:lstStyle/>
                    <a:p>
                      <a:pPr algn="ctr"/>
                      <a:r>
                        <a:rPr lang="en-US" sz="3600" b="1" dirty="0">
                          <a:solidFill>
                            <a:srgbClr val="FFFF00"/>
                          </a:solidFill>
                        </a:rPr>
                        <a:t>P4</a:t>
                      </a:r>
                    </a:p>
                  </a:txBody>
                  <a:tcPr>
                    <a:solidFill>
                      <a:srgbClr val="00B050"/>
                    </a:solidFill>
                  </a:tcPr>
                </a:tc>
                <a:tc>
                  <a:txBody>
                    <a:bodyPr/>
                    <a:lstStyle/>
                    <a:p>
                      <a:pPr algn="ctr"/>
                      <a:r>
                        <a:rPr lang="en-US" sz="3600" b="1" dirty="0">
                          <a:solidFill>
                            <a:srgbClr val="FFFF00"/>
                          </a:solidFill>
                        </a:rPr>
                        <a:t>6</a:t>
                      </a:r>
                    </a:p>
                  </a:txBody>
                  <a:tcPr>
                    <a:solidFill>
                      <a:srgbClr val="00B050"/>
                    </a:solidFill>
                  </a:tcPr>
                </a:tc>
                <a:tc>
                  <a:txBody>
                    <a:bodyPr/>
                    <a:lstStyle/>
                    <a:p>
                      <a:pPr algn="ctr"/>
                      <a:r>
                        <a:rPr lang="en-US" sz="3600" b="1" dirty="0">
                          <a:solidFill>
                            <a:srgbClr val="FFFF00"/>
                          </a:solidFill>
                        </a:rPr>
                        <a:t>3</a:t>
                      </a:r>
                    </a:p>
                  </a:txBody>
                  <a:tcPr>
                    <a:solidFill>
                      <a:srgbClr val="00B050"/>
                    </a:solidFill>
                  </a:tcPr>
                </a:tc>
                <a:tc>
                  <a:txBody>
                    <a:bodyPr/>
                    <a:lstStyle/>
                    <a:p>
                      <a:endParaRPr lang="en-US" sz="2400" b="1" dirty="0">
                        <a:solidFill>
                          <a:srgbClr val="FFFF00"/>
                        </a:solidFill>
                      </a:endParaRPr>
                    </a:p>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p>
                      <a:endParaRPr lang="en-US" sz="2400" b="1" dirty="0">
                        <a:solidFill>
                          <a:srgbClr val="FFFF00"/>
                        </a:solidFill>
                      </a:endParaRPr>
                    </a:p>
                  </a:txBody>
                  <a:tcPr>
                    <a:solidFill>
                      <a:srgbClr val="FFC000"/>
                    </a:solidFill>
                  </a:tcPr>
                </a:tc>
                <a:extLst>
                  <a:ext uri="{0D108BD9-81ED-4DB2-BD59-A6C34878D82A}">
                    <a16:rowId xmlns:a16="http://schemas.microsoft.com/office/drawing/2014/main" val="10004"/>
                  </a:ext>
                </a:extLst>
              </a:tr>
              <a:tr h="398908">
                <a:tc>
                  <a:txBody>
                    <a:bodyPr/>
                    <a:lstStyle/>
                    <a:p>
                      <a:pPr algn="ctr"/>
                      <a:r>
                        <a:rPr lang="en-US" sz="3600" b="1" dirty="0">
                          <a:solidFill>
                            <a:srgbClr val="FFFF00"/>
                          </a:solidFill>
                        </a:rPr>
                        <a:t>P5</a:t>
                      </a:r>
                    </a:p>
                  </a:txBody>
                  <a:tcPr>
                    <a:solidFill>
                      <a:srgbClr val="00B050"/>
                    </a:solidFill>
                  </a:tcPr>
                </a:tc>
                <a:tc>
                  <a:txBody>
                    <a:bodyPr/>
                    <a:lstStyle/>
                    <a:p>
                      <a:pPr algn="ctr"/>
                      <a:r>
                        <a:rPr lang="en-US" sz="3600" b="1" dirty="0">
                          <a:solidFill>
                            <a:srgbClr val="FFFF00"/>
                          </a:solidFill>
                        </a:rPr>
                        <a:t>8</a:t>
                      </a:r>
                    </a:p>
                  </a:txBody>
                  <a:tcPr>
                    <a:solidFill>
                      <a:srgbClr val="00B050"/>
                    </a:solidFill>
                  </a:tcPr>
                </a:tc>
                <a:tc>
                  <a:txBody>
                    <a:bodyPr/>
                    <a:lstStyle/>
                    <a:p>
                      <a:pPr algn="ctr"/>
                      <a:r>
                        <a:rPr lang="en-US" sz="3600" b="1" dirty="0">
                          <a:solidFill>
                            <a:srgbClr val="FFFF00"/>
                          </a:solidFill>
                        </a:rPr>
                        <a:t>5</a:t>
                      </a:r>
                    </a:p>
                  </a:txBody>
                  <a:tcPr>
                    <a:solidFill>
                      <a:srgbClr val="00B050"/>
                    </a:solidFill>
                  </a:tcPr>
                </a:tc>
                <a:tc>
                  <a:txBody>
                    <a:bodyPr/>
                    <a:lstStyle/>
                    <a:p>
                      <a:endParaRPr lang="en-US" sz="2400" b="1" dirty="0">
                        <a:solidFill>
                          <a:srgbClr val="FFFF00"/>
                        </a:solidFill>
                      </a:endParaRPr>
                    </a:p>
                  </a:txBody>
                  <a:tcPr>
                    <a:solidFill>
                      <a:srgbClr val="FFC000"/>
                    </a:solidFill>
                  </a:tcPr>
                </a:tc>
                <a:tc>
                  <a:txBody>
                    <a:bodyPr/>
                    <a:lstStyle/>
                    <a:p>
                      <a:endParaRPr lang="en-US" sz="2400" b="1">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extLst>
                  <a:ext uri="{0D108BD9-81ED-4DB2-BD59-A6C34878D82A}">
                    <a16:rowId xmlns:a16="http://schemas.microsoft.com/office/drawing/2014/main" val="10005"/>
                  </a:ext>
                </a:extLst>
              </a:tr>
            </a:tbl>
          </a:graphicData>
        </a:graphic>
      </p:graphicFrame>
      <p:sp>
        <p:nvSpPr>
          <p:cNvPr id="2" name="TextBox 1"/>
          <p:cNvSpPr txBox="1"/>
          <p:nvPr/>
        </p:nvSpPr>
        <p:spPr>
          <a:xfrm>
            <a:off x="8442961" y="736670"/>
            <a:ext cx="2638424" cy="369332"/>
          </a:xfrm>
          <a:prstGeom prst="rect">
            <a:avLst/>
          </a:prstGeom>
          <a:noFill/>
        </p:spPr>
        <p:txBody>
          <a:bodyPr wrap="square" rtlCol="0">
            <a:spAutoFit/>
          </a:bodyPr>
          <a:lstStyle/>
          <a:p>
            <a:r>
              <a:rPr lang="en-US" b="1" dirty="0"/>
              <a:t>Time Quantum = 3</a:t>
            </a:r>
          </a:p>
        </p:txBody>
      </p:sp>
    </p:spTree>
    <p:extLst>
      <p:ext uri="{BB962C8B-B14F-4D97-AF65-F5344CB8AC3E}">
        <p14:creationId xmlns:p14="http://schemas.microsoft.com/office/powerpoint/2010/main" val="40561218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97EB9085-4F50-4C0E-A2E6-8B8193DC54B9}"/>
              </a:ext>
            </a:extLst>
          </p:cNvPr>
          <p:cNvSpPr>
            <a:spLocks noGrp="1" noChangeArrowheads="1"/>
          </p:cNvSpPr>
          <p:nvPr>
            <p:ph type="title"/>
          </p:nvPr>
        </p:nvSpPr>
        <p:spPr>
          <a:xfrm>
            <a:off x="2487614" y="109861"/>
            <a:ext cx="7723187" cy="576262"/>
          </a:xfrm>
        </p:spPr>
        <p:txBody>
          <a:bodyPr/>
          <a:lstStyle/>
          <a:p>
            <a:pPr eaLnBrk="1" hangingPunct="1"/>
            <a:r>
              <a:rPr lang="en-US" altLang="en-US" dirty="0"/>
              <a:t>Priority Scheduling</a:t>
            </a:r>
          </a:p>
        </p:txBody>
      </p:sp>
      <p:sp>
        <p:nvSpPr>
          <p:cNvPr id="48130" name="Rectangle 3">
            <a:extLst>
              <a:ext uri="{FF2B5EF4-FFF2-40B4-BE49-F238E27FC236}">
                <a16:creationId xmlns:a16="http://schemas.microsoft.com/office/drawing/2014/main" id="{328AB413-1FAE-4AEC-A110-AFD45B9A75C2}"/>
              </a:ext>
            </a:extLst>
          </p:cNvPr>
          <p:cNvSpPr>
            <a:spLocks noGrp="1" noChangeArrowheads="1"/>
          </p:cNvSpPr>
          <p:nvPr>
            <p:ph type="body" idx="1"/>
          </p:nvPr>
        </p:nvSpPr>
        <p:spPr>
          <a:xfrm>
            <a:off x="2345094" y="1233489"/>
            <a:ext cx="7723186" cy="4530725"/>
          </a:xfrm>
        </p:spPr>
        <p:txBody>
          <a:bodyPr/>
          <a:lstStyle/>
          <a:p>
            <a:r>
              <a:rPr lang="en-US" altLang="en-US" dirty="0"/>
              <a:t>A priority number (integer) is associated with each process</a:t>
            </a:r>
          </a:p>
          <a:p>
            <a:endParaRPr lang="en-US" altLang="en-US" sz="800" dirty="0"/>
          </a:p>
          <a:p>
            <a:r>
              <a:rPr lang="en-US" altLang="en-US" dirty="0"/>
              <a:t>The CPU is allocated to the process with the highest priority (smallest integer </a:t>
            </a:r>
            <a:r>
              <a:rPr lang="en-US" altLang="en-US" dirty="0">
                <a:sym typeface="Symbol" panose="05050102010706020507" pitchFamily="18" charset="2"/>
              </a:rPr>
              <a:t> highest priority)</a:t>
            </a:r>
          </a:p>
          <a:p>
            <a:pPr lvl="1"/>
            <a:r>
              <a:rPr lang="en-US" altLang="en-US" dirty="0"/>
              <a:t>Preemptive</a:t>
            </a:r>
          </a:p>
          <a:p>
            <a:pPr lvl="1"/>
            <a:r>
              <a:rPr lang="en-US" altLang="en-US" dirty="0"/>
              <a:t>Nonpreemptive</a:t>
            </a:r>
          </a:p>
          <a:p>
            <a:pPr lvl="1"/>
            <a:endParaRPr lang="en-US" altLang="en-US" sz="800" dirty="0"/>
          </a:p>
          <a:p>
            <a:r>
              <a:rPr lang="en-US" altLang="en-US" dirty="0"/>
              <a:t>SJF is priority scheduling where priority is the inverse of predicted next CPU burst time</a:t>
            </a:r>
          </a:p>
          <a:p>
            <a:endParaRPr lang="en-US" altLang="en-US" sz="800" dirty="0"/>
          </a:p>
          <a:p>
            <a:r>
              <a:rPr lang="en-US" altLang="en-US" dirty="0"/>
              <a:t>Problem </a:t>
            </a:r>
            <a:r>
              <a:rPr lang="en-US" altLang="en-US" dirty="0">
                <a:sym typeface="Symbol" panose="05050102010706020507" pitchFamily="18" charset="2"/>
              </a:rPr>
              <a:t> </a:t>
            </a:r>
            <a:r>
              <a:rPr lang="en-US" altLang="en-US" b="1" dirty="0">
                <a:solidFill>
                  <a:srgbClr val="006699"/>
                </a:solidFill>
                <a:latin typeface="+mj-lt"/>
                <a:sym typeface="Symbol" panose="05050102010706020507" pitchFamily="18" charset="2"/>
              </a:rPr>
              <a:t>Starvation</a:t>
            </a:r>
            <a:r>
              <a:rPr lang="en-US" altLang="en-US" b="1" dirty="0">
                <a:sym typeface="Symbol" panose="05050102010706020507" pitchFamily="18" charset="2"/>
              </a:rPr>
              <a:t> </a:t>
            </a:r>
            <a:r>
              <a:rPr lang="en-US" altLang="en-US" dirty="0">
                <a:sym typeface="Symbol" panose="05050102010706020507" pitchFamily="18" charset="2"/>
              </a:rPr>
              <a:t>– low priority processes may never execute</a:t>
            </a:r>
          </a:p>
          <a:p>
            <a:endParaRPr lang="en-US" altLang="en-US" sz="800" dirty="0">
              <a:sym typeface="Symbol" panose="05050102010706020507" pitchFamily="18" charset="2"/>
            </a:endParaRPr>
          </a:p>
          <a:p>
            <a:r>
              <a:rPr lang="en-US" altLang="en-US" dirty="0">
                <a:sym typeface="Symbol" panose="05050102010706020507" pitchFamily="18" charset="2"/>
              </a:rPr>
              <a:t>Solution  </a:t>
            </a:r>
            <a:r>
              <a:rPr lang="en-US" altLang="en-US" b="1" dirty="0">
                <a:solidFill>
                  <a:srgbClr val="006699"/>
                </a:solidFill>
                <a:latin typeface="+mj-lt"/>
                <a:sym typeface="Symbol" panose="05050102010706020507" pitchFamily="18" charset="2"/>
              </a:rPr>
              <a:t>Aging</a:t>
            </a:r>
            <a:r>
              <a:rPr lang="en-US" altLang="en-US" b="1" dirty="0">
                <a:sym typeface="Symbol" panose="05050102010706020507" pitchFamily="18" charset="2"/>
              </a:rPr>
              <a:t> </a:t>
            </a:r>
            <a:r>
              <a:rPr lang="en-US" altLang="en-US" dirty="0">
                <a:sym typeface="Symbol" panose="05050102010706020507" pitchFamily="18" charset="2"/>
              </a:rPr>
              <a:t>– as time progresses increase the priority of the process</a:t>
            </a:r>
          </a:p>
          <a:p>
            <a:pPr>
              <a:buFont typeface="Monotype Sorts" pitchFamily="-84" charset="2"/>
              <a:buNone/>
            </a:pPr>
            <a:endParaRPr lang="en-US" altLang="en-US" b="1" dirty="0">
              <a:solidFill>
                <a:srgbClr val="3366FF"/>
              </a:solidFill>
              <a:sym typeface="Symbol" panose="05050102010706020507" pitchFamily="18" charset="2"/>
            </a:endParaRPr>
          </a:p>
        </p:txBody>
      </p:sp>
    </p:spTree>
    <p:extLst>
      <p:ext uri="{BB962C8B-B14F-4D97-AF65-F5344CB8AC3E}">
        <p14:creationId xmlns:p14="http://schemas.microsoft.com/office/powerpoint/2010/main" val="18699723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BD1CE599-A709-401F-8DD0-F7F4CCB2DDF1}"/>
              </a:ext>
            </a:extLst>
          </p:cNvPr>
          <p:cNvSpPr>
            <a:spLocks noGrp="1" noChangeArrowheads="1"/>
          </p:cNvSpPr>
          <p:nvPr>
            <p:ph type="title"/>
          </p:nvPr>
        </p:nvSpPr>
        <p:spPr>
          <a:xfrm>
            <a:off x="2930526" y="136087"/>
            <a:ext cx="7280275" cy="576262"/>
          </a:xfrm>
        </p:spPr>
        <p:txBody>
          <a:bodyPr/>
          <a:lstStyle/>
          <a:p>
            <a:pPr eaLnBrk="1" hangingPunct="1"/>
            <a:r>
              <a:rPr lang="en-US" altLang="en-US" dirty="0"/>
              <a:t>Example of Priority Scheduling</a:t>
            </a:r>
          </a:p>
        </p:txBody>
      </p:sp>
      <p:sp>
        <p:nvSpPr>
          <p:cNvPr id="50178" name="Rectangle 36">
            <a:extLst>
              <a:ext uri="{FF2B5EF4-FFF2-40B4-BE49-F238E27FC236}">
                <a16:creationId xmlns:a16="http://schemas.microsoft.com/office/drawing/2014/main" id="{CDADF2B2-580D-4F09-8A23-D969CD614667}"/>
              </a:ext>
            </a:extLst>
          </p:cNvPr>
          <p:cNvSpPr>
            <a:spLocks noGrp="1" noChangeArrowheads="1"/>
          </p:cNvSpPr>
          <p:nvPr>
            <p:ph type="body" idx="1"/>
          </p:nvPr>
        </p:nvSpPr>
        <p:spPr>
          <a:xfrm>
            <a:off x="2330450" y="1233488"/>
            <a:ext cx="7973868" cy="4907539"/>
          </a:xfrm>
          <a:noFill/>
        </p:spPr>
        <p:txBody>
          <a:bodyPr/>
          <a:lstStyle/>
          <a:p>
            <a:pPr>
              <a:buNone/>
              <a:tabLst>
                <a:tab pos="1600200" algn="ctr"/>
                <a:tab pos="3251200" algn="ctr"/>
                <a:tab pos="5140325" algn="ctr"/>
              </a:tabLst>
            </a:pPr>
            <a:r>
              <a:rPr lang="en-US" altLang="en-US" dirty="0"/>
              <a:t>		 </a:t>
            </a:r>
            <a:r>
              <a:rPr lang="en-US" altLang="en-US" u="sng" dirty="0"/>
              <a:t>Process</a:t>
            </a:r>
            <a:r>
              <a:rPr lang="en-US" altLang="en-US" u="sng" dirty="0">
                <a:solidFill>
                  <a:schemeClr val="bg1"/>
                </a:solidFill>
              </a:rPr>
              <a:t>	</a:t>
            </a:r>
            <a:r>
              <a:rPr lang="en-US" altLang="en-US" u="sng" dirty="0"/>
              <a:t>Burst Time</a:t>
            </a:r>
            <a:r>
              <a:rPr lang="en-US" altLang="en-US" dirty="0"/>
              <a:t>	</a:t>
            </a:r>
            <a:r>
              <a:rPr lang="en-US" altLang="en-US" u="sng" dirty="0"/>
              <a:t>Priority</a:t>
            </a:r>
            <a:endParaRPr lang="en-US" altLang="en-US" dirty="0"/>
          </a:p>
          <a:p>
            <a:pPr>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1</a:t>
            </a:r>
            <a:r>
              <a:rPr lang="en-US" altLang="en-US" dirty="0">
                <a:solidFill>
                  <a:srgbClr val="000000"/>
                </a:solidFill>
              </a:rPr>
              <a:t>0</a:t>
            </a:r>
            <a:r>
              <a:rPr lang="en-US" altLang="en-US" dirty="0"/>
              <a:t>	3</a:t>
            </a:r>
          </a:p>
          <a:p>
            <a:pPr>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1</a:t>
            </a:r>
            <a:r>
              <a:rPr lang="en-US" altLang="en-US" dirty="0"/>
              <a:t>	1</a:t>
            </a:r>
          </a:p>
          <a:p>
            <a:pPr>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2</a:t>
            </a:r>
            <a:r>
              <a:rPr lang="en-US" altLang="en-US" dirty="0"/>
              <a:t>	4</a:t>
            </a:r>
          </a:p>
          <a:p>
            <a:pPr>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1</a:t>
            </a:r>
            <a:r>
              <a:rPr lang="en-US" altLang="en-US" dirty="0"/>
              <a:t>	5</a:t>
            </a:r>
          </a:p>
          <a:p>
            <a:pPr>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5	2</a:t>
            </a:r>
          </a:p>
          <a:p>
            <a:pPr>
              <a:buNone/>
              <a:tabLst>
                <a:tab pos="1600200" algn="ctr"/>
                <a:tab pos="3251200" algn="ctr"/>
                <a:tab pos="5140325" algn="ctr"/>
              </a:tabLst>
            </a:pPr>
            <a:endParaRPr lang="en-US" altLang="en-US" baseline="-25000" dirty="0"/>
          </a:p>
          <a:p>
            <a:pPr>
              <a:tabLst>
                <a:tab pos="1600200" algn="ctr"/>
                <a:tab pos="3251200" algn="ctr"/>
                <a:tab pos="5140325" algn="ctr"/>
              </a:tabLst>
            </a:pPr>
            <a:r>
              <a:rPr lang="en-US" altLang="en-US" dirty="0"/>
              <a:t>Priority scheduling Gantt Chart</a:t>
            </a:r>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None/>
              <a:tabLst>
                <a:tab pos="1600200" algn="ctr"/>
                <a:tab pos="3251200" algn="ctr"/>
                <a:tab pos="5140325" algn="ctr"/>
              </a:tabLst>
            </a:pPr>
            <a:endParaRPr lang="en-US" altLang="en-US" dirty="0"/>
          </a:p>
          <a:p>
            <a:pPr>
              <a:tabLst>
                <a:tab pos="1600200" algn="ctr"/>
                <a:tab pos="3251200" algn="ctr"/>
                <a:tab pos="5140325" algn="ctr"/>
              </a:tabLst>
            </a:pPr>
            <a:r>
              <a:rPr lang="en-US" altLang="en-US" dirty="0"/>
              <a:t>Average waiting time = 8.2</a:t>
            </a:r>
            <a:endParaRPr lang="en-US" altLang="en-US" i="1" baseline="-25000" dirty="0"/>
          </a:p>
        </p:txBody>
      </p:sp>
      <p:pic>
        <p:nvPicPr>
          <p:cNvPr id="50179" name="Picture 1">
            <a:extLst>
              <a:ext uri="{FF2B5EF4-FFF2-40B4-BE49-F238E27FC236}">
                <a16:creationId xmlns:a16="http://schemas.microsoft.com/office/drawing/2014/main" id="{A77EE5E1-F152-4172-9935-567FC2AB99C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21051" y="4400551"/>
            <a:ext cx="646747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14079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285875" y="665838"/>
            <a:ext cx="9305925" cy="336550"/>
          </a:xfrm>
        </p:spPr>
        <p:txBody>
          <a:bodyPr/>
          <a:lstStyle/>
          <a:p>
            <a:pPr eaLnBrk="1" hangingPunct="1"/>
            <a:r>
              <a:rPr lang="en-US" altLang="en-US" sz="2800" dirty="0"/>
              <a:t>Priority Scheduling – Non Preemptive</a:t>
            </a:r>
            <a:br>
              <a:rPr lang="en-US" altLang="en-US" sz="2800" dirty="0"/>
            </a:br>
            <a:endParaRPr lang="en-US" altLang="en-US" sz="2800" dirty="0">
              <a:solidFill>
                <a:srgbClr val="FF0000"/>
              </a:solidFill>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665796261"/>
              </p:ext>
            </p:extLst>
          </p:nvPr>
        </p:nvGraphicFramePr>
        <p:xfrm>
          <a:off x="364492" y="1233980"/>
          <a:ext cx="10506073" cy="5059680"/>
        </p:xfrm>
        <a:graphic>
          <a:graphicData uri="http://schemas.openxmlformats.org/drawingml/2006/table">
            <a:tbl>
              <a:tblPr firstRow="1" bandRow="1">
                <a:tableStyleId>{5C22544A-7EE6-4342-B048-85BDC9FD1C3A}</a:tableStyleId>
              </a:tblPr>
              <a:tblGrid>
                <a:gridCol w="1458139">
                  <a:extLst>
                    <a:ext uri="{9D8B030D-6E8A-4147-A177-3AD203B41FA5}">
                      <a16:colId xmlns:a16="http://schemas.microsoft.com/office/drawing/2014/main" val="20000"/>
                    </a:ext>
                  </a:extLst>
                </a:gridCol>
                <a:gridCol w="1557840">
                  <a:extLst>
                    <a:ext uri="{9D8B030D-6E8A-4147-A177-3AD203B41FA5}">
                      <a16:colId xmlns:a16="http://schemas.microsoft.com/office/drawing/2014/main" val="20001"/>
                    </a:ext>
                  </a:extLst>
                </a:gridCol>
                <a:gridCol w="1420750">
                  <a:extLst>
                    <a:ext uri="{9D8B030D-6E8A-4147-A177-3AD203B41FA5}">
                      <a16:colId xmlns:a16="http://schemas.microsoft.com/office/drawing/2014/main" val="20002"/>
                    </a:ext>
                  </a:extLst>
                </a:gridCol>
                <a:gridCol w="1271198">
                  <a:extLst>
                    <a:ext uri="{9D8B030D-6E8A-4147-A177-3AD203B41FA5}">
                      <a16:colId xmlns:a16="http://schemas.microsoft.com/office/drawing/2014/main" val="20003"/>
                    </a:ext>
                  </a:extLst>
                </a:gridCol>
                <a:gridCol w="1433212">
                  <a:extLst>
                    <a:ext uri="{9D8B030D-6E8A-4147-A177-3AD203B41FA5}">
                      <a16:colId xmlns:a16="http://schemas.microsoft.com/office/drawing/2014/main" val="20004"/>
                    </a:ext>
                  </a:extLst>
                </a:gridCol>
                <a:gridCol w="1071794">
                  <a:extLst>
                    <a:ext uri="{9D8B030D-6E8A-4147-A177-3AD203B41FA5}">
                      <a16:colId xmlns:a16="http://schemas.microsoft.com/office/drawing/2014/main" val="20005"/>
                    </a:ext>
                  </a:extLst>
                </a:gridCol>
                <a:gridCol w="897316">
                  <a:extLst>
                    <a:ext uri="{9D8B030D-6E8A-4147-A177-3AD203B41FA5}">
                      <a16:colId xmlns:a16="http://schemas.microsoft.com/office/drawing/2014/main" val="20006"/>
                    </a:ext>
                  </a:extLst>
                </a:gridCol>
                <a:gridCol w="1395824">
                  <a:extLst>
                    <a:ext uri="{9D8B030D-6E8A-4147-A177-3AD203B41FA5}">
                      <a16:colId xmlns:a16="http://schemas.microsoft.com/office/drawing/2014/main" val="20007"/>
                    </a:ext>
                  </a:extLst>
                </a:gridCol>
              </a:tblGrid>
              <a:tr h="983609">
                <a:tc>
                  <a:txBody>
                    <a:bodyPr/>
                    <a:lstStyle/>
                    <a:p>
                      <a:r>
                        <a:rPr lang="en-US" sz="2400" dirty="0">
                          <a:solidFill>
                            <a:srgbClr val="FFFF00"/>
                          </a:solidFill>
                        </a:rPr>
                        <a:t>Process</a:t>
                      </a:r>
                    </a:p>
                  </a:txBody>
                  <a:tcPr>
                    <a:solidFill>
                      <a:srgbClr val="00B050"/>
                    </a:solidFill>
                  </a:tcPr>
                </a:tc>
                <a:tc>
                  <a:txBody>
                    <a:bodyPr/>
                    <a:lstStyle/>
                    <a:p>
                      <a:r>
                        <a:rPr lang="en-US" sz="2400" dirty="0">
                          <a:solidFill>
                            <a:srgbClr val="FFFF00"/>
                          </a:solidFill>
                        </a:rPr>
                        <a:t>Burst Time(BT)</a:t>
                      </a:r>
                    </a:p>
                  </a:txBody>
                  <a:tcPr>
                    <a:solidFill>
                      <a:srgbClr val="00B050"/>
                    </a:solidFill>
                  </a:tcPr>
                </a:tc>
                <a:tc>
                  <a:txBody>
                    <a:bodyPr/>
                    <a:lstStyle/>
                    <a:p>
                      <a:r>
                        <a:rPr lang="en-US" sz="2400" dirty="0">
                          <a:solidFill>
                            <a:srgbClr val="FFFF00"/>
                          </a:solidFill>
                        </a:rPr>
                        <a:t>Priority</a:t>
                      </a:r>
                    </a:p>
                  </a:txBody>
                  <a:tcPr>
                    <a:solidFill>
                      <a:srgbClr val="00B050"/>
                    </a:solidFill>
                  </a:tcPr>
                </a:tc>
                <a:tc>
                  <a:txBody>
                    <a:bodyPr/>
                    <a:lstStyle/>
                    <a:p>
                      <a:r>
                        <a:rPr lang="en-US" sz="2400" dirty="0">
                          <a:solidFill>
                            <a:srgbClr val="FFFF00"/>
                          </a:solidFill>
                        </a:rPr>
                        <a:t>CT</a:t>
                      </a:r>
                    </a:p>
                  </a:txBody>
                  <a:tcPr>
                    <a:solidFill>
                      <a:srgbClr val="00B050"/>
                    </a:solidFill>
                  </a:tcPr>
                </a:tc>
                <a:tc>
                  <a:txBody>
                    <a:bodyPr/>
                    <a:lstStyle/>
                    <a:p>
                      <a:r>
                        <a:rPr lang="en-US" sz="2400" dirty="0">
                          <a:solidFill>
                            <a:srgbClr val="FFFF00"/>
                          </a:solidFill>
                        </a:rPr>
                        <a:t>TAT =</a:t>
                      </a:r>
                    </a:p>
                    <a:p>
                      <a:r>
                        <a:rPr lang="en-US" sz="2400" dirty="0">
                          <a:solidFill>
                            <a:srgbClr val="FFFF00"/>
                          </a:solidFill>
                        </a:rPr>
                        <a:t>CT-AT</a:t>
                      </a:r>
                    </a:p>
                  </a:txBody>
                  <a:tcPr>
                    <a:solidFill>
                      <a:srgbClr val="00B050"/>
                    </a:solidFill>
                  </a:tcPr>
                </a:tc>
                <a:tc>
                  <a:txBody>
                    <a:bodyPr/>
                    <a:lstStyle/>
                    <a:p>
                      <a:r>
                        <a:rPr lang="en-US" sz="2400" dirty="0">
                          <a:solidFill>
                            <a:srgbClr val="FFFF00"/>
                          </a:solidFill>
                        </a:rPr>
                        <a:t>WT</a:t>
                      </a:r>
                    </a:p>
                  </a:txBody>
                  <a:tcPr>
                    <a:solidFill>
                      <a:srgbClr val="00B050"/>
                    </a:solidFill>
                  </a:tcPr>
                </a:tc>
                <a:tc>
                  <a:txBody>
                    <a:bodyPr/>
                    <a:lstStyle/>
                    <a:p>
                      <a:r>
                        <a:rPr lang="en-US" sz="2400" dirty="0">
                          <a:solidFill>
                            <a:srgbClr val="FFFF00"/>
                          </a:solidFill>
                        </a:rPr>
                        <a:t>RT</a:t>
                      </a:r>
                    </a:p>
                  </a:txBody>
                  <a:tcPr>
                    <a:solidFill>
                      <a:srgbClr val="00B050"/>
                    </a:solidFill>
                  </a:tcPr>
                </a:tc>
                <a:tc>
                  <a:txBody>
                    <a:bodyPr/>
                    <a:lstStyle/>
                    <a:p>
                      <a:r>
                        <a:rPr lang="en-US" sz="2400" dirty="0">
                          <a:solidFill>
                            <a:srgbClr val="FFFF00"/>
                          </a:solidFill>
                        </a:rPr>
                        <a:t>Context Switch</a:t>
                      </a:r>
                    </a:p>
                    <a:p>
                      <a:r>
                        <a:rPr lang="en-US" sz="2400" dirty="0">
                          <a:solidFill>
                            <a:srgbClr val="FFFF00"/>
                          </a:solidFill>
                        </a:rPr>
                        <a:t>(1ms)</a:t>
                      </a:r>
                    </a:p>
                  </a:txBody>
                  <a:tcPr>
                    <a:solidFill>
                      <a:srgbClr val="00B050"/>
                    </a:solidFill>
                  </a:tcPr>
                </a:tc>
                <a:extLst>
                  <a:ext uri="{0D108BD9-81ED-4DB2-BD59-A6C34878D82A}">
                    <a16:rowId xmlns:a16="http://schemas.microsoft.com/office/drawing/2014/main" val="10000"/>
                  </a:ext>
                </a:extLst>
              </a:tr>
              <a:tr h="398908">
                <a:tc>
                  <a:txBody>
                    <a:bodyPr/>
                    <a:lstStyle/>
                    <a:p>
                      <a:pPr algn="ctr"/>
                      <a:r>
                        <a:rPr lang="en-US" sz="4000" b="1" dirty="0">
                          <a:solidFill>
                            <a:srgbClr val="FFFF00"/>
                          </a:solidFill>
                        </a:rPr>
                        <a:t>P1</a:t>
                      </a:r>
                    </a:p>
                  </a:txBody>
                  <a:tcPr>
                    <a:solidFill>
                      <a:srgbClr val="00B050"/>
                    </a:solidFill>
                  </a:tcPr>
                </a:tc>
                <a:tc>
                  <a:txBody>
                    <a:bodyPr/>
                    <a:lstStyle/>
                    <a:p>
                      <a:pPr algn="ctr"/>
                      <a:r>
                        <a:rPr lang="en-US" sz="4000" b="1" dirty="0">
                          <a:solidFill>
                            <a:srgbClr val="FFFF00"/>
                          </a:solidFill>
                        </a:rPr>
                        <a:t>4</a:t>
                      </a:r>
                    </a:p>
                  </a:txBody>
                  <a:tcPr>
                    <a:solidFill>
                      <a:srgbClr val="00B050"/>
                    </a:solidFill>
                  </a:tcPr>
                </a:tc>
                <a:tc>
                  <a:txBody>
                    <a:bodyPr/>
                    <a:lstStyle/>
                    <a:p>
                      <a:pPr algn="ctr"/>
                      <a:r>
                        <a:rPr lang="en-US" sz="4000" b="1" dirty="0">
                          <a:solidFill>
                            <a:srgbClr val="FFFF00"/>
                          </a:solidFill>
                        </a:rPr>
                        <a:t>3</a:t>
                      </a:r>
                    </a:p>
                  </a:txBody>
                  <a:tcPr>
                    <a:solidFill>
                      <a:srgbClr val="00B050"/>
                    </a:solidFill>
                  </a:tcPr>
                </a:tc>
                <a:tc>
                  <a:txBody>
                    <a:bodyPr/>
                    <a:lstStyle/>
                    <a:p>
                      <a:endParaRPr lang="en-US" sz="2400" b="1" dirty="0">
                        <a:solidFill>
                          <a:srgbClr val="FFFF00"/>
                        </a:solidFill>
                      </a:endParaRPr>
                    </a:p>
                    <a:p>
                      <a:endParaRPr lang="en-US" sz="2400" b="1" dirty="0">
                        <a:solidFill>
                          <a:srgbClr val="FFFF00"/>
                        </a:solidFill>
                      </a:endParaRPr>
                    </a:p>
                  </a:txBody>
                  <a:tcPr>
                    <a:solidFill>
                      <a:srgbClr val="FFC000"/>
                    </a:solidFill>
                  </a:tcPr>
                </a:tc>
                <a:tc>
                  <a:txBody>
                    <a:bodyPr/>
                    <a:lstStyle/>
                    <a:p>
                      <a:endParaRPr lang="en-US" sz="2400" b="1">
                        <a:solidFill>
                          <a:srgbClr val="FFFF00"/>
                        </a:solidFill>
                      </a:endParaRPr>
                    </a:p>
                  </a:txBody>
                  <a:tcPr>
                    <a:solidFill>
                      <a:srgbClr val="FFC000"/>
                    </a:solidFill>
                  </a:tcPr>
                </a:tc>
                <a:tc>
                  <a:txBody>
                    <a:bodyPr/>
                    <a:lstStyle/>
                    <a:p>
                      <a:endParaRPr lang="en-US" sz="2400" b="1">
                        <a:solidFill>
                          <a:srgbClr val="FFFF00"/>
                        </a:solidFill>
                      </a:endParaRPr>
                    </a:p>
                  </a:txBody>
                  <a:tcPr>
                    <a:solidFill>
                      <a:srgbClr val="FFC000"/>
                    </a:solidFill>
                  </a:tcPr>
                </a:tc>
                <a:tc>
                  <a:txBody>
                    <a:bodyPr/>
                    <a:lstStyle/>
                    <a:p>
                      <a:endParaRPr lang="en-US" sz="2400" b="1">
                        <a:solidFill>
                          <a:srgbClr val="FFFF00"/>
                        </a:solidFill>
                      </a:endParaRPr>
                    </a:p>
                  </a:txBody>
                  <a:tcPr>
                    <a:solidFill>
                      <a:srgbClr val="FFC000"/>
                    </a:solidFill>
                  </a:tcPr>
                </a:tc>
                <a:tc>
                  <a:txBody>
                    <a:bodyPr/>
                    <a:lstStyle/>
                    <a:p>
                      <a:endParaRPr lang="en-US" sz="2400" b="1">
                        <a:solidFill>
                          <a:srgbClr val="FFFF00"/>
                        </a:solidFill>
                      </a:endParaRPr>
                    </a:p>
                  </a:txBody>
                  <a:tcPr>
                    <a:solidFill>
                      <a:srgbClr val="FFC000"/>
                    </a:solidFill>
                  </a:tcPr>
                </a:tc>
                <a:extLst>
                  <a:ext uri="{0D108BD9-81ED-4DB2-BD59-A6C34878D82A}">
                    <a16:rowId xmlns:a16="http://schemas.microsoft.com/office/drawing/2014/main" val="10001"/>
                  </a:ext>
                </a:extLst>
              </a:tr>
              <a:tr h="398908">
                <a:tc>
                  <a:txBody>
                    <a:bodyPr/>
                    <a:lstStyle/>
                    <a:p>
                      <a:pPr algn="ctr"/>
                      <a:r>
                        <a:rPr lang="en-US" sz="4000" b="1" dirty="0">
                          <a:solidFill>
                            <a:srgbClr val="FFFF00"/>
                          </a:solidFill>
                        </a:rPr>
                        <a:t>P2</a:t>
                      </a:r>
                    </a:p>
                  </a:txBody>
                  <a:tcPr>
                    <a:solidFill>
                      <a:srgbClr val="00B050"/>
                    </a:solidFill>
                  </a:tcPr>
                </a:tc>
                <a:tc>
                  <a:txBody>
                    <a:bodyPr/>
                    <a:lstStyle/>
                    <a:p>
                      <a:pPr algn="ctr"/>
                      <a:r>
                        <a:rPr lang="en-US" sz="4000" b="1" dirty="0">
                          <a:solidFill>
                            <a:srgbClr val="FFFF00"/>
                          </a:solidFill>
                        </a:rPr>
                        <a:t>5</a:t>
                      </a:r>
                    </a:p>
                  </a:txBody>
                  <a:tcPr>
                    <a:solidFill>
                      <a:srgbClr val="00B050"/>
                    </a:solidFill>
                  </a:tcPr>
                </a:tc>
                <a:tc>
                  <a:txBody>
                    <a:bodyPr/>
                    <a:lstStyle/>
                    <a:p>
                      <a:pPr algn="ctr"/>
                      <a:r>
                        <a:rPr lang="en-US" sz="4000" b="1" dirty="0">
                          <a:solidFill>
                            <a:srgbClr val="FFFF00"/>
                          </a:solidFill>
                        </a:rPr>
                        <a:t>2</a:t>
                      </a:r>
                    </a:p>
                  </a:txBody>
                  <a:tcPr>
                    <a:solidFill>
                      <a:srgbClr val="00B050"/>
                    </a:solidFill>
                  </a:tcPr>
                </a:tc>
                <a:tc>
                  <a:txBody>
                    <a:bodyPr/>
                    <a:lstStyle/>
                    <a:p>
                      <a:endParaRPr lang="en-US" sz="2400" b="1" dirty="0">
                        <a:solidFill>
                          <a:srgbClr val="FFFF00"/>
                        </a:solidFill>
                      </a:endParaRPr>
                    </a:p>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tc>
                  <a:txBody>
                    <a:bodyPr/>
                    <a:lstStyle/>
                    <a:p>
                      <a:endParaRPr lang="en-US" sz="2400" b="1">
                        <a:solidFill>
                          <a:srgbClr val="FFFF00"/>
                        </a:solidFill>
                      </a:endParaRPr>
                    </a:p>
                  </a:txBody>
                  <a:tcPr>
                    <a:solidFill>
                      <a:srgbClr val="FFC000"/>
                    </a:solidFill>
                  </a:tcPr>
                </a:tc>
                <a:tc>
                  <a:txBody>
                    <a:bodyPr/>
                    <a:lstStyle/>
                    <a:p>
                      <a:endParaRPr lang="en-US" sz="2400" b="1">
                        <a:solidFill>
                          <a:srgbClr val="FFFF00"/>
                        </a:solidFill>
                      </a:endParaRPr>
                    </a:p>
                  </a:txBody>
                  <a:tcPr>
                    <a:solidFill>
                      <a:srgbClr val="FFC000"/>
                    </a:solidFill>
                  </a:tcPr>
                </a:tc>
                <a:extLst>
                  <a:ext uri="{0D108BD9-81ED-4DB2-BD59-A6C34878D82A}">
                    <a16:rowId xmlns:a16="http://schemas.microsoft.com/office/drawing/2014/main" val="10002"/>
                  </a:ext>
                </a:extLst>
              </a:tr>
              <a:tr h="398908">
                <a:tc>
                  <a:txBody>
                    <a:bodyPr/>
                    <a:lstStyle/>
                    <a:p>
                      <a:pPr algn="ctr"/>
                      <a:r>
                        <a:rPr lang="en-US" sz="4000" b="1" dirty="0">
                          <a:solidFill>
                            <a:srgbClr val="FFFF00"/>
                          </a:solidFill>
                        </a:rPr>
                        <a:t>P3</a:t>
                      </a:r>
                    </a:p>
                  </a:txBody>
                  <a:tcPr>
                    <a:solidFill>
                      <a:srgbClr val="00B050"/>
                    </a:solidFill>
                  </a:tcPr>
                </a:tc>
                <a:tc>
                  <a:txBody>
                    <a:bodyPr/>
                    <a:lstStyle/>
                    <a:p>
                      <a:pPr algn="ctr"/>
                      <a:r>
                        <a:rPr lang="en-US" sz="4000" b="1" dirty="0">
                          <a:solidFill>
                            <a:srgbClr val="FFFF00"/>
                          </a:solidFill>
                        </a:rPr>
                        <a:t>8</a:t>
                      </a:r>
                    </a:p>
                  </a:txBody>
                  <a:tcPr>
                    <a:solidFill>
                      <a:srgbClr val="00B050"/>
                    </a:solidFill>
                  </a:tcPr>
                </a:tc>
                <a:tc>
                  <a:txBody>
                    <a:bodyPr/>
                    <a:lstStyle/>
                    <a:p>
                      <a:pPr algn="ctr"/>
                      <a:r>
                        <a:rPr lang="en-US" sz="4000" b="1" dirty="0">
                          <a:solidFill>
                            <a:srgbClr val="FFFF00"/>
                          </a:solidFill>
                        </a:rPr>
                        <a:t>2</a:t>
                      </a:r>
                    </a:p>
                  </a:txBody>
                  <a:tcPr>
                    <a:solidFill>
                      <a:srgbClr val="00B050"/>
                    </a:solidFill>
                  </a:tcPr>
                </a:tc>
                <a:tc>
                  <a:txBody>
                    <a:bodyPr/>
                    <a:lstStyle/>
                    <a:p>
                      <a:endParaRPr lang="en-US" sz="2400" b="1" dirty="0">
                        <a:solidFill>
                          <a:srgbClr val="FFFF00"/>
                        </a:solidFill>
                      </a:endParaRPr>
                    </a:p>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tc>
                  <a:txBody>
                    <a:bodyPr/>
                    <a:lstStyle/>
                    <a:p>
                      <a:endParaRPr lang="en-US" sz="2400" b="1">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extLst>
                  <a:ext uri="{0D108BD9-81ED-4DB2-BD59-A6C34878D82A}">
                    <a16:rowId xmlns:a16="http://schemas.microsoft.com/office/drawing/2014/main" val="10003"/>
                  </a:ext>
                </a:extLst>
              </a:tr>
              <a:tr h="166749">
                <a:tc>
                  <a:txBody>
                    <a:bodyPr/>
                    <a:lstStyle/>
                    <a:p>
                      <a:pPr algn="ctr"/>
                      <a:r>
                        <a:rPr lang="en-US" sz="4000" b="1" dirty="0">
                          <a:solidFill>
                            <a:srgbClr val="FFFF00"/>
                          </a:solidFill>
                        </a:rPr>
                        <a:t>P4</a:t>
                      </a:r>
                    </a:p>
                  </a:txBody>
                  <a:tcPr>
                    <a:solidFill>
                      <a:srgbClr val="00B050"/>
                    </a:solidFill>
                  </a:tcPr>
                </a:tc>
                <a:tc>
                  <a:txBody>
                    <a:bodyPr/>
                    <a:lstStyle/>
                    <a:p>
                      <a:pPr algn="ctr"/>
                      <a:r>
                        <a:rPr lang="en-US" sz="4000" b="1" dirty="0">
                          <a:solidFill>
                            <a:srgbClr val="FFFF00"/>
                          </a:solidFill>
                        </a:rPr>
                        <a:t>7</a:t>
                      </a:r>
                    </a:p>
                  </a:txBody>
                  <a:tcPr>
                    <a:solidFill>
                      <a:srgbClr val="00B050"/>
                    </a:solidFill>
                  </a:tcPr>
                </a:tc>
                <a:tc>
                  <a:txBody>
                    <a:bodyPr/>
                    <a:lstStyle/>
                    <a:p>
                      <a:pPr algn="ctr"/>
                      <a:r>
                        <a:rPr lang="en-US" sz="4000" b="1" dirty="0">
                          <a:solidFill>
                            <a:srgbClr val="FFFF00"/>
                          </a:solidFill>
                        </a:rPr>
                        <a:t>1</a:t>
                      </a:r>
                    </a:p>
                  </a:txBody>
                  <a:tcPr>
                    <a:solidFill>
                      <a:srgbClr val="00B050"/>
                    </a:solidFill>
                  </a:tcPr>
                </a:tc>
                <a:tc>
                  <a:txBody>
                    <a:bodyPr/>
                    <a:lstStyle/>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tc>
                  <a:txBody>
                    <a:bodyPr/>
                    <a:lstStyle/>
                    <a:p>
                      <a:endParaRPr lang="en-US" sz="2400" b="1">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extLst>
                  <a:ext uri="{0D108BD9-81ED-4DB2-BD59-A6C34878D82A}">
                    <a16:rowId xmlns:a16="http://schemas.microsoft.com/office/drawing/2014/main" val="10004"/>
                  </a:ext>
                </a:extLst>
              </a:tr>
              <a:tr h="398908">
                <a:tc>
                  <a:txBody>
                    <a:bodyPr/>
                    <a:lstStyle/>
                    <a:p>
                      <a:pPr algn="ctr"/>
                      <a:r>
                        <a:rPr lang="en-US" sz="4000" b="1" dirty="0">
                          <a:solidFill>
                            <a:srgbClr val="FFFF00"/>
                          </a:solidFill>
                        </a:rPr>
                        <a:t>P5</a:t>
                      </a:r>
                    </a:p>
                  </a:txBody>
                  <a:tcPr>
                    <a:solidFill>
                      <a:srgbClr val="00B050"/>
                    </a:solidFill>
                  </a:tcPr>
                </a:tc>
                <a:tc>
                  <a:txBody>
                    <a:bodyPr/>
                    <a:lstStyle/>
                    <a:p>
                      <a:pPr algn="ctr"/>
                      <a:r>
                        <a:rPr lang="en-US" sz="4000" b="1" dirty="0">
                          <a:solidFill>
                            <a:srgbClr val="FFFF00"/>
                          </a:solidFill>
                        </a:rPr>
                        <a:t>3</a:t>
                      </a:r>
                    </a:p>
                  </a:txBody>
                  <a:tcPr>
                    <a:solidFill>
                      <a:srgbClr val="00B050"/>
                    </a:solidFill>
                  </a:tcPr>
                </a:tc>
                <a:tc>
                  <a:txBody>
                    <a:bodyPr/>
                    <a:lstStyle/>
                    <a:p>
                      <a:pPr algn="ctr"/>
                      <a:r>
                        <a:rPr lang="en-US" sz="4000" b="1" dirty="0">
                          <a:solidFill>
                            <a:srgbClr val="FFFF00"/>
                          </a:solidFill>
                        </a:rPr>
                        <a:t>3</a:t>
                      </a:r>
                    </a:p>
                  </a:txBody>
                  <a:tcPr>
                    <a:solidFill>
                      <a:srgbClr val="00B05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1524000" y="510948"/>
            <a:ext cx="9458326" cy="646331"/>
          </a:xfrm>
          <a:prstGeom prst="rect">
            <a:avLst/>
          </a:prstGeom>
          <a:noFill/>
        </p:spPr>
        <p:txBody>
          <a:bodyPr wrap="square" rtlCol="0">
            <a:spAutoFit/>
          </a:bodyPr>
          <a:lstStyle/>
          <a:p>
            <a:r>
              <a:rPr lang="en-US" b="1" dirty="0">
                <a:solidFill>
                  <a:srgbClr val="FF0000"/>
                </a:solidFill>
              </a:rPr>
              <a:t>If </a:t>
            </a:r>
            <a:r>
              <a:rPr lang="en-US" b="1" dirty="0">
                <a:solidFill>
                  <a:srgbClr val="00B0F0"/>
                </a:solidFill>
              </a:rPr>
              <a:t>same priority for more processes</a:t>
            </a:r>
            <a:r>
              <a:rPr lang="en-US" b="1" dirty="0">
                <a:solidFill>
                  <a:srgbClr val="FF0000"/>
                </a:solidFill>
              </a:rPr>
              <a:t>, use FCFS or Round Robin Scheduling</a:t>
            </a:r>
          </a:p>
        </p:txBody>
      </p:sp>
      <p:sp>
        <p:nvSpPr>
          <p:cNvPr id="6" name="TextBox 5"/>
          <p:cNvSpPr txBox="1"/>
          <p:nvPr/>
        </p:nvSpPr>
        <p:spPr>
          <a:xfrm>
            <a:off x="6100761" y="897430"/>
            <a:ext cx="2614614" cy="369332"/>
          </a:xfrm>
          <a:prstGeom prst="rect">
            <a:avLst/>
          </a:prstGeom>
          <a:noFill/>
        </p:spPr>
        <p:txBody>
          <a:bodyPr wrap="square" rtlCol="0">
            <a:spAutoFit/>
          </a:bodyPr>
          <a:lstStyle/>
          <a:p>
            <a:r>
              <a:rPr lang="en-US" b="1" dirty="0">
                <a:solidFill>
                  <a:srgbClr val="C00000"/>
                </a:solidFill>
              </a:rPr>
              <a:t>1. With FCFS</a:t>
            </a:r>
          </a:p>
        </p:txBody>
      </p:sp>
    </p:spTree>
    <p:extLst>
      <p:ext uri="{BB962C8B-B14F-4D97-AF65-F5344CB8AC3E}">
        <p14:creationId xmlns:p14="http://schemas.microsoft.com/office/powerpoint/2010/main" val="24669478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C1425-DF24-074A-7A42-55A0C5DA7548}"/>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28E0D9EC-4C7B-7744-FB71-6B1FF27B6BE3}"/>
              </a:ext>
            </a:extLst>
          </p:cNvPr>
          <p:cNvSpPr>
            <a:spLocks noGrp="1" noChangeArrowheads="1"/>
          </p:cNvSpPr>
          <p:nvPr>
            <p:ph type="title"/>
          </p:nvPr>
        </p:nvSpPr>
        <p:spPr>
          <a:xfrm>
            <a:off x="1285875" y="665838"/>
            <a:ext cx="9305925" cy="336550"/>
          </a:xfrm>
        </p:spPr>
        <p:txBody>
          <a:bodyPr/>
          <a:lstStyle/>
          <a:p>
            <a:pPr eaLnBrk="1" hangingPunct="1"/>
            <a:r>
              <a:rPr lang="en-US" altLang="en-US" sz="2800" dirty="0"/>
              <a:t>Priority Scheduling –Preemptive</a:t>
            </a:r>
            <a:br>
              <a:rPr lang="en-US" altLang="en-US" sz="2800" dirty="0"/>
            </a:br>
            <a:endParaRPr lang="en-US" altLang="en-US" sz="2800" dirty="0">
              <a:solidFill>
                <a:srgbClr val="FF0000"/>
              </a:solidFill>
            </a:endParaRPr>
          </a:p>
        </p:txBody>
      </p:sp>
      <p:graphicFrame>
        <p:nvGraphicFramePr>
          <p:cNvPr id="7" name="Content Placeholder 6">
            <a:extLst>
              <a:ext uri="{FF2B5EF4-FFF2-40B4-BE49-F238E27FC236}">
                <a16:creationId xmlns:a16="http://schemas.microsoft.com/office/drawing/2014/main" id="{2CCF68B4-D44B-CF6D-CBBD-41CAE73CF13E}"/>
              </a:ext>
            </a:extLst>
          </p:cNvPr>
          <p:cNvGraphicFramePr>
            <a:graphicFrameLocks noGrp="1"/>
          </p:cNvGraphicFramePr>
          <p:nvPr>
            <p:ph idx="1"/>
            <p:extLst>
              <p:ext uri="{D42A27DB-BD31-4B8C-83A1-F6EECF244321}">
                <p14:modId xmlns:p14="http://schemas.microsoft.com/office/powerpoint/2010/main" val="2032516072"/>
              </p:ext>
            </p:extLst>
          </p:nvPr>
        </p:nvGraphicFramePr>
        <p:xfrm>
          <a:off x="364492" y="1233980"/>
          <a:ext cx="11382030" cy="5059680"/>
        </p:xfrm>
        <a:graphic>
          <a:graphicData uri="http://schemas.openxmlformats.org/drawingml/2006/table">
            <a:tbl>
              <a:tblPr firstRow="1" bandRow="1">
                <a:tableStyleId>{5C22544A-7EE6-4342-B048-85BDC9FD1C3A}</a:tableStyleId>
              </a:tblPr>
              <a:tblGrid>
                <a:gridCol w="1391534">
                  <a:extLst>
                    <a:ext uri="{9D8B030D-6E8A-4147-A177-3AD203B41FA5}">
                      <a16:colId xmlns:a16="http://schemas.microsoft.com/office/drawing/2014/main" val="20000"/>
                    </a:ext>
                  </a:extLst>
                </a:gridCol>
                <a:gridCol w="1549882">
                  <a:extLst>
                    <a:ext uri="{9D8B030D-6E8A-4147-A177-3AD203B41FA5}">
                      <a16:colId xmlns:a16="http://schemas.microsoft.com/office/drawing/2014/main" val="20001"/>
                    </a:ext>
                  </a:extLst>
                </a:gridCol>
                <a:gridCol w="1292653">
                  <a:extLst>
                    <a:ext uri="{9D8B030D-6E8A-4147-A177-3AD203B41FA5}">
                      <a16:colId xmlns:a16="http://schemas.microsoft.com/office/drawing/2014/main" val="20002"/>
                    </a:ext>
                  </a:extLst>
                </a:gridCol>
                <a:gridCol w="1355853">
                  <a:extLst>
                    <a:ext uri="{9D8B030D-6E8A-4147-A177-3AD203B41FA5}">
                      <a16:colId xmlns:a16="http://schemas.microsoft.com/office/drawing/2014/main" val="4283725974"/>
                    </a:ext>
                  </a:extLst>
                </a:gridCol>
                <a:gridCol w="1213132">
                  <a:extLst>
                    <a:ext uri="{9D8B030D-6E8A-4147-A177-3AD203B41FA5}">
                      <a16:colId xmlns:a16="http://schemas.microsoft.com/office/drawing/2014/main" val="20003"/>
                    </a:ext>
                  </a:extLst>
                </a:gridCol>
                <a:gridCol w="1367746">
                  <a:extLst>
                    <a:ext uri="{9D8B030D-6E8A-4147-A177-3AD203B41FA5}">
                      <a16:colId xmlns:a16="http://schemas.microsoft.com/office/drawing/2014/main" val="20004"/>
                    </a:ext>
                  </a:extLst>
                </a:gridCol>
                <a:gridCol w="1022836">
                  <a:extLst>
                    <a:ext uri="{9D8B030D-6E8A-4147-A177-3AD203B41FA5}">
                      <a16:colId xmlns:a16="http://schemas.microsoft.com/office/drawing/2014/main" val="20005"/>
                    </a:ext>
                  </a:extLst>
                </a:gridCol>
                <a:gridCol w="856329">
                  <a:extLst>
                    <a:ext uri="{9D8B030D-6E8A-4147-A177-3AD203B41FA5}">
                      <a16:colId xmlns:a16="http://schemas.microsoft.com/office/drawing/2014/main" val="20006"/>
                    </a:ext>
                  </a:extLst>
                </a:gridCol>
                <a:gridCol w="1332065">
                  <a:extLst>
                    <a:ext uri="{9D8B030D-6E8A-4147-A177-3AD203B41FA5}">
                      <a16:colId xmlns:a16="http://schemas.microsoft.com/office/drawing/2014/main" val="20007"/>
                    </a:ext>
                  </a:extLst>
                </a:gridCol>
              </a:tblGrid>
              <a:tr h="983609">
                <a:tc>
                  <a:txBody>
                    <a:bodyPr/>
                    <a:lstStyle/>
                    <a:p>
                      <a:r>
                        <a:rPr lang="en-US" sz="2400" dirty="0">
                          <a:solidFill>
                            <a:srgbClr val="FFFF00"/>
                          </a:solidFill>
                        </a:rPr>
                        <a:t>Process</a:t>
                      </a:r>
                    </a:p>
                  </a:txBody>
                  <a:tcPr>
                    <a:solidFill>
                      <a:srgbClr val="00B050"/>
                    </a:solidFill>
                  </a:tcPr>
                </a:tc>
                <a:tc>
                  <a:txBody>
                    <a:bodyPr/>
                    <a:lstStyle/>
                    <a:p>
                      <a:r>
                        <a:rPr lang="en-US" sz="2400" dirty="0">
                          <a:solidFill>
                            <a:srgbClr val="FFFF00"/>
                          </a:solidFill>
                        </a:rPr>
                        <a:t>Burst Time(BT)</a:t>
                      </a:r>
                    </a:p>
                  </a:txBody>
                  <a:tcPr>
                    <a:solidFill>
                      <a:srgbClr val="00B050"/>
                    </a:solidFill>
                  </a:tcPr>
                </a:tc>
                <a:tc>
                  <a:txBody>
                    <a:bodyPr/>
                    <a:lstStyle/>
                    <a:p>
                      <a:r>
                        <a:rPr lang="en-US" sz="2400" dirty="0">
                          <a:solidFill>
                            <a:srgbClr val="FFFF00"/>
                          </a:solidFill>
                        </a:rPr>
                        <a:t>Priority</a:t>
                      </a:r>
                    </a:p>
                  </a:txBody>
                  <a:tcPr>
                    <a:solidFill>
                      <a:srgbClr val="00B050"/>
                    </a:solidFill>
                  </a:tcPr>
                </a:tc>
                <a:tc>
                  <a:txBody>
                    <a:bodyPr/>
                    <a:lstStyle/>
                    <a:p>
                      <a:r>
                        <a:rPr lang="en-US" sz="2400" dirty="0">
                          <a:solidFill>
                            <a:srgbClr val="FFFF00"/>
                          </a:solidFill>
                        </a:rPr>
                        <a:t>AT</a:t>
                      </a:r>
                    </a:p>
                  </a:txBody>
                  <a:tcPr>
                    <a:solidFill>
                      <a:srgbClr val="00B050"/>
                    </a:solidFill>
                  </a:tcPr>
                </a:tc>
                <a:tc>
                  <a:txBody>
                    <a:bodyPr/>
                    <a:lstStyle/>
                    <a:p>
                      <a:r>
                        <a:rPr lang="en-US" sz="2400" dirty="0">
                          <a:solidFill>
                            <a:srgbClr val="FFFF00"/>
                          </a:solidFill>
                        </a:rPr>
                        <a:t>CT</a:t>
                      </a:r>
                    </a:p>
                  </a:txBody>
                  <a:tcPr>
                    <a:solidFill>
                      <a:srgbClr val="00B050"/>
                    </a:solidFill>
                  </a:tcPr>
                </a:tc>
                <a:tc>
                  <a:txBody>
                    <a:bodyPr/>
                    <a:lstStyle/>
                    <a:p>
                      <a:r>
                        <a:rPr lang="en-US" sz="2400" dirty="0">
                          <a:solidFill>
                            <a:srgbClr val="FFFF00"/>
                          </a:solidFill>
                        </a:rPr>
                        <a:t>TAT =</a:t>
                      </a:r>
                    </a:p>
                    <a:p>
                      <a:r>
                        <a:rPr lang="en-US" sz="2400" dirty="0">
                          <a:solidFill>
                            <a:srgbClr val="FFFF00"/>
                          </a:solidFill>
                        </a:rPr>
                        <a:t>CT-AT</a:t>
                      </a:r>
                    </a:p>
                  </a:txBody>
                  <a:tcPr>
                    <a:solidFill>
                      <a:srgbClr val="00B050"/>
                    </a:solidFill>
                  </a:tcPr>
                </a:tc>
                <a:tc>
                  <a:txBody>
                    <a:bodyPr/>
                    <a:lstStyle/>
                    <a:p>
                      <a:r>
                        <a:rPr lang="en-US" sz="2400" dirty="0">
                          <a:solidFill>
                            <a:srgbClr val="FFFF00"/>
                          </a:solidFill>
                        </a:rPr>
                        <a:t>WT</a:t>
                      </a:r>
                    </a:p>
                  </a:txBody>
                  <a:tcPr>
                    <a:solidFill>
                      <a:srgbClr val="00B050"/>
                    </a:solidFill>
                  </a:tcPr>
                </a:tc>
                <a:tc>
                  <a:txBody>
                    <a:bodyPr/>
                    <a:lstStyle/>
                    <a:p>
                      <a:r>
                        <a:rPr lang="en-US" sz="2400" dirty="0">
                          <a:solidFill>
                            <a:srgbClr val="FFFF00"/>
                          </a:solidFill>
                        </a:rPr>
                        <a:t>RT</a:t>
                      </a:r>
                    </a:p>
                  </a:txBody>
                  <a:tcPr>
                    <a:solidFill>
                      <a:srgbClr val="00B050"/>
                    </a:solidFill>
                  </a:tcPr>
                </a:tc>
                <a:tc>
                  <a:txBody>
                    <a:bodyPr/>
                    <a:lstStyle/>
                    <a:p>
                      <a:r>
                        <a:rPr lang="en-US" sz="2400" dirty="0">
                          <a:solidFill>
                            <a:srgbClr val="FFFF00"/>
                          </a:solidFill>
                        </a:rPr>
                        <a:t>Context Switch</a:t>
                      </a:r>
                    </a:p>
                    <a:p>
                      <a:r>
                        <a:rPr lang="en-US" sz="2400" dirty="0">
                          <a:solidFill>
                            <a:srgbClr val="FFFF00"/>
                          </a:solidFill>
                        </a:rPr>
                        <a:t>(1ms)</a:t>
                      </a:r>
                    </a:p>
                  </a:txBody>
                  <a:tcPr>
                    <a:solidFill>
                      <a:srgbClr val="00B050"/>
                    </a:solidFill>
                  </a:tcPr>
                </a:tc>
                <a:extLst>
                  <a:ext uri="{0D108BD9-81ED-4DB2-BD59-A6C34878D82A}">
                    <a16:rowId xmlns:a16="http://schemas.microsoft.com/office/drawing/2014/main" val="10000"/>
                  </a:ext>
                </a:extLst>
              </a:tr>
              <a:tr h="398908">
                <a:tc>
                  <a:txBody>
                    <a:bodyPr/>
                    <a:lstStyle/>
                    <a:p>
                      <a:pPr algn="ctr"/>
                      <a:r>
                        <a:rPr lang="en-US" sz="4000" b="1" dirty="0">
                          <a:solidFill>
                            <a:srgbClr val="FFFF00"/>
                          </a:solidFill>
                        </a:rPr>
                        <a:t>P1</a:t>
                      </a:r>
                    </a:p>
                  </a:txBody>
                  <a:tcPr>
                    <a:solidFill>
                      <a:srgbClr val="00B050"/>
                    </a:solidFill>
                  </a:tcPr>
                </a:tc>
                <a:tc>
                  <a:txBody>
                    <a:bodyPr/>
                    <a:lstStyle/>
                    <a:p>
                      <a:pPr algn="ctr"/>
                      <a:r>
                        <a:rPr lang="en-US" sz="4000" b="1" dirty="0">
                          <a:solidFill>
                            <a:srgbClr val="FFFF00"/>
                          </a:solidFill>
                        </a:rPr>
                        <a:t>4</a:t>
                      </a:r>
                    </a:p>
                  </a:txBody>
                  <a:tcPr>
                    <a:solidFill>
                      <a:srgbClr val="00B050"/>
                    </a:solidFill>
                  </a:tcPr>
                </a:tc>
                <a:tc>
                  <a:txBody>
                    <a:bodyPr/>
                    <a:lstStyle/>
                    <a:p>
                      <a:pPr algn="ctr"/>
                      <a:r>
                        <a:rPr lang="en-US" sz="4000" b="1" dirty="0">
                          <a:solidFill>
                            <a:srgbClr val="FFFF00"/>
                          </a:solidFill>
                        </a:rPr>
                        <a:t>3</a:t>
                      </a:r>
                    </a:p>
                  </a:txBody>
                  <a:tcPr>
                    <a:solidFill>
                      <a:srgbClr val="00B050"/>
                    </a:solidFill>
                  </a:tcPr>
                </a:tc>
                <a:tc>
                  <a:txBody>
                    <a:bodyPr/>
                    <a:lstStyle/>
                    <a:p>
                      <a:pPr algn="ctr"/>
                      <a:r>
                        <a:rPr lang="en-US" sz="4000" b="1" dirty="0">
                          <a:solidFill>
                            <a:srgbClr val="FFFF00"/>
                          </a:solidFill>
                        </a:rPr>
                        <a:t>1</a:t>
                      </a:r>
                    </a:p>
                  </a:txBody>
                  <a:tcPr>
                    <a:solidFill>
                      <a:srgbClr val="00B050"/>
                    </a:solidFill>
                  </a:tcPr>
                </a:tc>
                <a:tc>
                  <a:txBody>
                    <a:bodyPr/>
                    <a:lstStyle/>
                    <a:p>
                      <a:endParaRPr lang="en-US" sz="2400" b="1" dirty="0">
                        <a:solidFill>
                          <a:srgbClr val="FFFF00"/>
                        </a:solidFill>
                      </a:endParaRPr>
                    </a:p>
                    <a:p>
                      <a:endParaRPr lang="en-US" sz="2400" b="1" dirty="0">
                        <a:solidFill>
                          <a:srgbClr val="FFFF00"/>
                        </a:solidFill>
                      </a:endParaRPr>
                    </a:p>
                  </a:txBody>
                  <a:tcPr>
                    <a:solidFill>
                      <a:srgbClr val="FFC000"/>
                    </a:solidFill>
                  </a:tcPr>
                </a:tc>
                <a:tc>
                  <a:txBody>
                    <a:bodyPr/>
                    <a:lstStyle/>
                    <a:p>
                      <a:endParaRPr lang="en-US" sz="2400" b="1">
                        <a:solidFill>
                          <a:srgbClr val="FFFF00"/>
                        </a:solidFill>
                      </a:endParaRPr>
                    </a:p>
                  </a:txBody>
                  <a:tcPr>
                    <a:solidFill>
                      <a:srgbClr val="FFC000"/>
                    </a:solidFill>
                  </a:tcPr>
                </a:tc>
                <a:tc>
                  <a:txBody>
                    <a:bodyPr/>
                    <a:lstStyle/>
                    <a:p>
                      <a:endParaRPr lang="en-US" sz="2400" b="1">
                        <a:solidFill>
                          <a:srgbClr val="FFFF00"/>
                        </a:solidFill>
                      </a:endParaRPr>
                    </a:p>
                  </a:txBody>
                  <a:tcPr>
                    <a:solidFill>
                      <a:srgbClr val="FFC000"/>
                    </a:solidFill>
                  </a:tcPr>
                </a:tc>
                <a:tc>
                  <a:txBody>
                    <a:bodyPr/>
                    <a:lstStyle/>
                    <a:p>
                      <a:endParaRPr lang="en-US" sz="2400" b="1">
                        <a:solidFill>
                          <a:srgbClr val="FFFF00"/>
                        </a:solidFill>
                      </a:endParaRPr>
                    </a:p>
                  </a:txBody>
                  <a:tcPr>
                    <a:solidFill>
                      <a:srgbClr val="FFC000"/>
                    </a:solidFill>
                  </a:tcPr>
                </a:tc>
                <a:tc>
                  <a:txBody>
                    <a:bodyPr/>
                    <a:lstStyle/>
                    <a:p>
                      <a:endParaRPr lang="en-US" sz="2400" b="1">
                        <a:solidFill>
                          <a:srgbClr val="FFFF00"/>
                        </a:solidFill>
                      </a:endParaRPr>
                    </a:p>
                  </a:txBody>
                  <a:tcPr>
                    <a:solidFill>
                      <a:srgbClr val="FFC000"/>
                    </a:solidFill>
                  </a:tcPr>
                </a:tc>
                <a:extLst>
                  <a:ext uri="{0D108BD9-81ED-4DB2-BD59-A6C34878D82A}">
                    <a16:rowId xmlns:a16="http://schemas.microsoft.com/office/drawing/2014/main" val="10001"/>
                  </a:ext>
                </a:extLst>
              </a:tr>
              <a:tr h="398908">
                <a:tc>
                  <a:txBody>
                    <a:bodyPr/>
                    <a:lstStyle/>
                    <a:p>
                      <a:pPr algn="ctr"/>
                      <a:r>
                        <a:rPr lang="en-US" sz="4000" b="1" dirty="0">
                          <a:solidFill>
                            <a:srgbClr val="FFFF00"/>
                          </a:solidFill>
                        </a:rPr>
                        <a:t>P2</a:t>
                      </a:r>
                    </a:p>
                  </a:txBody>
                  <a:tcPr>
                    <a:solidFill>
                      <a:srgbClr val="00B050"/>
                    </a:solidFill>
                  </a:tcPr>
                </a:tc>
                <a:tc>
                  <a:txBody>
                    <a:bodyPr/>
                    <a:lstStyle/>
                    <a:p>
                      <a:pPr algn="ctr"/>
                      <a:r>
                        <a:rPr lang="en-US" sz="4000" b="1" dirty="0">
                          <a:solidFill>
                            <a:srgbClr val="FFFF00"/>
                          </a:solidFill>
                        </a:rPr>
                        <a:t>5</a:t>
                      </a:r>
                    </a:p>
                  </a:txBody>
                  <a:tcPr>
                    <a:solidFill>
                      <a:srgbClr val="00B050"/>
                    </a:solidFill>
                  </a:tcPr>
                </a:tc>
                <a:tc>
                  <a:txBody>
                    <a:bodyPr/>
                    <a:lstStyle/>
                    <a:p>
                      <a:pPr algn="ctr"/>
                      <a:r>
                        <a:rPr lang="en-US" sz="4000" b="1" dirty="0">
                          <a:solidFill>
                            <a:srgbClr val="FFFF00"/>
                          </a:solidFill>
                        </a:rPr>
                        <a:t>2</a:t>
                      </a:r>
                    </a:p>
                  </a:txBody>
                  <a:tcPr>
                    <a:solidFill>
                      <a:srgbClr val="00B050"/>
                    </a:solidFill>
                  </a:tcPr>
                </a:tc>
                <a:tc>
                  <a:txBody>
                    <a:bodyPr/>
                    <a:lstStyle/>
                    <a:p>
                      <a:pPr algn="ctr"/>
                      <a:r>
                        <a:rPr lang="en-US" sz="4000" b="1" dirty="0">
                          <a:solidFill>
                            <a:srgbClr val="FFFF00"/>
                          </a:solidFill>
                        </a:rPr>
                        <a:t>2</a:t>
                      </a:r>
                    </a:p>
                  </a:txBody>
                  <a:tcPr>
                    <a:solidFill>
                      <a:srgbClr val="00B050"/>
                    </a:solidFill>
                  </a:tcPr>
                </a:tc>
                <a:tc>
                  <a:txBody>
                    <a:bodyPr/>
                    <a:lstStyle/>
                    <a:p>
                      <a:endParaRPr lang="en-US" sz="2400" b="1" dirty="0">
                        <a:solidFill>
                          <a:srgbClr val="FFFF00"/>
                        </a:solidFill>
                      </a:endParaRPr>
                    </a:p>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tc>
                  <a:txBody>
                    <a:bodyPr/>
                    <a:lstStyle/>
                    <a:p>
                      <a:endParaRPr lang="en-US" sz="2400" b="1">
                        <a:solidFill>
                          <a:srgbClr val="FFFF00"/>
                        </a:solidFill>
                      </a:endParaRPr>
                    </a:p>
                  </a:txBody>
                  <a:tcPr>
                    <a:solidFill>
                      <a:srgbClr val="FFC000"/>
                    </a:solidFill>
                  </a:tcPr>
                </a:tc>
                <a:tc>
                  <a:txBody>
                    <a:bodyPr/>
                    <a:lstStyle/>
                    <a:p>
                      <a:endParaRPr lang="en-US" sz="2400" b="1">
                        <a:solidFill>
                          <a:srgbClr val="FFFF00"/>
                        </a:solidFill>
                      </a:endParaRPr>
                    </a:p>
                  </a:txBody>
                  <a:tcPr>
                    <a:solidFill>
                      <a:srgbClr val="FFC000"/>
                    </a:solidFill>
                  </a:tcPr>
                </a:tc>
                <a:extLst>
                  <a:ext uri="{0D108BD9-81ED-4DB2-BD59-A6C34878D82A}">
                    <a16:rowId xmlns:a16="http://schemas.microsoft.com/office/drawing/2014/main" val="10002"/>
                  </a:ext>
                </a:extLst>
              </a:tr>
              <a:tr h="398908">
                <a:tc>
                  <a:txBody>
                    <a:bodyPr/>
                    <a:lstStyle/>
                    <a:p>
                      <a:pPr algn="ctr"/>
                      <a:r>
                        <a:rPr lang="en-US" sz="4000" b="1" dirty="0">
                          <a:solidFill>
                            <a:srgbClr val="FFFF00"/>
                          </a:solidFill>
                        </a:rPr>
                        <a:t>P3</a:t>
                      </a:r>
                    </a:p>
                  </a:txBody>
                  <a:tcPr>
                    <a:solidFill>
                      <a:srgbClr val="00B050"/>
                    </a:solidFill>
                  </a:tcPr>
                </a:tc>
                <a:tc>
                  <a:txBody>
                    <a:bodyPr/>
                    <a:lstStyle/>
                    <a:p>
                      <a:pPr algn="ctr"/>
                      <a:r>
                        <a:rPr lang="en-US" sz="4000" b="1" dirty="0">
                          <a:solidFill>
                            <a:srgbClr val="FFFF00"/>
                          </a:solidFill>
                        </a:rPr>
                        <a:t>8</a:t>
                      </a:r>
                    </a:p>
                  </a:txBody>
                  <a:tcPr>
                    <a:solidFill>
                      <a:srgbClr val="00B050"/>
                    </a:solidFill>
                  </a:tcPr>
                </a:tc>
                <a:tc>
                  <a:txBody>
                    <a:bodyPr/>
                    <a:lstStyle/>
                    <a:p>
                      <a:pPr algn="ctr"/>
                      <a:r>
                        <a:rPr lang="en-US" sz="4000" b="1" dirty="0">
                          <a:solidFill>
                            <a:srgbClr val="FFFF00"/>
                          </a:solidFill>
                        </a:rPr>
                        <a:t>2</a:t>
                      </a:r>
                    </a:p>
                  </a:txBody>
                  <a:tcPr>
                    <a:solidFill>
                      <a:srgbClr val="00B050"/>
                    </a:solidFill>
                  </a:tcPr>
                </a:tc>
                <a:tc>
                  <a:txBody>
                    <a:bodyPr/>
                    <a:lstStyle/>
                    <a:p>
                      <a:pPr algn="ctr"/>
                      <a:r>
                        <a:rPr lang="en-US" sz="4000" b="1" dirty="0">
                          <a:solidFill>
                            <a:srgbClr val="FFFF00"/>
                          </a:solidFill>
                        </a:rPr>
                        <a:t>3</a:t>
                      </a:r>
                    </a:p>
                  </a:txBody>
                  <a:tcPr>
                    <a:solidFill>
                      <a:srgbClr val="00B050"/>
                    </a:solidFill>
                  </a:tcPr>
                </a:tc>
                <a:tc>
                  <a:txBody>
                    <a:bodyPr/>
                    <a:lstStyle/>
                    <a:p>
                      <a:endParaRPr lang="en-US" sz="2400" b="1" dirty="0">
                        <a:solidFill>
                          <a:srgbClr val="FFFF00"/>
                        </a:solidFill>
                      </a:endParaRPr>
                    </a:p>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tc>
                  <a:txBody>
                    <a:bodyPr/>
                    <a:lstStyle/>
                    <a:p>
                      <a:endParaRPr lang="en-US" sz="2400" b="1">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extLst>
                  <a:ext uri="{0D108BD9-81ED-4DB2-BD59-A6C34878D82A}">
                    <a16:rowId xmlns:a16="http://schemas.microsoft.com/office/drawing/2014/main" val="10003"/>
                  </a:ext>
                </a:extLst>
              </a:tr>
              <a:tr h="166749">
                <a:tc>
                  <a:txBody>
                    <a:bodyPr/>
                    <a:lstStyle/>
                    <a:p>
                      <a:pPr algn="ctr"/>
                      <a:r>
                        <a:rPr lang="en-US" sz="4000" b="1" dirty="0">
                          <a:solidFill>
                            <a:srgbClr val="FFFF00"/>
                          </a:solidFill>
                        </a:rPr>
                        <a:t>P4</a:t>
                      </a:r>
                    </a:p>
                  </a:txBody>
                  <a:tcPr>
                    <a:solidFill>
                      <a:srgbClr val="00B050"/>
                    </a:solidFill>
                  </a:tcPr>
                </a:tc>
                <a:tc>
                  <a:txBody>
                    <a:bodyPr/>
                    <a:lstStyle/>
                    <a:p>
                      <a:pPr algn="ctr"/>
                      <a:r>
                        <a:rPr lang="en-US" sz="4000" b="1" dirty="0">
                          <a:solidFill>
                            <a:srgbClr val="FFFF00"/>
                          </a:solidFill>
                        </a:rPr>
                        <a:t>7</a:t>
                      </a:r>
                    </a:p>
                  </a:txBody>
                  <a:tcPr>
                    <a:solidFill>
                      <a:srgbClr val="00B050"/>
                    </a:solidFill>
                  </a:tcPr>
                </a:tc>
                <a:tc>
                  <a:txBody>
                    <a:bodyPr/>
                    <a:lstStyle/>
                    <a:p>
                      <a:pPr algn="ctr"/>
                      <a:r>
                        <a:rPr lang="en-US" sz="4000" b="1" dirty="0">
                          <a:solidFill>
                            <a:srgbClr val="FFFF00"/>
                          </a:solidFill>
                        </a:rPr>
                        <a:t>1</a:t>
                      </a:r>
                    </a:p>
                  </a:txBody>
                  <a:tcPr>
                    <a:solidFill>
                      <a:srgbClr val="00B050"/>
                    </a:solidFill>
                  </a:tcPr>
                </a:tc>
                <a:tc>
                  <a:txBody>
                    <a:bodyPr/>
                    <a:lstStyle/>
                    <a:p>
                      <a:pPr algn="ctr"/>
                      <a:r>
                        <a:rPr lang="en-US" sz="4000" b="1" dirty="0">
                          <a:solidFill>
                            <a:srgbClr val="FFFF00"/>
                          </a:solidFill>
                        </a:rPr>
                        <a:t>4</a:t>
                      </a:r>
                    </a:p>
                  </a:txBody>
                  <a:tcPr>
                    <a:solidFill>
                      <a:srgbClr val="00B050"/>
                    </a:solidFill>
                  </a:tcPr>
                </a:tc>
                <a:tc>
                  <a:txBody>
                    <a:bodyPr/>
                    <a:lstStyle/>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tc>
                  <a:txBody>
                    <a:bodyPr/>
                    <a:lstStyle/>
                    <a:p>
                      <a:endParaRPr lang="en-US" sz="2400" b="1">
                        <a:solidFill>
                          <a:srgbClr val="FFFF00"/>
                        </a:solidFill>
                      </a:endParaRPr>
                    </a:p>
                  </a:txBody>
                  <a:tcPr>
                    <a:solidFill>
                      <a:srgbClr val="FFC000"/>
                    </a:solidFill>
                  </a:tcPr>
                </a:tc>
                <a:tc>
                  <a:txBody>
                    <a:bodyPr/>
                    <a:lstStyle/>
                    <a:p>
                      <a:endParaRPr lang="en-US" sz="2400" b="1" dirty="0">
                        <a:solidFill>
                          <a:srgbClr val="FFFF00"/>
                        </a:solidFill>
                      </a:endParaRPr>
                    </a:p>
                  </a:txBody>
                  <a:tcPr>
                    <a:solidFill>
                      <a:srgbClr val="FFC000"/>
                    </a:solidFill>
                  </a:tcPr>
                </a:tc>
                <a:extLst>
                  <a:ext uri="{0D108BD9-81ED-4DB2-BD59-A6C34878D82A}">
                    <a16:rowId xmlns:a16="http://schemas.microsoft.com/office/drawing/2014/main" val="10004"/>
                  </a:ext>
                </a:extLst>
              </a:tr>
              <a:tr h="398908">
                <a:tc>
                  <a:txBody>
                    <a:bodyPr/>
                    <a:lstStyle/>
                    <a:p>
                      <a:pPr algn="ctr"/>
                      <a:r>
                        <a:rPr lang="en-US" sz="4000" b="1" dirty="0">
                          <a:solidFill>
                            <a:srgbClr val="FFFF00"/>
                          </a:solidFill>
                        </a:rPr>
                        <a:t>P5</a:t>
                      </a:r>
                    </a:p>
                  </a:txBody>
                  <a:tcPr>
                    <a:solidFill>
                      <a:srgbClr val="00B050"/>
                    </a:solidFill>
                  </a:tcPr>
                </a:tc>
                <a:tc>
                  <a:txBody>
                    <a:bodyPr/>
                    <a:lstStyle/>
                    <a:p>
                      <a:pPr algn="ctr"/>
                      <a:r>
                        <a:rPr lang="en-US" sz="4000" b="1" dirty="0">
                          <a:solidFill>
                            <a:srgbClr val="FFFF00"/>
                          </a:solidFill>
                        </a:rPr>
                        <a:t>3</a:t>
                      </a:r>
                    </a:p>
                  </a:txBody>
                  <a:tcPr>
                    <a:solidFill>
                      <a:srgbClr val="00B050"/>
                    </a:solidFill>
                  </a:tcPr>
                </a:tc>
                <a:tc>
                  <a:txBody>
                    <a:bodyPr/>
                    <a:lstStyle/>
                    <a:p>
                      <a:pPr algn="ctr"/>
                      <a:r>
                        <a:rPr lang="en-US" sz="4000" b="1" dirty="0">
                          <a:solidFill>
                            <a:srgbClr val="FFFF00"/>
                          </a:solidFill>
                        </a:rPr>
                        <a:t>3</a:t>
                      </a:r>
                    </a:p>
                  </a:txBody>
                  <a:tcPr>
                    <a:solidFill>
                      <a:srgbClr val="00B050"/>
                    </a:solidFill>
                  </a:tcPr>
                </a:tc>
                <a:tc>
                  <a:txBody>
                    <a:bodyPr/>
                    <a:lstStyle/>
                    <a:p>
                      <a:pPr algn="ctr"/>
                      <a:r>
                        <a:rPr lang="en-US" sz="4000" b="1" dirty="0">
                          <a:solidFill>
                            <a:srgbClr val="FFFF00"/>
                          </a:solidFill>
                        </a:rPr>
                        <a:t>5</a:t>
                      </a:r>
                    </a:p>
                  </a:txBody>
                  <a:tcPr>
                    <a:solidFill>
                      <a:srgbClr val="00B05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2265B996-48B1-39D0-E72B-DA783E06D7BB}"/>
              </a:ext>
            </a:extLst>
          </p:cNvPr>
          <p:cNvSpPr txBox="1"/>
          <p:nvPr/>
        </p:nvSpPr>
        <p:spPr>
          <a:xfrm>
            <a:off x="1524000" y="510948"/>
            <a:ext cx="9458326" cy="646331"/>
          </a:xfrm>
          <a:prstGeom prst="rect">
            <a:avLst/>
          </a:prstGeom>
          <a:noFill/>
        </p:spPr>
        <p:txBody>
          <a:bodyPr wrap="square" rtlCol="0">
            <a:spAutoFit/>
          </a:bodyPr>
          <a:lstStyle/>
          <a:p>
            <a:r>
              <a:rPr lang="en-US" b="1" dirty="0">
                <a:solidFill>
                  <a:srgbClr val="FF0000"/>
                </a:solidFill>
              </a:rPr>
              <a:t>If </a:t>
            </a:r>
            <a:r>
              <a:rPr lang="en-US" b="1" dirty="0">
                <a:solidFill>
                  <a:srgbClr val="00B0F0"/>
                </a:solidFill>
              </a:rPr>
              <a:t>same priority for more processes</a:t>
            </a:r>
            <a:r>
              <a:rPr lang="en-US" b="1" dirty="0">
                <a:solidFill>
                  <a:srgbClr val="FF0000"/>
                </a:solidFill>
              </a:rPr>
              <a:t>, use FCFS or Round Robin Scheduling</a:t>
            </a:r>
          </a:p>
        </p:txBody>
      </p:sp>
      <p:sp>
        <p:nvSpPr>
          <p:cNvPr id="6" name="TextBox 5">
            <a:extLst>
              <a:ext uri="{FF2B5EF4-FFF2-40B4-BE49-F238E27FC236}">
                <a16:creationId xmlns:a16="http://schemas.microsoft.com/office/drawing/2014/main" id="{250493B3-2E5A-7D24-4E8C-D6C48C692666}"/>
              </a:ext>
            </a:extLst>
          </p:cNvPr>
          <p:cNvSpPr txBox="1"/>
          <p:nvPr/>
        </p:nvSpPr>
        <p:spPr>
          <a:xfrm>
            <a:off x="6100761" y="897430"/>
            <a:ext cx="2614614" cy="369332"/>
          </a:xfrm>
          <a:prstGeom prst="rect">
            <a:avLst/>
          </a:prstGeom>
          <a:noFill/>
        </p:spPr>
        <p:txBody>
          <a:bodyPr wrap="square" rtlCol="0">
            <a:spAutoFit/>
          </a:bodyPr>
          <a:lstStyle/>
          <a:p>
            <a:r>
              <a:rPr lang="en-US" b="1" dirty="0">
                <a:solidFill>
                  <a:srgbClr val="C00000"/>
                </a:solidFill>
              </a:rPr>
              <a:t>1. With FCFS</a:t>
            </a:r>
          </a:p>
        </p:txBody>
      </p:sp>
    </p:spTree>
    <p:extLst>
      <p:ext uri="{BB962C8B-B14F-4D97-AF65-F5344CB8AC3E}">
        <p14:creationId xmlns:p14="http://schemas.microsoft.com/office/powerpoint/2010/main" val="1316332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285875" y="665838"/>
            <a:ext cx="9305925" cy="336550"/>
          </a:xfrm>
        </p:spPr>
        <p:txBody>
          <a:bodyPr/>
          <a:lstStyle/>
          <a:p>
            <a:pPr eaLnBrk="1" hangingPunct="1"/>
            <a:r>
              <a:rPr lang="en-US" altLang="en-US" sz="2800" dirty="0"/>
              <a:t>Priority Scheduling – Non Preemptive</a:t>
            </a:r>
            <a:br>
              <a:rPr lang="en-US" altLang="en-US" sz="2800" dirty="0"/>
            </a:br>
            <a:endParaRPr lang="en-US" altLang="en-US" sz="2800" dirty="0">
              <a:solidFill>
                <a:srgbClr val="FF0000"/>
              </a:solidFill>
            </a:endParaRPr>
          </a:p>
        </p:txBody>
      </p:sp>
      <p:graphicFrame>
        <p:nvGraphicFramePr>
          <p:cNvPr id="7" name="Content Placeholder 6"/>
          <p:cNvGraphicFramePr>
            <a:graphicFrameLocks noGrp="1"/>
          </p:cNvGraphicFramePr>
          <p:nvPr>
            <p:ph idx="1"/>
          </p:nvPr>
        </p:nvGraphicFramePr>
        <p:xfrm>
          <a:off x="1752601" y="1312170"/>
          <a:ext cx="8029575" cy="4184009"/>
        </p:xfrm>
        <a:graphic>
          <a:graphicData uri="http://schemas.openxmlformats.org/drawingml/2006/table">
            <a:tbl>
              <a:tblPr firstRow="1" bandRow="1">
                <a:tableStyleId>{5C22544A-7EE6-4342-B048-85BDC9FD1C3A}</a:tableStyleId>
              </a:tblPr>
              <a:tblGrid>
                <a:gridCol w="1114425">
                  <a:extLst>
                    <a:ext uri="{9D8B030D-6E8A-4147-A177-3AD203B41FA5}">
                      <a16:colId xmlns:a16="http://schemas.microsoft.com/office/drawing/2014/main" val="20000"/>
                    </a:ext>
                  </a:extLst>
                </a:gridCol>
                <a:gridCol w="1190625">
                  <a:extLst>
                    <a:ext uri="{9D8B030D-6E8A-4147-A177-3AD203B41FA5}">
                      <a16:colId xmlns:a16="http://schemas.microsoft.com/office/drawing/2014/main" val="20001"/>
                    </a:ext>
                  </a:extLst>
                </a:gridCol>
                <a:gridCol w="1085850">
                  <a:extLst>
                    <a:ext uri="{9D8B030D-6E8A-4147-A177-3AD203B41FA5}">
                      <a16:colId xmlns:a16="http://schemas.microsoft.com/office/drawing/2014/main" val="20002"/>
                    </a:ext>
                  </a:extLst>
                </a:gridCol>
                <a:gridCol w="971550">
                  <a:extLst>
                    <a:ext uri="{9D8B030D-6E8A-4147-A177-3AD203B41FA5}">
                      <a16:colId xmlns:a16="http://schemas.microsoft.com/office/drawing/2014/main" val="20003"/>
                    </a:ext>
                  </a:extLst>
                </a:gridCol>
                <a:gridCol w="1095375">
                  <a:extLst>
                    <a:ext uri="{9D8B030D-6E8A-4147-A177-3AD203B41FA5}">
                      <a16:colId xmlns:a16="http://schemas.microsoft.com/office/drawing/2014/main" val="20004"/>
                    </a:ext>
                  </a:extLst>
                </a:gridCol>
                <a:gridCol w="81915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1066800">
                  <a:extLst>
                    <a:ext uri="{9D8B030D-6E8A-4147-A177-3AD203B41FA5}">
                      <a16:colId xmlns:a16="http://schemas.microsoft.com/office/drawing/2014/main" val="20007"/>
                    </a:ext>
                  </a:extLst>
                </a:gridCol>
              </a:tblGrid>
              <a:tr h="983609">
                <a:tc>
                  <a:txBody>
                    <a:bodyPr/>
                    <a:lstStyle/>
                    <a:p>
                      <a:r>
                        <a:rPr lang="en-US" dirty="0"/>
                        <a:t>Process</a:t>
                      </a:r>
                    </a:p>
                  </a:txBody>
                  <a:tcPr>
                    <a:solidFill>
                      <a:srgbClr val="00B050"/>
                    </a:solidFill>
                  </a:tcPr>
                </a:tc>
                <a:tc>
                  <a:txBody>
                    <a:bodyPr/>
                    <a:lstStyle/>
                    <a:p>
                      <a:r>
                        <a:rPr lang="en-US" dirty="0"/>
                        <a:t>Burst Time(BT)</a:t>
                      </a:r>
                    </a:p>
                  </a:txBody>
                  <a:tcPr>
                    <a:solidFill>
                      <a:srgbClr val="00B050"/>
                    </a:solidFill>
                  </a:tcPr>
                </a:tc>
                <a:tc>
                  <a:txBody>
                    <a:bodyPr/>
                    <a:lstStyle/>
                    <a:p>
                      <a:r>
                        <a:rPr lang="en-US" dirty="0"/>
                        <a:t>Priority</a:t>
                      </a:r>
                    </a:p>
                  </a:txBody>
                  <a:tcPr>
                    <a:solidFill>
                      <a:srgbClr val="00B050"/>
                    </a:solidFill>
                  </a:tcPr>
                </a:tc>
                <a:tc>
                  <a:txBody>
                    <a:bodyPr/>
                    <a:lstStyle/>
                    <a:p>
                      <a:r>
                        <a:rPr lang="en-US" dirty="0"/>
                        <a:t>CT</a:t>
                      </a:r>
                    </a:p>
                  </a:txBody>
                  <a:tcPr>
                    <a:solidFill>
                      <a:srgbClr val="00B050"/>
                    </a:solidFill>
                  </a:tcPr>
                </a:tc>
                <a:tc>
                  <a:txBody>
                    <a:bodyPr/>
                    <a:lstStyle/>
                    <a:p>
                      <a:r>
                        <a:rPr lang="en-US" dirty="0"/>
                        <a:t>TAT =</a:t>
                      </a:r>
                    </a:p>
                    <a:p>
                      <a:r>
                        <a:rPr lang="en-US" dirty="0"/>
                        <a:t>CT-AT</a:t>
                      </a:r>
                    </a:p>
                  </a:txBody>
                  <a:tcPr>
                    <a:solidFill>
                      <a:srgbClr val="00B050"/>
                    </a:solidFill>
                  </a:tcPr>
                </a:tc>
                <a:tc>
                  <a:txBody>
                    <a:bodyPr/>
                    <a:lstStyle/>
                    <a:p>
                      <a:r>
                        <a:rPr lang="en-US" dirty="0"/>
                        <a:t>WT</a:t>
                      </a:r>
                    </a:p>
                  </a:txBody>
                  <a:tcPr>
                    <a:solidFill>
                      <a:srgbClr val="00B050"/>
                    </a:solidFill>
                  </a:tcPr>
                </a:tc>
                <a:tc>
                  <a:txBody>
                    <a:bodyPr/>
                    <a:lstStyle/>
                    <a:p>
                      <a:r>
                        <a:rPr lang="en-US" dirty="0"/>
                        <a:t>RT</a:t>
                      </a:r>
                    </a:p>
                  </a:txBody>
                  <a:tcPr>
                    <a:solidFill>
                      <a:srgbClr val="00B050"/>
                    </a:solidFill>
                  </a:tcPr>
                </a:tc>
                <a:tc>
                  <a:txBody>
                    <a:bodyPr/>
                    <a:lstStyle/>
                    <a:p>
                      <a:r>
                        <a:rPr lang="en-US" dirty="0"/>
                        <a:t>Context Switch</a:t>
                      </a:r>
                    </a:p>
                    <a:p>
                      <a:r>
                        <a:rPr lang="en-US" dirty="0"/>
                        <a:t>(1ms)</a:t>
                      </a:r>
                    </a:p>
                  </a:txBody>
                  <a:tcPr>
                    <a:solidFill>
                      <a:srgbClr val="00B050"/>
                    </a:solidFill>
                  </a:tcPr>
                </a:tc>
                <a:extLst>
                  <a:ext uri="{0D108BD9-81ED-4DB2-BD59-A6C34878D82A}">
                    <a16:rowId xmlns:a16="http://schemas.microsoft.com/office/drawing/2014/main" val="10000"/>
                  </a:ext>
                </a:extLst>
              </a:tr>
              <a:tr h="398908">
                <a:tc>
                  <a:txBody>
                    <a:bodyPr/>
                    <a:lstStyle/>
                    <a:p>
                      <a:pPr algn="ctr"/>
                      <a:r>
                        <a:rPr lang="en-US" b="1" dirty="0">
                          <a:solidFill>
                            <a:schemeClr val="bg1"/>
                          </a:solidFill>
                        </a:rPr>
                        <a:t>P1</a:t>
                      </a:r>
                    </a:p>
                  </a:txBody>
                  <a:tcPr>
                    <a:solidFill>
                      <a:srgbClr val="00B050"/>
                    </a:solidFill>
                  </a:tcPr>
                </a:tc>
                <a:tc>
                  <a:txBody>
                    <a:bodyPr/>
                    <a:lstStyle/>
                    <a:p>
                      <a:pPr algn="ctr"/>
                      <a:r>
                        <a:rPr lang="en-US" b="1" dirty="0">
                          <a:solidFill>
                            <a:schemeClr val="bg1"/>
                          </a:solidFill>
                        </a:rPr>
                        <a:t>4</a:t>
                      </a:r>
                    </a:p>
                  </a:txBody>
                  <a:tcPr>
                    <a:solidFill>
                      <a:srgbClr val="00B050"/>
                    </a:solidFill>
                  </a:tcPr>
                </a:tc>
                <a:tc>
                  <a:txBody>
                    <a:bodyPr/>
                    <a:lstStyle/>
                    <a:p>
                      <a:pPr algn="ctr"/>
                      <a:r>
                        <a:rPr lang="en-US" b="1" dirty="0">
                          <a:solidFill>
                            <a:schemeClr val="bg1"/>
                          </a:solidFill>
                        </a:rPr>
                        <a:t>3</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extLst>
                  <a:ext uri="{0D108BD9-81ED-4DB2-BD59-A6C34878D82A}">
                    <a16:rowId xmlns:a16="http://schemas.microsoft.com/office/drawing/2014/main" val="10001"/>
                  </a:ext>
                </a:extLst>
              </a:tr>
              <a:tr h="398908">
                <a:tc>
                  <a:txBody>
                    <a:bodyPr/>
                    <a:lstStyle/>
                    <a:p>
                      <a:pPr algn="ctr"/>
                      <a:r>
                        <a:rPr lang="en-US" b="1" dirty="0">
                          <a:solidFill>
                            <a:schemeClr val="bg1"/>
                          </a:solidFill>
                        </a:rPr>
                        <a:t>P2</a:t>
                      </a:r>
                    </a:p>
                  </a:txBody>
                  <a:tcPr>
                    <a:solidFill>
                      <a:srgbClr val="00B050"/>
                    </a:solidFill>
                  </a:tcPr>
                </a:tc>
                <a:tc>
                  <a:txBody>
                    <a:bodyPr/>
                    <a:lstStyle/>
                    <a:p>
                      <a:pPr algn="ctr"/>
                      <a:r>
                        <a:rPr lang="en-US" b="1" dirty="0">
                          <a:solidFill>
                            <a:schemeClr val="bg1"/>
                          </a:solidFill>
                        </a:rPr>
                        <a:t>5</a:t>
                      </a:r>
                    </a:p>
                  </a:txBody>
                  <a:tcPr>
                    <a:solidFill>
                      <a:srgbClr val="00B050"/>
                    </a:solidFill>
                  </a:tcPr>
                </a:tc>
                <a:tc>
                  <a:txBody>
                    <a:bodyPr/>
                    <a:lstStyle/>
                    <a:p>
                      <a:pPr algn="ctr"/>
                      <a:r>
                        <a:rPr lang="en-US" b="1" dirty="0">
                          <a:solidFill>
                            <a:schemeClr val="bg1"/>
                          </a:solidFill>
                        </a:rPr>
                        <a:t>2</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extLst>
                  <a:ext uri="{0D108BD9-81ED-4DB2-BD59-A6C34878D82A}">
                    <a16:rowId xmlns:a16="http://schemas.microsoft.com/office/drawing/2014/main" val="10002"/>
                  </a:ext>
                </a:extLst>
              </a:tr>
              <a:tr h="398908">
                <a:tc>
                  <a:txBody>
                    <a:bodyPr/>
                    <a:lstStyle/>
                    <a:p>
                      <a:pPr algn="ctr"/>
                      <a:r>
                        <a:rPr lang="en-US" b="1" dirty="0">
                          <a:solidFill>
                            <a:schemeClr val="bg1"/>
                          </a:solidFill>
                        </a:rPr>
                        <a:t>P3</a:t>
                      </a:r>
                    </a:p>
                  </a:txBody>
                  <a:tcPr>
                    <a:solidFill>
                      <a:srgbClr val="00B050"/>
                    </a:solidFill>
                  </a:tcPr>
                </a:tc>
                <a:tc>
                  <a:txBody>
                    <a:bodyPr/>
                    <a:lstStyle/>
                    <a:p>
                      <a:pPr algn="ctr"/>
                      <a:r>
                        <a:rPr lang="en-US" b="1" dirty="0">
                          <a:solidFill>
                            <a:schemeClr val="bg1"/>
                          </a:solidFill>
                        </a:rPr>
                        <a:t>8</a:t>
                      </a:r>
                    </a:p>
                  </a:txBody>
                  <a:tcPr>
                    <a:solidFill>
                      <a:srgbClr val="00B050"/>
                    </a:solidFill>
                  </a:tcPr>
                </a:tc>
                <a:tc>
                  <a:txBody>
                    <a:bodyPr/>
                    <a:lstStyle/>
                    <a:p>
                      <a:pPr algn="ctr"/>
                      <a:r>
                        <a:rPr lang="en-US" b="1" dirty="0">
                          <a:solidFill>
                            <a:schemeClr val="bg1"/>
                          </a:solidFill>
                        </a:rPr>
                        <a:t>2</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extLst>
                  <a:ext uri="{0D108BD9-81ED-4DB2-BD59-A6C34878D82A}">
                    <a16:rowId xmlns:a16="http://schemas.microsoft.com/office/drawing/2014/main" val="10003"/>
                  </a:ext>
                </a:extLst>
              </a:tr>
              <a:tr h="398908">
                <a:tc>
                  <a:txBody>
                    <a:bodyPr/>
                    <a:lstStyle/>
                    <a:p>
                      <a:pPr algn="ctr"/>
                      <a:r>
                        <a:rPr lang="en-US" b="1" dirty="0">
                          <a:solidFill>
                            <a:schemeClr val="bg1"/>
                          </a:solidFill>
                        </a:rPr>
                        <a:t>P4</a:t>
                      </a:r>
                    </a:p>
                  </a:txBody>
                  <a:tcPr>
                    <a:solidFill>
                      <a:srgbClr val="00B050"/>
                    </a:solidFill>
                  </a:tcPr>
                </a:tc>
                <a:tc>
                  <a:txBody>
                    <a:bodyPr/>
                    <a:lstStyle/>
                    <a:p>
                      <a:pPr algn="ctr"/>
                      <a:r>
                        <a:rPr lang="en-US" b="1" dirty="0">
                          <a:solidFill>
                            <a:schemeClr val="bg1"/>
                          </a:solidFill>
                        </a:rPr>
                        <a:t>7</a:t>
                      </a:r>
                    </a:p>
                  </a:txBody>
                  <a:tcPr>
                    <a:solidFill>
                      <a:srgbClr val="00B050"/>
                    </a:solidFill>
                  </a:tcPr>
                </a:tc>
                <a:tc>
                  <a:txBody>
                    <a:bodyPr/>
                    <a:lstStyle/>
                    <a:p>
                      <a:pPr algn="ctr"/>
                      <a:r>
                        <a:rPr lang="en-US" b="1" dirty="0">
                          <a:solidFill>
                            <a:schemeClr val="bg1"/>
                          </a:solidFill>
                        </a:rPr>
                        <a:t>1</a:t>
                      </a:r>
                    </a:p>
                    <a:p>
                      <a:pPr algn="ctr"/>
                      <a:endParaRPr lang="en-US" b="1" dirty="0">
                        <a:solidFill>
                          <a:schemeClr val="bg1"/>
                        </a:solidFill>
                      </a:endParaRPr>
                    </a:p>
                  </a:txBody>
                  <a:tcPr>
                    <a:solidFill>
                      <a:srgbClr val="00B05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extLst>
                  <a:ext uri="{0D108BD9-81ED-4DB2-BD59-A6C34878D82A}">
                    <a16:rowId xmlns:a16="http://schemas.microsoft.com/office/drawing/2014/main" val="10004"/>
                  </a:ext>
                </a:extLst>
              </a:tr>
              <a:tr h="398908">
                <a:tc>
                  <a:txBody>
                    <a:bodyPr/>
                    <a:lstStyle/>
                    <a:p>
                      <a:pPr algn="ctr"/>
                      <a:r>
                        <a:rPr lang="en-US" b="1" dirty="0">
                          <a:solidFill>
                            <a:schemeClr val="bg1"/>
                          </a:solidFill>
                        </a:rPr>
                        <a:t>P5</a:t>
                      </a:r>
                    </a:p>
                  </a:txBody>
                  <a:tcPr>
                    <a:solidFill>
                      <a:srgbClr val="00B050"/>
                    </a:solidFill>
                  </a:tcPr>
                </a:tc>
                <a:tc>
                  <a:txBody>
                    <a:bodyPr/>
                    <a:lstStyle/>
                    <a:p>
                      <a:pPr algn="ctr"/>
                      <a:r>
                        <a:rPr lang="en-US" b="1" dirty="0">
                          <a:solidFill>
                            <a:schemeClr val="bg1"/>
                          </a:solidFill>
                        </a:rPr>
                        <a:t>3</a:t>
                      </a:r>
                    </a:p>
                  </a:txBody>
                  <a:tcPr>
                    <a:solidFill>
                      <a:srgbClr val="00B050"/>
                    </a:solidFill>
                  </a:tcPr>
                </a:tc>
                <a:tc>
                  <a:txBody>
                    <a:bodyPr/>
                    <a:lstStyle/>
                    <a:p>
                      <a:pPr algn="ctr"/>
                      <a:r>
                        <a:rPr lang="en-US" b="1" dirty="0">
                          <a:solidFill>
                            <a:schemeClr val="bg1"/>
                          </a:solidFill>
                        </a:rPr>
                        <a:t>3</a:t>
                      </a:r>
                    </a:p>
                    <a:p>
                      <a:pPr algn="ctr"/>
                      <a:endParaRPr lang="en-US" b="1" dirty="0">
                        <a:solidFill>
                          <a:schemeClr val="bg1"/>
                        </a:solidFill>
                      </a:endParaRPr>
                    </a:p>
                  </a:txBody>
                  <a:tcPr>
                    <a:solidFill>
                      <a:srgbClr val="00B05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1990725" y="5819776"/>
            <a:ext cx="7277100" cy="830997"/>
          </a:xfrm>
          <a:prstGeom prst="rect">
            <a:avLst/>
          </a:prstGeom>
          <a:noFill/>
        </p:spPr>
        <p:txBody>
          <a:bodyPr wrap="square" rtlCol="0">
            <a:spAutoFit/>
          </a:bodyPr>
          <a:lstStyle/>
          <a:p>
            <a:endParaRPr lang="en-US" sz="1600" b="1" dirty="0"/>
          </a:p>
          <a:p>
            <a:r>
              <a:rPr lang="en-US" sz="1600" b="1" dirty="0"/>
              <a:t>Gantt Chart: </a:t>
            </a:r>
          </a:p>
          <a:p>
            <a:r>
              <a:rPr lang="en-US" sz="1600" b="1" dirty="0"/>
              <a:t>Average Waiting Time, Average Turnaround Time</a:t>
            </a:r>
          </a:p>
        </p:txBody>
      </p:sp>
      <p:sp>
        <p:nvSpPr>
          <p:cNvPr id="5" name="TextBox 4"/>
          <p:cNvSpPr txBox="1"/>
          <p:nvPr/>
        </p:nvSpPr>
        <p:spPr>
          <a:xfrm>
            <a:off x="1524000" y="510948"/>
            <a:ext cx="9458326" cy="646331"/>
          </a:xfrm>
          <a:prstGeom prst="rect">
            <a:avLst/>
          </a:prstGeom>
          <a:noFill/>
        </p:spPr>
        <p:txBody>
          <a:bodyPr wrap="square" rtlCol="0">
            <a:spAutoFit/>
          </a:bodyPr>
          <a:lstStyle/>
          <a:p>
            <a:r>
              <a:rPr lang="en-US" b="1" dirty="0">
                <a:solidFill>
                  <a:srgbClr val="FF0000"/>
                </a:solidFill>
              </a:rPr>
              <a:t>If </a:t>
            </a:r>
            <a:r>
              <a:rPr lang="en-US" b="1" dirty="0">
                <a:solidFill>
                  <a:srgbClr val="00B0F0"/>
                </a:solidFill>
              </a:rPr>
              <a:t>same priority for more processes</a:t>
            </a:r>
            <a:r>
              <a:rPr lang="en-US" b="1" dirty="0">
                <a:solidFill>
                  <a:srgbClr val="FF0000"/>
                </a:solidFill>
              </a:rPr>
              <a:t>, use FCFS or Round Robin Scheduling</a:t>
            </a:r>
          </a:p>
        </p:txBody>
      </p:sp>
      <p:sp>
        <p:nvSpPr>
          <p:cNvPr id="6" name="TextBox 5"/>
          <p:cNvSpPr txBox="1"/>
          <p:nvPr/>
        </p:nvSpPr>
        <p:spPr>
          <a:xfrm>
            <a:off x="6100761" y="897430"/>
            <a:ext cx="3452814" cy="369332"/>
          </a:xfrm>
          <a:prstGeom prst="rect">
            <a:avLst/>
          </a:prstGeom>
          <a:noFill/>
        </p:spPr>
        <p:txBody>
          <a:bodyPr wrap="square" rtlCol="0">
            <a:spAutoFit/>
          </a:bodyPr>
          <a:lstStyle/>
          <a:p>
            <a:r>
              <a:rPr lang="en-US" b="1" dirty="0">
                <a:solidFill>
                  <a:srgbClr val="C00000"/>
                </a:solidFill>
              </a:rPr>
              <a:t>2. With Round Robin </a:t>
            </a:r>
          </a:p>
        </p:txBody>
      </p:sp>
      <p:sp>
        <p:nvSpPr>
          <p:cNvPr id="2" name="TextBox 1"/>
          <p:cNvSpPr txBox="1"/>
          <p:nvPr/>
        </p:nvSpPr>
        <p:spPr>
          <a:xfrm>
            <a:off x="4886325" y="5676900"/>
            <a:ext cx="4448175" cy="369332"/>
          </a:xfrm>
          <a:prstGeom prst="rect">
            <a:avLst/>
          </a:prstGeom>
          <a:noFill/>
        </p:spPr>
        <p:txBody>
          <a:bodyPr wrap="square" rtlCol="0">
            <a:spAutoFit/>
          </a:bodyPr>
          <a:lstStyle/>
          <a:p>
            <a:r>
              <a:rPr lang="en-US" b="1" dirty="0"/>
              <a:t>Time Quantum = 2ms</a:t>
            </a:r>
          </a:p>
        </p:txBody>
      </p:sp>
    </p:spTree>
    <p:extLst>
      <p:ext uri="{BB962C8B-B14F-4D97-AF65-F5344CB8AC3E}">
        <p14:creationId xmlns:p14="http://schemas.microsoft.com/office/powerpoint/2010/main" val="30363970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CDE24674-CB1D-4389-9B31-B04F87B0ABF8}"/>
              </a:ext>
            </a:extLst>
          </p:cNvPr>
          <p:cNvSpPr>
            <a:spLocks noGrp="1" noChangeArrowheads="1"/>
          </p:cNvSpPr>
          <p:nvPr>
            <p:ph type="title"/>
          </p:nvPr>
        </p:nvSpPr>
        <p:spPr>
          <a:xfrm>
            <a:off x="2976826" y="137006"/>
            <a:ext cx="7280275" cy="576262"/>
          </a:xfrm>
        </p:spPr>
        <p:txBody>
          <a:bodyPr/>
          <a:lstStyle/>
          <a:p>
            <a:pPr eaLnBrk="1" hangingPunct="1"/>
            <a:r>
              <a:rPr lang="en-US" altLang="en-US" dirty="0"/>
              <a:t>Priority Scheduling w/ Round-Robin</a:t>
            </a:r>
          </a:p>
        </p:txBody>
      </p:sp>
      <p:sp>
        <p:nvSpPr>
          <p:cNvPr id="52226" name="Rectangle 36">
            <a:extLst>
              <a:ext uri="{FF2B5EF4-FFF2-40B4-BE49-F238E27FC236}">
                <a16:creationId xmlns:a16="http://schemas.microsoft.com/office/drawing/2014/main" id="{2105BD44-B36B-488F-9B4A-6D230FFCC50A}"/>
              </a:ext>
            </a:extLst>
          </p:cNvPr>
          <p:cNvSpPr>
            <a:spLocks noGrp="1" noChangeArrowheads="1"/>
          </p:cNvSpPr>
          <p:nvPr>
            <p:ph type="body" idx="1"/>
          </p:nvPr>
        </p:nvSpPr>
        <p:spPr>
          <a:xfrm>
            <a:off x="2330451" y="1142048"/>
            <a:ext cx="7675077" cy="4887912"/>
          </a:xfrm>
          <a:noFill/>
        </p:spPr>
        <p:txBody>
          <a:bodyPr/>
          <a:lstStyle/>
          <a:p>
            <a:pPr>
              <a:tabLst>
                <a:tab pos="1600200" algn="ctr"/>
                <a:tab pos="3251200" algn="ctr"/>
                <a:tab pos="5140325" algn="ctr"/>
              </a:tabLst>
            </a:pPr>
            <a:r>
              <a:rPr lang="en-US" altLang="en-US" dirty="0"/>
              <a:t>Run the process with the highest priority. Processes with the same priority run round-robin</a:t>
            </a:r>
          </a:p>
          <a:p>
            <a:pPr>
              <a:tabLst>
                <a:tab pos="1600200" algn="ctr"/>
                <a:tab pos="3251200" algn="ctr"/>
                <a:tab pos="5140325" algn="ctr"/>
              </a:tabLst>
            </a:pPr>
            <a:r>
              <a:rPr lang="en-US" altLang="en-US" dirty="0"/>
              <a:t>Example:</a:t>
            </a:r>
          </a:p>
          <a:p>
            <a:pPr>
              <a:buNone/>
              <a:tabLst>
                <a:tab pos="1600200" algn="ctr"/>
                <a:tab pos="3251200" algn="ctr"/>
                <a:tab pos="5140325" algn="ctr"/>
              </a:tabLst>
            </a:pPr>
            <a:r>
              <a:rPr lang="en-US" altLang="en-US" dirty="0"/>
              <a:t>                     </a:t>
            </a:r>
            <a:r>
              <a:rPr lang="en-US" altLang="en-US" u="sng" dirty="0"/>
              <a:t>Process</a:t>
            </a:r>
            <a:r>
              <a:rPr lang="en-US" altLang="en-US" u="sng" dirty="0">
                <a:solidFill>
                  <a:schemeClr val="bg1"/>
                </a:solidFill>
              </a:rPr>
              <a:t>	a   </a:t>
            </a:r>
            <a:r>
              <a:rPr lang="en-US" altLang="en-US" u="sng" dirty="0"/>
              <a:t>Burst Time</a:t>
            </a:r>
            <a:r>
              <a:rPr lang="en-US" altLang="en-US" dirty="0"/>
              <a:t>	</a:t>
            </a:r>
            <a:r>
              <a:rPr lang="en-US" altLang="en-US" u="sng" dirty="0"/>
              <a:t>Priority</a:t>
            </a:r>
            <a:endParaRPr lang="en-US" altLang="en-US" dirty="0"/>
          </a:p>
          <a:p>
            <a:pPr>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4	3</a:t>
            </a:r>
          </a:p>
          <a:p>
            <a:pPr>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5</a:t>
            </a:r>
            <a:r>
              <a:rPr lang="en-US" altLang="en-US" dirty="0"/>
              <a:t>	2</a:t>
            </a:r>
          </a:p>
          <a:p>
            <a:pPr>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8</a:t>
            </a:r>
            <a:r>
              <a:rPr lang="en-US" altLang="en-US" dirty="0"/>
              <a:t>	2</a:t>
            </a:r>
          </a:p>
          <a:p>
            <a:pPr>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7</a:t>
            </a:r>
            <a:r>
              <a:rPr lang="en-US" altLang="en-US" dirty="0"/>
              <a:t>	1</a:t>
            </a:r>
          </a:p>
          <a:p>
            <a:pPr>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3	3</a:t>
            </a:r>
            <a:endParaRPr lang="en-US" altLang="en-US" baseline="-25000" dirty="0"/>
          </a:p>
          <a:p>
            <a:pPr>
              <a:tabLst>
                <a:tab pos="1600200" algn="ctr"/>
                <a:tab pos="3251200" algn="ctr"/>
                <a:tab pos="5140325" algn="ctr"/>
              </a:tabLst>
            </a:pPr>
            <a:r>
              <a:rPr lang="en-US" altLang="en-US" dirty="0"/>
              <a:t>Gantt Chart with time quantum = 2</a:t>
            </a:r>
          </a:p>
          <a:p>
            <a:pPr>
              <a:tabLst>
                <a:tab pos="1600200" algn="ctr"/>
                <a:tab pos="3251200" algn="ctr"/>
                <a:tab pos="5140325" algn="ctr"/>
              </a:tabLst>
            </a:pPr>
            <a:endParaRPr lang="en-US" altLang="en-US" dirty="0"/>
          </a:p>
          <a:p>
            <a:pPr marL="0" indent="0">
              <a:buNone/>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None/>
              <a:tabLst>
                <a:tab pos="1600200" algn="ctr"/>
                <a:tab pos="3251200" algn="ctr"/>
                <a:tab pos="5140325" algn="ctr"/>
              </a:tabLst>
            </a:pPr>
            <a:endParaRPr lang="en-US" altLang="en-US" dirty="0"/>
          </a:p>
        </p:txBody>
      </p:sp>
      <p:pic>
        <p:nvPicPr>
          <p:cNvPr id="52227" name="Picture 2">
            <a:extLst>
              <a:ext uri="{FF2B5EF4-FFF2-40B4-BE49-F238E27FC236}">
                <a16:creationId xmlns:a16="http://schemas.microsoft.com/office/drawing/2014/main" id="{E776F08C-5E1F-44C8-AB6B-D21CDC72CD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32481" y="4968241"/>
            <a:ext cx="6200925" cy="724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768937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2184400" y="181838"/>
            <a:ext cx="8026400" cy="576262"/>
          </a:xfrm>
        </p:spPr>
        <p:txBody>
          <a:bodyPr/>
          <a:lstStyle/>
          <a:p>
            <a:pPr eaLnBrk="1" hangingPunct="1"/>
            <a:r>
              <a:rPr lang="en-US" altLang="en-US" dirty="0"/>
              <a:t>Multilevel Queue</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type="body" idx="1"/>
          </p:nvPr>
        </p:nvSpPr>
        <p:spPr>
          <a:xfrm>
            <a:off x="2354425" y="1144346"/>
            <a:ext cx="6973149" cy="4456354"/>
          </a:xfrm>
        </p:spPr>
        <p:txBody>
          <a:bodyPr/>
          <a:lstStyle/>
          <a:p>
            <a:r>
              <a:rPr lang="en-US" altLang="en-US" dirty="0"/>
              <a:t>The ready queue consists of multiple queues</a:t>
            </a:r>
          </a:p>
          <a:p>
            <a:r>
              <a:rPr lang="en-US" altLang="en-US" dirty="0"/>
              <a:t>Multilevel queue scheduler defined by the following parameters:</a:t>
            </a:r>
          </a:p>
          <a:p>
            <a:pPr lvl="1"/>
            <a:r>
              <a:rPr lang="en-US" altLang="en-US" dirty="0"/>
              <a:t>Number of queues</a:t>
            </a:r>
          </a:p>
          <a:p>
            <a:pPr lvl="1"/>
            <a:r>
              <a:rPr lang="en-US" altLang="en-US" dirty="0"/>
              <a:t>Scheduling algorithms for each queue</a:t>
            </a:r>
          </a:p>
          <a:p>
            <a:pPr lvl="1"/>
            <a:r>
              <a:rPr lang="en-US" altLang="en-US" dirty="0"/>
              <a:t>Method used to determine which queue a process will enter when that process needs service</a:t>
            </a:r>
          </a:p>
          <a:p>
            <a:pPr lvl="1"/>
            <a:r>
              <a:rPr lang="en-US" altLang="en-US" dirty="0"/>
              <a:t>Scheduling among the queues</a:t>
            </a:r>
          </a:p>
          <a:p>
            <a:endParaRPr lang="en-US" altLang="en-US" dirty="0"/>
          </a:p>
        </p:txBody>
      </p:sp>
    </p:spTree>
    <p:extLst>
      <p:ext uri="{BB962C8B-B14F-4D97-AF65-F5344CB8AC3E}">
        <p14:creationId xmlns:p14="http://schemas.microsoft.com/office/powerpoint/2010/main" val="9707093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1CD96B60-8A48-434B-B0B3-7D137B28C363}"/>
              </a:ext>
            </a:extLst>
          </p:cNvPr>
          <p:cNvSpPr>
            <a:spLocks noGrp="1" noChangeArrowheads="1"/>
          </p:cNvSpPr>
          <p:nvPr>
            <p:ph type="title"/>
          </p:nvPr>
        </p:nvSpPr>
        <p:spPr>
          <a:xfrm>
            <a:off x="2497138" y="219305"/>
            <a:ext cx="7713662" cy="576262"/>
          </a:xfrm>
        </p:spPr>
        <p:txBody>
          <a:bodyPr/>
          <a:lstStyle/>
          <a:p>
            <a:pPr eaLnBrk="1" hangingPunct="1"/>
            <a:r>
              <a:rPr lang="en-US" altLang="en-US" dirty="0"/>
              <a:t>Multilevel Queue</a:t>
            </a:r>
          </a:p>
        </p:txBody>
      </p:sp>
      <p:sp>
        <p:nvSpPr>
          <p:cNvPr id="54274" name="Rectangle 3">
            <a:extLst>
              <a:ext uri="{FF2B5EF4-FFF2-40B4-BE49-F238E27FC236}">
                <a16:creationId xmlns:a16="http://schemas.microsoft.com/office/drawing/2014/main" id="{1C367D1A-7DE2-4C9D-8F9F-8D980F3D95B0}"/>
              </a:ext>
            </a:extLst>
          </p:cNvPr>
          <p:cNvSpPr>
            <a:spLocks noGrp="1" noChangeArrowheads="1"/>
          </p:cNvSpPr>
          <p:nvPr>
            <p:ph type="body" idx="1"/>
          </p:nvPr>
        </p:nvSpPr>
        <p:spPr>
          <a:xfrm>
            <a:off x="2335764" y="1068389"/>
            <a:ext cx="7570237" cy="5221287"/>
          </a:xfrm>
        </p:spPr>
        <p:txBody>
          <a:bodyPr/>
          <a:lstStyle/>
          <a:p>
            <a:r>
              <a:rPr lang="en-US" altLang="en-US" dirty="0"/>
              <a:t>With priority scheduling, have separate queues for each priority.</a:t>
            </a:r>
          </a:p>
          <a:p>
            <a:r>
              <a:rPr lang="en-US" altLang="en-US" dirty="0"/>
              <a:t>Schedule the process in the highest-priority queue!</a:t>
            </a:r>
          </a:p>
        </p:txBody>
      </p:sp>
      <p:pic>
        <p:nvPicPr>
          <p:cNvPr id="54275" name="Picture 1">
            <a:extLst>
              <a:ext uri="{FF2B5EF4-FFF2-40B4-BE49-F238E27FC236}">
                <a16:creationId xmlns:a16="http://schemas.microsoft.com/office/drawing/2014/main" id="{B29FEE3D-3750-4508-92A3-9B9E46FECE1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35764" y="2298700"/>
            <a:ext cx="5636661" cy="418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57074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6F1CB462-9D7D-4499-AF00-7FB8FBEF7A03}"/>
              </a:ext>
            </a:extLst>
          </p:cNvPr>
          <p:cNvSpPr>
            <a:spLocks noGrp="1"/>
          </p:cNvSpPr>
          <p:nvPr>
            <p:ph type="title"/>
          </p:nvPr>
        </p:nvSpPr>
        <p:spPr>
          <a:xfrm>
            <a:off x="2414429" y="215191"/>
            <a:ext cx="7880350" cy="576262"/>
          </a:xfrm>
        </p:spPr>
        <p:txBody>
          <a:bodyPr/>
          <a:lstStyle/>
          <a:p>
            <a:r>
              <a:rPr lang="en-US" altLang="en-US" dirty="0"/>
              <a:t>Multilevel Queue</a:t>
            </a:r>
          </a:p>
        </p:txBody>
      </p:sp>
      <p:sp>
        <p:nvSpPr>
          <p:cNvPr id="56322" name="Content Placeholder 2">
            <a:extLst>
              <a:ext uri="{FF2B5EF4-FFF2-40B4-BE49-F238E27FC236}">
                <a16:creationId xmlns:a16="http://schemas.microsoft.com/office/drawing/2014/main" id="{0F152084-C4F7-4F98-AC9A-7299EF5D225F}"/>
              </a:ext>
            </a:extLst>
          </p:cNvPr>
          <p:cNvSpPr>
            <a:spLocks noGrp="1"/>
          </p:cNvSpPr>
          <p:nvPr>
            <p:ph idx="1"/>
          </p:nvPr>
        </p:nvSpPr>
        <p:spPr/>
        <p:txBody>
          <a:bodyPr/>
          <a:lstStyle/>
          <a:p>
            <a:r>
              <a:rPr lang="en-US" altLang="en-US"/>
              <a:t>Prioritization based upon process type</a:t>
            </a:r>
          </a:p>
        </p:txBody>
      </p:sp>
      <p:pic>
        <p:nvPicPr>
          <p:cNvPr id="56323" name="Picture 3">
            <a:extLst>
              <a:ext uri="{FF2B5EF4-FFF2-40B4-BE49-F238E27FC236}">
                <a16:creationId xmlns:a16="http://schemas.microsoft.com/office/drawing/2014/main" id="{E45EDF43-47DE-4E7F-B77E-5ED79D91AC0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14430" y="1790701"/>
            <a:ext cx="7110571" cy="4867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594992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5" name="Oval 4"/>
          <p:cNvSpPr/>
          <p:nvPr/>
        </p:nvSpPr>
        <p:spPr bwMode="auto">
          <a:xfrm>
            <a:off x="9163051" y="1457325"/>
            <a:ext cx="619125" cy="1143000"/>
          </a:xfrm>
          <a:prstGeom prst="ellipse">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Verdana" charset="0"/>
            </a:endParaRPr>
          </a:p>
        </p:txBody>
      </p:sp>
      <p:pic>
        <p:nvPicPr>
          <p:cNvPr id="7" name="Picture 6"/>
          <p:cNvPicPr>
            <a:picLocks noChangeAspect="1"/>
          </p:cNvPicPr>
          <p:nvPr/>
        </p:nvPicPr>
        <p:blipFill>
          <a:blip r:embed="rId2"/>
          <a:stretch>
            <a:fillRect/>
          </a:stretch>
        </p:blipFill>
        <p:spPr>
          <a:xfrm>
            <a:off x="2055360" y="988594"/>
            <a:ext cx="7928881" cy="3488157"/>
          </a:xfrm>
          <a:prstGeom prst="rect">
            <a:avLst/>
          </a:prstGeom>
        </p:spPr>
      </p:pic>
      <p:sp>
        <p:nvSpPr>
          <p:cNvPr id="8" name="TextBox 7"/>
          <p:cNvSpPr txBox="1"/>
          <p:nvPr/>
        </p:nvSpPr>
        <p:spPr>
          <a:xfrm>
            <a:off x="1876425" y="4791076"/>
            <a:ext cx="7905750" cy="646331"/>
          </a:xfrm>
          <a:prstGeom prst="rect">
            <a:avLst/>
          </a:prstGeom>
          <a:noFill/>
        </p:spPr>
        <p:txBody>
          <a:bodyPr wrap="square" rtlCol="0">
            <a:spAutoFit/>
          </a:bodyPr>
          <a:lstStyle/>
          <a:p>
            <a:r>
              <a:rPr lang="en-US" b="1" dirty="0"/>
              <a:t>Using Multilevel queuing, calculate ATAT and AWT and Draw Gantt chart</a:t>
            </a:r>
          </a:p>
        </p:txBody>
      </p:sp>
    </p:spTree>
    <p:extLst>
      <p:ext uri="{BB962C8B-B14F-4D97-AF65-F5344CB8AC3E}">
        <p14:creationId xmlns:p14="http://schemas.microsoft.com/office/powerpoint/2010/main" val="41351330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009651" y="1431016"/>
            <a:ext cx="4810125" cy="336550"/>
          </a:xfrm>
        </p:spPr>
        <p:txBody>
          <a:bodyPr/>
          <a:lstStyle/>
          <a:p>
            <a:pPr eaLnBrk="1" hangingPunct="1"/>
            <a:r>
              <a:rPr lang="en-US" altLang="en-US" sz="2800" dirty="0"/>
              <a:t>Multilevel Queue Scheduling</a:t>
            </a:r>
            <a:br>
              <a:rPr lang="en-US" altLang="en-US" sz="2800" dirty="0"/>
            </a:br>
            <a:endParaRPr lang="en-US" altLang="en-US" sz="2800" dirty="0">
              <a:solidFill>
                <a:srgbClr val="FF0000"/>
              </a:solidFill>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822917175"/>
              </p:ext>
            </p:extLst>
          </p:nvPr>
        </p:nvGraphicFramePr>
        <p:xfrm>
          <a:off x="1804577" y="2025016"/>
          <a:ext cx="8477250" cy="3537585"/>
        </p:xfrm>
        <a:graphic>
          <a:graphicData uri="http://schemas.openxmlformats.org/drawingml/2006/table">
            <a:tbl>
              <a:tblPr firstRow="1" bandRow="1">
                <a:tableStyleId>{5C22544A-7EE6-4342-B048-85BDC9FD1C3A}</a:tableStyleId>
              </a:tblPr>
              <a:tblGrid>
                <a:gridCol w="825142">
                  <a:extLst>
                    <a:ext uri="{9D8B030D-6E8A-4147-A177-3AD203B41FA5}">
                      <a16:colId xmlns:a16="http://schemas.microsoft.com/office/drawing/2014/main" val="20000"/>
                    </a:ext>
                  </a:extLst>
                </a:gridCol>
                <a:gridCol w="975083">
                  <a:extLst>
                    <a:ext uri="{9D8B030D-6E8A-4147-A177-3AD203B41FA5}">
                      <a16:colId xmlns:a16="http://schemas.microsoft.com/office/drawing/2014/main" val="20001"/>
                    </a:ext>
                  </a:extLst>
                </a:gridCol>
                <a:gridCol w="857250">
                  <a:extLst>
                    <a:ext uri="{9D8B030D-6E8A-4147-A177-3AD203B41FA5}">
                      <a16:colId xmlns:a16="http://schemas.microsoft.com/office/drawing/2014/main" val="20002"/>
                    </a:ext>
                  </a:extLst>
                </a:gridCol>
                <a:gridCol w="1057275">
                  <a:extLst>
                    <a:ext uri="{9D8B030D-6E8A-4147-A177-3AD203B41FA5}">
                      <a16:colId xmlns:a16="http://schemas.microsoft.com/office/drawing/2014/main" val="20003"/>
                    </a:ext>
                  </a:extLst>
                </a:gridCol>
                <a:gridCol w="940789">
                  <a:extLst>
                    <a:ext uri="{9D8B030D-6E8A-4147-A177-3AD203B41FA5}">
                      <a16:colId xmlns:a16="http://schemas.microsoft.com/office/drawing/2014/main" val="20004"/>
                    </a:ext>
                  </a:extLst>
                </a:gridCol>
                <a:gridCol w="859885">
                  <a:extLst>
                    <a:ext uri="{9D8B030D-6E8A-4147-A177-3AD203B41FA5}">
                      <a16:colId xmlns:a16="http://schemas.microsoft.com/office/drawing/2014/main" val="20005"/>
                    </a:ext>
                  </a:extLst>
                </a:gridCol>
                <a:gridCol w="1121283">
                  <a:extLst>
                    <a:ext uri="{9D8B030D-6E8A-4147-A177-3AD203B41FA5}">
                      <a16:colId xmlns:a16="http://schemas.microsoft.com/office/drawing/2014/main" val="20006"/>
                    </a:ext>
                  </a:extLst>
                </a:gridCol>
                <a:gridCol w="850155">
                  <a:extLst>
                    <a:ext uri="{9D8B030D-6E8A-4147-A177-3AD203B41FA5}">
                      <a16:colId xmlns:a16="http://schemas.microsoft.com/office/drawing/2014/main" val="20007"/>
                    </a:ext>
                  </a:extLst>
                </a:gridCol>
                <a:gridCol w="990388">
                  <a:extLst>
                    <a:ext uri="{9D8B030D-6E8A-4147-A177-3AD203B41FA5}">
                      <a16:colId xmlns:a16="http://schemas.microsoft.com/office/drawing/2014/main" val="20008"/>
                    </a:ext>
                  </a:extLst>
                </a:gridCol>
              </a:tblGrid>
              <a:tr h="977265">
                <a:tc>
                  <a:txBody>
                    <a:bodyPr/>
                    <a:lstStyle/>
                    <a:p>
                      <a:r>
                        <a:rPr lang="en-US" dirty="0"/>
                        <a:t>Process</a:t>
                      </a:r>
                    </a:p>
                  </a:txBody>
                  <a:tcPr>
                    <a:solidFill>
                      <a:srgbClr val="00B050"/>
                    </a:solidFill>
                  </a:tcPr>
                </a:tc>
                <a:tc>
                  <a:txBody>
                    <a:bodyPr/>
                    <a:lstStyle/>
                    <a:p>
                      <a:r>
                        <a:rPr lang="en-US" dirty="0"/>
                        <a:t>Arrival</a:t>
                      </a:r>
                      <a:r>
                        <a:rPr lang="en-US" baseline="0" dirty="0"/>
                        <a:t> Time</a:t>
                      </a:r>
                      <a:endParaRPr lang="en-US" dirty="0"/>
                    </a:p>
                  </a:txBody>
                  <a:tcPr>
                    <a:solidFill>
                      <a:srgbClr val="00B050"/>
                    </a:solidFill>
                  </a:tcPr>
                </a:tc>
                <a:tc>
                  <a:txBody>
                    <a:bodyPr/>
                    <a:lstStyle/>
                    <a:p>
                      <a:r>
                        <a:rPr lang="en-US" dirty="0"/>
                        <a:t>Burst Time</a:t>
                      </a:r>
                    </a:p>
                  </a:txBody>
                  <a:tcPr>
                    <a:solidFill>
                      <a:srgbClr val="00B050"/>
                    </a:solidFill>
                  </a:tcPr>
                </a:tc>
                <a:tc>
                  <a:txBody>
                    <a:bodyPr/>
                    <a:lstStyle/>
                    <a:p>
                      <a:r>
                        <a:rPr lang="en-US" dirty="0"/>
                        <a:t>Queue Number</a:t>
                      </a:r>
                    </a:p>
                  </a:txBody>
                  <a:tcPr>
                    <a:solidFill>
                      <a:srgbClr val="00B050"/>
                    </a:solidFill>
                  </a:tcPr>
                </a:tc>
                <a:tc>
                  <a:txBody>
                    <a:bodyPr/>
                    <a:lstStyle/>
                    <a:p>
                      <a:r>
                        <a:rPr lang="en-US" dirty="0"/>
                        <a:t>CT</a:t>
                      </a:r>
                    </a:p>
                  </a:txBody>
                  <a:tcPr>
                    <a:solidFill>
                      <a:srgbClr val="00B050"/>
                    </a:solidFill>
                  </a:tcPr>
                </a:tc>
                <a:tc>
                  <a:txBody>
                    <a:bodyPr/>
                    <a:lstStyle/>
                    <a:p>
                      <a:r>
                        <a:rPr lang="en-US" dirty="0"/>
                        <a:t>TAT =</a:t>
                      </a:r>
                    </a:p>
                    <a:p>
                      <a:r>
                        <a:rPr lang="en-US" dirty="0"/>
                        <a:t>CT-AT</a:t>
                      </a:r>
                    </a:p>
                  </a:txBody>
                  <a:tcPr>
                    <a:solidFill>
                      <a:srgbClr val="00B050"/>
                    </a:solidFill>
                  </a:tcPr>
                </a:tc>
                <a:tc>
                  <a:txBody>
                    <a:bodyPr/>
                    <a:lstStyle/>
                    <a:p>
                      <a:r>
                        <a:rPr lang="en-US" dirty="0"/>
                        <a:t>WT</a:t>
                      </a:r>
                    </a:p>
                  </a:txBody>
                  <a:tcPr>
                    <a:solidFill>
                      <a:srgbClr val="00B050"/>
                    </a:solidFill>
                  </a:tcPr>
                </a:tc>
                <a:tc>
                  <a:txBody>
                    <a:bodyPr/>
                    <a:lstStyle/>
                    <a:p>
                      <a:r>
                        <a:rPr lang="en-US" dirty="0"/>
                        <a:t>RT</a:t>
                      </a:r>
                    </a:p>
                  </a:txBody>
                  <a:tcPr>
                    <a:solidFill>
                      <a:srgbClr val="00B050"/>
                    </a:solidFill>
                  </a:tcPr>
                </a:tc>
                <a:tc>
                  <a:txBody>
                    <a:bodyPr/>
                    <a:lstStyle/>
                    <a:p>
                      <a:r>
                        <a:rPr lang="en-US" dirty="0"/>
                        <a:t>Context Switch</a:t>
                      </a:r>
                    </a:p>
                  </a:txBody>
                  <a:tcPr>
                    <a:solidFill>
                      <a:srgbClr val="00B050"/>
                    </a:solidFill>
                  </a:tcPr>
                </a:tc>
                <a:extLst>
                  <a:ext uri="{0D108BD9-81ED-4DB2-BD59-A6C34878D82A}">
                    <a16:rowId xmlns:a16="http://schemas.microsoft.com/office/drawing/2014/main" val="10000"/>
                  </a:ext>
                </a:extLst>
              </a:tr>
              <a:tr h="592177">
                <a:tc>
                  <a:txBody>
                    <a:bodyPr/>
                    <a:lstStyle/>
                    <a:p>
                      <a:pPr algn="ctr"/>
                      <a:r>
                        <a:rPr lang="en-US" sz="2400" b="1" dirty="0">
                          <a:solidFill>
                            <a:schemeClr val="bg1"/>
                          </a:solidFill>
                        </a:rPr>
                        <a:t>P1</a:t>
                      </a:r>
                    </a:p>
                  </a:txBody>
                  <a:tcPr>
                    <a:solidFill>
                      <a:srgbClr val="00B050"/>
                    </a:solidFill>
                  </a:tcPr>
                </a:tc>
                <a:tc>
                  <a:txBody>
                    <a:bodyPr/>
                    <a:lstStyle/>
                    <a:p>
                      <a:pPr algn="ctr"/>
                      <a:r>
                        <a:rPr lang="en-US" sz="2400" b="1" dirty="0">
                          <a:solidFill>
                            <a:schemeClr val="bg1"/>
                          </a:solidFill>
                        </a:rPr>
                        <a:t>0</a:t>
                      </a:r>
                    </a:p>
                  </a:txBody>
                  <a:tcPr>
                    <a:solidFill>
                      <a:srgbClr val="00B050"/>
                    </a:solidFill>
                  </a:tcPr>
                </a:tc>
                <a:tc>
                  <a:txBody>
                    <a:bodyPr/>
                    <a:lstStyle/>
                    <a:p>
                      <a:pPr algn="ctr"/>
                      <a:r>
                        <a:rPr lang="en-US" sz="2400" b="1" dirty="0">
                          <a:solidFill>
                            <a:schemeClr val="bg1"/>
                          </a:solidFill>
                        </a:rPr>
                        <a:t>4</a:t>
                      </a:r>
                    </a:p>
                  </a:txBody>
                  <a:tcPr>
                    <a:solidFill>
                      <a:srgbClr val="00B050"/>
                    </a:solidFill>
                  </a:tcPr>
                </a:tc>
                <a:tc>
                  <a:txBody>
                    <a:bodyPr/>
                    <a:lstStyle/>
                    <a:p>
                      <a:pPr algn="ctr"/>
                      <a:r>
                        <a:rPr lang="en-US" sz="2400" b="1" dirty="0">
                          <a:solidFill>
                            <a:schemeClr val="bg1"/>
                          </a:solidFill>
                        </a:rPr>
                        <a:t>1</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extLst>
                  <a:ext uri="{0D108BD9-81ED-4DB2-BD59-A6C34878D82A}">
                    <a16:rowId xmlns:a16="http://schemas.microsoft.com/office/drawing/2014/main" val="10001"/>
                  </a:ext>
                </a:extLst>
              </a:tr>
              <a:tr h="592177">
                <a:tc>
                  <a:txBody>
                    <a:bodyPr/>
                    <a:lstStyle/>
                    <a:p>
                      <a:pPr algn="ctr"/>
                      <a:r>
                        <a:rPr lang="en-US" sz="2400" b="1" dirty="0">
                          <a:solidFill>
                            <a:schemeClr val="bg1"/>
                          </a:solidFill>
                        </a:rPr>
                        <a:t>P2</a:t>
                      </a:r>
                    </a:p>
                  </a:txBody>
                  <a:tcPr>
                    <a:solidFill>
                      <a:srgbClr val="00B050"/>
                    </a:solidFill>
                  </a:tcPr>
                </a:tc>
                <a:tc>
                  <a:txBody>
                    <a:bodyPr/>
                    <a:lstStyle/>
                    <a:p>
                      <a:pPr algn="ctr"/>
                      <a:r>
                        <a:rPr lang="en-US" sz="2400" b="1" dirty="0">
                          <a:solidFill>
                            <a:schemeClr val="bg1"/>
                          </a:solidFill>
                        </a:rPr>
                        <a:t>0</a:t>
                      </a:r>
                    </a:p>
                  </a:txBody>
                  <a:tcPr>
                    <a:solidFill>
                      <a:srgbClr val="00B050"/>
                    </a:solidFill>
                  </a:tcPr>
                </a:tc>
                <a:tc>
                  <a:txBody>
                    <a:bodyPr/>
                    <a:lstStyle/>
                    <a:p>
                      <a:pPr algn="ctr"/>
                      <a:r>
                        <a:rPr lang="en-US" sz="2400" b="1" dirty="0">
                          <a:solidFill>
                            <a:schemeClr val="bg1"/>
                          </a:solidFill>
                        </a:rPr>
                        <a:t>3</a:t>
                      </a:r>
                    </a:p>
                  </a:txBody>
                  <a:tcPr>
                    <a:solidFill>
                      <a:srgbClr val="00B050"/>
                    </a:solidFill>
                  </a:tcPr>
                </a:tc>
                <a:tc>
                  <a:txBody>
                    <a:bodyPr/>
                    <a:lstStyle/>
                    <a:p>
                      <a:pPr algn="ctr"/>
                      <a:r>
                        <a:rPr lang="en-US" sz="2400" b="1" dirty="0">
                          <a:solidFill>
                            <a:schemeClr val="bg1"/>
                          </a:solidFill>
                        </a:rPr>
                        <a:t>1</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extLst>
                  <a:ext uri="{0D108BD9-81ED-4DB2-BD59-A6C34878D82A}">
                    <a16:rowId xmlns:a16="http://schemas.microsoft.com/office/drawing/2014/main" val="10002"/>
                  </a:ext>
                </a:extLst>
              </a:tr>
              <a:tr h="592177">
                <a:tc>
                  <a:txBody>
                    <a:bodyPr/>
                    <a:lstStyle/>
                    <a:p>
                      <a:pPr algn="ctr"/>
                      <a:r>
                        <a:rPr lang="en-US" sz="2400" b="1" dirty="0">
                          <a:solidFill>
                            <a:schemeClr val="bg1"/>
                          </a:solidFill>
                        </a:rPr>
                        <a:t>P3</a:t>
                      </a:r>
                    </a:p>
                  </a:txBody>
                  <a:tcPr>
                    <a:solidFill>
                      <a:srgbClr val="00B050"/>
                    </a:solidFill>
                  </a:tcPr>
                </a:tc>
                <a:tc>
                  <a:txBody>
                    <a:bodyPr/>
                    <a:lstStyle/>
                    <a:p>
                      <a:pPr algn="ctr"/>
                      <a:r>
                        <a:rPr lang="en-US" sz="2400" b="1" dirty="0">
                          <a:solidFill>
                            <a:schemeClr val="bg1"/>
                          </a:solidFill>
                        </a:rPr>
                        <a:t>0</a:t>
                      </a:r>
                    </a:p>
                  </a:txBody>
                  <a:tcPr>
                    <a:solidFill>
                      <a:srgbClr val="00B050"/>
                    </a:solidFill>
                  </a:tcPr>
                </a:tc>
                <a:tc>
                  <a:txBody>
                    <a:bodyPr/>
                    <a:lstStyle/>
                    <a:p>
                      <a:pPr algn="ctr"/>
                      <a:r>
                        <a:rPr lang="en-US" sz="2400" b="1" dirty="0">
                          <a:solidFill>
                            <a:schemeClr val="bg1"/>
                          </a:solidFill>
                        </a:rPr>
                        <a:t>8</a:t>
                      </a:r>
                    </a:p>
                  </a:txBody>
                  <a:tcPr>
                    <a:solidFill>
                      <a:srgbClr val="00B050"/>
                    </a:solidFill>
                  </a:tcPr>
                </a:tc>
                <a:tc>
                  <a:txBody>
                    <a:bodyPr/>
                    <a:lstStyle/>
                    <a:p>
                      <a:pPr algn="ctr"/>
                      <a:r>
                        <a:rPr lang="en-US" sz="2400" b="1" dirty="0">
                          <a:solidFill>
                            <a:schemeClr val="bg1"/>
                          </a:solidFill>
                        </a:rPr>
                        <a:t>2</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extLst>
                  <a:ext uri="{0D108BD9-81ED-4DB2-BD59-A6C34878D82A}">
                    <a16:rowId xmlns:a16="http://schemas.microsoft.com/office/drawing/2014/main" val="10003"/>
                  </a:ext>
                </a:extLst>
              </a:tr>
              <a:tr h="592177">
                <a:tc>
                  <a:txBody>
                    <a:bodyPr/>
                    <a:lstStyle/>
                    <a:p>
                      <a:pPr algn="ctr"/>
                      <a:r>
                        <a:rPr lang="en-US" sz="2400" b="1" dirty="0">
                          <a:solidFill>
                            <a:schemeClr val="bg1"/>
                          </a:solidFill>
                        </a:rPr>
                        <a:t>P4</a:t>
                      </a:r>
                    </a:p>
                  </a:txBody>
                  <a:tcPr>
                    <a:solidFill>
                      <a:srgbClr val="00B050"/>
                    </a:solidFill>
                  </a:tcPr>
                </a:tc>
                <a:tc>
                  <a:txBody>
                    <a:bodyPr/>
                    <a:lstStyle/>
                    <a:p>
                      <a:pPr algn="ctr"/>
                      <a:r>
                        <a:rPr lang="en-US" sz="2400" b="1" dirty="0">
                          <a:solidFill>
                            <a:schemeClr val="bg1"/>
                          </a:solidFill>
                        </a:rPr>
                        <a:t>10</a:t>
                      </a:r>
                    </a:p>
                  </a:txBody>
                  <a:tcPr>
                    <a:solidFill>
                      <a:srgbClr val="00B050"/>
                    </a:solidFill>
                  </a:tcPr>
                </a:tc>
                <a:tc>
                  <a:txBody>
                    <a:bodyPr/>
                    <a:lstStyle/>
                    <a:p>
                      <a:pPr algn="ctr"/>
                      <a:r>
                        <a:rPr lang="en-US" sz="2400" b="1" dirty="0">
                          <a:solidFill>
                            <a:schemeClr val="bg1"/>
                          </a:solidFill>
                        </a:rPr>
                        <a:t>5</a:t>
                      </a:r>
                    </a:p>
                  </a:txBody>
                  <a:tcPr>
                    <a:solidFill>
                      <a:srgbClr val="00B050"/>
                    </a:solidFill>
                  </a:tcPr>
                </a:tc>
                <a:tc>
                  <a:txBody>
                    <a:bodyPr/>
                    <a:lstStyle/>
                    <a:p>
                      <a:pPr algn="ctr"/>
                      <a:r>
                        <a:rPr lang="en-US" sz="2400" b="1" dirty="0">
                          <a:solidFill>
                            <a:schemeClr val="bg1"/>
                          </a:solidFill>
                        </a:rPr>
                        <a:t>1</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extLst>
                  <a:ext uri="{0D108BD9-81ED-4DB2-BD59-A6C34878D82A}">
                    <a16:rowId xmlns:a16="http://schemas.microsoft.com/office/drawing/2014/main" val="10004"/>
                  </a:ext>
                </a:extLst>
              </a:tr>
            </a:tbl>
          </a:graphicData>
        </a:graphic>
      </p:graphicFrame>
      <p:pic>
        <p:nvPicPr>
          <p:cNvPr id="5" name="Picture 4"/>
          <p:cNvPicPr>
            <a:picLocks noChangeAspect="1"/>
          </p:cNvPicPr>
          <p:nvPr/>
        </p:nvPicPr>
        <p:blipFill>
          <a:blip r:embed="rId2"/>
          <a:stretch>
            <a:fillRect/>
          </a:stretch>
        </p:blipFill>
        <p:spPr>
          <a:xfrm>
            <a:off x="1709328" y="5562600"/>
            <a:ext cx="6825073" cy="1114516"/>
          </a:xfrm>
          <a:prstGeom prst="rect">
            <a:avLst/>
          </a:prstGeom>
        </p:spPr>
      </p:pic>
      <p:pic>
        <p:nvPicPr>
          <p:cNvPr id="6" name="Picture 5"/>
          <p:cNvPicPr>
            <a:picLocks noChangeAspect="1"/>
          </p:cNvPicPr>
          <p:nvPr/>
        </p:nvPicPr>
        <p:blipFill>
          <a:blip r:embed="rId3"/>
          <a:stretch>
            <a:fillRect/>
          </a:stretch>
        </p:blipFill>
        <p:spPr>
          <a:xfrm>
            <a:off x="5819775" y="422726"/>
            <a:ext cx="4000500" cy="1610180"/>
          </a:xfrm>
          <a:prstGeom prst="rect">
            <a:avLst/>
          </a:prstGeom>
        </p:spPr>
      </p:pic>
    </p:spTree>
    <p:extLst>
      <p:ext uri="{BB962C8B-B14F-4D97-AF65-F5344CB8AC3E}">
        <p14:creationId xmlns:p14="http://schemas.microsoft.com/office/powerpoint/2010/main" val="4116402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2184400" y="181838"/>
            <a:ext cx="8026400" cy="576262"/>
          </a:xfrm>
        </p:spPr>
        <p:txBody>
          <a:bodyPr/>
          <a:lstStyle/>
          <a:p>
            <a:pPr eaLnBrk="1" hangingPunct="1"/>
            <a:r>
              <a:rPr lang="en-US" altLang="en-US" dirty="0"/>
              <a:t>Multilevel Feedback Queue</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type="body" idx="1"/>
          </p:nvPr>
        </p:nvSpPr>
        <p:spPr>
          <a:xfrm>
            <a:off x="2354425" y="1144347"/>
            <a:ext cx="7341303" cy="4399927"/>
          </a:xfrm>
        </p:spPr>
        <p:txBody>
          <a:bodyPr/>
          <a:lstStyle/>
          <a:p>
            <a:r>
              <a:rPr lang="en-US" altLang="en-US" dirty="0"/>
              <a:t>A process can move between the various queues.</a:t>
            </a:r>
          </a:p>
          <a:p>
            <a:r>
              <a:rPr lang="en-US" altLang="en-US" dirty="0"/>
              <a:t>Multilevel-feedback-queue scheduler defined by the following parameters:</a:t>
            </a:r>
          </a:p>
          <a:p>
            <a:pPr lvl="1"/>
            <a:r>
              <a:rPr lang="en-US" altLang="en-US" dirty="0"/>
              <a:t>Number of queues</a:t>
            </a:r>
          </a:p>
          <a:p>
            <a:pPr lvl="1"/>
            <a:r>
              <a:rPr lang="en-US" altLang="en-US" dirty="0"/>
              <a:t>Scheduling algorithms for each queue</a:t>
            </a:r>
          </a:p>
          <a:p>
            <a:pPr lvl="1"/>
            <a:r>
              <a:rPr lang="en-US" altLang="en-US" dirty="0"/>
              <a:t>Method used to determine when to upgrade a process</a:t>
            </a:r>
          </a:p>
          <a:p>
            <a:pPr lvl="1"/>
            <a:r>
              <a:rPr lang="en-US" altLang="en-US" dirty="0"/>
              <a:t>Method used to determine when to demote a process</a:t>
            </a:r>
          </a:p>
          <a:p>
            <a:pPr lvl="1"/>
            <a:r>
              <a:rPr lang="en-US" altLang="en-US" dirty="0"/>
              <a:t>Method used to determine which queue a process will enter when that process needs service</a:t>
            </a:r>
          </a:p>
          <a:p>
            <a:r>
              <a:rPr lang="en-US" altLang="en-US" dirty="0"/>
              <a:t>Aging can be implemented using multilevel feedback queue</a:t>
            </a:r>
          </a:p>
        </p:txBody>
      </p:sp>
    </p:spTree>
    <p:extLst>
      <p:ext uri="{BB962C8B-B14F-4D97-AF65-F5344CB8AC3E}">
        <p14:creationId xmlns:p14="http://schemas.microsoft.com/office/powerpoint/2010/main" val="25706981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4CCD566E-DD44-408E-84CD-E9F177C9548D}"/>
              </a:ext>
            </a:extLst>
          </p:cNvPr>
          <p:cNvSpPr>
            <a:spLocks noGrp="1" noChangeArrowheads="1"/>
          </p:cNvSpPr>
          <p:nvPr>
            <p:ph type="title"/>
          </p:nvPr>
        </p:nvSpPr>
        <p:spPr>
          <a:xfrm>
            <a:off x="2762138" y="42179"/>
            <a:ext cx="8186349" cy="679450"/>
          </a:xfrm>
        </p:spPr>
        <p:txBody>
          <a:bodyPr/>
          <a:lstStyle/>
          <a:p>
            <a:pPr eaLnBrk="1" hangingPunct="1"/>
            <a:r>
              <a:rPr lang="en-US" altLang="en-US" dirty="0"/>
              <a:t>Example of Multilevel Feedback Queue</a:t>
            </a:r>
          </a:p>
        </p:txBody>
      </p:sp>
      <p:sp>
        <p:nvSpPr>
          <p:cNvPr id="59394" name="Rectangle 3">
            <a:extLst>
              <a:ext uri="{FF2B5EF4-FFF2-40B4-BE49-F238E27FC236}">
                <a16:creationId xmlns:a16="http://schemas.microsoft.com/office/drawing/2014/main" id="{613E5F61-646B-48FF-83DC-0216A8F01A46}"/>
              </a:ext>
            </a:extLst>
          </p:cNvPr>
          <p:cNvSpPr>
            <a:spLocks noGrp="1" noChangeArrowheads="1"/>
          </p:cNvSpPr>
          <p:nvPr>
            <p:ph type="body" idx="1"/>
          </p:nvPr>
        </p:nvSpPr>
        <p:spPr>
          <a:xfrm>
            <a:off x="1882775" y="1148638"/>
            <a:ext cx="4742319" cy="4663180"/>
          </a:xfrm>
        </p:spPr>
        <p:txBody>
          <a:bodyPr/>
          <a:lstStyle/>
          <a:p>
            <a:r>
              <a:rPr lang="en-US" altLang="en-US" dirty="0"/>
              <a:t>Three queues: </a:t>
            </a:r>
          </a:p>
          <a:p>
            <a:pPr lvl="1"/>
            <a:r>
              <a:rPr lang="en-US" altLang="en-US" sz="1600" i="1" dirty="0"/>
              <a:t>Q</a:t>
            </a:r>
            <a:r>
              <a:rPr lang="en-US" altLang="en-US" sz="1600" baseline="-25000" dirty="0"/>
              <a:t>0</a:t>
            </a:r>
            <a:r>
              <a:rPr lang="en-US" altLang="en-US" sz="1600" dirty="0"/>
              <a:t> – RR with time quantum 8 milliseconds</a:t>
            </a:r>
          </a:p>
          <a:p>
            <a:pPr lvl="1"/>
            <a:r>
              <a:rPr lang="en-US" altLang="en-US" sz="1600" i="1" dirty="0"/>
              <a:t>Q</a:t>
            </a:r>
            <a:r>
              <a:rPr lang="en-US" altLang="en-US" sz="1600" baseline="-25000" dirty="0"/>
              <a:t>1</a:t>
            </a:r>
            <a:r>
              <a:rPr lang="en-US" altLang="en-US" sz="1600" dirty="0"/>
              <a:t> – RR time quantum 16 milliseconds</a:t>
            </a:r>
          </a:p>
          <a:p>
            <a:pPr lvl="1"/>
            <a:r>
              <a:rPr lang="en-US" altLang="en-US" sz="1600" i="1" dirty="0"/>
              <a:t>Q</a:t>
            </a:r>
            <a:r>
              <a:rPr lang="en-US" altLang="en-US" sz="1600" baseline="-25000" dirty="0"/>
              <a:t>2</a:t>
            </a:r>
            <a:r>
              <a:rPr lang="en-US" altLang="en-US" sz="1600" dirty="0"/>
              <a:t> – FCFS</a:t>
            </a:r>
            <a:endParaRPr lang="en-US" altLang="en-US" sz="1400" dirty="0"/>
          </a:p>
          <a:p>
            <a:r>
              <a:rPr lang="en-US" altLang="en-US" dirty="0"/>
              <a:t>Scheduling</a:t>
            </a:r>
          </a:p>
          <a:p>
            <a:pPr lvl="1"/>
            <a:r>
              <a:rPr lang="en-US" altLang="en-US" sz="1600" dirty="0"/>
              <a:t>A new process enters queue </a:t>
            </a:r>
            <a:r>
              <a:rPr lang="en-US" altLang="en-US" sz="1600" i="1" dirty="0"/>
              <a:t>Q</a:t>
            </a:r>
            <a:r>
              <a:rPr lang="en-US" altLang="en-US" sz="1600" i="1" baseline="-25000" dirty="0"/>
              <a:t>0</a:t>
            </a:r>
            <a:r>
              <a:rPr lang="en-US" altLang="en-US" sz="1600" i="1" dirty="0"/>
              <a:t> </a:t>
            </a:r>
            <a:r>
              <a:rPr lang="en-US" altLang="en-US" sz="1600" dirty="0"/>
              <a:t>which is served</a:t>
            </a:r>
            <a:r>
              <a:rPr lang="en-US" altLang="en-US" sz="1600" i="1" dirty="0"/>
              <a:t> </a:t>
            </a:r>
            <a:r>
              <a:rPr lang="en-US" altLang="en-US" sz="1600" dirty="0"/>
              <a:t>in</a:t>
            </a:r>
            <a:r>
              <a:rPr lang="en-US" altLang="en-US" sz="1600" i="1" dirty="0"/>
              <a:t> </a:t>
            </a:r>
            <a:r>
              <a:rPr lang="en-US" altLang="en-US" sz="1600" dirty="0"/>
              <a:t>RR</a:t>
            </a:r>
          </a:p>
          <a:p>
            <a:pPr lvl="2"/>
            <a:r>
              <a:rPr lang="en-US" altLang="en-US" sz="1400" dirty="0"/>
              <a:t>When it gains CPU, the process receives 8 milliseconds</a:t>
            </a:r>
          </a:p>
          <a:p>
            <a:pPr lvl="2"/>
            <a:r>
              <a:rPr lang="en-US" altLang="en-US" sz="1400" dirty="0"/>
              <a:t>If it does not finish in 8 milliseconds, the process  is moved to queue </a:t>
            </a:r>
            <a:r>
              <a:rPr lang="en-US" altLang="en-US" sz="1400" i="1" dirty="0"/>
              <a:t>Q</a:t>
            </a:r>
            <a:r>
              <a:rPr lang="en-US" altLang="en-US" sz="1400" baseline="-25000" dirty="0"/>
              <a:t>1</a:t>
            </a:r>
            <a:endParaRPr lang="en-US" altLang="en-US" sz="1400" dirty="0"/>
          </a:p>
          <a:p>
            <a:pPr lvl="1"/>
            <a:r>
              <a:rPr lang="en-US" altLang="en-US" sz="1600" dirty="0"/>
              <a:t>At </a:t>
            </a:r>
            <a:r>
              <a:rPr lang="en-US" altLang="en-US" sz="1600" i="1" dirty="0"/>
              <a:t>Q</a:t>
            </a:r>
            <a:r>
              <a:rPr lang="en-US" altLang="en-US" sz="1600" baseline="-25000" dirty="0"/>
              <a:t>1</a:t>
            </a:r>
            <a:r>
              <a:rPr lang="en-US" altLang="en-US" sz="1600" dirty="0"/>
              <a:t> job is again served in RR and receives 16 additional milliseconds</a:t>
            </a:r>
          </a:p>
          <a:p>
            <a:pPr lvl="2"/>
            <a:r>
              <a:rPr lang="en-US" altLang="en-US" sz="1400" dirty="0"/>
              <a:t>If it still does not complete, it is preempted and moved to queue </a:t>
            </a:r>
            <a:r>
              <a:rPr lang="en-US" altLang="en-US" sz="1400" i="1" dirty="0"/>
              <a:t>Q</a:t>
            </a:r>
            <a:r>
              <a:rPr lang="en-US" altLang="en-US" sz="1400" baseline="-25000" dirty="0"/>
              <a:t>2</a:t>
            </a:r>
            <a:endParaRPr lang="en-US" altLang="en-US" sz="1400" dirty="0"/>
          </a:p>
        </p:txBody>
      </p:sp>
      <p:pic>
        <p:nvPicPr>
          <p:cNvPr id="59395" name="Picture 1">
            <a:extLst>
              <a:ext uri="{FF2B5EF4-FFF2-40B4-BE49-F238E27FC236}">
                <a16:creationId xmlns:a16="http://schemas.microsoft.com/office/drawing/2014/main" id="{BE9B9DB7-2D01-4469-B225-66245C9CC07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5093" y="1762125"/>
            <a:ext cx="3480932" cy="340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15043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Multilevel Feedback Queue</a:t>
            </a:r>
            <a:endParaRPr lang="en-US" dirty="0"/>
          </a:p>
        </p:txBody>
      </p:sp>
      <p:pic>
        <p:nvPicPr>
          <p:cNvPr id="4" name="Picture 3"/>
          <p:cNvPicPr>
            <a:picLocks noChangeAspect="1"/>
          </p:cNvPicPr>
          <p:nvPr/>
        </p:nvPicPr>
        <p:blipFill>
          <a:blip r:embed="rId2"/>
          <a:stretch>
            <a:fillRect/>
          </a:stretch>
        </p:blipFill>
        <p:spPr>
          <a:xfrm>
            <a:off x="1721906" y="1777308"/>
            <a:ext cx="5269444" cy="2680391"/>
          </a:xfrm>
          <a:prstGeom prst="rect">
            <a:avLst/>
          </a:prstGeom>
        </p:spPr>
      </p:pic>
      <p:pic>
        <p:nvPicPr>
          <p:cNvPr id="5" name="Picture 4"/>
          <p:cNvPicPr>
            <a:picLocks noChangeAspect="1"/>
          </p:cNvPicPr>
          <p:nvPr/>
        </p:nvPicPr>
        <p:blipFill>
          <a:blip r:embed="rId3"/>
          <a:stretch>
            <a:fillRect/>
          </a:stretch>
        </p:blipFill>
        <p:spPr>
          <a:xfrm>
            <a:off x="7216035" y="1358187"/>
            <a:ext cx="3366240" cy="3099513"/>
          </a:xfrm>
          <a:prstGeom prst="rect">
            <a:avLst/>
          </a:prstGeom>
        </p:spPr>
      </p:pic>
      <p:sp>
        <p:nvSpPr>
          <p:cNvPr id="6" name="TextBox 5"/>
          <p:cNvSpPr txBox="1"/>
          <p:nvPr/>
        </p:nvSpPr>
        <p:spPr>
          <a:xfrm>
            <a:off x="1876425" y="4791076"/>
            <a:ext cx="7905750" cy="646331"/>
          </a:xfrm>
          <a:prstGeom prst="rect">
            <a:avLst/>
          </a:prstGeom>
          <a:noFill/>
        </p:spPr>
        <p:txBody>
          <a:bodyPr wrap="square" rtlCol="0">
            <a:spAutoFit/>
          </a:bodyPr>
          <a:lstStyle/>
          <a:p>
            <a:r>
              <a:rPr lang="en-US" b="1" dirty="0"/>
              <a:t>Using Multilevel feedback queuing, calculate ATAT and AWT and Draw Gantt chart.</a:t>
            </a:r>
          </a:p>
        </p:txBody>
      </p:sp>
    </p:spTree>
    <p:extLst>
      <p:ext uri="{BB962C8B-B14F-4D97-AF65-F5344CB8AC3E}">
        <p14:creationId xmlns:p14="http://schemas.microsoft.com/office/powerpoint/2010/main" val="5300317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876426" y="1269091"/>
            <a:ext cx="4810125" cy="336550"/>
          </a:xfrm>
        </p:spPr>
        <p:txBody>
          <a:bodyPr/>
          <a:lstStyle/>
          <a:p>
            <a:pPr eaLnBrk="1" hangingPunct="1"/>
            <a:r>
              <a:rPr lang="en-US" altLang="en-US" sz="2800" dirty="0"/>
              <a:t>Multilevel feedback Queue Scheduling</a:t>
            </a:r>
            <a:br>
              <a:rPr lang="en-US" altLang="en-US" sz="2800" dirty="0"/>
            </a:br>
            <a:endParaRPr lang="en-US" altLang="en-US" sz="2800" dirty="0">
              <a:solidFill>
                <a:srgbClr val="FF0000"/>
              </a:solidFill>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90772409"/>
              </p:ext>
            </p:extLst>
          </p:nvPr>
        </p:nvGraphicFramePr>
        <p:xfrm>
          <a:off x="1794616" y="2246992"/>
          <a:ext cx="7419975" cy="2897505"/>
        </p:xfrm>
        <a:graphic>
          <a:graphicData uri="http://schemas.openxmlformats.org/drawingml/2006/table">
            <a:tbl>
              <a:tblPr firstRow="1" bandRow="1">
                <a:tableStyleId>{5C22544A-7EE6-4342-B048-85BDC9FD1C3A}</a:tableStyleId>
              </a:tblPr>
              <a:tblGrid>
                <a:gridCol w="825142">
                  <a:extLst>
                    <a:ext uri="{9D8B030D-6E8A-4147-A177-3AD203B41FA5}">
                      <a16:colId xmlns:a16="http://schemas.microsoft.com/office/drawing/2014/main" val="20000"/>
                    </a:ext>
                  </a:extLst>
                </a:gridCol>
                <a:gridCol w="975083">
                  <a:extLst>
                    <a:ext uri="{9D8B030D-6E8A-4147-A177-3AD203B41FA5}">
                      <a16:colId xmlns:a16="http://schemas.microsoft.com/office/drawing/2014/main" val="20001"/>
                    </a:ext>
                  </a:extLst>
                </a:gridCol>
                <a:gridCol w="857250">
                  <a:extLst>
                    <a:ext uri="{9D8B030D-6E8A-4147-A177-3AD203B41FA5}">
                      <a16:colId xmlns:a16="http://schemas.microsoft.com/office/drawing/2014/main" val="20002"/>
                    </a:ext>
                  </a:extLst>
                </a:gridCol>
                <a:gridCol w="940789">
                  <a:extLst>
                    <a:ext uri="{9D8B030D-6E8A-4147-A177-3AD203B41FA5}">
                      <a16:colId xmlns:a16="http://schemas.microsoft.com/office/drawing/2014/main" val="20003"/>
                    </a:ext>
                  </a:extLst>
                </a:gridCol>
                <a:gridCol w="859885">
                  <a:extLst>
                    <a:ext uri="{9D8B030D-6E8A-4147-A177-3AD203B41FA5}">
                      <a16:colId xmlns:a16="http://schemas.microsoft.com/office/drawing/2014/main" val="20004"/>
                    </a:ext>
                  </a:extLst>
                </a:gridCol>
                <a:gridCol w="1121283">
                  <a:extLst>
                    <a:ext uri="{9D8B030D-6E8A-4147-A177-3AD203B41FA5}">
                      <a16:colId xmlns:a16="http://schemas.microsoft.com/office/drawing/2014/main" val="20005"/>
                    </a:ext>
                  </a:extLst>
                </a:gridCol>
                <a:gridCol w="850155">
                  <a:extLst>
                    <a:ext uri="{9D8B030D-6E8A-4147-A177-3AD203B41FA5}">
                      <a16:colId xmlns:a16="http://schemas.microsoft.com/office/drawing/2014/main" val="20006"/>
                    </a:ext>
                  </a:extLst>
                </a:gridCol>
                <a:gridCol w="990388">
                  <a:extLst>
                    <a:ext uri="{9D8B030D-6E8A-4147-A177-3AD203B41FA5}">
                      <a16:colId xmlns:a16="http://schemas.microsoft.com/office/drawing/2014/main" val="20007"/>
                    </a:ext>
                  </a:extLst>
                </a:gridCol>
              </a:tblGrid>
              <a:tr h="977265">
                <a:tc>
                  <a:txBody>
                    <a:bodyPr/>
                    <a:lstStyle/>
                    <a:p>
                      <a:r>
                        <a:rPr lang="en-US" dirty="0"/>
                        <a:t>Process</a:t>
                      </a:r>
                    </a:p>
                  </a:txBody>
                  <a:tcPr>
                    <a:solidFill>
                      <a:srgbClr val="00B050"/>
                    </a:solidFill>
                  </a:tcPr>
                </a:tc>
                <a:tc>
                  <a:txBody>
                    <a:bodyPr/>
                    <a:lstStyle/>
                    <a:p>
                      <a:r>
                        <a:rPr lang="en-US" dirty="0"/>
                        <a:t>Arrival</a:t>
                      </a:r>
                      <a:r>
                        <a:rPr lang="en-US" baseline="0" dirty="0"/>
                        <a:t> Time</a:t>
                      </a:r>
                      <a:endParaRPr lang="en-US" dirty="0"/>
                    </a:p>
                  </a:txBody>
                  <a:tcPr>
                    <a:solidFill>
                      <a:srgbClr val="00B050"/>
                    </a:solidFill>
                  </a:tcPr>
                </a:tc>
                <a:tc>
                  <a:txBody>
                    <a:bodyPr/>
                    <a:lstStyle/>
                    <a:p>
                      <a:r>
                        <a:rPr lang="en-US" dirty="0"/>
                        <a:t>Burst Time</a:t>
                      </a:r>
                    </a:p>
                  </a:txBody>
                  <a:tcPr>
                    <a:solidFill>
                      <a:srgbClr val="00B050"/>
                    </a:solidFill>
                  </a:tcPr>
                </a:tc>
                <a:tc>
                  <a:txBody>
                    <a:bodyPr/>
                    <a:lstStyle/>
                    <a:p>
                      <a:r>
                        <a:rPr lang="en-US" dirty="0"/>
                        <a:t>CT</a:t>
                      </a:r>
                    </a:p>
                  </a:txBody>
                  <a:tcPr>
                    <a:solidFill>
                      <a:srgbClr val="00B050"/>
                    </a:solidFill>
                  </a:tcPr>
                </a:tc>
                <a:tc>
                  <a:txBody>
                    <a:bodyPr/>
                    <a:lstStyle/>
                    <a:p>
                      <a:r>
                        <a:rPr lang="en-US" dirty="0"/>
                        <a:t>TAT =</a:t>
                      </a:r>
                    </a:p>
                    <a:p>
                      <a:r>
                        <a:rPr lang="en-US" dirty="0"/>
                        <a:t>CT-AT</a:t>
                      </a:r>
                    </a:p>
                  </a:txBody>
                  <a:tcPr>
                    <a:solidFill>
                      <a:srgbClr val="00B050"/>
                    </a:solidFill>
                  </a:tcPr>
                </a:tc>
                <a:tc>
                  <a:txBody>
                    <a:bodyPr/>
                    <a:lstStyle/>
                    <a:p>
                      <a:r>
                        <a:rPr lang="en-US" dirty="0"/>
                        <a:t>WT</a:t>
                      </a:r>
                    </a:p>
                  </a:txBody>
                  <a:tcPr>
                    <a:solidFill>
                      <a:srgbClr val="00B050"/>
                    </a:solidFill>
                  </a:tcPr>
                </a:tc>
                <a:tc>
                  <a:txBody>
                    <a:bodyPr/>
                    <a:lstStyle/>
                    <a:p>
                      <a:r>
                        <a:rPr lang="en-US" dirty="0"/>
                        <a:t>RT</a:t>
                      </a:r>
                    </a:p>
                  </a:txBody>
                  <a:tcPr>
                    <a:solidFill>
                      <a:srgbClr val="00B050"/>
                    </a:solidFill>
                  </a:tcPr>
                </a:tc>
                <a:tc>
                  <a:txBody>
                    <a:bodyPr/>
                    <a:lstStyle/>
                    <a:p>
                      <a:r>
                        <a:rPr lang="en-US" dirty="0"/>
                        <a:t>Context Switch</a:t>
                      </a:r>
                    </a:p>
                  </a:txBody>
                  <a:tcPr>
                    <a:solidFill>
                      <a:srgbClr val="00B050"/>
                    </a:solidFill>
                  </a:tcPr>
                </a:tc>
                <a:extLst>
                  <a:ext uri="{0D108BD9-81ED-4DB2-BD59-A6C34878D82A}">
                    <a16:rowId xmlns:a16="http://schemas.microsoft.com/office/drawing/2014/main" val="10000"/>
                  </a:ext>
                </a:extLst>
              </a:tr>
              <a:tr h="592177">
                <a:tc>
                  <a:txBody>
                    <a:bodyPr/>
                    <a:lstStyle/>
                    <a:p>
                      <a:pPr algn="ctr"/>
                      <a:r>
                        <a:rPr lang="en-US" sz="2400" b="1" dirty="0">
                          <a:solidFill>
                            <a:schemeClr val="bg1"/>
                          </a:solidFill>
                        </a:rPr>
                        <a:t>P1</a:t>
                      </a:r>
                    </a:p>
                  </a:txBody>
                  <a:tcPr>
                    <a:solidFill>
                      <a:srgbClr val="00B050"/>
                    </a:solidFill>
                  </a:tcPr>
                </a:tc>
                <a:tc>
                  <a:txBody>
                    <a:bodyPr/>
                    <a:lstStyle/>
                    <a:p>
                      <a:pPr algn="ctr"/>
                      <a:r>
                        <a:rPr lang="en-US" sz="2400" b="1" dirty="0">
                          <a:solidFill>
                            <a:schemeClr val="bg1"/>
                          </a:solidFill>
                        </a:rPr>
                        <a:t>0</a:t>
                      </a:r>
                    </a:p>
                  </a:txBody>
                  <a:tcPr>
                    <a:solidFill>
                      <a:srgbClr val="00B050"/>
                    </a:solidFill>
                  </a:tcPr>
                </a:tc>
                <a:tc>
                  <a:txBody>
                    <a:bodyPr/>
                    <a:lstStyle/>
                    <a:p>
                      <a:pPr algn="ctr"/>
                      <a:r>
                        <a:rPr lang="en-US" sz="2400" b="1" dirty="0">
                          <a:solidFill>
                            <a:schemeClr val="bg1"/>
                          </a:solidFill>
                        </a:rPr>
                        <a:t>36</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extLst>
                  <a:ext uri="{0D108BD9-81ED-4DB2-BD59-A6C34878D82A}">
                    <a16:rowId xmlns:a16="http://schemas.microsoft.com/office/drawing/2014/main" val="10001"/>
                  </a:ext>
                </a:extLst>
              </a:tr>
              <a:tr h="592177">
                <a:tc>
                  <a:txBody>
                    <a:bodyPr/>
                    <a:lstStyle/>
                    <a:p>
                      <a:pPr algn="ctr"/>
                      <a:r>
                        <a:rPr lang="en-US" sz="2400" b="1" dirty="0">
                          <a:solidFill>
                            <a:schemeClr val="bg1"/>
                          </a:solidFill>
                        </a:rPr>
                        <a:t>P2</a:t>
                      </a:r>
                    </a:p>
                  </a:txBody>
                  <a:tcPr>
                    <a:solidFill>
                      <a:srgbClr val="00B050"/>
                    </a:solidFill>
                  </a:tcPr>
                </a:tc>
                <a:tc>
                  <a:txBody>
                    <a:bodyPr/>
                    <a:lstStyle/>
                    <a:p>
                      <a:pPr algn="ctr"/>
                      <a:r>
                        <a:rPr lang="en-US" sz="2400" b="1" dirty="0">
                          <a:solidFill>
                            <a:schemeClr val="bg1"/>
                          </a:solidFill>
                        </a:rPr>
                        <a:t>16</a:t>
                      </a:r>
                    </a:p>
                  </a:txBody>
                  <a:tcPr>
                    <a:solidFill>
                      <a:srgbClr val="00B050"/>
                    </a:solidFill>
                  </a:tcPr>
                </a:tc>
                <a:tc>
                  <a:txBody>
                    <a:bodyPr/>
                    <a:lstStyle/>
                    <a:p>
                      <a:pPr algn="ctr"/>
                      <a:r>
                        <a:rPr lang="en-US" sz="2400" b="1" dirty="0">
                          <a:solidFill>
                            <a:schemeClr val="bg1"/>
                          </a:solidFill>
                        </a:rPr>
                        <a:t>20</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extLst>
                  <a:ext uri="{0D108BD9-81ED-4DB2-BD59-A6C34878D82A}">
                    <a16:rowId xmlns:a16="http://schemas.microsoft.com/office/drawing/2014/main" val="10002"/>
                  </a:ext>
                </a:extLst>
              </a:tr>
              <a:tr h="592177">
                <a:tc>
                  <a:txBody>
                    <a:bodyPr/>
                    <a:lstStyle/>
                    <a:p>
                      <a:pPr algn="ctr"/>
                      <a:r>
                        <a:rPr lang="en-US" sz="2400" b="1" dirty="0">
                          <a:solidFill>
                            <a:schemeClr val="bg1"/>
                          </a:solidFill>
                        </a:rPr>
                        <a:t>P3</a:t>
                      </a:r>
                    </a:p>
                  </a:txBody>
                  <a:tcPr>
                    <a:solidFill>
                      <a:srgbClr val="00B050"/>
                    </a:solidFill>
                  </a:tcPr>
                </a:tc>
                <a:tc>
                  <a:txBody>
                    <a:bodyPr/>
                    <a:lstStyle/>
                    <a:p>
                      <a:pPr algn="ctr"/>
                      <a:r>
                        <a:rPr lang="en-US" sz="2400" b="1" dirty="0">
                          <a:solidFill>
                            <a:schemeClr val="bg1"/>
                          </a:solidFill>
                        </a:rPr>
                        <a:t>20</a:t>
                      </a:r>
                    </a:p>
                  </a:txBody>
                  <a:tcPr>
                    <a:solidFill>
                      <a:srgbClr val="00B050"/>
                    </a:solidFill>
                  </a:tcPr>
                </a:tc>
                <a:tc>
                  <a:txBody>
                    <a:bodyPr/>
                    <a:lstStyle/>
                    <a:p>
                      <a:pPr algn="ctr"/>
                      <a:r>
                        <a:rPr lang="en-US" sz="2400" b="1" dirty="0">
                          <a:solidFill>
                            <a:schemeClr val="bg1"/>
                          </a:solidFill>
                        </a:rPr>
                        <a:t>12</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extLst>
                  <a:ext uri="{0D108BD9-81ED-4DB2-BD59-A6C34878D82A}">
                    <a16:rowId xmlns:a16="http://schemas.microsoft.com/office/drawing/2014/main" val="10003"/>
                  </a:ext>
                </a:extLst>
              </a:tr>
            </a:tbl>
          </a:graphicData>
        </a:graphic>
      </p:graphicFrame>
      <p:pic>
        <p:nvPicPr>
          <p:cNvPr id="2" name="Picture 1"/>
          <p:cNvPicPr>
            <a:picLocks noChangeAspect="1"/>
          </p:cNvPicPr>
          <p:nvPr/>
        </p:nvPicPr>
        <p:blipFill>
          <a:blip r:embed="rId2"/>
          <a:stretch>
            <a:fillRect/>
          </a:stretch>
        </p:blipFill>
        <p:spPr>
          <a:xfrm>
            <a:off x="1771411" y="5221565"/>
            <a:ext cx="5524979" cy="1188761"/>
          </a:xfrm>
          <a:prstGeom prst="rect">
            <a:avLst/>
          </a:prstGeom>
        </p:spPr>
      </p:pic>
      <p:pic>
        <p:nvPicPr>
          <p:cNvPr id="8" name="Picture 7"/>
          <p:cNvPicPr>
            <a:picLocks noChangeAspect="1"/>
          </p:cNvPicPr>
          <p:nvPr/>
        </p:nvPicPr>
        <p:blipFill>
          <a:blip r:embed="rId3"/>
          <a:stretch>
            <a:fillRect/>
          </a:stretch>
        </p:blipFill>
        <p:spPr>
          <a:xfrm>
            <a:off x="6686551" y="304801"/>
            <a:ext cx="3585315" cy="2439079"/>
          </a:xfrm>
          <a:prstGeom prst="rect">
            <a:avLst/>
          </a:prstGeom>
        </p:spPr>
      </p:pic>
    </p:spTree>
    <p:extLst>
      <p:ext uri="{BB962C8B-B14F-4D97-AF65-F5344CB8AC3E}">
        <p14:creationId xmlns:p14="http://schemas.microsoft.com/office/powerpoint/2010/main" val="7194602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876426" y="1269091"/>
            <a:ext cx="4810125" cy="336550"/>
          </a:xfrm>
        </p:spPr>
        <p:txBody>
          <a:bodyPr/>
          <a:lstStyle/>
          <a:p>
            <a:pPr eaLnBrk="1" hangingPunct="1"/>
            <a:r>
              <a:rPr lang="en-US" altLang="en-US" sz="2800" dirty="0"/>
              <a:t>Multilevel feedback Queue Scheduling – Ex. 2</a:t>
            </a:r>
            <a:br>
              <a:rPr lang="en-US" altLang="en-US" sz="2800" dirty="0"/>
            </a:br>
            <a:endParaRPr lang="en-US" altLang="en-US" sz="2800" dirty="0">
              <a:solidFill>
                <a:srgbClr val="FF0000"/>
              </a:solidFill>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191443403"/>
              </p:ext>
            </p:extLst>
          </p:nvPr>
        </p:nvGraphicFramePr>
        <p:xfrm>
          <a:off x="1708891" y="1999341"/>
          <a:ext cx="7419975" cy="3489682"/>
        </p:xfrm>
        <a:graphic>
          <a:graphicData uri="http://schemas.openxmlformats.org/drawingml/2006/table">
            <a:tbl>
              <a:tblPr firstRow="1" bandRow="1">
                <a:tableStyleId>{5C22544A-7EE6-4342-B048-85BDC9FD1C3A}</a:tableStyleId>
              </a:tblPr>
              <a:tblGrid>
                <a:gridCol w="825142">
                  <a:extLst>
                    <a:ext uri="{9D8B030D-6E8A-4147-A177-3AD203B41FA5}">
                      <a16:colId xmlns:a16="http://schemas.microsoft.com/office/drawing/2014/main" val="20000"/>
                    </a:ext>
                  </a:extLst>
                </a:gridCol>
                <a:gridCol w="975083">
                  <a:extLst>
                    <a:ext uri="{9D8B030D-6E8A-4147-A177-3AD203B41FA5}">
                      <a16:colId xmlns:a16="http://schemas.microsoft.com/office/drawing/2014/main" val="20001"/>
                    </a:ext>
                  </a:extLst>
                </a:gridCol>
                <a:gridCol w="857250">
                  <a:extLst>
                    <a:ext uri="{9D8B030D-6E8A-4147-A177-3AD203B41FA5}">
                      <a16:colId xmlns:a16="http://schemas.microsoft.com/office/drawing/2014/main" val="20002"/>
                    </a:ext>
                  </a:extLst>
                </a:gridCol>
                <a:gridCol w="940789">
                  <a:extLst>
                    <a:ext uri="{9D8B030D-6E8A-4147-A177-3AD203B41FA5}">
                      <a16:colId xmlns:a16="http://schemas.microsoft.com/office/drawing/2014/main" val="20003"/>
                    </a:ext>
                  </a:extLst>
                </a:gridCol>
                <a:gridCol w="859885">
                  <a:extLst>
                    <a:ext uri="{9D8B030D-6E8A-4147-A177-3AD203B41FA5}">
                      <a16:colId xmlns:a16="http://schemas.microsoft.com/office/drawing/2014/main" val="20004"/>
                    </a:ext>
                  </a:extLst>
                </a:gridCol>
                <a:gridCol w="1121283">
                  <a:extLst>
                    <a:ext uri="{9D8B030D-6E8A-4147-A177-3AD203B41FA5}">
                      <a16:colId xmlns:a16="http://schemas.microsoft.com/office/drawing/2014/main" val="20005"/>
                    </a:ext>
                  </a:extLst>
                </a:gridCol>
                <a:gridCol w="850155">
                  <a:extLst>
                    <a:ext uri="{9D8B030D-6E8A-4147-A177-3AD203B41FA5}">
                      <a16:colId xmlns:a16="http://schemas.microsoft.com/office/drawing/2014/main" val="20006"/>
                    </a:ext>
                  </a:extLst>
                </a:gridCol>
                <a:gridCol w="990388">
                  <a:extLst>
                    <a:ext uri="{9D8B030D-6E8A-4147-A177-3AD203B41FA5}">
                      <a16:colId xmlns:a16="http://schemas.microsoft.com/office/drawing/2014/main" val="20007"/>
                    </a:ext>
                  </a:extLst>
                </a:gridCol>
              </a:tblGrid>
              <a:tr h="977265">
                <a:tc>
                  <a:txBody>
                    <a:bodyPr/>
                    <a:lstStyle/>
                    <a:p>
                      <a:r>
                        <a:rPr lang="en-US" dirty="0"/>
                        <a:t>Process</a:t>
                      </a:r>
                    </a:p>
                  </a:txBody>
                  <a:tcPr>
                    <a:solidFill>
                      <a:srgbClr val="00B050"/>
                    </a:solidFill>
                  </a:tcPr>
                </a:tc>
                <a:tc>
                  <a:txBody>
                    <a:bodyPr/>
                    <a:lstStyle/>
                    <a:p>
                      <a:r>
                        <a:rPr lang="en-US" dirty="0"/>
                        <a:t>Arrival</a:t>
                      </a:r>
                      <a:r>
                        <a:rPr lang="en-US" baseline="0" dirty="0"/>
                        <a:t> Time</a:t>
                      </a:r>
                      <a:endParaRPr lang="en-US" dirty="0"/>
                    </a:p>
                  </a:txBody>
                  <a:tcPr>
                    <a:solidFill>
                      <a:srgbClr val="00B050"/>
                    </a:solidFill>
                  </a:tcPr>
                </a:tc>
                <a:tc>
                  <a:txBody>
                    <a:bodyPr/>
                    <a:lstStyle/>
                    <a:p>
                      <a:r>
                        <a:rPr lang="en-US" dirty="0"/>
                        <a:t>Burst Time</a:t>
                      </a:r>
                    </a:p>
                  </a:txBody>
                  <a:tcPr>
                    <a:solidFill>
                      <a:srgbClr val="00B050"/>
                    </a:solidFill>
                  </a:tcPr>
                </a:tc>
                <a:tc>
                  <a:txBody>
                    <a:bodyPr/>
                    <a:lstStyle/>
                    <a:p>
                      <a:r>
                        <a:rPr lang="en-US" dirty="0"/>
                        <a:t>CT</a:t>
                      </a:r>
                    </a:p>
                  </a:txBody>
                  <a:tcPr>
                    <a:solidFill>
                      <a:srgbClr val="00B050"/>
                    </a:solidFill>
                  </a:tcPr>
                </a:tc>
                <a:tc>
                  <a:txBody>
                    <a:bodyPr/>
                    <a:lstStyle/>
                    <a:p>
                      <a:r>
                        <a:rPr lang="en-US" dirty="0"/>
                        <a:t>TAT =</a:t>
                      </a:r>
                    </a:p>
                    <a:p>
                      <a:r>
                        <a:rPr lang="en-US" dirty="0"/>
                        <a:t>CT-AT</a:t>
                      </a:r>
                    </a:p>
                  </a:txBody>
                  <a:tcPr>
                    <a:solidFill>
                      <a:srgbClr val="00B050"/>
                    </a:solidFill>
                  </a:tcPr>
                </a:tc>
                <a:tc>
                  <a:txBody>
                    <a:bodyPr/>
                    <a:lstStyle/>
                    <a:p>
                      <a:r>
                        <a:rPr lang="en-US" dirty="0"/>
                        <a:t>WT</a:t>
                      </a:r>
                    </a:p>
                  </a:txBody>
                  <a:tcPr>
                    <a:solidFill>
                      <a:srgbClr val="00B050"/>
                    </a:solidFill>
                  </a:tcPr>
                </a:tc>
                <a:tc>
                  <a:txBody>
                    <a:bodyPr/>
                    <a:lstStyle/>
                    <a:p>
                      <a:r>
                        <a:rPr lang="en-US" dirty="0"/>
                        <a:t>RT</a:t>
                      </a:r>
                    </a:p>
                  </a:txBody>
                  <a:tcPr>
                    <a:solidFill>
                      <a:srgbClr val="00B050"/>
                    </a:solidFill>
                  </a:tcPr>
                </a:tc>
                <a:tc>
                  <a:txBody>
                    <a:bodyPr/>
                    <a:lstStyle/>
                    <a:p>
                      <a:r>
                        <a:rPr lang="en-US" dirty="0"/>
                        <a:t>Context Switch</a:t>
                      </a:r>
                    </a:p>
                  </a:txBody>
                  <a:tcPr>
                    <a:solidFill>
                      <a:srgbClr val="00B050"/>
                    </a:solidFill>
                  </a:tcPr>
                </a:tc>
                <a:extLst>
                  <a:ext uri="{0D108BD9-81ED-4DB2-BD59-A6C34878D82A}">
                    <a16:rowId xmlns:a16="http://schemas.microsoft.com/office/drawing/2014/main" val="10000"/>
                  </a:ext>
                </a:extLst>
              </a:tr>
              <a:tr h="592177">
                <a:tc>
                  <a:txBody>
                    <a:bodyPr/>
                    <a:lstStyle/>
                    <a:p>
                      <a:pPr algn="ctr"/>
                      <a:r>
                        <a:rPr lang="en-US" sz="2400" b="1" dirty="0">
                          <a:solidFill>
                            <a:schemeClr val="bg1"/>
                          </a:solidFill>
                        </a:rPr>
                        <a:t>P1</a:t>
                      </a:r>
                    </a:p>
                  </a:txBody>
                  <a:tcPr>
                    <a:solidFill>
                      <a:srgbClr val="00B050"/>
                    </a:solidFill>
                  </a:tcPr>
                </a:tc>
                <a:tc>
                  <a:txBody>
                    <a:bodyPr/>
                    <a:lstStyle/>
                    <a:p>
                      <a:pPr algn="ctr"/>
                      <a:r>
                        <a:rPr lang="en-US" sz="2400" b="1" dirty="0">
                          <a:solidFill>
                            <a:schemeClr val="bg1"/>
                          </a:solidFill>
                        </a:rPr>
                        <a:t>0</a:t>
                      </a:r>
                    </a:p>
                  </a:txBody>
                  <a:tcPr>
                    <a:solidFill>
                      <a:srgbClr val="00B050"/>
                    </a:solidFill>
                  </a:tcPr>
                </a:tc>
                <a:tc>
                  <a:txBody>
                    <a:bodyPr/>
                    <a:lstStyle/>
                    <a:p>
                      <a:pPr algn="ctr"/>
                      <a:r>
                        <a:rPr lang="en-US" sz="2400" b="1" dirty="0">
                          <a:solidFill>
                            <a:schemeClr val="bg1"/>
                          </a:solidFill>
                        </a:rPr>
                        <a:t>53</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extLst>
                  <a:ext uri="{0D108BD9-81ED-4DB2-BD59-A6C34878D82A}">
                    <a16:rowId xmlns:a16="http://schemas.microsoft.com/office/drawing/2014/main" val="10001"/>
                  </a:ext>
                </a:extLst>
              </a:tr>
              <a:tr h="592177">
                <a:tc>
                  <a:txBody>
                    <a:bodyPr/>
                    <a:lstStyle/>
                    <a:p>
                      <a:pPr algn="ctr"/>
                      <a:r>
                        <a:rPr lang="en-US" sz="2400" b="1" dirty="0">
                          <a:solidFill>
                            <a:schemeClr val="bg1"/>
                          </a:solidFill>
                        </a:rPr>
                        <a:t>P2</a:t>
                      </a:r>
                    </a:p>
                  </a:txBody>
                  <a:tcPr>
                    <a:solidFill>
                      <a:srgbClr val="00B050"/>
                    </a:solidFill>
                  </a:tcPr>
                </a:tc>
                <a:tc>
                  <a:txBody>
                    <a:bodyPr/>
                    <a:lstStyle/>
                    <a:p>
                      <a:pPr algn="ctr"/>
                      <a:r>
                        <a:rPr lang="en-US" sz="2400" b="1" dirty="0">
                          <a:solidFill>
                            <a:schemeClr val="bg1"/>
                          </a:solidFill>
                        </a:rPr>
                        <a:t>0</a:t>
                      </a:r>
                    </a:p>
                  </a:txBody>
                  <a:tcPr>
                    <a:solidFill>
                      <a:srgbClr val="00B050"/>
                    </a:solidFill>
                  </a:tcPr>
                </a:tc>
                <a:tc>
                  <a:txBody>
                    <a:bodyPr/>
                    <a:lstStyle/>
                    <a:p>
                      <a:pPr algn="ctr"/>
                      <a:r>
                        <a:rPr lang="en-US" sz="2400" b="1" dirty="0">
                          <a:solidFill>
                            <a:schemeClr val="bg1"/>
                          </a:solidFill>
                        </a:rPr>
                        <a:t>17</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extLst>
                  <a:ext uri="{0D108BD9-81ED-4DB2-BD59-A6C34878D82A}">
                    <a16:rowId xmlns:a16="http://schemas.microsoft.com/office/drawing/2014/main" val="10002"/>
                  </a:ext>
                </a:extLst>
              </a:tr>
              <a:tr h="592177">
                <a:tc>
                  <a:txBody>
                    <a:bodyPr/>
                    <a:lstStyle/>
                    <a:p>
                      <a:pPr algn="ctr"/>
                      <a:r>
                        <a:rPr lang="en-US" sz="2400" b="1" dirty="0">
                          <a:solidFill>
                            <a:schemeClr val="bg1"/>
                          </a:solidFill>
                        </a:rPr>
                        <a:t>P3</a:t>
                      </a:r>
                    </a:p>
                  </a:txBody>
                  <a:tcPr>
                    <a:solidFill>
                      <a:srgbClr val="00B050"/>
                    </a:solidFill>
                  </a:tcPr>
                </a:tc>
                <a:tc>
                  <a:txBody>
                    <a:bodyPr/>
                    <a:lstStyle/>
                    <a:p>
                      <a:pPr algn="ctr"/>
                      <a:r>
                        <a:rPr lang="en-US" sz="2400" b="1" dirty="0">
                          <a:solidFill>
                            <a:schemeClr val="bg1"/>
                          </a:solidFill>
                        </a:rPr>
                        <a:t>0</a:t>
                      </a:r>
                    </a:p>
                  </a:txBody>
                  <a:tcPr>
                    <a:solidFill>
                      <a:srgbClr val="00B050"/>
                    </a:solidFill>
                  </a:tcPr>
                </a:tc>
                <a:tc>
                  <a:txBody>
                    <a:bodyPr/>
                    <a:lstStyle/>
                    <a:p>
                      <a:pPr algn="ctr"/>
                      <a:r>
                        <a:rPr lang="en-US" sz="2400" b="1" dirty="0">
                          <a:solidFill>
                            <a:schemeClr val="bg1"/>
                          </a:solidFill>
                        </a:rPr>
                        <a:t>68</a:t>
                      </a:r>
                    </a:p>
                  </a:txBody>
                  <a:tcPr>
                    <a:solidFill>
                      <a:srgbClr val="00B050"/>
                    </a:solidFill>
                  </a:tcPr>
                </a:tc>
                <a:tc>
                  <a:txBody>
                    <a:bodyPr/>
                    <a:lstStyle/>
                    <a:p>
                      <a:endParaRPr lang="en-US" b="1" dirty="0">
                        <a:solidFill>
                          <a:schemeClr val="bg1"/>
                        </a:solidFill>
                      </a:endParaRPr>
                    </a:p>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extLst>
                  <a:ext uri="{0D108BD9-81ED-4DB2-BD59-A6C34878D82A}">
                    <a16:rowId xmlns:a16="http://schemas.microsoft.com/office/drawing/2014/main" val="10003"/>
                  </a:ext>
                </a:extLst>
              </a:tr>
              <a:tr h="592177">
                <a:tc>
                  <a:txBody>
                    <a:bodyPr/>
                    <a:lstStyle/>
                    <a:p>
                      <a:pPr algn="ctr"/>
                      <a:r>
                        <a:rPr lang="en-US" sz="2400" b="1" dirty="0">
                          <a:solidFill>
                            <a:schemeClr val="bg1"/>
                          </a:solidFill>
                        </a:rPr>
                        <a:t>P4</a:t>
                      </a:r>
                    </a:p>
                  </a:txBody>
                  <a:tcPr>
                    <a:solidFill>
                      <a:srgbClr val="00B050"/>
                    </a:solidFill>
                  </a:tcPr>
                </a:tc>
                <a:tc>
                  <a:txBody>
                    <a:bodyPr/>
                    <a:lstStyle/>
                    <a:p>
                      <a:pPr algn="ctr"/>
                      <a:r>
                        <a:rPr lang="en-US" sz="2400" b="1" dirty="0">
                          <a:solidFill>
                            <a:schemeClr val="bg1"/>
                          </a:solidFill>
                        </a:rPr>
                        <a:t>0</a:t>
                      </a:r>
                    </a:p>
                  </a:txBody>
                  <a:tcPr>
                    <a:solidFill>
                      <a:srgbClr val="00B050"/>
                    </a:solidFill>
                  </a:tcPr>
                </a:tc>
                <a:tc>
                  <a:txBody>
                    <a:bodyPr/>
                    <a:lstStyle/>
                    <a:p>
                      <a:pPr algn="ctr"/>
                      <a:r>
                        <a:rPr lang="en-US" sz="2400" b="1" dirty="0">
                          <a:solidFill>
                            <a:schemeClr val="bg1"/>
                          </a:solidFill>
                        </a:rPr>
                        <a:t>24</a:t>
                      </a:r>
                    </a:p>
                  </a:txBody>
                  <a:tcPr>
                    <a:solidFill>
                      <a:srgbClr val="00B05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tc>
                  <a:txBody>
                    <a:bodyPr/>
                    <a:lstStyle/>
                    <a:p>
                      <a:endParaRPr lang="en-US" b="1">
                        <a:solidFill>
                          <a:schemeClr val="bg1"/>
                        </a:solidFill>
                      </a:endParaRPr>
                    </a:p>
                  </a:txBody>
                  <a:tcPr>
                    <a:solidFill>
                      <a:srgbClr val="FFC000"/>
                    </a:solidFill>
                  </a:tcPr>
                </a:tc>
                <a:tc>
                  <a:txBody>
                    <a:bodyPr/>
                    <a:lstStyle/>
                    <a:p>
                      <a:endParaRPr lang="en-US" b="1" dirty="0">
                        <a:solidFill>
                          <a:schemeClr val="bg1"/>
                        </a:solidFill>
                      </a:endParaRPr>
                    </a:p>
                  </a:txBody>
                  <a:tcPr>
                    <a:solidFill>
                      <a:srgbClr val="FFC000"/>
                    </a:solidFill>
                  </a:tcPr>
                </a:tc>
                <a:extLst>
                  <a:ext uri="{0D108BD9-81ED-4DB2-BD59-A6C34878D82A}">
                    <a16:rowId xmlns:a16="http://schemas.microsoft.com/office/drawing/2014/main" val="10004"/>
                  </a:ext>
                </a:extLst>
              </a:tr>
            </a:tbl>
          </a:graphicData>
        </a:graphic>
      </p:graphicFrame>
      <p:pic>
        <p:nvPicPr>
          <p:cNvPr id="3" name="Picture 2"/>
          <p:cNvPicPr>
            <a:picLocks noChangeAspect="1"/>
          </p:cNvPicPr>
          <p:nvPr/>
        </p:nvPicPr>
        <p:blipFill>
          <a:blip r:embed="rId2"/>
          <a:stretch>
            <a:fillRect/>
          </a:stretch>
        </p:blipFill>
        <p:spPr>
          <a:xfrm>
            <a:off x="9212545" y="1605641"/>
            <a:ext cx="1293531" cy="3052084"/>
          </a:xfrm>
          <a:prstGeom prst="rect">
            <a:avLst/>
          </a:prstGeom>
        </p:spPr>
      </p:pic>
    </p:spTree>
    <p:extLst>
      <p:ext uri="{BB962C8B-B14F-4D97-AF65-F5344CB8AC3E}">
        <p14:creationId xmlns:p14="http://schemas.microsoft.com/office/powerpoint/2010/main" val="16833373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Gantt Chart</a:t>
            </a:r>
          </a:p>
          <a:p>
            <a:endParaRPr lang="en-US" dirty="0"/>
          </a:p>
        </p:txBody>
      </p:sp>
      <p:pic>
        <p:nvPicPr>
          <p:cNvPr id="4" name="Picture 3"/>
          <p:cNvPicPr>
            <a:picLocks noChangeAspect="1"/>
          </p:cNvPicPr>
          <p:nvPr/>
        </p:nvPicPr>
        <p:blipFill>
          <a:blip r:embed="rId2"/>
          <a:stretch>
            <a:fillRect/>
          </a:stretch>
        </p:blipFill>
        <p:spPr>
          <a:xfrm>
            <a:off x="2085975" y="2366815"/>
            <a:ext cx="7553325" cy="2900511"/>
          </a:xfrm>
          <a:prstGeom prst="rect">
            <a:avLst/>
          </a:prstGeom>
        </p:spPr>
      </p:pic>
    </p:spTree>
    <p:extLst>
      <p:ext uri="{BB962C8B-B14F-4D97-AF65-F5344CB8AC3E}">
        <p14:creationId xmlns:p14="http://schemas.microsoft.com/office/powerpoint/2010/main" val="27503443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3FFF3FEB-4621-4BB0-8381-30D0EE5065E7}"/>
              </a:ext>
            </a:extLst>
          </p:cNvPr>
          <p:cNvSpPr>
            <a:spLocks noGrp="1" noChangeArrowheads="1"/>
          </p:cNvSpPr>
          <p:nvPr>
            <p:ph type="ctrTitle"/>
          </p:nvPr>
        </p:nvSpPr>
        <p:spPr>
          <a:xfrm>
            <a:off x="2209800" y="868363"/>
            <a:ext cx="7772400" cy="2127250"/>
          </a:xfrm>
        </p:spPr>
        <p:txBody>
          <a:bodyPr/>
          <a:lstStyle/>
          <a:p>
            <a:pPr eaLnBrk="1" hangingPunct="1"/>
            <a:r>
              <a:rPr lang="en-US" altLang="en-US" dirty="0"/>
              <a:t>Deadlocks</a:t>
            </a:r>
          </a:p>
        </p:txBody>
      </p:sp>
    </p:spTree>
    <p:extLst>
      <p:ext uri="{BB962C8B-B14F-4D97-AF65-F5344CB8AC3E}">
        <p14:creationId xmlns:p14="http://schemas.microsoft.com/office/powerpoint/2010/main" val="26035993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C20AB209-B0F9-420A-89E6-E8E9E50B2ABD}"/>
              </a:ext>
            </a:extLst>
          </p:cNvPr>
          <p:cNvSpPr>
            <a:spLocks noGrp="1" noChangeArrowheads="1"/>
          </p:cNvSpPr>
          <p:nvPr>
            <p:ph type="title"/>
          </p:nvPr>
        </p:nvSpPr>
        <p:spPr>
          <a:xfrm>
            <a:off x="2330450" y="225461"/>
            <a:ext cx="7880350" cy="576262"/>
          </a:xfrm>
        </p:spPr>
        <p:txBody>
          <a:bodyPr/>
          <a:lstStyle/>
          <a:p>
            <a:pPr eaLnBrk="1" hangingPunct="1"/>
            <a:r>
              <a:rPr lang="en-US" altLang="en-US" dirty="0"/>
              <a:t>Outline</a:t>
            </a:r>
          </a:p>
        </p:txBody>
      </p:sp>
      <p:sp>
        <p:nvSpPr>
          <p:cNvPr id="7170" name="Rectangle 3">
            <a:extLst>
              <a:ext uri="{FF2B5EF4-FFF2-40B4-BE49-F238E27FC236}">
                <a16:creationId xmlns:a16="http://schemas.microsoft.com/office/drawing/2014/main" id="{1D54AC39-219B-4A2F-8A80-B3261E1F1575}"/>
              </a:ext>
            </a:extLst>
          </p:cNvPr>
          <p:cNvSpPr>
            <a:spLocks noGrp="1" noChangeArrowheads="1"/>
          </p:cNvSpPr>
          <p:nvPr>
            <p:ph type="body" idx="1"/>
          </p:nvPr>
        </p:nvSpPr>
        <p:spPr>
          <a:xfrm>
            <a:off x="2330450" y="1309171"/>
            <a:ext cx="7588250" cy="4530725"/>
          </a:xfrm>
        </p:spPr>
        <p:txBody>
          <a:bodyPr/>
          <a:lstStyle/>
          <a:p>
            <a:r>
              <a:rPr lang="en-US" altLang="en-US" dirty="0"/>
              <a:t>System Model</a:t>
            </a:r>
          </a:p>
          <a:p>
            <a:r>
              <a:rPr lang="en-US" altLang="en-US" dirty="0"/>
              <a:t>Deadlock Characterization</a:t>
            </a:r>
          </a:p>
          <a:p>
            <a:r>
              <a:rPr lang="en-US" altLang="en-US" dirty="0"/>
              <a:t>Methods for Handling Deadlocks</a:t>
            </a:r>
          </a:p>
          <a:p>
            <a:r>
              <a:rPr lang="en-US" altLang="en-US" dirty="0"/>
              <a:t>Deadlock Prevention</a:t>
            </a:r>
          </a:p>
          <a:p>
            <a:r>
              <a:rPr lang="en-US" altLang="en-US" dirty="0"/>
              <a:t>Deadlock Avoidance</a:t>
            </a:r>
          </a:p>
          <a:p>
            <a:r>
              <a:rPr lang="en-US" altLang="en-US" dirty="0"/>
              <a:t>Deadlock Detection </a:t>
            </a:r>
          </a:p>
          <a:p>
            <a:r>
              <a:rPr lang="en-US" altLang="en-US" dirty="0"/>
              <a:t>Recovery from Deadlock </a:t>
            </a:r>
          </a:p>
        </p:txBody>
      </p:sp>
    </p:spTree>
    <p:extLst>
      <p:ext uri="{BB962C8B-B14F-4D97-AF65-F5344CB8AC3E}">
        <p14:creationId xmlns:p14="http://schemas.microsoft.com/office/powerpoint/2010/main" val="35369355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838D12EB-E650-49F7-BF5C-969347526EE5}"/>
              </a:ext>
            </a:extLst>
          </p:cNvPr>
          <p:cNvSpPr>
            <a:spLocks noGrp="1" noChangeArrowheads="1"/>
          </p:cNvSpPr>
          <p:nvPr>
            <p:ph type="title"/>
          </p:nvPr>
        </p:nvSpPr>
        <p:spPr>
          <a:xfrm>
            <a:off x="1981200" y="228830"/>
            <a:ext cx="8229600" cy="576262"/>
          </a:xfrm>
        </p:spPr>
        <p:txBody>
          <a:bodyPr/>
          <a:lstStyle/>
          <a:p>
            <a:pPr eaLnBrk="1" hangingPunct="1"/>
            <a:r>
              <a:rPr lang="en-US" altLang="en-US" dirty="0"/>
              <a:t> Objectives</a:t>
            </a:r>
          </a:p>
        </p:txBody>
      </p:sp>
      <p:sp>
        <p:nvSpPr>
          <p:cNvPr id="9218" name="Rectangle 3">
            <a:extLst>
              <a:ext uri="{FF2B5EF4-FFF2-40B4-BE49-F238E27FC236}">
                <a16:creationId xmlns:a16="http://schemas.microsoft.com/office/drawing/2014/main" id="{6DA4E9BA-E5B9-48E9-A6E9-2CB00D152082}"/>
              </a:ext>
            </a:extLst>
          </p:cNvPr>
          <p:cNvSpPr>
            <a:spLocks noGrp="1" noChangeArrowheads="1"/>
          </p:cNvSpPr>
          <p:nvPr>
            <p:ph type="body" idx="1"/>
          </p:nvPr>
        </p:nvSpPr>
        <p:spPr>
          <a:xfrm>
            <a:off x="2326433" y="1308136"/>
            <a:ext cx="7772400" cy="4500562"/>
          </a:xfrm>
        </p:spPr>
        <p:txBody>
          <a:bodyPr/>
          <a:lstStyle/>
          <a:p>
            <a:r>
              <a:rPr lang="en-US" altLang="en-US" dirty="0"/>
              <a:t>Illustrate how deadlock can occur when mutex locks are used</a:t>
            </a:r>
          </a:p>
          <a:p>
            <a:r>
              <a:rPr lang="en-US" altLang="en-US" dirty="0"/>
              <a:t>Define the four necessary conditions that characterize deadlock</a:t>
            </a:r>
          </a:p>
          <a:p>
            <a:r>
              <a:rPr lang="en-US" altLang="en-US" dirty="0"/>
              <a:t>Identify a deadlock situation in a resource allocation graph</a:t>
            </a:r>
          </a:p>
          <a:p>
            <a:r>
              <a:rPr lang="en-US" altLang="en-US" dirty="0"/>
              <a:t>Evaluate the four different approaches for preventing deadlocks</a:t>
            </a:r>
          </a:p>
          <a:p>
            <a:r>
              <a:rPr lang="en-US" altLang="en-US" dirty="0"/>
              <a:t>Apply the banker’s algorithm for deadlock avoidance</a:t>
            </a:r>
          </a:p>
          <a:p>
            <a:r>
              <a:rPr lang="en-US" altLang="en-US" dirty="0"/>
              <a:t>Apply the deadlock detection algorithm</a:t>
            </a:r>
          </a:p>
          <a:p>
            <a:r>
              <a:rPr lang="en-US" altLang="en-US" dirty="0"/>
              <a:t>Evaluate approaches for recovering from deadlock</a:t>
            </a:r>
          </a:p>
          <a:p>
            <a:endParaRPr lang="en-US" altLang="en-US" dirty="0"/>
          </a:p>
          <a:p>
            <a:pPr>
              <a:buSzPct val="85000"/>
              <a:buFont typeface="Monotype Sorts" pitchFamily="-84" charset="2"/>
              <a:buNone/>
            </a:pPr>
            <a:endParaRPr lang="en-US" altLang="en-US" dirty="0"/>
          </a:p>
        </p:txBody>
      </p:sp>
    </p:spTree>
    <p:extLst>
      <p:ext uri="{BB962C8B-B14F-4D97-AF65-F5344CB8AC3E}">
        <p14:creationId xmlns:p14="http://schemas.microsoft.com/office/powerpoint/2010/main" val="41072474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661502D7-7068-4DDE-82B3-CB27E3C63E4E}"/>
              </a:ext>
            </a:extLst>
          </p:cNvPr>
          <p:cNvSpPr>
            <a:spLocks noGrp="1" noChangeArrowheads="1"/>
          </p:cNvSpPr>
          <p:nvPr>
            <p:ph type="title"/>
          </p:nvPr>
        </p:nvSpPr>
        <p:spPr>
          <a:xfrm>
            <a:off x="1981200" y="222868"/>
            <a:ext cx="8229600" cy="576262"/>
          </a:xfrm>
        </p:spPr>
        <p:txBody>
          <a:bodyPr/>
          <a:lstStyle/>
          <a:p>
            <a:pPr eaLnBrk="1" hangingPunct="1"/>
            <a:r>
              <a:rPr lang="en-US" altLang="en-US" dirty="0"/>
              <a:t>System Model</a:t>
            </a:r>
          </a:p>
        </p:txBody>
      </p:sp>
      <p:sp>
        <p:nvSpPr>
          <p:cNvPr id="11266" name="Rectangle 3">
            <a:extLst>
              <a:ext uri="{FF2B5EF4-FFF2-40B4-BE49-F238E27FC236}">
                <a16:creationId xmlns:a16="http://schemas.microsoft.com/office/drawing/2014/main" id="{CD8E9D65-BCDC-43F0-9CD9-F4411921988D}"/>
              </a:ext>
            </a:extLst>
          </p:cNvPr>
          <p:cNvSpPr>
            <a:spLocks noGrp="1" noChangeArrowheads="1"/>
          </p:cNvSpPr>
          <p:nvPr>
            <p:ph type="body" idx="1"/>
          </p:nvPr>
        </p:nvSpPr>
        <p:spPr>
          <a:xfrm>
            <a:off x="2326834" y="1354816"/>
            <a:ext cx="7351712" cy="4483100"/>
          </a:xfrm>
        </p:spPr>
        <p:txBody>
          <a:bodyPr/>
          <a:lstStyle/>
          <a:p>
            <a:r>
              <a:rPr lang="en-US" altLang="en-US" dirty="0"/>
              <a:t>System consists of resources</a:t>
            </a:r>
          </a:p>
          <a:p>
            <a:r>
              <a:rPr lang="en-US" altLang="en-US" dirty="0"/>
              <a:t>Resource types </a:t>
            </a:r>
            <a:r>
              <a:rPr lang="en-US" altLang="en-US" i="1" dirty="0"/>
              <a:t>R</a:t>
            </a:r>
            <a:r>
              <a:rPr lang="en-US" altLang="en-US" baseline="-25000" dirty="0"/>
              <a:t>1</a:t>
            </a:r>
            <a:r>
              <a:rPr lang="en-US" altLang="en-US" dirty="0"/>
              <a:t>, </a:t>
            </a:r>
            <a:r>
              <a:rPr lang="en-US" altLang="en-US" i="1" dirty="0"/>
              <a:t>R</a:t>
            </a:r>
            <a:r>
              <a:rPr lang="en-US" altLang="en-US" baseline="-25000" dirty="0"/>
              <a:t>2</a:t>
            </a:r>
            <a:r>
              <a:rPr lang="en-US" altLang="en-US" dirty="0"/>
              <a:t>, . . ., </a:t>
            </a:r>
            <a:r>
              <a:rPr lang="en-US" altLang="en-US" i="1" dirty="0"/>
              <a:t>R</a:t>
            </a:r>
            <a:r>
              <a:rPr lang="en-US" altLang="en-US" baseline="-25000" dirty="0"/>
              <a:t>m</a:t>
            </a:r>
          </a:p>
          <a:p>
            <a:pPr lvl="1"/>
            <a:r>
              <a:rPr lang="en-US" altLang="en-US" i="1" dirty="0"/>
              <a:t>CPU cycles, memory space, I/O devices</a:t>
            </a:r>
          </a:p>
          <a:p>
            <a:r>
              <a:rPr lang="en-US" altLang="en-US" dirty="0"/>
              <a:t>Each resource type </a:t>
            </a:r>
            <a:r>
              <a:rPr lang="en-US" altLang="en-US" i="1" dirty="0"/>
              <a:t>R</a:t>
            </a:r>
            <a:r>
              <a:rPr lang="en-US" altLang="en-US" baseline="-25000" dirty="0"/>
              <a:t>i</a:t>
            </a:r>
            <a:r>
              <a:rPr lang="en-US" altLang="en-US" dirty="0"/>
              <a:t> has </a:t>
            </a:r>
            <a:r>
              <a:rPr lang="en-US" altLang="en-US" i="1" dirty="0"/>
              <a:t>W</a:t>
            </a:r>
            <a:r>
              <a:rPr lang="en-US" altLang="en-US" baseline="-25000" dirty="0"/>
              <a:t>i</a:t>
            </a:r>
            <a:r>
              <a:rPr lang="en-US" altLang="en-US" dirty="0"/>
              <a:t> instances.</a:t>
            </a:r>
          </a:p>
          <a:p>
            <a:r>
              <a:rPr lang="en-US" altLang="en-US" dirty="0"/>
              <a:t>Each process utilizes a resource as follows:</a:t>
            </a:r>
          </a:p>
          <a:p>
            <a:pPr lvl="1"/>
            <a:r>
              <a:rPr lang="en-US" altLang="en-US" b="1" dirty="0"/>
              <a:t>request </a:t>
            </a:r>
          </a:p>
          <a:p>
            <a:pPr lvl="1"/>
            <a:r>
              <a:rPr lang="en-US" altLang="en-US" b="1" dirty="0"/>
              <a:t>use </a:t>
            </a:r>
          </a:p>
          <a:p>
            <a:pPr lvl="1"/>
            <a:r>
              <a:rPr lang="en-US" altLang="en-US" b="1" dirty="0"/>
              <a:t>release</a:t>
            </a:r>
          </a:p>
        </p:txBody>
      </p:sp>
    </p:spTree>
    <p:extLst>
      <p:ext uri="{BB962C8B-B14F-4D97-AF65-F5344CB8AC3E}">
        <p14:creationId xmlns:p14="http://schemas.microsoft.com/office/powerpoint/2010/main" val="4361220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B5CD8E6-87F9-4726-9621-AFEDA885C08D}"/>
              </a:ext>
            </a:extLst>
          </p:cNvPr>
          <p:cNvSpPr>
            <a:spLocks noGrp="1" noChangeArrowheads="1"/>
          </p:cNvSpPr>
          <p:nvPr>
            <p:ph type="title"/>
          </p:nvPr>
        </p:nvSpPr>
        <p:spPr>
          <a:xfrm>
            <a:off x="2447926" y="175870"/>
            <a:ext cx="7762875" cy="576263"/>
          </a:xfrm>
        </p:spPr>
        <p:txBody>
          <a:bodyPr/>
          <a:lstStyle/>
          <a:p>
            <a:pPr eaLnBrk="1" hangingPunct="1"/>
            <a:r>
              <a:rPr lang="en-US" altLang="en-US" dirty="0"/>
              <a:t>Deadlock with Semaphores</a:t>
            </a:r>
          </a:p>
        </p:txBody>
      </p:sp>
      <p:sp>
        <p:nvSpPr>
          <p:cNvPr id="57346" name="Rectangle 3">
            <a:extLst>
              <a:ext uri="{FF2B5EF4-FFF2-40B4-BE49-F238E27FC236}">
                <a16:creationId xmlns:a16="http://schemas.microsoft.com/office/drawing/2014/main" id="{5ED238E1-E3E6-41E4-AE23-2237E43D6AD6}"/>
              </a:ext>
            </a:extLst>
          </p:cNvPr>
          <p:cNvSpPr>
            <a:spLocks noGrp="1" noChangeArrowheads="1"/>
          </p:cNvSpPr>
          <p:nvPr>
            <p:ph idx="1"/>
          </p:nvPr>
        </p:nvSpPr>
        <p:spPr>
          <a:xfrm>
            <a:off x="2341360" y="1331339"/>
            <a:ext cx="6959600" cy="4860925"/>
          </a:xfrm>
        </p:spPr>
        <p:txBody>
          <a:bodyPr/>
          <a:lstStyle/>
          <a:p>
            <a:r>
              <a:rPr lang="en-US" altLang="en-US" dirty="0"/>
              <a:t>Data:</a:t>
            </a:r>
          </a:p>
          <a:p>
            <a:pPr lvl="1"/>
            <a:r>
              <a:rPr lang="en-US" altLang="en-US" dirty="0"/>
              <a:t>A semaphore </a:t>
            </a:r>
            <a:r>
              <a:rPr lang="en-US" altLang="en-US" b="1" dirty="0">
                <a:latin typeface="Courier New" panose="02070309020205020404" pitchFamily="49" charset="0"/>
                <a:cs typeface="Courier New" panose="02070309020205020404" pitchFamily="49" charset="0"/>
              </a:rPr>
              <a:t>S</a:t>
            </a:r>
            <a:r>
              <a:rPr lang="en-US" altLang="en-US" b="1" baseline="-25000" dirty="0">
                <a:latin typeface="Courier New" panose="02070309020205020404" pitchFamily="49" charset="0"/>
                <a:cs typeface="Courier New" panose="02070309020205020404" pitchFamily="49" charset="0"/>
              </a:rPr>
              <a:t>1</a:t>
            </a:r>
            <a:r>
              <a:rPr lang="en-US" altLang="en-US" b="1" dirty="0">
                <a:latin typeface="Courier New" panose="02070309020205020404" pitchFamily="49" charset="0"/>
                <a:cs typeface="Courier New" panose="02070309020205020404" pitchFamily="49" charset="0"/>
              </a:rPr>
              <a:t> </a:t>
            </a:r>
            <a:r>
              <a:rPr lang="en-US" altLang="en-US" dirty="0"/>
              <a:t>initialized to 1</a:t>
            </a:r>
          </a:p>
          <a:p>
            <a:pPr lvl="1"/>
            <a:r>
              <a:rPr lang="en-US" altLang="en-US" dirty="0"/>
              <a:t>A semaphore </a:t>
            </a:r>
            <a:r>
              <a:rPr lang="en-US" altLang="en-US" b="1" dirty="0">
                <a:latin typeface="Courier New" panose="02070309020205020404" pitchFamily="49" charset="0"/>
                <a:cs typeface="Courier New" panose="02070309020205020404" pitchFamily="49" charset="0"/>
              </a:rPr>
              <a:t>S</a:t>
            </a:r>
            <a:r>
              <a:rPr lang="en-US" altLang="en-US" b="1" baseline="-25000" dirty="0">
                <a:latin typeface="Courier New" panose="02070309020205020404" pitchFamily="49" charset="0"/>
                <a:cs typeface="Courier New" panose="02070309020205020404" pitchFamily="49" charset="0"/>
              </a:rPr>
              <a:t>2</a:t>
            </a:r>
            <a:r>
              <a:rPr lang="en-US" altLang="en-US" b="1" dirty="0">
                <a:latin typeface="Courier New" panose="02070309020205020404" pitchFamily="49" charset="0"/>
                <a:cs typeface="Courier New" panose="02070309020205020404" pitchFamily="49" charset="0"/>
              </a:rPr>
              <a:t> </a:t>
            </a:r>
            <a:r>
              <a:rPr lang="en-US" altLang="en-US" dirty="0"/>
              <a:t>initialized to 1</a:t>
            </a:r>
          </a:p>
          <a:p>
            <a:r>
              <a:rPr lang="en-US" altLang="en-US" dirty="0"/>
              <a:t>Two threads </a:t>
            </a:r>
            <a:r>
              <a:rPr lang="en-US" altLang="en-US" i="1" dirty="0"/>
              <a:t>T</a:t>
            </a:r>
            <a:r>
              <a:rPr lang="en-US" altLang="en-US" i="1" baseline="-25000" dirty="0"/>
              <a:t>1</a:t>
            </a:r>
            <a:r>
              <a:rPr lang="en-US" altLang="en-US" dirty="0"/>
              <a:t> and </a:t>
            </a:r>
            <a:r>
              <a:rPr lang="en-US" altLang="en-US" i="1" dirty="0"/>
              <a:t>T</a:t>
            </a:r>
            <a:r>
              <a:rPr lang="en-US" altLang="en-US" i="1" baseline="-25000" dirty="0"/>
              <a:t>2</a:t>
            </a:r>
          </a:p>
          <a:p>
            <a:r>
              <a:rPr lang="en-US" altLang="en-US" b="1" i="1" dirty="0">
                <a:latin typeface="Courier New" panose="02070309020205020404" pitchFamily="49" charset="0"/>
                <a:cs typeface="Courier New" panose="02070309020205020404" pitchFamily="49" charset="0"/>
              </a:rPr>
              <a:t>T</a:t>
            </a:r>
            <a:r>
              <a:rPr lang="en-US" altLang="en-US" b="1" i="1" baseline="-25000" dirty="0">
                <a:latin typeface="Courier New" panose="02070309020205020404" pitchFamily="49" charset="0"/>
                <a:cs typeface="Courier New" panose="02070309020205020404" pitchFamily="49" charset="0"/>
              </a:rPr>
              <a:t>1</a:t>
            </a:r>
            <a:r>
              <a:rPr lang="en-US" altLang="en-US" b="1" dirty="0">
                <a:latin typeface="Courier New" panose="02070309020205020404" pitchFamily="49" charset="0"/>
                <a:cs typeface="Courier New" panose="02070309020205020404" pitchFamily="49" charset="0"/>
              </a:rPr>
              <a:t>:  </a:t>
            </a:r>
          </a:p>
          <a:p>
            <a:pPr marL="0" indent="0">
              <a:buNone/>
            </a:pPr>
            <a:r>
              <a:rPr lang="en-US" altLang="en-US" b="1" dirty="0">
                <a:latin typeface="Courier New" panose="02070309020205020404" pitchFamily="49" charset="0"/>
                <a:cs typeface="Courier New" panose="02070309020205020404" pitchFamily="49" charset="0"/>
              </a:rPr>
              <a:t>    wait(s</a:t>
            </a:r>
            <a:r>
              <a:rPr lang="en-US" altLang="en-US" b="1" baseline="-25000" dirty="0">
                <a:latin typeface="Courier New" panose="02070309020205020404" pitchFamily="49" charset="0"/>
                <a:cs typeface="Courier New" panose="02070309020205020404" pitchFamily="49" charset="0"/>
              </a:rPr>
              <a:t>1</a:t>
            </a:r>
            <a:r>
              <a:rPr lang="en-US" altLang="en-US" b="1" dirty="0">
                <a:latin typeface="Courier New" panose="02070309020205020404" pitchFamily="49" charset="0"/>
                <a:cs typeface="Courier New" panose="02070309020205020404" pitchFamily="49" charset="0"/>
              </a:rPr>
              <a:t>)</a:t>
            </a:r>
          </a:p>
          <a:p>
            <a:pPr marL="0" indent="0">
              <a:buNone/>
            </a:pPr>
            <a:r>
              <a:rPr lang="en-US" altLang="en-US" b="1" dirty="0">
                <a:latin typeface="Courier New" panose="02070309020205020404" pitchFamily="49" charset="0"/>
                <a:cs typeface="Courier New" panose="02070309020205020404" pitchFamily="49" charset="0"/>
              </a:rPr>
              <a:t>    wait(s</a:t>
            </a:r>
            <a:r>
              <a:rPr lang="en-US" altLang="en-US" b="1" baseline="-25000" dirty="0">
                <a:latin typeface="Courier New" panose="02070309020205020404" pitchFamily="49" charset="0"/>
                <a:cs typeface="Courier New" panose="02070309020205020404" pitchFamily="49" charset="0"/>
              </a:rPr>
              <a:t>2</a:t>
            </a:r>
            <a:r>
              <a:rPr lang="en-US" altLang="en-US" b="1" dirty="0">
                <a:latin typeface="Courier New" panose="02070309020205020404" pitchFamily="49" charset="0"/>
                <a:cs typeface="Courier New" panose="02070309020205020404" pitchFamily="49" charset="0"/>
              </a:rPr>
              <a:t>)</a:t>
            </a:r>
          </a:p>
          <a:p>
            <a:r>
              <a:rPr lang="en-US" altLang="en-US" b="1" i="1" dirty="0">
                <a:latin typeface="Courier New" panose="02070309020205020404" pitchFamily="49" charset="0"/>
                <a:cs typeface="Courier New" panose="02070309020205020404" pitchFamily="49" charset="0"/>
              </a:rPr>
              <a:t>T</a:t>
            </a:r>
            <a:r>
              <a:rPr lang="en-US" altLang="en-US" b="1" i="1" baseline="-25000" dirty="0">
                <a:latin typeface="Courier New" panose="02070309020205020404" pitchFamily="49" charset="0"/>
                <a:cs typeface="Courier New" panose="02070309020205020404" pitchFamily="49" charset="0"/>
              </a:rPr>
              <a:t>2</a:t>
            </a:r>
            <a:r>
              <a:rPr lang="en-US" altLang="en-US" b="1" dirty="0">
                <a:latin typeface="Courier New" panose="02070309020205020404" pitchFamily="49" charset="0"/>
                <a:cs typeface="Courier New" panose="02070309020205020404" pitchFamily="49" charset="0"/>
              </a:rPr>
              <a:t>:  </a:t>
            </a:r>
          </a:p>
          <a:p>
            <a:pPr marL="0" indent="0">
              <a:buNone/>
            </a:pPr>
            <a:r>
              <a:rPr lang="en-US" altLang="en-US" b="1" dirty="0">
                <a:latin typeface="Courier New" panose="02070309020205020404" pitchFamily="49" charset="0"/>
                <a:cs typeface="Courier New" panose="02070309020205020404" pitchFamily="49" charset="0"/>
              </a:rPr>
              <a:t>    wait(s</a:t>
            </a:r>
            <a:r>
              <a:rPr lang="en-US" altLang="en-US" b="1" baseline="-25000" dirty="0">
                <a:latin typeface="Courier New" panose="02070309020205020404" pitchFamily="49" charset="0"/>
                <a:cs typeface="Courier New" panose="02070309020205020404" pitchFamily="49" charset="0"/>
              </a:rPr>
              <a:t>2</a:t>
            </a:r>
            <a:r>
              <a:rPr lang="en-US" altLang="en-US" b="1" dirty="0">
                <a:latin typeface="Courier New" panose="02070309020205020404" pitchFamily="49" charset="0"/>
                <a:cs typeface="Courier New" panose="02070309020205020404" pitchFamily="49" charset="0"/>
              </a:rPr>
              <a:t>)</a:t>
            </a:r>
          </a:p>
          <a:p>
            <a:pPr marL="0" indent="0">
              <a:buNone/>
            </a:pPr>
            <a:r>
              <a:rPr lang="en-US" altLang="en-US" b="1" dirty="0">
                <a:latin typeface="Courier New" panose="02070309020205020404" pitchFamily="49" charset="0"/>
                <a:cs typeface="Courier New" panose="02070309020205020404" pitchFamily="49" charset="0"/>
              </a:rPr>
              <a:t>    wait(s</a:t>
            </a:r>
            <a:r>
              <a:rPr lang="en-US" altLang="en-US" b="1" baseline="-25000" dirty="0">
                <a:latin typeface="Courier New" panose="02070309020205020404" pitchFamily="49" charset="0"/>
                <a:cs typeface="Courier New" panose="02070309020205020404" pitchFamily="49" charset="0"/>
              </a:rPr>
              <a:t>1</a:t>
            </a:r>
            <a:r>
              <a:rPr lang="en-US" altLang="en-US" b="1" dirty="0">
                <a:latin typeface="Courier New" panose="02070309020205020404" pitchFamily="49" charset="0"/>
                <a:cs typeface="Courier New" panose="02070309020205020404" pitchFamily="49" charset="0"/>
              </a:rPr>
              <a:t>)</a:t>
            </a:r>
            <a:endParaRPr lang="en-US" altLang="en-US" dirty="0"/>
          </a:p>
        </p:txBody>
      </p:sp>
    </p:spTree>
    <p:extLst>
      <p:ext uri="{BB962C8B-B14F-4D97-AF65-F5344CB8AC3E}">
        <p14:creationId xmlns:p14="http://schemas.microsoft.com/office/powerpoint/2010/main" val="13304062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87ADAA0F-64F7-46C8-A7FE-1C5113FEBCDC}"/>
              </a:ext>
            </a:extLst>
          </p:cNvPr>
          <p:cNvSpPr>
            <a:spLocks noGrp="1" noChangeArrowheads="1"/>
          </p:cNvSpPr>
          <p:nvPr>
            <p:ph type="title"/>
          </p:nvPr>
        </p:nvSpPr>
        <p:spPr>
          <a:xfrm>
            <a:off x="2276215" y="0"/>
            <a:ext cx="7937500" cy="576262"/>
          </a:xfrm>
        </p:spPr>
        <p:txBody>
          <a:bodyPr/>
          <a:lstStyle/>
          <a:p>
            <a:pPr eaLnBrk="1" hangingPunct="1"/>
            <a:r>
              <a:rPr lang="en-US" altLang="en-US" dirty="0"/>
              <a:t>Deadlock Characterization</a:t>
            </a:r>
          </a:p>
        </p:txBody>
      </p:sp>
      <p:sp>
        <p:nvSpPr>
          <p:cNvPr id="13314" name="Rectangle 3">
            <a:extLst>
              <a:ext uri="{FF2B5EF4-FFF2-40B4-BE49-F238E27FC236}">
                <a16:creationId xmlns:a16="http://schemas.microsoft.com/office/drawing/2014/main" id="{F4824E8A-1421-4BF0-9A60-6CA3F5021CE8}"/>
              </a:ext>
            </a:extLst>
          </p:cNvPr>
          <p:cNvSpPr>
            <a:spLocks noGrp="1" noChangeArrowheads="1"/>
          </p:cNvSpPr>
          <p:nvPr>
            <p:ph type="body" idx="1"/>
          </p:nvPr>
        </p:nvSpPr>
        <p:spPr>
          <a:xfrm>
            <a:off x="2276215" y="1042253"/>
            <a:ext cx="7937500" cy="4668837"/>
          </a:xfrm>
        </p:spPr>
        <p:txBody>
          <a:bodyPr/>
          <a:lstStyle/>
          <a:p>
            <a:pPr algn="just"/>
            <a:r>
              <a:rPr lang="en-US" altLang="en-US" sz="2400" b="1" dirty="0">
                <a:solidFill>
                  <a:srgbClr val="006699"/>
                </a:solidFill>
                <a:latin typeface="+mj-lt"/>
              </a:rPr>
              <a:t>Mutual exclusion</a:t>
            </a:r>
            <a:r>
              <a:rPr lang="en-US" altLang="en-US" sz="2400" b="1" dirty="0"/>
              <a:t>:</a:t>
            </a:r>
            <a:r>
              <a:rPr lang="en-US" altLang="en-US" sz="2400" dirty="0"/>
              <a:t>  </a:t>
            </a:r>
            <a:r>
              <a:rPr lang="en-US" altLang="en-US" sz="2400" dirty="0">
                <a:solidFill>
                  <a:srgbClr val="FF0000"/>
                </a:solidFill>
              </a:rPr>
              <a:t>only one thread at a time </a:t>
            </a:r>
            <a:r>
              <a:rPr lang="en-US" altLang="en-US" sz="2400" dirty="0"/>
              <a:t>can use a resource</a:t>
            </a:r>
            <a:endParaRPr lang="en-US" altLang="en-US" sz="1000" dirty="0"/>
          </a:p>
          <a:p>
            <a:pPr algn="just"/>
            <a:r>
              <a:rPr lang="en-US" altLang="en-US" sz="2400" b="1" dirty="0">
                <a:solidFill>
                  <a:srgbClr val="006699"/>
                </a:solidFill>
                <a:latin typeface="+mj-lt"/>
              </a:rPr>
              <a:t>Hold and wait</a:t>
            </a:r>
            <a:r>
              <a:rPr lang="en-US" altLang="en-US" sz="2400" b="1" dirty="0"/>
              <a:t>:</a:t>
            </a:r>
            <a:r>
              <a:rPr lang="en-US" altLang="en-US" sz="2400" dirty="0"/>
              <a:t>  a thread </a:t>
            </a:r>
            <a:r>
              <a:rPr lang="en-US" altLang="en-US" sz="2400" dirty="0">
                <a:solidFill>
                  <a:srgbClr val="FF0000"/>
                </a:solidFill>
              </a:rPr>
              <a:t>holding at least one resource </a:t>
            </a:r>
            <a:r>
              <a:rPr lang="en-US" altLang="en-US" sz="2400" dirty="0"/>
              <a:t>is </a:t>
            </a:r>
            <a:r>
              <a:rPr lang="en-US" altLang="en-US" sz="2400" dirty="0">
                <a:solidFill>
                  <a:srgbClr val="FF0000"/>
                </a:solidFill>
              </a:rPr>
              <a:t>waiting to acquire additional resources </a:t>
            </a:r>
            <a:r>
              <a:rPr lang="en-US" altLang="en-US" sz="2400" dirty="0"/>
              <a:t>held by other threads</a:t>
            </a:r>
          </a:p>
          <a:p>
            <a:pPr algn="just"/>
            <a:r>
              <a:rPr lang="en-US" altLang="en-US" sz="2400" b="1" dirty="0">
                <a:solidFill>
                  <a:srgbClr val="006699"/>
                </a:solidFill>
                <a:latin typeface="+mj-lt"/>
              </a:rPr>
              <a:t>No preemption</a:t>
            </a:r>
            <a:r>
              <a:rPr lang="en-US" altLang="en-US" sz="2400" b="1" dirty="0"/>
              <a:t>:</a:t>
            </a:r>
            <a:r>
              <a:rPr lang="en-US" altLang="en-US" sz="2400" dirty="0"/>
              <a:t>  a resource can be </a:t>
            </a:r>
            <a:r>
              <a:rPr lang="en-US" altLang="en-US" sz="2400" dirty="0">
                <a:solidFill>
                  <a:srgbClr val="FF0000"/>
                </a:solidFill>
              </a:rPr>
              <a:t>released only voluntarily</a:t>
            </a:r>
            <a:r>
              <a:rPr lang="en-US" altLang="en-US" sz="2400" dirty="0"/>
              <a:t> by the thread holding it, </a:t>
            </a:r>
            <a:r>
              <a:rPr lang="en-US" altLang="en-US" sz="2400" dirty="0">
                <a:solidFill>
                  <a:srgbClr val="FF0000"/>
                </a:solidFill>
              </a:rPr>
              <a:t>after that thread has completed its task</a:t>
            </a:r>
            <a:endParaRPr lang="en-US" altLang="en-US" sz="1000" dirty="0">
              <a:solidFill>
                <a:srgbClr val="FF0000"/>
              </a:solidFill>
            </a:endParaRPr>
          </a:p>
          <a:p>
            <a:pPr algn="just"/>
            <a:r>
              <a:rPr lang="en-US" altLang="en-US" sz="2400" b="1" dirty="0">
                <a:solidFill>
                  <a:srgbClr val="006699"/>
                </a:solidFill>
                <a:latin typeface="+mj-lt"/>
              </a:rPr>
              <a:t>Circular wait</a:t>
            </a:r>
            <a:r>
              <a:rPr lang="en-US" altLang="en-US" sz="2400" b="1" dirty="0"/>
              <a:t>:</a:t>
            </a:r>
            <a:r>
              <a:rPr lang="en-US" altLang="en-US" sz="2400" dirty="0"/>
              <a:t>  there exists a set {</a:t>
            </a:r>
            <a:r>
              <a:rPr lang="en-US" altLang="en-US" sz="2400" i="1" dirty="0"/>
              <a:t>T</a:t>
            </a:r>
            <a:r>
              <a:rPr lang="en-US" altLang="en-US" sz="2400" baseline="-25000" dirty="0"/>
              <a:t>0</a:t>
            </a:r>
            <a:r>
              <a:rPr lang="en-US" altLang="en-US" sz="2400" dirty="0"/>
              <a:t>, </a:t>
            </a:r>
            <a:r>
              <a:rPr lang="en-US" altLang="en-US" sz="2400" i="1" dirty="0"/>
              <a:t>T</a:t>
            </a:r>
            <a:r>
              <a:rPr lang="en-US" altLang="en-US" sz="2400" baseline="-25000" dirty="0"/>
              <a:t>1</a:t>
            </a:r>
            <a:r>
              <a:rPr lang="en-US" altLang="en-US" sz="2400" dirty="0"/>
              <a:t>, …, </a:t>
            </a:r>
            <a:r>
              <a:rPr lang="en-US" altLang="en-US" sz="2400" i="1" dirty="0"/>
              <a:t>T</a:t>
            </a:r>
            <a:r>
              <a:rPr lang="en-US" altLang="en-US" sz="2400" baseline="-25000" dirty="0"/>
              <a:t>n</a:t>
            </a:r>
            <a:r>
              <a:rPr lang="en-US" altLang="en-US" sz="2400" dirty="0"/>
              <a:t>} of waiting threads such that </a:t>
            </a:r>
            <a:r>
              <a:rPr lang="en-US" altLang="en-US" sz="2400" i="1" dirty="0"/>
              <a:t>T</a:t>
            </a:r>
            <a:r>
              <a:rPr lang="en-US" altLang="en-US" sz="2400" baseline="-25000" dirty="0"/>
              <a:t>0  </a:t>
            </a:r>
            <a:r>
              <a:rPr lang="en-US" altLang="en-US" sz="2400" dirty="0"/>
              <a:t>is waiting for a resource that is held by </a:t>
            </a:r>
            <a:r>
              <a:rPr lang="en-US" altLang="en-US" sz="2400" i="1" dirty="0"/>
              <a:t>T</a:t>
            </a:r>
            <a:r>
              <a:rPr lang="en-US" altLang="en-US" sz="2400" baseline="-25000" dirty="0"/>
              <a:t>1</a:t>
            </a:r>
            <a:r>
              <a:rPr lang="en-US" altLang="en-US" sz="2400" dirty="0"/>
              <a:t>, </a:t>
            </a:r>
            <a:r>
              <a:rPr lang="en-US" altLang="en-US" sz="2400" i="1" dirty="0"/>
              <a:t>T</a:t>
            </a:r>
            <a:r>
              <a:rPr lang="en-US" altLang="en-US" sz="2400" baseline="-25000" dirty="0"/>
              <a:t>1</a:t>
            </a:r>
            <a:r>
              <a:rPr lang="en-US" altLang="en-US" sz="2400" dirty="0"/>
              <a:t> is waiting for a resource that is held by </a:t>
            </a:r>
            <a:r>
              <a:rPr lang="en-US" altLang="en-US" sz="2400" i="1" dirty="0"/>
              <a:t>T</a:t>
            </a:r>
            <a:r>
              <a:rPr lang="en-US" altLang="en-US" sz="2400" baseline="-25000" dirty="0"/>
              <a:t>2</a:t>
            </a:r>
            <a:r>
              <a:rPr lang="en-US" altLang="en-US" sz="2400" dirty="0"/>
              <a:t>, …, </a:t>
            </a:r>
            <a:r>
              <a:rPr lang="en-US" altLang="en-US" sz="2400" i="1" dirty="0"/>
              <a:t>T</a:t>
            </a:r>
            <a:r>
              <a:rPr lang="en-US" altLang="en-US" sz="2400" i="1" baseline="-25000" dirty="0"/>
              <a:t>n</a:t>
            </a:r>
            <a:r>
              <a:rPr lang="en-US" altLang="en-US" sz="2400" baseline="-25000" dirty="0"/>
              <a:t>–1</a:t>
            </a:r>
            <a:r>
              <a:rPr lang="en-US" altLang="en-US" sz="2400" dirty="0"/>
              <a:t> is waiting for a resource that is held by </a:t>
            </a:r>
            <a:r>
              <a:rPr lang="en-US" altLang="en-US" sz="2400" i="1" dirty="0"/>
              <a:t>T</a:t>
            </a:r>
            <a:r>
              <a:rPr lang="en-US" altLang="en-US" sz="2400" baseline="-25000" dirty="0"/>
              <a:t>n</a:t>
            </a:r>
            <a:r>
              <a:rPr lang="en-US" altLang="en-US" sz="2400" dirty="0"/>
              <a:t>, and </a:t>
            </a:r>
            <a:r>
              <a:rPr lang="en-US" altLang="en-US" sz="2400" i="1" dirty="0"/>
              <a:t>T</a:t>
            </a:r>
            <a:r>
              <a:rPr lang="en-US" altLang="en-US" sz="2400" baseline="-25000" dirty="0"/>
              <a:t>n</a:t>
            </a:r>
            <a:r>
              <a:rPr lang="en-US" altLang="en-US" sz="2400" dirty="0"/>
              <a:t> is waiting for a resource that is held by </a:t>
            </a:r>
            <a:r>
              <a:rPr lang="en-US" altLang="en-US" sz="2400" i="1" dirty="0"/>
              <a:t>T</a:t>
            </a:r>
            <a:r>
              <a:rPr lang="en-US" altLang="en-US" sz="2400" baseline="-25000" dirty="0"/>
              <a:t>0</a:t>
            </a:r>
            <a:r>
              <a:rPr lang="en-US" altLang="en-US" sz="2400" dirty="0"/>
              <a:t>.</a:t>
            </a:r>
          </a:p>
          <a:p>
            <a:pPr algn="just"/>
            <a:endParaRPr lang="en-US" altLang="en-US" sz="2400" dirty="0"/>
          </a:p>
        </p:txBody>
      </p:sp>
      <p:sp>
        <p:nvSpPr>
          <p:cNvPr id="13315" name="Text Box 5">
            <a:extLst>
              <a:ext uri="{FF2B5EF4-FFF2-40B4-BE49-F238E27FC236}">
                <a16:creationId xmlns:a16="http://schemas.microsoft.com/office/drawing/2014/main" id="{DD9E7C76-64A7-4BA1-B082-DA8BDA6C2698}"/>
              </a:ext>
            </a:extLst>
          </p:cNvPr>
          <p:cNvSpPr txBox="1">
            <a:spLocks noChangeArrowheads="1"/>
          </p:cNvSpPr>
          <p:nvPr/>
        </p:nvSpPr>
        <p:spPr bwMode="auto">
          <a:xfrm>
            <a:off x="2276216" y="576262"/>
            <a:ext cx="6485359"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en-US" altLang="en-US" dirty="0"/>
              <a:t>Deadlock can arise if four conditions hold simultaneously.</a:t>
            </a:r>
          </a:p>
        </p:txBody>
      </p:sp>
    </p:spTree>
    <p:extLst>
      <p:ext uri="{BB962C8B-B14F-4D97-AF65-F5344CB8AC3E}">
        <p14:creationId xmlns:p14="http://schemas.microsoft.com/office/powerpoint/2010/main" val="29979287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1C97935-CF39-4A80-87B3-E8FC1A79B924}"/>
              </a:ext>
            </a:extLst>
          </p:cNvPr>
          <p:cNvSpPr>
            <a:spLocks noGrp="1" noChangeArrowheads="1"/>
          </p:cNvSpPr>
          <p:nvPr>
            <p:ph type="title"/>
          </p:nvPr>
        </p:nvSpPr>
        <p:spPr>
          <a:xfrm>
            <a:off x="2378009" y="232005"/>
            <a:ext cx="7683500" cy="576262"/>
          </a:xfrm>
        </p:spPr>
        <p:txBody>
          <a:bodyPr/>
          <a:lstStyle/>
          <a:p>
            <a:pPr eaLnBrk="1" hangingPunct="1"/>
            <a:r>
              <a:rPr lang="en-US" altLang="en-US" dirty="0"/>
              <a:t>Resource-Allocation Graph</a:t>
            </a:r>
          </a:p>
        </p:txBody>
      </p:sp>
      <p:sp>
        <p:nvSpPr>
          <p:cNvPr id="15362" name="Rectangle 3">
            <a:extLst>
              <a:ext uri="{FF2B5EF4-FFF2-40B4-BE49-F238E27FC236}">
                <a16:creationId xmlns:a16="http://schemas.microsoft.com/office/drawing/2014/main" id="{97E50AC4-3665-4FFE-B1D6-0D72C5ECE804}"/>
              </a:ext>
            </a:extLst>
          </p:cNvPr>
          <p:cNvSpPr>
            <a:spLocks noGrp="1" noChangeArrowheads="1"/>
          </p:cNvSpPr>
          <p:nvPr>
            <p:ph type="body" idx="1"/>
          </p:nvPr>
        </p:nvSpPr>
        <p:spPr>
          <a:xfrm>
            <a:off x="2932354" y="2629195"/>
            <a:ext cx="6574810" cy="4019550"/>
          </a:xfrm>
        </p:spPr>
        <p:txBody>
          <a:bodyPr/>
          <a:lstStyle/>
          <a:p>
            <a:r>
              <a:rPr lang="en-US" altLang="en-US" dirty="0"/>
              <a:t>V is partitioned into two types:</a:t>
            </a:r>
          </a:p>
          <a:p>
            <a:pPr lvl="1"/>
            <a:r>
              <a:rPr lang="en-US" altLang="en-US" i="1" dirty="0"/>
              <a:t>T</a:t>
            </a:r>
            <a:r>
              <a:rPr lang="en-US" altLang="en-US" dirty="0"/>
              <a:t> = {</a:t>
            </a:r>
            <a:r>
              <a:rPr lang="en-US" altLang="en-US" i="1" dirty="0"/>
              <a:t>T</a:t>
            </a:r>
            <a:r>
              <a:rPr lang="en-US" altLang="en-US" baseline="-25000" dirty="0"/>
              <a:t>1</a:t>
            </a:r>
            <a:r>
              <a:rPr lang="en-US" altLang="en-US" dirty="0"/>
              <a:t>, </a:t>
            </a:r>
            <a:r>
              <a:rPr lang="en-US" altLang="en-US" i="1" dirty="0"/>
              <a:t>T</a:t>
            </a:r>
            <a:r>
              <a:rPr lang="en-US" altLang="en-US" baseline="-25000" dirty="0"/>
              <a:t>2</a:t>
            </a:r>
            <a:r>
              <a:rPr lang="en-US" altLang="en-US" dirty="0"/>
              <a:t>, …, </a:t>
            </a:r>
            <a:r>
              <a:rPr lang="en-US" altLang="en-US" i="1" dirty="0"/>
              <a:t>T</a:t>
            </a:r>
            <a:r>
              <a:rPr lang="en-US" altLang="en-US" i="1" baseline="-25000" dirty="0"/>
              <a:t>n</a:t>
            </a:r>
            <a:r>
              <a:rPr lang="en-US" altLang="en-US" dirty="0"/>
              <a:t>}, the set consisting of all the threads in the system.</a:t>
            </a:r>
            <a:br>
              <a:rPr lang="en-US" altLang="en-US" dirty="0"/>
            </a:br>
            <a:endParaRPr lang="en-US" altLang="en-US" dirty="0"/>
          </a:p>
          <a:p>
            <a:pPr lvl="1"/>
            <a:r>
              <a:rPr lang="en-US" altLang="en-US" i="1" dirty="0"/>
              <a:t>R</a:t>
            </a:r>
            <a:r>
              <a:rPr lang="en-US" altLang="en-US" dirty="0"/>
              <a:t> = {</a:t>
            </a:r>
            <a:r>
              <a:rPr lang="en-US" altLang="en-US" i="1" dirty="0"/>
              <a:t>R</a:t>
            </a:r>
            <a:r>
              <a:rPr lang="en-US" altLang="en-US" baseline="-25000" dirty="0"/>
              <a:t>1</a:t>
            </a:r>
            <a:r>
              <a:rPr lang="en-US" altLang="en-US" dirty="0"/>
              <a:t>, </a:t>
            </a:r>
            <a:r>
              <a:rPr lang="en-US" altLang="en-US" i="1" dirty="0"/>
              <a:t>R</a:t>
            </a:r>
            <a:r>
              <a:rPr lang="en-US" altLang="en-US" baseline="-25000" dirty="0"/>
              <a:t>2</a:t>
            </a:r>
            <a:r>
              <a:rPr lang="en-US" altLang="en-US" dirty="0"/>
              <a:t>, …, </a:t>
            </a:r>
            <a:r>
              <a:rPr lang="en-US" altLang="en-US" i="1" dirty="0"/>
              <a:t>R</a:t>
            </a:r>
            <a:r>
              <a:rPr lang="en-US" altLang="en-US" i="1" baseline="-25000" dirty="0"/>
              <a:t>m</a:t>
            </a:r>
            <a:r>
              <a:rPr lang="en-US" altLang="en-US" dirty="0"/>
              <a:t>}, the set consisting of all resource types in the system</a:t>
            </a:r>
          </a:p>
          <a:p>
            <a:pPr lvl="1"/>
            <a:endParaRPr lang="en-US" altLang="en-US" sz="900" dirty="0"/>
          </a:p>
          <a:p>
            <a:r>
              <a:rPr lang="en-US" altLang="en-US" b="1" dirty="0">
                <a:solidFill>
                  <a:srgbClr val="006699"/>
                </a:solidFill>
                <a:latin typeface="+mj-lt"/>
              </a:rPr>
              <a:t>request edge </a:t>
            </a:r>
            <a:r>
              <a:rPr lang="en-US" altLang="en-US" dirty="0"/>
              <a:t>– directed edge </a:t>
            </a:r>
            <a:r>
              <a:rPr lang="en-US" altLang="en-US" i="1" dirty="0" err="1"/>
              <a:t>T</a:t>
            </a:r>
            <a:r>
              <a:rPr lang="en-US" altLang="en-US" i="1" baseline="-25000" dirty="0" err="1"/>
              <a:t>i</a:t>
            </a:r>
            <a:r>
              <a:rPr lang="en-US" altLang="en-US" i="1" baseline="-25000" dirty="0"/>
              <a:t> </a:t>
            </a:r>
            <a:r>
              <a:rPr lang="en-US" altLang="en-US" dirty="0">
                <a:sym typeface="Symbol" panose="05050102010706020507" pitchFamily="18" charset="2"/>
              </a:rPr>
              <a:t> </a:t>
            </a:r>
            <a:r>
              <a:rPr lang="en-US" altLang="en-US" i="1" dirty="0" err="1">
                <a:sym typeface="Symbol" panose="05050102010706020507" pitchFamily="18" charset="2"/>
              </a:rPr>
              <a:t>R</a:t>
            </a:r>
            <a:r>
              <a:rPr lang="en-US" altLang="en-US" i="1" baseline="-25000" dirty="0" err="1">
                <a:sym typeface="Symbol" panose="05050102010706020507" pitchFamily="18" charset="2"/>
              </a:rPr>
              <a:t>j</a:t>
            </a:r>
            <a:endParaRPr lang="en-US" altLang="en-US" i="1" baseline="-25000" dirty="0">
              <a:sym typeface="Symbol" panose="05050102010706020507" pitchFamily="18" charset="2"/>
            </a:endParaRPr>
          </a:p>
          <a:p>
            <a:endParaRPr lang="en-US" altLang="en-US" sz="800" i="1" baseline="-25000" dirty="0">
              <a:sym typeface="Symbol" panose="05050102010706020507" pitchFamily="18" charset="2"/>
            </a:endParaRPr>
          </a:p>
          <a:p>
            <a:r>
              <a:rPr lang="en-US" altLang="en-US" b="1" dirty="0">
                <a:solidFill>
                  <a:srgbClr val="006699"/>
                </a:solidFill>
                <a:latin typeface="+mj-lt"/>
                <a:sym typeface="Symbol" panose="05050102010706020507" pitchFamily="18" charset="2"/>
              </a:rPr>
              <a:t>assignment edge </a:t>
            </a:r>
            <a:r>
              <a:rPr lang="en-US" altLang="en-US" dirty="0"/>
              <a:t>– directed edge </a:t>
            </a:r>
            <a:r>
              <a:rPr lang="en-US" altLang="en-US" i="1" dirty="0" err="1"/>
              <a:t>R</a:t>
            </a:r>
            <a:r>
              <a:rPr lang="en-US" altLang="en-US" i="1" baseline="-25000" dirty="0" err="1"/>
              <a:t>j</a:t>
            </a:r>
            <a:r>
              <a:rPr lang="en-US" altLang="en-US" i="1" dirty="0"/>
              <a:t> </a:t>
            </a:r>
            <a:r>
              <a:rPr lang="en-US" altLang="en-US" dirty="0">
                <a:sym typeface="Symbol" panose="05050102010706020507" pitchFamily="18" charset="2"/>
              </a:rPr>
              <a:t> </a:t>
            </a:r>
            <a:r>
              <a:rPr lang="en-US" altLang="en-US" i="1" dirty="0" err="1">
                <a:sym typeface="Symbol" panose="05050102010706020507" pitchFamily="18" charset="2"/>
              </a:rPr>
              <a:t>T</a:t>
            </a:r>
            <a:r>
              <a:rPr lang="en-US" altLang="en-US" i="1" baseline="-25000" dirty="0" err="1">
                <a:sym typeface="Symbol" panose="05050102010706020507" pitchFamily="18" charset="2"/>
              </a:rPr>
              <a:t>i</a:t>
            </a:r>
            <a:endParaRPr lang="en-US" altLang="en-US" dirty="0">
              <a:sym typeface="Symbol" panose="05050102010706020507" pitchFamily="18" charset="2"/>
            </a:endParaRPr>
          </a:p>
        </p:txBody>
      </p:sp>
      <p:sp>
        <p:nvSpPr>
          <p:cNvPr id="15363" name="Text Box 4">
            <a:extLst>
              <a:ext uri="{FF2B5EF4-FFF2-40B4-BE49-F238E27FC236}">
                <a16:creationId xmlns:a16="http://schemas.microsoft.com/office/drawing/2014/main" id="{5FCC8E8A-16FC-4644-B90C-8C320716B34F}"/>
              </a:ext>
            </a:extLst>
          </p:cNvPr>
          <p:cNvSpPr txBox="1">
            <a:spLocks noChangeArrowheads="1"/>
          </p:cNvSpPr>
          <p:nvPr/>
        </p:nvSpPr>
        <p:spPr bwMode="auto">
          <a:xfrm>
            <a:off x="2450273" y="1975377"/>
            <a:ext cx="42755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en-US" altLang="en-US" dirty="0"/>
              <a:t>A set of vertices </a:t>
            </a:r>
            <a:r>
              <a:rPr kumimoji="0" lang="en-US" altLang="en-US" i="1" dirty="0"/>
              <a:t>V</a:t>
            </a:r>
            <a:r>
              <a:rPr kumimoji="0" lang="en-US" altLang="en-US" dirty="0"/>
              <a:t> and a set of edges </a:t>
            </a:r>
            <a:r>
              <a:rPr kumimoji="0" lang="en-US" altLang="en-US" i="1" dirty="0"/>
              <a:t>E</a:t>
            </a:r>
            <a:r>
              <a:rPr kumimoji="0" lang="en-US" altLang="en-US" dirty="0"/>
              <a:t>.</a:t>
            </a:r>
          </a:p>
        </p:txBody>
      </p:sp>
      <p:sp>
        <p:nvSpPr>
          <p:cNvPr id="2" name="Rectangle 1"/>
          <p:cNvSpPr/>
          <p:nvPr/>
        </p:nvSpPr>
        <p:spPr>
          <a:xfrm>
            <a:off x="2191292" y="909906"/>
            <a:ext cx="8056935" cy="646331"/>
          </a:xfrm>
          <a:prstGeom prst="rect">
            <a:avLst/>
          </a:prstGeom>
        </p:spPr>
        <p:txBody>
          <a:bodyPr wrap="square">
            <a:spAutoFit/>
          </a:bodyPr>
          <a:lstStyle/>
          <a:p>
            <a:r>
              <a:rPr lang="en-US" dirty="0">
                <a:solidFill>
                  <a:srgbClr val="FF0000"/>
                </a:solidFill>
                <a:latin typeface="PalatinoLTStd-Roman"/>
              </a:rPr>
              <a:t>Deadlocks can be described more precisely in terms of a directed graph called a </a:t>
            </a:r>
            <a:r>
              <a:rPr lang="en-US" b="1" dirty="0">
                <a:solidFill>
                  <a:srgbClr val="FF0000"/>
                </a:solidFill>
                <a:latin typeface="PalatinoLTStd-Bold"/>
              </a:rPr>
              <a:t>system resource-allocation graph</a:t>
            </a:r>
            <a:r>
              <a:rPr lang="en-US" dirty="0">
                <a:solidFill>
                  <a:srgbClr val="FF0000"/>
                </a:solidFill>
                <a:latin typeface="PalatinoLTStd-Roman"/>
              </a:rPr>
              <a:t>.</a:t>
            </a:r>
            <a:endParaRPr lang="en-US" dirty="0">
              <a:solidFill>
                <a:srgbClr val="FF0000"/>
              </a:solidFill>
            </a:endParaRPr>
          </a:p>
        </p:txBody>
      </p:sp>
    </p:spTree>
    <p:extLst>
      <p:ext uri="{BB962C8B-B14F-4D97-AF65-F5344CB8AC3E}">
        <p14:creationId xmlns:p14="http://schemas.microsoft.com/office/powerpoint/2010/main" val="36662287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1A4B64E3-DEA9-4327-B63F-42B7E3327098}"/>
              </a:ext>
            </a:extLst>
          </p:cNvPr>
          <p:cNvSpPr>
            <a:spLocks noGrp="1"/>
          </p:cNvSpPr>
          <p:nvPr>
            <p:ph type="title"/>
          </p:nvPr>
        </p:nvSpPr>
        <p:spPr>
          <a:xfrm>
            <a:off x="2651465" y="214006"/>
            <a:ext cx="7880350" cy="537202"/>
          </a:xfrm>
        </p:spPr>
        <p:txBody>
          <a:bodyPr/>
          <a:lstStyle/>
          <a:p>
            <a:r>
              <a:rPr lang="en-US" altLang="en-US" dirty="0"/>
              <a:t>Resource Allocation Graph Example</a:t>
            </a:r>
          </a:p>
        </p:txBody>
      </p:sp>
      <p:sp>
        <p:nvSpPr>
          <p:cNvPr id="91138" name="Content Placeholder 2">
            <a:extLst>
              <a:ext uri="{FF2B5EF4-FFF2-40B4-BE49-F238E27FC236}">
                <a16:creationId xmlns:a16="http://schemas.microsoft.com/office/drawing/2014/main" id="{66863360-8218-4F9C-99FE-9BE85325DE12}"/>
              </a:ext>
            </a:extLst>
          </p:cNvPr>
          <p:cNvSpPr>
            <a:spLocks noGrp="1"/>
          </p:cNvSpPr>
          <p:nvPr>
            <p:ph idx="1"/>
          </p:nvPr>
        </p:nvSpPr>
        <p:spPr>
          <a:xfrm>
            <a:off x="2330451" y="1233489"/>
            <a:ext cx="4524375" cy="4530725"/>
          </a:xfrm>
        </p:spPr>
        <p:txBody>
          <a:bodyPr/>
          <a:lstStyle/>
          <a:p>
            <a:r>
              <a:rPr lang="en-US" altLang="en-US" dirty="0"/>
              <a:t>One instance of R</a:t>
            </a:r>
            <a:r>
              <a:rPr lang="en-US" altLang="en-US" baseline="-25000" dirty="0"/>
              <a:t>1</a:t>
            </a:r>
          </a:p>
          <a:p>
            <a:r>
              <a:rPr lang="en-US" altLang="en-US" dirty="0"/>
              <a:t>Two instances of R</a:t>
            </a:r>
            <a:r>
              <a:rPr lang="en-US" altLang="en-US" baseline="-25000" dirty="0"/>
              <a:t>2</a:t>
            </a:r>
          </a:p>
          <a:p>
            <a:r>
              <a:rPr lang="en-US" altLang="en-US" dirty="0"/>
              <a:t>One instance of R</a:t>
            </a:r>
            <a:r>
              <a:rPr lang="en-US" altLang="en-US" baseline="-25000" dirty="0"/>
              <a:t>3</a:t>
            </a:r>
          </a:p>
          <a:p>
            <a:r>
              <a:rPr lang="en-US" altLang="en-US" dirty="0"/>
              <a:t>Three instance of R</a:t>
            </a:r>
            <a:r>
              <a:rPr lang="en-US" altLang="en-US" baseline="-25000" dirty="0"/>
              <a:t>4</a:t>
            </a:r>
          </a:p>
          <a:p>
            <a:r>
              <a:rPr lang="en-US" altLang="en-US" dirty="0"/>
              <a:t>T</a:t>
            </a:r>
            <a:r>
              <a:rPr lang="en-US" altLang="en-US" baseline="-25000" dirty="0"/>
              <a:t>1</a:t>
            </a:r>
            <a:r>
              <a:rPr lang="en-US" altLang="en-US" dirty="0"/>
              <a:t> holds one instance of R</a:t>
            </a:r>
            <a:r>
              <a:rPr lang="en-US" altLang="en-US" baseline="-25000" dirty="0"/>
              <a:t>2</a:t>
            </a:r>
            <a:r>
              <a:rPr lang="en-US" altLang="en-US" dirty="0"/>
              <a:t> and is waiting for an instance of R</a:t>
            </a:r>
            <a:r>
              <a:rPr lang="en-US" altLang="en-US" baseline="-25000" dirty="0"/>
              <a:t>1</a:t>
            </a:r>
          </a:p>
          <a:p>
            <a:r>
              <a:rPr lang="en-US" altLang="en-US" dirty="0"/>
              <a:t>T</a:t>
            </a:r>
            <a:r>
              <a:rPr lang="en-US" altLang="en-US" baseline="-25000" dirty="0"/>
              <a:t>2</a:t>
            </a:r>
            <a:r>
              <a:rPr lang="en-US" altLang="en-US" dirty="0"/>
              <a:t> holds one instance of R</a:t>
            </a:r>
            <a:r>
              <a:rPr lang="en-US" altLang="en-US" baseline="-25000" dirty="0"/>
              <a:t>1</a:t>
            </a:r>
            <a:r>
              <a:rPr lang="en-US" altLang="en-US" dirty="0"/>
              <a:t>, one instance of R</a:t>
            </a:r>
            <a:r>
              <a:rPr lang="en-US" altLang="en-US" baseline="-25000" dirty="0"/>
              <a:t>2</a:t>
            </a:r>
            <a:r>
              <a:rPr lang="en-US" altLang="en-US" dirty="0"/>
              <a:t>, and is waiting for an instance of R</a:t>
            </a:r>
            <a:r>
              <a:rPr lang="en-US" altLang="en-US" baseline="-25000" dirty="0"/>
              <a:t>3</a:t>
            </a:r>
          </a:p>
          <a:p>
            <a:r>
              <a:rPr lang="en-US" altLang="en-US" dirty="0"/>
              <a:t>T</a:t>
            </a:r>
            <a:r>
              <a:rPr lang="en-US" altLang="en-US" baseline="-25000" dirty="0"/>
              <a:t>3</a:t>
            </a:r>
            <a:r>
              <a:rPr lang="en-US" altLang="en-US" dirty="0"/>
              <a:t> is holds one instance of R</a:t>
            </a:r>
            <a:r>
              <a:rPr lang="en-US" altLang="en-US" baseline="-25000" dirty="0"/>
              <a:t>3</a:t>
            </a:r>
          </a:p>
        </p:txBody>
      </p:sp>
      <p:pic>
        <p:nvPicPr>
          <p:cNvPr id="91139" name="Picture 3">
            <a:extLst>
              <a:ext uri="{FF2B5EF4-FFF2-40B4-BE49-F238E27FC236}">
                <a16:creationId xmlns:a16="http://schemas.microsoft.com/office/drawing/2014/main" id="{4B3F1686-A558-47EE-B9D9-DBE933ACC3F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396164" y="1500188"/>
            <a:ext cx="2497137"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21481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837C291A-9445-4721-B361-26FE27F4113C}"/>
              </a:ext>
            </a:extLst>
          </p:cNvPr>
          <p:cNvSpPr>
            <a:spLocks noGrp="1" noChangeArrowheads="1"/>
          </p:cNvSpPr>
          <p:nvPr>
            <p:ph type="title"/>
          </p:nvPr>
        </p:nvSpPr>
        <p:spPr>
          <a:xfrm>
            <a:off x="2289176" y="273737"/>
            <a:ext cx="8378825" cy="469900"/>
          </a:xfrm>
        </p:spPr>
        <p:txBody>
          <a:bodyPr/>
          <a:lstStyle/>
          <a:p>
            <a:pPr eaLnBrk="1" hangingPunct="1"/>
            <a:r>
              <a:rPr lang="en-US" altLang="en-US" sz="2800" dirty="0"/>
              <a:t>Resource Allocation Graph with a Deadlock</a:t>
            </a:r>
          </a:p>
        </p:txBody>
      </p:sp>
      <p:pic>
        <p:nvPicPr>
          <p:cNvPr id="17410" name="Picture 1">
            <a:extLst>
              <a:ext uri="{FF2B5EF4-FFF2-40B4-BE49-F238E27FC236}">
                <a16:creationId xmlns:a16="http://schemas.microsoft.com/office/drawing/2014/main" id="{6DC2929A-0DEC-4DB0-815C-C96B1DCBCDC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98950" y="1831975"/>
            <a:ext cx="3354388" cy="495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895475" y="872308"/>
            <a:ext cx="7581900" cy="830997"/>
          </a:xfrm>
          <a:prstGeom prst="rect">
            <a:avLst/>
          </a:prstGeom>
        </p:spPr>
        <p:txBody>
          <a:bodyPr wrap="square">
            <a:spAutoFit/>
          </a:bodyPr>
          <a:lstStyle/>
          <a:p>
            <a:r>
              <a:rPr lang="en-US" sz="2400" dirty="0">
                <a:latin typeface="PalatinoLTStd-Roman"/>
              </a:rPr>
              <a:t>If the graph does contain a cycle, then a deadlock may exist.</a:t>
            </a:r>
            <a:endParaRPr lang="en-US" sz="2400" dirty="0"/>
          </a:p>
        </p:txBody>
      </p:sp>
    </p:spTree>
    <p:extLst>
      <p:ext uri="{BB962C8B-B14F-4D97-AF65-F5344CB8AC3E}">
        <p14:creationId xmlns:p14="http://schemas.microsoft.com/office/powerpoint/2010/main" val="27625344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524000" y="904876"/>
            <a:ext cx="8859486" cy="5048249"/>
          </a:xfrm>
          <a:prstGeom prst="rect">
            <a:avLst/>
          </a:prstGeom>
        </p:spPr>
      </p:pic>
      <p:sp>
        <p:nvSpPr>
          <p:cNvPr id="4" name="TextBox 3"/>
          <p:cNvSpPr txBox="1"/>
          <p:nvPr/>
        </p:nvSpPr>
        <p:spPr>
          <a:xfrm>
            <a:off x="3257550" y="190500"/>
            <a:ext cx="5505450" cy="369332"/>
          </a:xfrm>
          <a:prstGeom prst="rect">
            <a:avLst/>
          </a:prstGeom>
          <a:noFill/>
        </p:spPr>
        <p:txBody>
          <a:bodyPr wrap="square" rtlCol="0">
            <a:spAutoFit/>
          </a:bodyPr>
          <a:lstStyle/>
          <a:p>
            <a:r>
              <a:rPr lang="en-US" b="1" dirty="0"/>
              <a:t>Draw RAG and check for deadlock</a:t>
            </a:r>
          </a:p>
        </p:txBody>
      </p:sp>
    </p:spTree>
    <p:extLst>
      <p:ext uri="{BB962C8B-B14F-4D97-AF65-F5344CB8AC3E}">
        <p14:creationId xmlns:p14="http://schemas.microsoft.com/office/powerpoint/2010/main" val="7751133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106635" y="948515"/>
            <a:ext cx="8113690" cy="5461811"/>
          </a:xfrm>
          <a:prstGeom prst="rect">
            <a:avLst/>
          </a:prstGeom>
        </p:spPr>
      </p:pic>
      <p:sp>
        <p:nvSpPr>
          <p:cNvPr id="4" name="Title 3"/>
          <p:cNvSpPr txBox="1">
            <a:spLocks noGrp="1"/>
          </p:cNvSpPr>
          <p:nvPr>
            <p:ph type="title"/>
          </p:nvPr>
        </p:nvSpPr>
        <p:spPr>
          <a:xfrm>
            <a:off x="609600" y="216913"/>
            <a:ext cx="10769600" cy="584775"/>
          </a:xfrm>
          <a:prstGeom prst="rect">
            <a:avLst/>
          </a:prstGeom>
          <a:noFill/>
        </p:spPr>
        <p:txBody>
          <a:bodyPr wrap="square" rtlCol="0">
            <a:spAutoFit/>
          </a:bodyPr>
          <a:lstStyle/>
          <a:p>
            <a:r>
              <a:rPr lang="en-US" b="1" dirty="0"/>
              <a:t>Draw RAG and check for deadlock</a:t>
            </a:r>
          </a:p>
        </p:txBody>
      </p:sp>
    </p:spTree>
    <p:extLst>
      <p:ext uri="{BB962C8B-B14F-4D97-AF65-F5344CB8AC3E}">
        <p14:creationId xmlns:p14="http://schemas.microsoft.com/office/powerpoint/2010/main" val="2971510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C1FE1CF9-67CC-4C8B-A23E-E3989C148625}"/>
              </a:ext>
            </a:extLst>
          </p:cNvPr>
          <p:cNvSpPr>
            <a:spLocks noGrp="1" noChangeArrowheads="1"/>
          </p:cNvSpPr>
          <p:nvPr>
            <p:ph type="title"/>
          </p:nvPr>
        </p:nvSpPr>
        <p:spPr>
          <a:xfrm>
            <a:off x="2469595" y="346641"/>
            <a:ext cx="7913497" cy="457200"/>
          </a:xfrm>
        </p:spPr>
        <p:txBody>
          <a:bodyPr/>
          <a:lstStyle/>
          <a:p>
            <a:pPr eaLnBrk="1" hangingPunct="1"/>
            <a:r>
              <a:rPr lang="en-US" altLang="en-US" dirty="0"/>
              <a:t>Graph with a Cycle But no Deadlock</a:t>
            </a:r>
          </a:p>
        </p:txBody>
      </p:sp>
      <p:pic>
        <p:nvPicPr>
          <p:cNvPr id="19458" name="Picture 1">
            <a:extLst>
              <a:ext uri="{FF2B5EF4-FFF2-40B4-BE49-F238E27FC236}">
                <a16:creationId xmlns:a16="http://schemas.microsoft.com/office/drawing/2014/main" id="{CC72185A-FCE6-4038-BA8E-B2DF5B5E466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90217" y="1743076"/>
            <a:ext cx="3248633" cy="4410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76424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F368CA74-5723-4606-85F5-095271A5A3FF}"/>
              </a:ext>
            </a:extLst>
          </p:cNvPr>
          <p:cNvSpPr>
            <a:spLocks noGrp="1" noChangeArrowheads="1"/>
          </p:cNvSpPr>
          <p:nvPr>
            <p:ph type="title"/>
          </p:nvPr>
        </p:nvSpPr>
        <p:spPr>
          <a:xfrm>
            <a:off x="1981200" y="236380"/>
            <a:ext cx="8229600" cy="576263"/>
          </a:xfrm>
        </p:spPr>
        <p:txBody>
          <a:bodyPr/>
          <a:lstStyle/>
          <a:p>
            <a:pPr eaLnBrk="1" hangingPunct="1"/>
            <a:r>
              <a:rPr lang="en-US" altLang="en-US" dirty="0"/>
              <a:t>Basic Facts</a:t>
            </a:r>
          </a:p>
        </p:txBody>
      </p:sp>
      <p:sp>
        <p:nvSpPr>
          <p:cNvPr id="21506" name="Rectangle 3">
            <a:extLst>
              <a:ext uri="{FF2B5EF4-FFF2-40B4-BE49-F238E27FC236}">
                <a16:creationId xmlns:a16="http://schemas.microsoft.com/office/drawing/2014/main" id="{7CA9EB25-8907-4C31-9562-78429BD390F6}"/>
              </a:ext>
            </a:extLst>
          </p:cNvPr>
          <p:cNvSpPr>
            <a:spLocks noGrp="1" noChangeArrowheads="1"/>
          </p:cNvSpPr>
          <p:nvPr>
            <p:ph type="body" idx="1"/>
          </p:nvPr>
        </p:nvSpPr>
        <p:spPr>
          <a:xfrm>
            <a:off x="2389188" y="1217613"/>
            <a:ext cx="7635000" cy="4400550"/>
          </a:xfrm>
        </p:spPr>
        <p:txBody>
          <a:bodyPr/>
          <a:lstStyle/>
          <a:p>
            <a:r>
              <a:rPr lang="en-US" altLang="en-US" dirty="0"/>
              <a:t>If graph contains no cycles </a:t>
            </a:r>
            <a:r>
              <a:rPr lang="en-US" altLang="en-US" dirty="0">
                <a:sym typeface="Symbol" panose="05050102010706020507" pitchFamily="18" charset="2"/>
              </a:rPr>
              <a:t> no deadlock</a:t>
            </a:r>
          </a:p>
          <a:p>
            <a:r>
              <a:rPr lang="en-US" altLang="en-US" dirty="0">
                <a:sym typeface="Symbol" panose="05050102010706020507" pitchFamily="18" charset="2"/>
              </a:rPr>
              <a:t>If graph contains a cycle </a:t>
            </a:r>
          </a:p>
          <a:p>
            <a:pPr lvl="1"/>
            <a:r>
              <a:rPr lang="en-US" altLang="en-US" dirty="0">
                <a:sym typeface="Symbol" panose="05050102010706020507" pitchFamily="18" charset="2"/>
              </a:rPr>
              <a:t>if only one instance per resource type, then deadlock</a:t>
            </a:r>
          </a:p>
          <a:p>
            <a:pPr lvl="1"/>
            <a:r>
              <a:rPr lang="en-US" altLang="en-US" dirty="0">
                <a:sym typeface="Symbol" panose="05050102010706020507" pitchFamily="18" charset="2"/>
              </a:rPr>
              <a:t>if several instances per resource type, possibility of deadlock</a:t>
            </a:r>
          </a:p>
        </p:txBody>
      </p:sp>
    </p:spTree>
    <p:extLst>
      <p:ext uri="{BB962C8B-B14F-4D97-AF65-F5344CB8AC3E}">
        <p14:creationId xmlns:p14="http://schemas.microsoft.com/office/powerpoint/2010/main" val="13231368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4E6DC195-A097-4489-91F0-082398196992}"/>
              </a:ext>
            </a:extLst>
          </p:cNvPr>
          <p:cNvSpPr>
            <a:spLocks noGrp="1" noChangeArrowheads="1"/>
          </p:cNvSpPr>
          <p:nvPr>
            <p:ph type="title"/>
          </p:nvPr>
        </p:nvSpPr>
        <p:spPr>
          <a:xfrm>
            <a:off x="2633664" y="214313"/>
            <a:ext cx="7577137" cy="576262"/>
          </a:xfrm>
        </p:spPr>
        <p:txBody>
          <a:bodyPr/>
          <a:lstStyle/>
          <a:p>
            <a:pPr eaLnBrk="1" hangingPunct="1"/>
            <a:r>
              <a:rPr lang="en-US" altLang="en-US" dirty="0"/>
              <a:t>Methods for Handling Deadlocks</a:t>
            </a:r>
          </a:p>
        </p:txBody>
      </p:sp>
      <p:sp>
        <p:nvSpPr>
          <p:cNvPr id="23554" name="Rectangle 3">
            <a:extLst>
              <a:ext uri="{FF2B5EF4-FFF2-40B4-BE49-F238E27FC236}">
                <a16:creationId xmlns:a16="http://schemas.microsoft.com/office/drawing/2014/main" id="{0B1974F3-B27D-4398-888B-6020EB15EEA0}"/>
              </a:ext>
            </a:extLst>
          </p:cNvPr>
          <p:cNvSpPr>
            <a:spLocks noGrp="1" noChangeArrowheads="1"/>
          </p:cNvSpPr>
          <p:nvPr>
            <p:ph type="body" idx="1"/>
          </p:nvPr>
        </p:nvSpPr>
        <p:spPr>
          <a:xfrm>
            <a:off x="2406650" y="1198563"/>
            <a:ext cx="7577137" cy="3295650"/>
          </a:xfrm>
        </p:spPr>
        <p:txBody>
          <a:bodyPr/>
          <a:lstStyle/>
          <a:p>
            <a:r>
              <a:rPr lang="en-US" altLang="en-US" dirty="0"/>
              <a:t>Ensure that the system will </a:t>
            </a:r>
            <a:r>
              <a:rPr lang="en-US" altLang="en-US" b="1" dirty="0">
                <a:solidFill>
                  <a:srgbClr val="006699"/>
                </a:solidFill>
                <a:latin typeface="+mj-lt"/>
              </a:rPr>
              <a:t>never</a:t>
            </a:r>
            <a:r>
              <a:rPr lang="en-US" altLang="en-US" dirty="0"/>
              <a:t> enter a deadlock state:</a:t>
            </a:r>
          </a:p>
          <a:p>
            <a:pPr lvl="1"/>
            <a:r>
              <a:rPr lang="en-US" altLang="en-US" sz="2800" dirty="0"/>
              <a:t>Deadlock prevention</a:t>
            </a:r>
          </a:p>
          <a:p>
            <a:pPr lvl="1"/>
            <a:r>
              <a:rPr lang="en-US" altLang="en-US" sz="2800" dirty="0"/>
              <a:t>Deadlock avoidance</a:t>
            </a:r>
          </a:p>
          <a:p>
            <a:r>
              <a:rPr lang="en-US" altLang="en-US" dirty="0"/>
              <a:t>Allow the system to enter a deadlock state and then recover</a:t>
            </a:r>
          </a:p>
          <a:p>
            <a:r>
              <a:rPr lang="en-US" altLang="en-US" dirty="0"/>
              <a:t>Ignore the problem and pretend that deadlocks never occur in the system.</a:t>
            </a:r>
          </a:p>
        </p:txBody>
      </p:sp>
    </p:spTree>
    <p:extLst>
      <p:ext uri="{BB962C8B-B14F-4D97-AF65-F5344CB8AC3E}">
        <p14:creationId xmlns:p14="http://schemas.microsoft.com/office/powerpoint/2010/main" val="28093935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1" name="Rectangle 1026">
            <a:extLst>
              <a:ext uri="{FF2B5EF4-FFF2-40B4-BE49-F238E27FC236}">
                <a16:creationId xmlns:a16="http://schemas.microsoft.com/office/drawing/2014/main" id="{93884E20-FE6E-43AF-8F05-40E2C3E8FF19}"/>
              </a:ext>
            </a:extLst>
          </p:cNvPr>
          <p:cNvSpPr>
            <a:spLocks noGrp="1" noChangeArrowheads="1"/>
          </p:cNvSpPr>
          <p:nvPr>
            <p:ph type="title"/>
          </p:nvPr>
        </p:nvSpPr>
        <p:spPr>
          <a:xfrm>
            <a:off x="2409826" y="226431"/>
            <a:ext cx="7800975" cy="576262"/>
          </a:xfrm>
        </p:spPr>
        <p:txBody>
          <a:bodyPr/>
          <a:lstStyle/>
          <a:p>
            <a:pPr eaLnBrk="1" hangingPunct="1"/>
            <a:r>
              <a:rPr lang="en-US" altLang="en-US" dirty="0"/>
              <a:t>Deadlock Prevention</a:t>
            </a:r>
          </a:p>
        </p:txBody>
      </p:sp>
      <p:sp>
        <p:nvSpPr>
          <p:cNvPr id="25602" name="Rectangle 1027">
            <a:extLst>
              <a:ext uri="{FF2B5EF4-FFF2-40B4-BE49-F238E27FC236}">
                <a16:creationId xmlns:a16="http://schemas.microsoft.com/office/drawing/2014/main" id="{248F74CB-A637-4326-83AD-A85531E46B2E}"/>
              </a:ext>
            </a:extLst>
          </p:cNvPr>
          <p:cNvSpPr>
            <a:spLocks noGrp="1" noChangeArrowheads="1"/>
          </p:cNvSpPr>
          <p:nvPr>
            <p:ph type="body" idx="1"/>
          </p:nvPr>
        </p:nvSpPr>
        <p:spPr>
          <a:xfrm>
            <a:off x="2177698" y="1755611"/>
            <a:ext cx="7756877" cy="3822700"/>
          </a:xfrm>
        </p:spPr>
        <p:txBody>
          <a:bodyPr/>
          <a:lstStyle/>
          <a:p>
            <a:r>
              <a:rPr lang="en-US" altLang="en-US" b="1" dirty="0"/>
              <a:t>Mutual Exclusion</a:t>
            </a:r>
            <a:r>
              <a:rPr lang="en-US" altLang="en-US" dirty="0"/>
              <a:t> – not required for sharable resources (e.g., read-only files); must hold for non-sharable resources</a:t>
            </a:r>
          </a:p>
          <a:p>
            <a:r>
              <a:rPr lang="en-US" altLang="en-US" b="1" dirty="0"/>
              <a:t>Hold and Wait</a:t>
            </a:r>
            <a:r>
              <a:rPr lang="en-US" altLang="en-US" dirty="0"/>
              <a:t> – must guarantee that </a:t>
            </a:r>
            <a:r>
              <a:rPr lang="en-US" altLang="en-US" b="1" dirty="0">
                <a:solidFill>
                  <a:srgbClr val="FF0000"/>
                </a:solidFill>
              </a:rPr>
              <a:t>whenever a thread requests a resource, it does not hold any other resources</a:t>
            </a:r>
          </a:p>
          <a:p>
            <a:pPr lvl="1"/>
            <a:r>
              <a:rPr lang="en-US" altLang="en-US" dirty="0"/>
              <a:t>Require threads to request and be </a:t>
            </a:r>
            <a:r>
              <a:rPr lang="en-US" altLang="en-US" b="1" dirty="0">
                <a:solidFill>
                  <a:srgbClr val="FF0000"/>
                </a:solidFill>
              </a:rPr>
              <a:t>allocated all its resources before it begins execution</a:t>
            </a:r>
            <a:r>
              <a:rPr lang="en-US" altLang="en-US" dirty="0"/>
              <a:t> or allow thread to request resources only when the thread has none allocated to it.</a:t>
            </a:r>
          </a:p>
          <a:p>
            <a:pPr lvl="1"/>
            <a:r>
              <a:rPr lang="en-US" altLang="en-US" b="1" dirty="0">
                <a:solidFill>
                  <a:srgbClr val="00B050"/>
                </a:solidFill>
              </a:rPr>
              <a:t>Low resource utilization; starvation possible</a:t>
            </a:r>
          </a:p>
        </p:txBody>
      </p:sp>
      <p:sp>
        <p:nvSpPr>
          <p:cNvPr id="25603" name="Text Box 1028">
            <a:extLst>
              <a:ext uri="{FF2B5EF4-FFF2-40B4-BE49-F238E27FC236}">
                <a16:creationId xmlns:a16="http://schemas.microsoft.com/office/drawing/2014/main" id="{9845B2D7-F006-41D6-8929-1B9EF427F899}"/>
              </a:ext>
            </a:extLst>
          </p:cNvPr>
          <p:cNvSpPr txBox="1">
            <a:spLocks noChangeArrowheads="1"/>
          </p:cNvSpPr>
          <p:nvPr/>
        </p:nvSpPr>
        <p:spPr bwMode="auto">
          <a:xfrm>
            <a:off x="2409826" y="1196734"/>
            <a:ext cx="78009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dirty="0"/>
              <a:t>Invalidate one of the four necessary conditions for deadlock:</a:t>
            </a:r>
          </a:p>
        </p:txBody>
      </p:sp>
    </p:spTree>
    <p:extLst>
      <p:ext uri="{BB962C8B-B14F-4D97-AF65-F5344CB8AC3E}">
        <p14:creationId xmlns:p14="http://schemas.microsoft.com/office/powerpoint/2010/main" val="5982491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49" name="Rectangle 1026">
            <a:extLst>
              <a:ext uri="{FF2B5EF4-FFF2-40B4-BE49-F238E27FC236}">
                <a16:creationId xmlns:a16="http://schemas.microsoft.com/office/drawing/2014/main" id="{5E79F7A0-88E3-48D2-89FF-125D5DE02D67}"/>
              </a:ext>
            </a:extLst>
          </p:cNvPr>
          <p:cNvSpPr>
            <a:spLocks noGrp="1" noChangeArrowheads="1"/>
          </p:cNvSpPr>
          <p:nvPr>
            <p:ph type="title"/>
          </p:nvPr>
        </p:nvSpPr>
        <p:spPr>
          <a:xfrm>
            <a:off x="2527300" y="232005"/>
            <a:ext cx="7683500" cy="576262"/>
          </a:xfrm>
        </p:spPr>
        <p:txBody>
          <a:bodyPr/>
          <a:lstStyle/>
          <a:p>
            <a:pPr eaLnBrk="1" hangingPunct="1"/>
            <a:r>
              <a:rPr lang="en-US" altLang="en-US" dirty="0"/>
              <a:t>Deadlock Prevention (Cont.)</a:t>
            </a:r>
          </a:p>
        </p:txBody>
      </p:sp>
      <p:sp>
        <p:nvSpPr>
          <p:cNvPr id="27650" name="Rectangle 1027">
            <a:extLst>
              <a:ext uri="{FF2B5EF4-FFF2-40B4-BE49-F238E27FC236}">
                <a16:creationId xmlns:a16="http://schemas.microsoft.com/office/drawing/2014/main" id="{D9A7966E-2C18-4BF6-AF61-56D535306101}"/>
              </a:ext>
            </a:extLst>
          </p:cNvPr>
          <p:cNvSpPr>
            <a:spLocks noGrp="1" noChangeArrowheads="1"/>
          </p:cNvSpPr>
          <p:nvPr>
            <p:ph type="body" idx="1"/>
          </p:nvPr>
        </p:nvSpPr>
        <p:spPr>
          <a:xfrm>
            <a:off x="2276475" y="808267"/>
            <a:ext cx="7934325" cy="4446588"/>
          </a:xfrm>
        </p:spPr>
        <p:txBody>
          <a:bodyPr/>
          <a:lstStyle/>
          <a:p>
            <a:r>
              <a:rPr lang="en-US" altLang="en-US" sz="2000" b="1" dirty="0"/>
              <a:t>No Preemption</a:t>
            </a:r>
            <a:r>
              <a:rPr lang="en-US" altLang="en-US" sz="2000" dirty="0"/>
              <a:t>:</a:t>
            </a:r>
          </a:p>
          <a:p>
            <a:pPr lvl="1" algn="just"/>
            <a:r>
              <a:rPr lang="en-US" altLang="en-US" sz="2000" dirty="0"/>
              <a:t>If a process that is holding some resources </a:t>
            </a:r>
            <a:r>
              <a:rPr lang="en-US" altLang="en-US" sz="2000" dirty="0">
                <a:solidFill>
                  <a:srgbClr val="FF0000"/>
                </a:solidFill>
              </a:rPr>
              <a:t>requests another resource</a:t>
            </a:r>
            <a:r>
              <a:rPr lang="en-US" altLang="en-US" sz="2000" dirty="0"/>
              <a:t> that </a:t>
            </a:r>
            <a:r>
              <a:rPr lang="en-US" altLang="en-US" sz="2000" dirty="0">
                <a:solidFill>
                  <a:srgbClr val="FF0000"/>
                </a:solidFill>
              </a:rPr>
              <a:t>cannot be immediately allocated to it, </a:t>
            </a:r>
            <a:r>
              <a:rPr lang="en-US" altLang="en-US" sz="2000" dirty="0"/>
              <a:t>then </a:t>
            </a:r>
            <a:r>
              <a:rPr lang="en-US" altLang="en-US" sz="2000" dirty="0">
                <a:solidFill>
                  <a:srgbClr val="FF0000"/>
                </a:solidFill>
              </a:rPr>
              <a:t>all resources currently being held are released</a:t>
            </a:r>
          </a:p>
          <a:p>
            <a:pPr lvl="1" algn="just"/>
            <a:r>
              <a:rPr lang="en-US" altLang="en-US" sz="2000" dirty="0"/>
              <a:t>Preempted resources are added to the list of resources for which the thread is waiting</a:t>
            </a:r>
          </a:p>
          <a:p>
            <a:pPr lvl="1" algn="just"/>
            <a:r>
              <a:rPr lang="en-US" altLang="en-US" sz="2000" dirty="0"/>
              <a:t>Thread will be restarted only when it can regain its old resources, as well as the new ones that it is requesting</a:t>
            </a:r>
          </a:p>
          <a:p>
            <a:pPr lvl="1" algn="just"/>
            <a:r>
              <a:rPr lang="en-US" altLang="en-US" sz="2000" dirty="0">
                <a:solidFill>
                  <a:srgbClr val="FF0000"/>
                </a:solidFill>
              </a:rPr>
              <a:t>If a process is requesting a resource but it is held up with other waiting process, then the resource will be preempted from the waiting process and will be allocated to the requested process. </a:t>
            </a:r>
          </a:p>
          <a:p>
            <a:r>
              <a:rPr lang="en-US" altLang="en-US" sz="2000" b="1" dirty="0"/>
              <a:t>Circular Wait:</a:t>
            </a:r>
          </a:p>
          <a:p>
            <a:pPr lvl="1" algn="just"/>
            <a:r>
              <a:rPr lang="en-US" altLang="en-US" sz="2000" dirty="0"/>
              <a:t>Impose a total ordering of all resource types, and require that each thread requests resources in an increasing order of enumeration</a:t>
            </a:r>
          </a:p>
          <a:p>
            <a:pPr lvl="1"/>
            <a:endParaRPr lang="en-US" altLang="en-US" dirty="0"/>
          </a:p>
        </p:txBody>
      </p:sp>
    </p:spTree>
    <p:extLst>
      <p:ext uri="{BB962C8B-B14F-4D97-AF65-F5344CB8AC3E}">
        <p14:creationId xmlns:p14="http://schemas.microsoft.com/office/powerpoint/2010/main" val="15073473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C9BCC94F-DF14-4CEF-B307-FFDB8B7BDCE4}"/>
              </a:ext>
            </a:extLst>
          </p:cNvPr>
          <p:cNvSpPr>
            <a:spLocks noGrp="1"/>
          </p:cNvSpPr>
          <p:nvPr>
            <p:ph type="title"/>
          </p:nvPr>
        </p:nvSpPr>
        <p:spPr>
          <a:xfrm>
            <a:off x="2000250" y="3970"/>
            <a:ext cx="8077200" cy="576263"/>
          </a:xfrm>
        </p:spPr>
        <p:txBody>
          <a:bodyPr/>
          <a:lstStyle/>
          <a:p>
            <a:r>
              <a:rPr lang="en-US" altLang="en-US" dirty="0"/>
              <a:t>Circular Wait</a:t>
            </a:r>
          </a:p>
        </p:txBody>
      </p:sp>
      <p:sp>
        <p:nvSpPr>
          <p:cNvPr id="92162" name="Content Placeholder 2">
            <a:extLst>
              <a:ext uri="{FF2B5EF4-FFF2-40B4-BE49-F238E27FC236}">
                <a16:creationId xmlns:a16="http://schemas.microsoft.com/office/drawing/2014/main" id="{58AB02F0-3B68-482D-A95F-2D1605DF330A}"/>
              </a:ext>
            </a:extLst>
          </p:cNvPr>
          <p:cNvSpPr>
            <a:spLocks noGrp="1"/>
          </p:cNvSpPr>
          <p:nvPr>
            <p:ph idx="1"/>
          </p:nvPr>
        </p:nvSpPr>
        <p:spPr>
          <a:xfrm>
            <a:off x="1647826" y="580232"/>
            <a:ext cx="8229600" cy="6277768"/>
          </a:xfrm>
        </p:spPr>
        <p:txBody>
          <a:bodyPr/>
          <a:lstStyle/>
          <a:p>
            <a:r>
              <a:rPr lang="en-US" altLang="en-US" dirty="0"/>
              <a:t>Invalidating the circular wait condition is most common.</a:t>
            </a:r>
          </a:p>
          <a:p>
            <a:r>
              <a:rPr lang="en-US" altLang="en-US" dirty="0"/>
              <a:t>Simply assign each resource (i.e., mutex locks) a unique number.</a:t>
            </a:r>
          </a:p>
          <a:p>
            <a:r>
              <a:rPr lang="en-US" altLang="en-US" dirty="0"/>
              <a:t>Resources must be acquired in order.</a:t>
            </a:r>
          </a:p>
          <a:p>
            <a:r>
              <a:rPr lang="en-US" altLang="en-US" dirty="0"/>
              <a:t>If:</a:t>
            </a:r>
            <a:br>
              <a:rPr lang="en-US" altLang="en-US" dirty="0"/>
            </a:br>
            <a:br>
              <a:rPr lang="en-US" altLang="en-US" dirty="0"/>
            </a:br>
            <a:r>
              <a:rPr lang="en-US" altLang="en-US" b="1" dirty="0" err="1">
                <a:latin typeface="Courier New" panose="02070309020205020404" pitchFamily="49" charset="0"/>
                <a:cs typeface="Courier New" panose="02070309020205020404" pitchFamily="49" charset="0"/>
              </a:rPr>
              <a:t>first_mutex</a:t>
            </a:r>
            <a:r>
              <a:rPr lang="en-US" altLang="en-US" b="1" dirty="0">
                <a:latin typeface="Courier New" panose="02070309020205020404" pitchFamily="49" charset="0"/>
                <a:cs typeface="Courier New" panose="02070309020205020404" pitchFamily="49" charset="0"/>
              </a:rPr>
              <a:t> = 1</a:t>
            </a:r>
            <a:br>
              <a:rPr lang="en-US" altLang="en-US" b="1" dirty="0">
                <a:latin typeface="Courier New" panose="02070309020205020404" pitchFamily="49" charset="0"/>
                <a:cs typeface="Courier New" panose="02070309020205020404" pitchFamily="49" charset="0"/>
              </a:rPr>
            </a:br>
            <a:r>
              <a:rPr lang="en-US" altLang="en-US" b="1" dirty="0" err="1">
                <a:latin typeface="Courier New" panose="02070309020205020404" pitchFamily="49" charset="0"/>
                <a:cs typeface="Courier New" panose="02070309020205020404" pitchFamily="49" charset="0"/>
              </a:rPr>
              <a:t>second_mutex</a:t>
            </a:r>
            <a:r>
              <a:rPr lang="en-US" altLang="en-US" b="1" dirty="0">
                <a:latin typeface="Courier New" panose="02070309020205020404" pitchFamily="49" charset="0"/>
                <a:cs typeface="Courier New" panose="02070309020205020404" pitchFamily="49" charset="0"/>
              </a:rPr>
              <a:t> = 5</a:t>
            </a:r>
            <a:br>
              <a:rPr lang="en-US" altLang="en-US" b="1" dirty="0">
                <a:latin typeface="Courier New" panose="02070309020205020404" pitchFamily="49" charset="0"/>
                <a:cs typeface="Courier New" panose="02070309020205020404" pitchFamily="49" charset="0"/>
              </a:rPr>
            </a:br>
            <a:br>
              <a:rPr lang="en-US" altLang="en-US" dirty="0"/>
            </a:br>
            <a:r>
              <a:rPr lang="en-US" altLang="en-US" dirty="0"/>
              <a:t>code for </a:t>
            </a:r>
            <a:r>
              <a:rPr lang="en-US" altLang="en-US" b="1" dirty="0" err="1">
                <a:latin typeface="Courier New" panose="02070309020205020404" pitchFamily="49" charset="0"/>
                <a:cs typeface="Courier New" panose="02070309020205020404" pitchFamily="49" charset="0"/>
              </a:rPr>
              <a:t>thread_two</a:t>
            </a:r>
            <a:r>
              <a:rPr lang="en-US" altLang="en-US" dirty="0"/>
              <a:t> could </a:t>
            </a:r>
          </a:p>
          <a:p>
            <a:r>
              <a:rPr lang="en-US" altLang="en-US" dirty="0"/>
              <a:t>not be written as follows:</a:t>
            </a:r>
          </a:p>
        </p:txBody>
      </p:sp>
      <p:cxnSp>
        <p:nvCxnSpPr>
          <p:cNvPr id="92164" name="Straight Arrow Connector 5">
            <a:extLst>
              <a:ext uri="{FF2B5EF4-FFF2-40B4-BE49-F238E27FC236}">
                <a16:creationId xmlns:a16="http://schemas.microsoft.com/office/drawing/2014/main" id="{6FD34B5C-0025-47BD-A2A2-5E565E3A223F}"/>
              </a:ext>
            </a:extLst>
          </p:cNvPr>
          <p:cNvCxnSpPr>
            <a:cxnSpLocks noChangeShapeType="1"/>
          </p:cNvCxnSpPr>
          <p:nvPr/>
        </p:nvCxnSpPr>
        <p:spPr bwMode="auto">
          <a:xfrm>
            <a:off x="2757490" y="3710783"/>
            <a:ext cx="1852610" cy="432593"/>
          </a:xfrm>
          <a:prstGeom prst="straightConnector1">
            <a:avLst/>
          </a:prstGeom>
          <a:noFill/>
          <a:ln w="9525">
            <a:solidFill>
              <a:schemeClr val="tx1"/>
            </a:solidFill>
            <a:round/>
            <a:headEnd/>
            <a:tailEnd type="triangle" w="med" len="med"/>
          </a:ln>
        </p:spPr>
      </p:cxnSp>
      <p:pic>
        <p:nvPicPr>
          <p:cNvPr id="2" name="Picture 1"/>
          <p:cNvPicPr>
            <a:picLocks noChangeAspect="1"/>
          </p:cNvPicPr>
          <p:nvPr/>
        </p:nvPicPr>
        <p:blipFill>
          <a:blip r:embed="rId2"/>
          <a:stretch>
            <a:fillRect/>
          </a:stretch>
        </p:blipFill>
        <p:spPr>
          <a:xfrm>
            <a:off x="4971366" y="1590676"/>
            <a:ext cx="5525184" cy="5267325"/>
          </a:xfrm>
          <a:prstGeom prst="rect">
            <a:avLst/>
          </a:prstGeom>
        </p:spPr>
      </p:pic>
    </p:spTree>
    <p:extLst>
      <p:ext uri="{BB962C8B-B14F-4D97-AF65-F5344CB8AC3E}">
        <p14:creationId xmlns:p14="http://schemas.microsoft.com/office/powerpoint/2010/main" val="30117254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CAFFD0F5-6606-4126-85B7-48E43CCCD1EB}"/>
              </a:ext>
            </a:extLst>
          </p:cNvPr>
          <p:cNvSpPr>
            <a:spLocks noGrp="1" noChangeArrowheads="1"/>
          </p:cNvSpPr>
          <p:nvPr>
            <p:ph type="title"/>
          </p:nvPr>
        </p:nvSpPr>
        <p:spPr>
          <a:xfrm>
            <a:off x="2447926" y="226431"/>
            <a:ext cx="7762875" cy="576262"/>
          </a:xfrm>
        </p:spPr>
        <p:txBody>
          <a:bodyPr/>
          <a:lstStyle/>
          <a:p>
            <a:pPr eaLnBrk="1" hangingPunct="1"/>
            <a:r>
              <a:rPr lang="en-US" altLang="en-US" dirty="0"/>
              <a:t>Deadlock Avoidance</a:t>
            </a:r>
          </a:p>
        </p:txBody>
      </p:sp>
      <p:sp>
        <p:nvSpPr>
          <p:cNvPr id="29698" name="Rectangle 3">
            <a:extLst>
              <a:ext uri="{FF2B5EF4-FFF2-40B4-BE49-F238E27FC236}">
                <a16:creationId xmlns:a16="http://schemas.microsoft.com/office/drawing/2014/main" id="{F316B56B-E9C7-4926-A854-188C569231A1}"/>
              </a:ext>
            </a:extLst>
          </p:cNvPr>
          <p:cNvSpPr>
            <a:spLocks noGrp="1" noChangeArrowheads="1"/>
          </p:cNvSpPr>
          <p:nvPr>
            <p:ph type="body" idx="1"/>
          </p:nvPr>
        </p:nvSpPr>
        <p:spPr>
          <a:xfrm>
            <a:off x="2764972" y="1814513"/>
            <a:ext cx="7296539" cy="3783012"/>
          </a:xfrm>
        </p:spPr>
        <p:txBody>
          <a:bodyPr/>
          <a:lstStyle/>
          <a:p>
            <a:r>
              <a:rPr lang="en-US" altLang="en-US" dirty="0"/>
              <a:t>Simplest and most useful model requires that each thread declare the </a:t>
            </a:r>
            <a:r>
              <a:rPr lang="en-US" altLang="en-US" b="1" i="1" dirty="0"/>
              <a:t>maximum number</a:t>
            </a:r>
            <a:r>
              <a:rPr lang="en-US" altLang="en-US" b="1" dirty="0"/>
              <a:t> </a:t>
            </a:r>
            <a:r>
              <a:rPr lang="en-US" altLang="en-US" dirty="0"/>
              <a:t>of resources of each type that it may need</a:t>
            </a:r>
          </a:p>
          <a:p>
            <a:r>
              <a:rPr lang="en-US" altLang="en-US" dirty="0"/>
              <a:t>The deadlock-avoidance algorithm dynamically examines the resource-allocation state to ensure that there can never be a circular-wait condition</a:t>
            </a:r>
          </a:p>
          <a:p>
            <a:r>
              <a:rPr lang="en-US" altLang="en-US" dirty="0"/>
              <a:t>Resource-allocation </a:t>
            </a:r>
            <a:r>
              <a:rPr lang="en-US" altLang="en-US" i="1" dirty="0"/>
              <a:t>state</a:t>
            </a:r>
            <a:r>
              <a:rPr lang="en-US" altLang="en-US" dirty="0"/>
              <a:t> is defined by the number of available and allocated resources, and the maximum demands of the processes</a:t>
            </a:r>
          </a:p>
        </p:txBody>
      </p:sp>
      <p:sp>
        <p:nvSpPr>
          <p:cNvPr id="29699" name="Text Box 4">
            <a:extLst>
              <a:ext uri="{FF2B5EF4-FFF2-40B4-BE49-F238E27FC236}">
                <a16:creationId xmlns:a16="http://schemas.microsoft.com/office/drawing/2014/main" id="{19AE85A0-D9E0-41AE-B1B3-22E783F9DC68}"/>
              </a:ext>
            </a:extLst>
          </p:cNvPr>
          <p:cNvSpPr txBox="1">
            <a:spLocks noChangeArrowheads="1"/>
          </p:cNvSpPr>
          <p:nvPr/>
        </p:nvSpPr>
        <p:spPr bwMode="auto">
          <a:xfrm>
            <a:off x="2382418" y="1098550"/>
            <a:ext cx="767909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dirty="0"/>
              <a:t>Requires that the system has some additional </a:t>
            </a:r>
            <a:r>
              <a:rPr kumimoji="0" lang="en-US" altLang="en-US" b="1" i="1" dirty="0"/>
              <a:t>a priori </a:t>
            </a:r>
            <a:r>
              <a:rPr kumimoji="0" lang="en-US" altLang="en-US" dirty="0"/>
              <a:t>information </a:t>
            </a:r>
            <a:br>
              <a:rPr kumimoji="0" lang="en-US" altLang="en-US" dirty="0"/>
            </a:br>
            <a:r>
              <a:rPr kumimoji="0" lang="en-US" altLang="en-US" dirty="0"/>
              <a:t>available</a:t>
            </a:r>
          </a:p>
        </p:txBody>
      </p:sp>
    </p:spTree>
    <p:extLst>
      <p:ext uri="{BB962C8B-B14F-4D97-AF65-F5344CB8AC3E}">
        <p14:creationId xmlns:p14="http://schemas.microsoft.com/office/powerpoint/2010/main" val="25837816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8833C35E-A99A-45F7-A732-34E0D4573E53}"/>
              </a:ext>
            </a:extLst>
          </p:cNvPr>
          <p:cNvSpPr>
            <a:spLocks noGrp="1" noChangeArrowheads="1"/>
          </p:cNvSpPr>
          <p:nvPr>
            <p:ph type="title"/>
          </p:nvPr>
        </p:nvSpPr>
        <p:spPr>
          <a:xfrm>
            <a:off x="2370138" y="225461"/>
            <a:ext cx="7840662" cy="576262"/>
          </a:xfrm>
        </p:spPr>
        <p:txBody>
          <a:bodyPr/>
          <a:lstStyle/>
          <a:p>
            <a:pPr eaLnBrk="1" hangingPunct="1"/>
            <a:r>
              <a:rPr lang="en-US" altLang="en-US" dirty="0"/>
              <a:t>Safe, Unsafe, Deadlock State </a:t>
            </a:r>
          </a:p>
        </p:txBody>
      </p:sp>
      <p:pic>
        <p:nvPicPr>
          <p:cNvPr id="35842" name="Picture 1">
            <a:extLst>
              <a:ext uri="{FF2B5EF4-FFF2-40B4-BE49-F238E27FC236}">
                <a16:creationId xmlns:a16="http://schemas.microsoft.com/office/drawing/2014/main" id="{138FEED4-3700-4E13-BB16-66A99CC6BD1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48051" y="1462089"/>
            <a:ext cx="5172075" cy="475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465334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60134717-6B8D-4E64-9AC7-D74C60478870}"/>
              </a:ext>
            </a:extLst>
          </p:cNvPr>
          <p:cNvSpPr>
            <a:spLocks noGrp="1" noChangeArrowheads="1"/>
          </p:cNvSpPr>
          <p:nvPr>
            <p:ph type="title"/>
          </p:nvPr>
        </p:nvSpPr>
        <p:spPr>
          <a:xfrm>
            <a:off x="1981200" y="229836"/>
            <a:ext cx="8229600" cy="576263"/>
          </a:xfrm>
        </p:spPr>
        <p:txBody>
          <a:bodyPr/>
          <a:lstStyle/>
          <a:p>
            <a:pPr eaLnBrk="1" hangingPunct="1"/>
            <a:r>
              <a:rPr lang="en-US" altLang="en-US" dirty="0"/>
              <a:t>Safe State</a:t>
            </a:r>
          </a:p>
        </p:txBody>
      </p:sp>
      <p:sp>
        <p:nvSpPr>
          <p:cNvPr id="31746" name="Rectangle 3">
            <a:extLst>
              <a:ext uri="{FF2B5EF4-FFF2-40B4-BE49-F238E27FC236}">
                <a16:creationId xmlns:a16="http://schemas.microsoft.com/office/drawing/2014/main" id="{EFC0A195-78EA-410E-9026-C9CEFE55CB37}"/>
              </a:ext>
            </a:extLst>
          </p:cNvPr>
          <p:cNvSpPr>
            <a:spLocks noGrp="1" noChangeArrowheads="1"/>
          </p:cNvSpPr>
          <p:nvPr>
            <p:ph type="body" idx="1"/>
          </p:nvPr>
        </p:nvSpPr>
        <p:spPr>
          <a:xfrm>
            <a:off x="2185988" y="917575"/>
            <a:ext cx="8101012" cy="4914562"/>
          </a:xfrm>
        </p:spPr>
        <p:txBody>
          <a:bodyPr/>
          <a:lstStyle/>
          <a:p>
            <a:pPr algn="just"/>
            <a:r>
              <a:rPr lang="en-US" altLang="en-US" sz="2000" dirty="0"/>
              <a:t>When a thread requests an available resource, system must decide if immediate allocation leaves the system in a safe state</a:t>
            </a:r>
          </a:p>
          <a:p>
            <a:pPr algn="just"/>
            <a:r>
              <a:rPr lang="en-US" altLang="en-US" sz="2000" dirty="0"/>
              <a:t>System is in </a:t>
            </a:r>
            <a:r>
              <a:rPr lang="en-US" altLang="en-US" sz="2000" b="1" dirty="0">
                <a:solidFill>
                  <a:srgbClr val="006699"/>
                </a:solidFill>
                <a:latin typeface="+mj-lt"/>
              </a:rPr>
              <a:t>safe state </a:t>
            </a:r>
            <a:r>
              <a:rPr lang="en-US" altLang="en-US" sz="2000" dirty="0"/>
              <a:t>if there exists a sequence &lt;</a:t>
            </a:r>
            <a:r>
              <a:rPr lang="en-US" altLang="en-US" sz="2000" i="1" dirty="0"/>
              <a:t>T</a:t>
            </a:r>
            <a:r>
              <a:rPr lang="en-US" altLang="en-US" sz="2000" i="1" baseline="-25000" dirty="0"/>
              <a:t>1</a:t>
            </a:r>
            <a:r>
              <a:rPr lang="en-US" altLang="en-US" sz="2000" i="1" dirty="0"/>
              <a:t>, T</a:t>
            </a:r>
            <a:r>
              <a:rPr lang="en-US" altLang="en-US" sz="2000" i="1" baseline="-25000" dirty="0"/>
              <a:t>2</a:t>
            </a:r>
            <a:r>
              <a:rPr lang="en-US" altLang="en-US" sz="2000" i="1" dirty="0"/>
              <a:t>, …, T</a:t>
            </a:r>
            <a:r>
              <a:rPr lang="en-US" altLang="en-US" sz="2000" i="1" baseline="-25000" dirty="0"/>
              <a:t>n</a:t>
            </a:r>
            <a:r>
              <a:rPr lang="en-US" altLang="en-US" sz="2000" dirty="0"/>
              <a:t>&gt; of ALL the threads  in the systems such that  for each </a:t>
            </a:r>
            <a:r>
              <a:rPr lang="en-US" altLang="en-US" sz="2000" dirty="0" err="1"/>
              <a:t>T</a:t>
            </a:r>
            <a:r>
              <a:rPr lang="en-US" altLang="en-US" sz="2000" baseline="-25000" dirty="0" err="1"/>
              <a:t>i</a:t>
            </a:r>
            <a:r>
              <a:rPr lang="en-US" altLang="en-US" sz="2000" dirty="0"/>
              <a:t>, the resources that </a:t>
            </a:r>
            <a:r>
              <a:rPr lang="en-US" altLang="en-US" sz="2000" dirty="0" err="1"/>
              <a:t>T</a:t>
            </a:r>
            <a:r>
              <a:rPr lang="en-US" altLang="en-US" sz="2000" baseline="-25000" dirty="0" err="1"/>
              <a:t>i</a:t>
            </a:r>
            <a:r>
              <a:rPr lang="en-US" altLang="en-US" sz="2000" baseline="-25000" dirty="0"/>
              <a:t> </a:t>
            </a:r>
            <a:r>
              <a:rPr lang="en-US" altLang="en-US" sz="2000" dirty="0"/>
              <a:t>can still request can be satisfied by </a:t>
            </a:r>
            <a:r>
              <a:rPr lang="en-US" altLang="en-US" sz="2000" dirty="0">
                <a:solidFill>
                  <a:srgbClr val="00B050"/>
                </a:solidFill>
              </a:rPr>
              <a:t>currently available resources</a:t>
            </a:r>
            <a:r>
              <a:rPr lang="en-US" altLang="en-US" sz="2000" dirty="0"/>
              <a:t> + </a:t>
            </a:r>
            <a:r>
              <a:rPr lang="en-US" altLang="en-US" sz="2000" dirty="0">
                <a:solidFill>
                  <a:srgbClr val="00B050"/>
                </a:solidFill>
              </a:rPr>
              <a:t>resources held by all the </a:t>
            </a:r>
            <a:r>
              <a:rPr lang="en-US" altLang="en-US" sz="2000" i="1" dirty="0" err="1">
                <a:solidFill>
                  <a:srgbClr val="00B050"/>
                </a:solidFill>
              </a:rPr>
              <a:t>T</a:t>
            </a:r>
            <a:r>
              <a:rPr lang="en-US" altLang="en-US" sz="2000" i="1" baseline="-25000" dirty="0" err="1">
                <a:solidFill>
                  <a:srgbClr val="00B050"/>
                </a:solidFill>
              </a:rPr>
              <a:t>j</a:t>
            </a:r>
            <a:r>
              <a:rPr lang="en-US" altLang="en-US" sz="2000" dirty="0"/>
              <a:t>, with</a:t>
            </a:r>
            <a:r>
              <a:rPr lang="en-US" altLang="en-US" sz="2000" i="1" dirty="0"/>
              <a:t> </a:t>
            </a:r>
            <a:r>
              <a:rPr lang="en-US" altLang="en-US" sz="2000" i="1" dirty="0">
                <a:solidFill>
                  <a:srgbClr val="00B050"/>
                </a:solidFill>
              </a:rPr>
              <a:t>j </a:t>
            </a:r>
            <a:r>
              <a:rPr lang="en-US" altLang="en-US" sz="2000" dirty="0">
                <a:solidFill>
                  <a:srgbClr val="00B050"/>
                </a:solidFill>
              </a:rPr>
              <a:t>&lt; </a:t>
            </a:r>
            <a:r>
              <a:rPr lang="en-US" altLang="en-US" sz="2000" i="1" dirty="0">
                <a:solidFill>
                  <a:srgbClr val="00B050"/>
                </a:solidFill>
              </a:rPr>
              <a:t>I</a:t>
            </a:r>
            <a:endParaRPr lang="en-US" altLang="en-US" sz="2000" dirty="0">
              <a:solidFill>
                <a:srgbClr val="00B050"/>
              </a:solidFill>
            </a:endParaRPr>
          </a:p>
          <a:p>
            <a:pPr algn="just"/>
            <a:r>
              <a:rPr lang="en-US" altLang="en-US" sz="2000" dirty="0"/>
              <a:t>That is:</a:t>
            </a:r>
          </a:p>
          <a:p>
            <a:pPr lvl="1" algn="just"/>
            <a:r>
              <a:rPr lang="en-US" altLang="en-US" sz="2000" dirty="0"/>
              <a:t>If T</a:t>
            </a:r>
            <a:r>
              <a:rPr lang="en-US" altLang="en-US" sz="2000" baseline="-25000" dirty="0"/>
              <a:t>i</a:t>
            </a:r>
            <a:r>
              <a:rPr lang="en-US" altLang="en-US" sz="2000" dirty="0"/>
              <a:t> resource needs are not immediately available, then </a:t>
            </a:r>
            <a:r>
              <a:rPr lang="en-US" altLang="en-US" sz="2000" i="1" dirty="0"/>
              <a:t>T</a:t>
            </a:r>
            <a:r>
              <a:rPr lang="en-US" altLang="en-US" sz="2000" i="1" baseline="-25000" dirty="0"/>
              <a:t>i</a:t>
            </a:r>
            <a:r>
              <a:rPr lang="en-US" altLang="en-US" sz="2000" dirty="0"/>
              <a:t> can wait until all </a:t>
            </a:r>
            <a:r>
              <a:rPr lang="en-US" altLang="en-US" sz="2000" i="1" dirty="0" err="1"/>
              <a:t>T</a:t>
            </a:r>
            <a:r>
              <a:rPr lang="en-US" altLang="en-US" sz="2000" i="1" baseline="-25000" dirty="0" err="1"/>
              <a:t>j</a:t>
            </a:r>
            <a:r>
              <a:rPr lang="en-US" altLang="en-US" sz="2000" i="1" dirty="0"/>
              <a:t> </a:t>
            </a:r>
            <a:r>
              <a:rPr lang="en-US" altLang="en-US" sz="2000" dirty="0"/>
              <a:t>have finished</a:t>
            </a:r>
          </a:p>
          <a:p>
            <a:pPr lvl="1" algn="just"/>
            <a:r>
              <a:rPr lang="en-US" altLang="en-US" sz="2000" dirty="0"/>
              <a:t>When </a:t>
            </a:r>
            <a:r>
              <a:rPr lang="en-US" altLang="en-US" sz="2000" i="1" dirty="0" err="1"/>
              <a:t>T</a:t>
            </a:r>
            <a:r>
              <a:rPr lang="en-US" altLang="en-US" sz="2000" i="1" baseline="-25000" dirty="0" err="1"/>
              <a:t>j</a:t>
            </a:r>
            <a:r>
              <a:rPr lang="en-US" altLang="en-US" sz="2000" dirty="0"/>
              <a:t> is finished, </a:t>
            </a:r>
            <a:r>
              <a:rPr lang="en-US" altLang="en-US" sz="2000" i="1" dirty="0" err="1"/>
              <a:t>T</a:t>
            </a:r>
            <a:r>
              <a:rPr lang="en-US" altLang="en-US" sz="2000" i="1" baseline="-25000" dirty="0" err="1"/>
              <a:t>i</a:t>
            </a:r>
            <a:r>
              <a:rPr lang="en-US" altLang="en-US" sz="2000" dirty="0"/>
              <a:t> can obtain needed resources, execute, return allocated resources, and terminate</a:t>
            </a:r>
          </a:p>
          <a:p>
            <a:pPr lvl="1" algn="just"/>
            <a:r>
              <a:rPr lang="en-US" altLang="en-US" sz="2000" dirty="0"/>
              <a:t>When </a:t>
            </a:r>
            <a:r>
              <a:rPr lang="en-US" altLang="en-US" sz="2000" i="1" dirty="0" err="1"/>
              <a:t>T</a:t>
            </a:r>
            <a:r>
              <a:rPr lang="en-US" altLang="en-US" sz="2000" i="1" baseline="-25000" dirty="0" err="1"/>
              <a:t>i</a:t>
            </a:r>
            <a:r>
              <a:rPr lang="en-US" altLang="en-US" sz="2000" dirty="0"/>
              <a:t> terminates, </a:t>
            </a:r>
            <a:r>
              <a:rPr lang="en-US" altLang="en-US" sz="2000" i="1" dirty="0" err="1"/>
              <a:t>T</a:t>
            </a:r>
            <a:r>
              <a:rPr lang="en-US" altLang="en-US" sz="2000" i="1" baseline="-25000" dirty="0" err="1"/>
              <a:t>i</a:t>
            </a:r>
            <a:r>
              <a:rPr lang="en-US" altLang="en-US" sz="2000" i="1" baseline="-25000" dirty="0"/>
              <a:t> </a:t>
            </a:r>
            <a:r>
              <a:rPr lang="en-US" altLang="en-US" sz="2000" baseline="-25000" dirty="0"/>
              <a:t>+1</a:t>
            </a:r>
            <a:r>
              <a:rPr lang="en-US" altLang="en-US" sz="2000" dirty="0"/>
              <a:t> can obtain its needed resources, and so on </a:t>
            </a:r>
          </a:p>
        </p:txBody>
      </p:sp>
    </p:spTree>
    <p:extLst>
      <p:ext uri="{BB962C8B-B14F-4D97-AF65-F5344CB8AC3E}">
        <p14:creationId xmlns:p14="http://schemas.microsoft.com/office/powerpoint/2010/main" val="36459438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9E27B5FF-B4F4-4F92-A75E-BC83298532DA}"/>
              </a:ext>
            </a:extLst>
          </p:cNvPr>
          <p:cNvSpPr>
            <a:spLocks noGrp="1" noChangeArrowheads="1"/>
          </p:cNvSpPr>
          <p:nvPr>
            <p:ph type="title"/>
          </p:nvPr>
        </p:nvSpPr>
        <p:spPr>
          <a:xfrm>
            <a:off x="1981200" y="236380"/>
            <a:ext cx="8229600" cy="576263"/>
          </a:xfrm>
        </p:spPr>
        <p:txBody>
          <a:bodyPr/>
          <a:lstStyle/>
          <a:p>
            <a:pPr eaLnBrk="1" hangingPunct="1"/>
            <a:r>
              <a:rPr lang="en-US" altLang="en-US" dirty="0"/>
              <a:t>Basic Facts</a:t>
            </a:r>
          </a:p>
        </p:txBody>
      </p:sp>
      <p:sp>
        <p:nvSpPr>
          <p:cNvPr id="33794" name="Rectangle 3">
            <a:extLst>
              <a:ext uri="{FF2B5EF4-FFF2-40B4-BE49-F238E27FC236}">
                <a16:creationId xmlns:a16="http://schemas.microsoft.com/office/drawing/2014/main" id="{015BDF1D-C0EA-4FC7-A293-BF12CBE7CCDF}"/>
              </a:ext>
            </a:extLst>
          </p:cNvPr>
          <p:cNvSpPr>
            <a:spLocks noGrp="1" noChangeArrowheads="1"/>
          </p:cNvSpPr>
          <p:nvPr>
            <p:ph type="body" idx="1"/>
          </p:nvPr>
        </p:nvSpPr>
        <p:spPr>
          <a:xfrm>
            <a:off x="2446338" y="1190625"/>
            <a:ext cx="7652495" cy="4414838"/>
          </a:xfrm>
        </p:spPr>
        <p:txBody>
          <a:bodyPr/>
          <a:lstStyle/>
          <a:p>
            <a:r>
              <a:rPr lang="en-US" altLang="en-US" sz="2400" dirty="0"/>
              <a:t>If a system is in </a:t>
            </a:r>
            <a:r>
              <a:rPr lang="en-US" altLang="en-US" sz="2400" dirty="0">
                <a:solidFill>
                  <a:srgbClr val="FF0000"/>
                </a:solidFill>
              </a:rPr>
              <a:t>safe state </a:t>
            </a:r>
            <a:r>
              <a:rPr lang="en-US" altLang="en-US" sz="2400" dirty="0">
                <a:sym typeface="Symbol" panose="05050102010706020507" pitchFamily="18" charset="2"/>
              </a:rPr>
              <a:t> </a:t>
            </a:r>
            <a:r>
              <a:rPr lang="en-US" altLang="en-US" sz="2400" dirty="0">
                <a:solidFill>
                  <a:srgbClr val="FF0000"/>
                </a:solidFill>
                <a:sym typeface="Symbol" panose="05050102010706020507" pitchFamily="18" charset="2"/>
              </a:rPr>
              <a:t>no deadlocks</a:t>
            </a:r>
            <a:br>
              <a:rPr lang="en-US" altLang="en-US" sz="2400" dirty="0">
                <a:solidFill>
                  <a:srgbClr val="FF0000"/>
                </a:solidFill>
                <a:sym typeface="Symbol" panose="05050102010706020507" pitchFamily="18" charset="2"/>
              </a:rPr>
            </a:br>
            <a:endParaRPr lang="en-US" altLang="en-US" sz="2400" dirty="0">
              <a:solidFill>
                <a:srgbClr val="FF0000"/>
              </a:solidFill>
              <a:sym typeface="Symbol" panose="05050102010706020507" pitchFamily="18" charset="2"/>
            </a:endParaRPr>
          </a:p>
          <a:p>
            <a:r>
              <a:rPr lang="en-US" altLang="en-US" sz="2400" dirty="0">
                <a:sym typeface="Symbol" panose="05050102010706020507" pitchFamily="18" charset="2"/>
              </a:rPr>
              <a:t>If a system is </a:t>
            </a:r>
            <a:r>
              <a:rPr lang="en-US" altLang="en-US" sz="2400" dirty="0">
                <a:solidFill>
                  <a:srgbClr val="FF0000"/>
                </a:solidFill>
                <a:sym typeface="Symbol" panose="05050102010706020507" pitchFamily="18" charset="2"/>
              </a:rPr>
              <a:t>in unsafe state </a:t>
            </a:r>
            <a:r>
              <a:rPr lang="en-US" altLang="en-US" sz="2400" dirty="0">
                <a:sym typeface="Symbol" panose="05050102010706020507" pitchFamily="18" charset="2"/>
              </a:rPr>
              <a:t> </a:t>
            </a:r>
            <a:r>
              <a:rPr lang="en-US" altLang="en-US" sz="2400" dirty="0">
                <a:solidFill>
                  <a:srgbClr val="FF0000"/>
                </a:solidFill>
                <a:sym typeface="Symbol" panose="05050102010706020507" pitchFamily="18" charset="2"/>
              </a:rPr>
              <a:t>possibility of deadlock</a:t>
            </a:r>
            <a:br>
              <a:rPr lang="en-US" altLang="en-US" sz="2400" dirty="0">
                <a:sym typeface="Symbol" panose="05050102010706020507" pitchFamily="18" charset="2"/>
              </a:rPr>
            </a:br>
            <a:endParaRPr lang="en-US" altLang="en-US" sz="2400" dirty="0">
              <a:sym typeface="Symbol" panose="05050102010706020507" pitchFamily="18" charset="2"/>
            </a:endParaRPr>
          </a:p>
          <a:p>
            <a:r>
              <a:rPr lang="en-US" altLang="en-US" sz="2400" dirty="0">
                <a:solidFill>
                  <a:srgbClr val="FF0000"/>
                </a:solidFill>
                <a:sym typeface="Symbol" panose="05050102010706020507" pitchFamily="18" charset="2"/>
              </a:rPr>
              <a:t>Avoidance </a:t>
            </a:r>
            <a:r>
              <a:rPr lang="en-US" altLang="en-US" sz="2400" dirty="0">
                <a:sym typeface="Symbol" panose="05050102010706020507" pitchFamily="18" charset="2"/>
              </a:rPr>
              <a:t> ensure that </a:t>
            </a:r>
            <a:r>
              <a:rPr lang="en-US" altLang="en-US" sz="2400" dirty="0">
                <a:solidFill>
                  <a:srgbClr val="FF0000"/>
                </a:solidFill>
                <a:sym typeface="Symbol" panose="05050102010706020507" pitchFamily="18" charset="2"/>
              </a:rPr>
              <a:t>a system will never enter an unsafe state.</a:t>
            </a:r>
          </a:p>
        </p:txBody>
      </p:sp>
    </p:spTree>
    <p:extLst>
      <p:ext uri="{BB962C8B-B14F-4D97-AF65-F5344CB8AC3E}">
        <p14:creationId xmlns:p14="http://schemas.microsoft.com/office/powerpoint/2010/main" val="25187175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9D3210E7-ED94-41D3-A580-4892C80D7718}"/>
              </a:ext>
            </a:extLst>
          </p:cNvPr>
          <p:cNvSpPr>
            <a:spLocks noGrp="1" noChangeArrowheads="1"/>
          </p:cNvSpPr>
          <p:nvPr>
            <p:ph type="title"/>
          </p:nvPr>
        </p:nvSpPr>
        <p:spPr>
          <a:xfrm>
            <a:off x="2565400" y="241336"/>
            <a:ext cx="7645400" cy="576262"/>
          </a:xfrm>
        </p:spPr>
        <p:txBody>
          <a:bodyPr/>
          <a:lstStyle/>
          <a:p>
            <a:pPr eaLnBrk="1" hangingPunct="1"/>
            <a:r>
              <a:rPr lang="en-US" altLang="en-US" dirty="0"/>
              <a:t>Avoidance Algorithms</a:t>
            </a:r>
          </a:p>
        </p:txBody>
      </p:sp>
      <p:sp>
        <p:nvSpPr>
          <p:cNvPr id="37890" name="Rectangle 3">
            <a:extLst>
              <a:ext uri="{FF2B5EF4-FFF2-40B4-BE49-F238E27FC236}">
                <a16:creationId xmlns:a16="http://schemas.microsoft.com/office/drawing/2014/main" id="{03BE1552-DFDD-4C2D-ABAD-33391FB8DAF6}"/>
              </a:ext>
            </a:extLst>
          </p:cNvPr>
          <p:cNvSpPr>
            <a:spLocks noGrp="1" noChangeArrowheads="1"/>
          </p:cNvSpPr>
          <p:nvPr>
            <p:ph type="body" idx="1"/>
          </p:nvPr>
        </p:nvSpPr>
        <p:spPr>
          <a:xfrm>
            <a:off x="2430463" y="1171575"/>
            <a:ext cx="7989887" cy="4483100"/>
          </a:xfrm>
        </p:spPr>
        <p:txBody>
          <a:bodyPr/>
          <a:lstStyle/>
          <a:p>
            <a:r>
              <a:rPr lang="en-US" altLang="en-US" sz="3200" dirty="0">
                <a:solidFill>
                  <a:srgbClr val="FF0000"/>
                </a:solidFill>
              </a:rPr>
              <a:t>Single instance </a:t>
            </a:r>
            <a:r>
              <a:rPr lang="en-US" altLang="en-US" sz="3200" dirty="0"/>
              <a:t>of a resource type</a:t>
            </a:r>
          </a:p>
          <a:p>
            <a:pPr lvl="1"/>
            <a:r>
              <a:rPr lang="en-US" altLang="en-US" sz="3200" dirty="0">
                <a:solidFill>
                  <a:srgbClr val="FF0000"/>
                </a:solidFill>
              </a:rPr>
              <a:t>Use a resource-allocation graph</a:t>
            </a:r>
          </a:p>
          <a:p>
            <a:pPr lvl="1">
              <a:buFont typeface="Monotype Sorts" pitchFamily="-84" charset="2"/>
              <a:buNone/>
            </a:pPr>
            <a:endParaRPr lang="en-US" altLang="en-US" sz="3200" dirty="0"/>
          </a:p>
          <a:p>
            <a:r>
              <a:rPr lang="en-US" altLang="en-US" sz="3200" dirty="0">
                <a:solidFill>
                  <a:srgbClr val="FF0000"/>
                </a:solidFill>
              </a:rPr>
              <a:t>Multiple instances </a:t>
            </a:r>
            <a:r>
              <a:rPr lang="en-US" altLang="en-US" sz="3200" dirty="0"/>
              <a:t>of a resource type</a:t>
            </a:r>
          </a:p>
          <a:p>
            <a:pPr lvl="1"/>
            <a:r>
              <a:rPr lang="en-US" altLang="en-US" sz="3200" dirty="0"/>
              <a:t> </a:t>
            </a:r>
            <a:r>
              <a:rPr lang="en-US" altLang="en-US" sz="3200" dirty="0">
                <a:solidFill>
                  <a:srgbClr val="FF0000"/>
                </a:solidFill>
              </a:rPr>
              <a:t>Use the Banker</a:t>
            </a:r>
            <a:r>
              <a:rPr lang="ja-JP" altLang="en-US" sz="3200" dirty="0">
                <a:solidFill>
                  <a:srgbClr val="FF0000"/>
                </a:solidFill>
              </a:rPr>
              <a:t>’</a:t>
            </a:r>
            <a:r>
              <a:rPr lang="en-US" altLang="ja-JP" sz="3200" dirty="0">
                <a:solidFill>
                  <a:srgbClr val="FF0000"/>
                </a:solidFill>
              </a:rPr>
              <a:t>s Algorithm</a:t>
            </a:r>
            <a:endParaRPr lang="en-US" altLang="en-US" sz="3200" dirty="0">
              <a:solidFill>
                <a:srgbClr val="FF0000"/>
              </a:solidFill>
            </a:endParaRPr>
          </a:p>
        </p:txBody>
      </p:sp>
    </p:spTree>
    <p:extLst>
      <p:ext uri="{BB962C8B-B14F-4D97-AF65-F5344CB8AC3E}">
        <p14:creationId xmlns:p14="http://schemas.microsoft.com/office/powerpoint/2010/main" val="18985580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462E1847-7FBC-4E3E-907B-AD5F78E08F0D}"/>
              </a:ext>
            </a:extLst>
          </p:cNvPr>
          <p:cNvSpPr>
            <a:spLocks noGrp="1" noChangeArrowheads="1"/>
          </p:cNvSpPr>
          <p:nvPr>
            <p:ph type="title"/>
          </p:nvPr>
        </p:nvSpPr>
        <p:spPr>
          <a:xfrm>
            <a:off x="2469889" y="0"/>
            <a:ext cx="7831138" cy="576262"/>
          </a:xfrm>
        </p:spPr>
        <p:txBody>
          <a:bodyPr/>
          <a:lstStyle/>
          <a:p>
            <a:pPr eaLnBrk="1" hangingPunct="1"/>
            <a:r>
              <a:rPr lang="en-US" altLang="en-US" dirty="0"/>
              <a:t>Resource-Allocation Graph Scheme</a:t>
            </a:r>
          </a:p>
        </p:txBody>
      </p:sp>
      <p:sp>
        <p:nvSpPr>
          <p:cNvPr id="39938" name="Rectangle 3">
            <a:extLst>
              <a:ext uri="{FF2B5EF4-FFF2-40B4-BE49-F238E27FC236}">
                <a16:creationId xmlns:a16="http://schemas.microsoft.com/office/drawing/2014/main" id="{86FC01CE-3998-490A-BDE6-3A6213797806}"/>
              </a:ext>
            </a:extLst>
          </p:cNvPr>
          <p:cNvSpPr>
            <a:spLocks noGrp="1" noChangeArrowheads="1"/>
          </p:cNvSpPr>
          <p:nvPr>
            <p:ph type="body" idx="1"/>
          </p:nvPr>
        </p:nvSpPr>
        <p:spPr>
          <a:xfrm>
            <a:off x="2097088" y="812024"/>
            <a:ext cx="8094663" cy="4483100"/>
          </a:xfrm>
        </p:spPr>
        <p:txBody>
          <a:bodyPr/>
          <a:lstStyle/>
          <a:p>
            <a:pPr algn="just"/>
            <a:r>
              <a:rPr lang="en-US" altLang="en-US" sz="2800" b="1" dirty="0">
                <a:solidFill>
                  <a:srgbClr val="FF0000"/>
                </a:solidFill>
                <a:latin typeface="+mj-lt"/>
              </a:rPr>
              <a:t>Claim edge </a:t>
            </a:r>
            <a:r>
              <a:rPr lang="en-US" altLang="en-US" sz="2800" i="1" dirty="0" err="1">
                <a:solidFill>
                  <a:srgbClr val="FF0000"/>
                </a:solidFill>
              </a:rPr>
              <a:t>T</a:t>
            </a:r>
            <a:r>
              <a:rPr lang="en-US" altLang="en-US" sz="2800" i="1" baseline="-25000" dirty="0" err="1">
                <a:solidFill>
                  <a:srgbClr val="FF0000"/>
                </a:solidFill>
              </a:rPr>
              <a:t>i</a:t>
            </a:r>
            <a:r>
              <a:rPr lang="en-US" altLang="en-US" sz="2800" dirty="0">
                <a:solidFill>
                  <a:srgbClr val="FF0000"/>
                </a:solidFill>
              </a:rPr>
              <a:t> </a:t>
            </a:r>
            <a:r>
              <a:rPr lang="en-US" altLang="en-US" sz="2800" dirty="0">
                <a:solidFill>
                  <a:srgbClr val="FF0000"/>
                </a:solidFill>
                <a:sym typeface="Symbol" panose="05050102010706020507" pitchFamily="18" charset="2"/>
              </a:rPr>
              <a:t> </a:t>
            </a:r>
            <a:r>
              <a:rPr lang="en-US" altLang="en-US" sz="2800" i="1" dirty="0" err="1">
                <a:solidFill>
                  <a:srgbClr val="FF0000"/>
                </a:solidFill>
                <a:sym typeface="Symbol" panose="05050102010706020507" pitchFamily="18" charset="2"/>
              </a:rPr>
              <a:t>R</a:t>
            </a:r>
            <a:r>
              <a:rPr lang="en-US" altLang="en-US" sz="2800" i="1" baseline="-25000" dirty="0" err="1">
                <a:solidFill>
                  <a:srgbClr val="FF0000"/>
                </a:solidFill>
                <a:sym typeface="Symbol" panose="05050102010706020507" pitchFamily="18" charset="2"/>
              </a:rPr>
              <a:t>j</a:t>
            </a:r>
            <a:r>
              <a:rPr lang="en-US" altLang="en-US" sz="2800" dirty="0">
                <a:solidFill>
                  <a:srgbClr val="FF0000"/>
                </a:solidFill>
                <a:sym typeface="Symbol" panose="05050102010706020507" pitchFamily="18" charset="2"/>
              </a:rPr>
              <a:t> </a:t>
            </a:r>
            <a:r>
              <a:rPr lang="en-US" altLang="en-US" sz="2800" dirty="0">
                <a:sym typeface="Symbol" panose="05050102010706020507" pitchFamily="18" charset="2"/>
              </a:rPr>
              <a:t>indicated that process </a:t>
            </a:r>
            <a:r>
              <a:rPr lang="en-US" altLang="en-US" sz="2800" i="1" dirty="0" err="1">
                <a:sym typeface="Symbol" panose="05050102010706020507" pitchFamily="18" charset="2"/>
              </a:rPr>
              <a:t>T</a:t>
            </a:r>
            <a:r>
              <a:rPr lang="en-US" altLang="en-US" sz="2800" i="1" baseline="-25000" dirty="0" err="1">
                <a:sym typeface="Symbol" panose="05050102010706020507" pitchFamily="18" charset="2"/>
              </a:rPr>
              <a:t>j</a:t>
            </a:r>
            <a:r>
              <a:rPr lang="en-US" altLang="en-US" sz="2800" dirty="0">
                <a:sym typeface="Symbol" panose="05050102010706020507" pitchFamily="18" charset="2"/>
              </a:rPr>
              <a:t> may request resource </a:t>
            </a:r>
            <a:r>
              <a:rPr lang="en-US" altLang="en-US" sz="2800" i="1" dirty="0" err="1">
                <a:sym typeface="Symbol" panose="05050102010706020507" pitchFamily="18" charset="2"/>
              </a:rPr>
              <a:t>R</a:t>
            </a:r>
            <a:r>
              <a:rPr lang="en-US" altLang="en-US" sz="2800" i="1" baseline="-25000" dirty="0" err="1">
                <a:sym typeface="Symbol" panose="05050102010706020507" pitchFamily="18" charset="2"/>
              </a:rPr>
              <a:t>j</a:t>
            </a:r>
            <a:r>
              <a:rPr lang="en-US" altLang="en-US" sz="2800" dirty="0">
                <a:sym typeface="Symbol" panose="05050102010706020507" pitchFamily="18" charset="2"/>
              </a:rPr>
              <a:t>; represented by a dashed line</a:t>
            </a:r>
          </a:p>
          <a:p>
            <a:pPr algn="just"/>
            <a:r>
              <a:rPr lang="en-US" altLang="en-US" sz="2800" dirty="0">
                <a:solidFill>
                  <a:srgbClr val="FF0000"/>
                </a:solidFill>
                <a:sym typeface="Symbol" panose="05050102010706020507" pitchFamily="18" charset="2"/>
              </a:rPr>
              <a:t>Claim edge converts to request edge </a:t>
            </a:r>
            <a:r>
              <a:rPr lang="en-US" altLang="en-US" sz="2800" dirty="0">
                <a:sym typeface="Symbol" panose="05050102010706020507" pitchFamily="18" charset="2"/>
              </a:rPr>
              <a:t>when a </a:t>
            </a:r>
            <a:r>
              <a:rPr lang="en-US" altLang="en-US" sz="2800" dirty="0"/>
              <a:t>thread</a:t>
            </a:r>
            <a:r>
              <a:rPr lang="en-US" altLang="en-US" sz="2800" dirty="0">
                <a:sym typeface="Symbol" panose="05050102010706020507" pitchFamily="18" charset="2"/>
              </a:rPr>
              <a:t> requests a resource</a:t>
            </a:r>
          </a:p>
          <a:p>
            <a:pPr algn="just"/>
            <a:r>
              <a:rPr lang="en-US" altLang="en-US" sz="2800" dirty="0">
                <a:solidFill>
                  <a:srgbClr val="FF0000"/>
                </a:solidFill>
                <a:sym typeface="Symbol" panose="05050102010706020507" pitchFamily="18" charset="2"/>
              </a:rPr>
              <a:t>Request edge converted to an assignment edge </a:t>
            </a:r>
            <a:r>
              <a:rPr lang="en-US" altLang="en-US" sz="2800" dirty="0">
                <a:sym typeface="Symbol" panose="05050102010706020507" pitchFamily="18" charset="2"/>
              </a:rPr>
              <a:t>when the  resource is allocated to the </a:t>
            </a:r>
            <a:r>
              <a:rPr lang="en-US" altLang="en-US" sz="2800" dirty="0"/>
              <a:t>thread</a:t>
            </a:r>
            <a:endParaRPr lang="en-US" altLang="en-US" sz="2800" dirty="0">
              <a:sym typeface="Symbol" panose="05050102010706020507" pitchFamily="18" charset="2"/>
            </a:endParaRPr>
          </a:p>
          <a:p>
            <a:pPr algn="just"/>
            <a:r>
              <a:rPr lang="en-US" altLang="en-US" sz="2800" dirty="0">
                <a:sym typeface="Symbol" panose="05050102010706020507" pitchFamily="18" charset="2"/>
              </a:rPr>
              <a:t>When a resource is released by a</a:t>
            </a:r>
            <a:r>
              <a:rPr lang="en-US" altLang="en-US" sz="2800" dirty="0"/>
              <a:t> thread</a:t>
            </a:r>
            <a:r>
              <a:rPr lang="en-US" altLang="en-US" sz="2800" dirty="0">
                <a:sym typeface="Symbol" panose="05050102010706020507" pitchFamily="18" charset="2"/>
              </a:rPr>
              <a:t>, </a:t>
            </a:r>
            <a:r>
              <a:rPr lang="en-US" altLang="en-US" sz="2800" dirty="0">
                <a:solidFill>
                  <a:srgbClr val="FF0000"/>
                </a:solidFill>
                <a:sym typeface="Symbol" panose="05050102010706020507" pitchFamily="18" charset="2"/>
              </a:rPr>
              <a:t>assignment edge reconverts to a claim edge</a:t>
            </a:r>
          </a:p>
          <a:p>
            <a:pPr algn="just"/>
            <a:r>
              <a:rPr lang="en-US" altLang="en-US" sz="2800" dirty="0">
                <a:sym typeface="Symbol" panose="05050102010706020507" pitchFamily="18" charset="2"/>
              </a:rPr>
              <a:t>Resources must be claimed </a:t>
            </a:r>
            <a:r>
              <a:rPr lang="en-US" altLang="en-US" sz="2800" i="1" dirty="0">
                <a:sym typeface="Symbol" panose="05050102010706020507" pitchFamily="18" charset="2"/>
              </a:rPr>
              <a:t>a priori</a:t>
            </a:r>
            <a:r>
              <a:rPr lang="en-US" altLang="en-US" sz="2800" dirty="0">
                <a:sym typeface="Symbol" panose="05050102010706020507" pitchFamily="18" charset="2"/>
              </a:rPr>
              <a:t> in the system</a:t>
            </a:r>
            <a:endParaRPr lang="en-US" altLang="en-US" sz="2800" dirty="0"/>
          </a:p>
        </p:txBody>
      </p:sp>
    </p:spTree>
    <p:extLst>
      <p:ext uri="{BB962C8B-B14F-4D97-AF65-F5344CB8AC3E}">
        <p14:creationId xmlns:p14="http://schemas.microsoft.com/office/powerpoint/2010/main" val="7893045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169641F8-B5ED-4701-ADC4-AF8830265D8A}"/>
              </a:ext>
            </a:extLst>
          </p:cNvPr>
          <p:cNvSpPr>
            <a:spLocks noGrp="1" noChangeArrowheads="1"/>
          </p:cNvSpPr>
          <p:nvPr>
            <p:ph type="title"/>
          </p:nvPr>
        </p:nvSpPr>
        <p:spPr>
          <a:xfrm>
            <a:off x="2088080" y="355636"/>
            <a:ext cx="8224837" cy="457200"/>
          </a:xfrm>
        </p:spPr>
        <p:txBody>
          <a:bodyPr/>
          <a:lstStyle/>
          <a:p>
            <a:pPr eaLnBrk="1" hangingPunct="1"/>
            <a:r>
              <a:rPr lang="en-US" altLang="en-US" dirty="0"/>
              <a:t>Resource-Allocation Graph</a:t>
            </a:r>
          </a:p>
        </p:txBody>
      </p:sp>
      <p:pic>
        <p:nvPicPr>
          <p:cNvPr id="41986" name="Picture 1">
            <a:extLst>
              <a:ext uri="{FF2B5EF4-FFF2-40B4-BE49-F238E27FC236}">
                <a16:creationId xmlns:a16="http://schemas.microsoft.com/office/drawing/2014/main" id="{971D754B-5ADF-443C-9EFE-EC7015D917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57525" y="1423697"/>
            <a:ext cx="6019800" cy="4548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722217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FB73D6D1-D7A9-4A37-BC41-6815A8C70DF7}"/>
              </a:ext>
            </a:extLst>
          </p:cNvPr>
          <p:cNvSpPr>
            <a:spLocks noGrp="1" noChangeArrowheads="1"/>
          </p:cNvSpPr>
          <p:nvPr>
            <p:ph type="title"/>
          </p:nvPr>
        </p:nvSpPr>
        <p:spPr>
          <a:xfrm>
            <a:off x="2431953" y="353656"/>
            <a:ext cx="8243887" cy="457200"/>
          </a:xfrm>
        </p:spPr>
        <p:txBody>
          <a:bodyPr/>
          <a:lstStyle/>
          <a:p>
            <a:pPr eaLnBrk="1" hangingPunct="1"/>
            <a:r>
              <a:rPr lang="en-US" altLang="en-US" sz="2800" dirty="0"/>
              <a:t>Unsafe State In Resource-Allocation Graph</a:t>
            </a:r>
          </a:p>
        </p:txBody>
      </p:sp>
      <p:pic>
        <p:nvPicPr>
          <p:cNvPr id="44034" name="Picture 1">
            <a:extLst>
              <a:ext uri="{FF2B5EF4-FFF2-40B4-BE49-F238E27FC236}">
                <a16:creationId xmlns:a16="http://schemas.microsoft.com/office/drawing/2014/main" id="{F5B9B755-77BC-48DD-8A47-C57BD11236D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67125" y="1438276"/>
            <a:ext cx="5486400" cy="465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99704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0FB8F846-16AC-4967-ACDC-17AEF923DCDF}"/>
              </a:ext>
            </a:extLst>
          </p:cNvPr>
          <p:cNvSpPr>
            <a:spLocks noGrp="1" noChangeArrowheads="1"/>
          </p:cNvSpPr>
          <p:nvPr>
            <p:ph type="title"/>
          </p:nvPr>
        </p:nvSpPr>
        <p:spPr>
          <a:xfrm>
            <a:off x="2556747" y="234792"/>
            <a:ext cx="7656512" cy="576262"/>
          </a:xfrm>
        </p:spPr>
        <p:txBody>
          <a:bodyPr/>
          <a:lstStyle/>
          <a:p>
            <a:pPr eaLnBrk="1" hangingPunct="1"/>
            <a:r>
              <a:rPr lang="en-US" altLang="en-US" dirty="0"/>
              <a:t>Resource-Allocation Graph Algorithm</a:t>
            </a:r>
          </a:p>
        </p:txBody>
      </p:sp>
      <p:sp>
        <p:nvSpPr>
          <p:cNvPr id="46082" name="Rectangle 3">
            <a:extLst>
              <a:ext uri="{FF2B5EF4-FFF2-40B4-BE49-F238E27FC236}">
                <a16:creationId xmlns:a16="http://schemas.microsoft.com/office/drawing/2014/main" id="{0A7AE779-FF63-41A9-B5BD-D519561ABD9E}"/>
              </a:ext>
            </a:extLst>
          </p:cNvPr>
          <p:cNvSpPr>
            <a:spLocks noGrp="1" noChangeArrowheads="1"/>
          </p:cNvSpPr>
          <p:nvPr>
            <p:ph type="body" idx="1"/>
          </p:nvPr>
        </p:nvSpPr>
        <p:spPr>
          <a:xfrm>
            <a:off x="2349015" y="1187451"/>
            <a:ext cx="7656512" cy="4303713"/>
          </a:xfrm>
        </p:spPr>
        <p:txBody>
          <a:bodyPr/>
          <a:lstStyle/>
          <a:p>
            <a:r>
              <a:rPr lang="en-US" altLang="en-US" dirty="0"/>
              <a:t>Suppose that thread</a:t>
            </a:r>
            <a:r>
              <a:rPr lang="en-US" altLang="en-US" i="1" dirty="0"/>
              <a:t> </a:t>
            </a:r>
            <a:r>
              <a:rPr lang="en-US" altLang="en-US" i="1" dirty="0" err="1"/>
              <a:t>T</a:t>
            </a:r>
            <a:r>
              <a:rPr lang="en-US" altLang="en-US" i="1" baseline="-25000" dirty="0" err="1"/>
              <a:t>i</a:t>
            </a:r>
            <a:r>
              <a:rPr lang="en-US" altLang="en-US" dirty="0"/>
              <a:t> requests a resource </a:t>
            </a:r>
            <a:r>
              <a:rPr lang="en-US" altLang="en-US" i="1" dirty="0" err="1">
                <a:sym typeface="Symbol" panose="05050102010706020507" pitchFamily="18" charset="2"/>
              </a:rPr>
              <a:t>R</a:t>
            </a:r>
            <a:r>
              <a:rPr lang="en-US" altLang="en-US" i="1" baseline="-25000" dirty="0" err="1">
                <a:sym typeface="Symbol" panose="05050102010706020507" pitchFamily="18" charset="2"/>
              </a:rPr>
              <a:t>j</a:t>
            </a:r>
            <a:endParaRPr lang="en-US" altLang="en-US" i="1" baseline="-25000" dirty="0">
              <a:sym typeface="Symbol" panose="05050102010706020507" pitchFamily="18" charset="2"/>
            </a:endParaRPr>
          </a:p>
          <a:p>
            <a:r>
              <a:rPr lang="en-US" altLang="en-US" dirty="0">
                <a:sym typeface="Symbol" panose="05050102010706020507" pitchFamily="18" charset="2"/>
              </a:rPr>
              <a:t>The request can be granted only if converting the request edge to an assignment edge does not result in the formation of a cycle in the resource allocation graph</a:t>
            </a:r>
          </a:p>
        </p:txBody>
      </p:sp>
    </p:spTree>
    <p:extLst>
      <p:ext uri="{BB962C8B-B14F-4D97-AF65-F5344CB8AC3E}">
        <p14:creationId xmlns:p14="http://schemas.microsoft.com/office/powerpoint/2010/main" val="10889435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29A3144D-3E55-44DD-99C2-5A8149921420}"/>
              </a:ext>
            </a:extLst>
          </p:cNvPr>
          <p:cNvSpPr>
            <a:spLocks noGrp="1" noChangeArrowheads="1"/>
          </p:cNvSpPr>
          <p:nvPr>
            <p:ph type="title"/>
          </p:nvPr>
        </p:nvSpPr>
        <p:spPr>
          <a:xfrm>
            <a:off x="2438400" y="238549"/>
            <a:ext cx="7772400" cy="576262"/>
          </a:xfrm>
        </p:spPr>
        <p:txBody>
          <a:bodyPr/>
          <a:lstStyle/>
          <a:p>
            <a:pPr eaLnBrk="1" hangingPunct="1"/>
            <a:r>
              <a:rPr lang="en-US" altLang="en-US" dirty="0"/>
              <a:t>Banker’s Algorithm</a:t>
            </a:r>
          </a:p>
        </p:txBody>
      </p:sp>
      <p:sp>
        <p:nvSpPr>
          <p:cNvPr id="48130" name="Rectangle 3">
            <a:extLst>
              <a:ext uri="{FF2B5EF4-FFF2-40B4-BE49-F238E27FC236}">
                <a16:creationId xmlns:a16="http://schemas.microsoft.com/office/drawing/2014/main" id="{D051B137-35A8-4BCD-B97B-829EA95E2680}"/>
              </a:ext>
            </a:extLst>
          </p:cNvPr>
          <p:cNvSpPr>
            <a:spLocks noGrp="1" noChangeArrowheads="1"/>
          </p:cNvSpPr>
          <p:nvPr>
            <p:ph type="body" idx="1"/>
          </p:nvPr>
        </p:nvSpPr>
        <p:spPr>
          <a:xfrm>
            <a:off x="2382838" y="1128714"/>
            <a:ext cx="7706664" cy="4441825"/>
          </a:xfrm>
        </p:spPr>
        <p:txBody>
          <a:bodyPr/>
          <a:lstStyle/>
          <a:p>
            <a:r>
              <a:rPr lang="en-US" altLang="en-US" dirty="0"/>
              <a:t>Multiple instances of resources</a:t>
            </a:r>
          </a:p>
          <a:p>
            <a:r>
              <a:rPr lang="en-US" altLang="en-US" dirty="0"/>
              <a:t>Each thread must a priori claim maximum use</a:t>
            </a:r>
          </a:p>
          <a:p>
            <a:r>
              <a:rPr lang="en-US" altLang="en-US" dirty="0"/>
              <a:t>When a thread requests a resource, it may have to wait  </a:t>
            </a:r>
          </a:p>
          <a:p>
            <a:r>
              <a:rPr lang="en-US" altLang="en-US" dirty="0"/>
              <a:t>When a thread gets all its resources it must return them in a finite amount of time</a:t>
            </a:r>
          </a:p>
        </p:txBody>
      </p:sp>
    </p:spTree>
    <p:extLst>
      <p:ext uri="{BB962C8B-B14F-4D97-AF65-F5344CB8AC3E}">
        <p14:creationId xmlns:p14="http://schemas.microsoft.com/office/powerpoint/2010/main" val="115470635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87FA0DF4-BE04-4A21-8DF8-1258C2593E40}"/>
              </a:ext>
            </a:extLst>
          </p:cNvPr>
          <p:cNvSpPr>
            <a:spLocks noGrp="1" noChangeArrowheads="1"/>
          </p:cNvSpPr>
          <p:nvPr>
            <p:ph type="title"/>
          </p:nvPr>
        </p:nvSpPr>
        <p:spPr>
          <a:xfrm>
            <a:off x="2588237" y="383009"/>
            <a:ext cx="7586662" cy="431800"/>
          </a:xfrm>
        </p:spPr>
        <p:txBody>
          <a:bodyPr/>
          <a:lstStyle/>
          <a:p>
            <a:pPr eaLnBrk="1" hangingPunct="1"/>
            <a:r>
              <a:rPr lang="en-US" altLang="en-US" sz="2800" dirty="0"/>
              <a:t>Data Structures for the Banker</a:t>
            </a:r>
            <a:r>
              <a:rPr lang="ja-JP" altLang="en-US" sz="2800" dirty="0"/>
              <a:t>’</a:t>
            </a:r>
            <a:r>
              <a:rPr lang="en-US" altLang="ja-JP" sz="2800" dirty="0"/>
              <a:t>s Algorithm </a:t>
            </a:r>
            <a:endParaRPr lang="en-US" altLang="en-US" sz="2800" dirty="0"/>
          </a:p>
        </p:txBody>
      </p:sp>
      <p:sp>
        <p:nvSpPr>
          <p:cNvPr id="50178" name="Rectangle 3">
            <a:extLst>
              <a:ext uri="{FF2B5EF4-FFF2-40B4-BE49-F238E27FC236}">
                <a16:creationId xmlns:a16="http://schemas.microsoft.com/office/drawing/2014/main" id="{9D3FB76A-D010-4081-9D81-A9865380F002}"/>
              </a:ext>
            </a:extLst>
          </p:cNvPr>
          <p:cNvSpPr>
            <a:spLocks noGrp="1" noChangeArrowheads="1"/>
          </p:cNvSpPr>
          <p:nvPr>
            <p:ph type="body" idx="1"/>
          </p:nvPr>
        </p:nvSpPr>
        <p:spPr>
          <a:xfrm>
            <a:off x="2716213" y="1654175"/>
            <a:ext cx="7370762" cy="4387850"/>
          </a:xfrm>
        </p:spPr>
        <p:txBody>
          <a:bodyPr/>
          <a:lstStyle/>
          <a:p>
            <a:r>
              <a:rPr lang="en-US" altLang="en-US" b="1" dirty="0"/>
              <a:t>Available</a:t>
            </a:r>
            <a:r>
              <a:rPr lang="en-US" altLang="en-US" i="1" dirty="0"/>
              <a:t>:</a:t>
            </a:r>
            <a:r>
              <a:rPr lang="en-US" altLang="en-US" dirty="0"/>
              <a:t>  Vector of length </a:t>
            </a:r>
            <a:r>
              <a:rPr lang="en-US" altLang="en-US" i="1" dirty="0"/>
              <a:t>m</a:t>
            </a:r>
            <a:r>
              <a:rPr lang="en-US" altLang="en-US" dirty="0"/>
              <a:t>. If available [</a:t>
            </a:r>
            <a:r>
              <a:rPr lang="en-US" altLang="en-US" i="1" dirty="0"/>
              <a:t>j</a:t>
            </a:r>
            <a:r>
              <a:rPr lang="en-US" altLang="en-US" dirty="0"/>
              <a:t>] = </a:t>
            </a:r>
            <a:r>
              <a:rPr lang="en-US" altLang="en-US" i="1" dirty="0"/>
              <a:t>k</a:t>
            </a:r>
            <a:r>
              <a:rPr lang="en-US" altLang="en-US" dirty="0"/>
              <a:t>, there are</a:t>
            </a:r>
            <a:r>
              <a:rPr lang="en-US" altLang="en-US" i="1" dirty="0"/>
              <a:t> k</a:t>
            </a:r>
            <a:r>
              <a:rPr lang="en-US" altLang="en-US" dirty="0"/>
              <a:t> instances of resource type </a:t>
            </a:r>
            <a:r>
              <a:rPr lang="en-US" altLang="en-US" i="1" dirty="0" err="1"/>
              <a:t>R</a:t>
            </a:r>
            <a:r>
              <a:rPr lang="en-US" altLang="en-US" i="1" baseline="-25000" dirty="0" err="1"/>
              <a:t>j</a:t>
            </a:r>
            <a:r>
              <a:rPr lang="en-US" altLang="en-US" baseline="-25000" dirty="0"/>
              <a:t>  </a:t>
            </a:r>
            <a:r>
              <a:rPr lang="en-US" altLang="en-US" dirty="0"/>
              <a:t>available</a:t>
            </a:r>
          </a:p>
          <a:p>
            <a:endParaRPr lang="en-US" altLang="en-US" sz="800" dirty="0"/>
          </a:p>
          <a:p>
            <a:r>
              <a:rPr lang="en-US" altLang="en-US" b="1" dirty="0">
                <a:solidFill>
                  <a:srgbClr val="000000"/>
                </a:solidFill>
              </a:rPr>
              <a:t>Max</a:t>
            </a:r>
            <a:r>
              <a:rPr lang="en-US" altLang="en-US" i="1" dirty="0"/>
              <a:t>: n x m</a:t>
            </a:r>
            <a:r>
              <a:rPr lang="en-US" altLang="en-US" dirty="0"/>
              <a:t> matrix.  If </a:t>
            </a:r>
            <a:r>
              <a:rPr lang="en-US" altLang="en-US" i="1" dirty="0"/>
              <a:t>Max </a:t>
            </a:r>
            <a:r>
              <a:rPr lang="en-US" altLang="en-US" dirty="0"/>
              <a:t>[</a:t>
            </a:r>
            <a:r>
              <a:rPr lang="en-US" altLang="en-US" i="1" dirty="0" err="1"/>
              <a:t>i,j</a:t>
            </a:r>
            <a:r>
              <a:rPr lang="en-US" altLang="en-US" dirty="0"/>
              <a:t>] = </a:t>
            </a:r>
            <a:r>
              <a:rPr lang="en-US" altLang="en-US" i="1" dirty="0"/>
              <a:t>k</a:t>
            </a:r>
            <a:r>
              <a:rPr lang="en-US" altLang="en-US" dirty="0"/>
              <a:t>, then process </a:t>
            </a:r>
            <a:r>
              <a:rPr lang="en-US" altLang="en-US" i="1" dirty="0" err="1"/>
              <a:t>T</a:t>
            </a:r>
            <a:r>
              <a:rPr lang="en-US" altLang="en-US" i="1" baseline="-25000" dirty="0" err="1"/>
              <a:t>i</a:t>
            </a:r>
            <a:r>
              <a:rPr lang="en-US" altLang="en-US" i="1" dirty="0"/>
              <a:t> </a:t>
            </a:r>
            <a:r>
              <a:rPr lang="en-US" altLang="en-US" dirty="0"/>
              <a:t>may request at most</a:t>
            </a:r>
            <a:r>
              <a:rPr lang="en-US" altLang="en-US" i="1" dirty="0"/>
              <a:t> k </a:t>
            </a:r>
            <a:r>
              <a:rPr lang="en-US" altLang="en-US" dirty="0"/>
              <a:t>instances of resource type </a:t>
            </a:r>
            <a:r>
              <a:rPr lang="en-US" altLang="en-US" i="1" dirty="0" err="1"/>
              <a:t>R</a:t>
            </a:r>
            <a:r>
              <a:rPr lang="en-US" altLang="en-US" i="1" baseline="-25000" dirty="0" err="1"/>
              <a:t>j</a:t>
            </a:r>
            <a:endParaRPr lang="en-US" altLang="en-US" i="1" baseline="-25000" dirty="0"/>
          </a:p>
          <a:p>
            <a:endParaRPr lang="en-US" altLang="en-US" sz="800" i="1" baseline="-25000" dirty="0"/>
          </a:p>
          <a:p>
            <a:r>
              <a:rPr lang="en-US" altLang="en-US" b="1" dirty="0">
                <a:solidFill>
                  <a:srgbClr val="000000"/>
                </a:solidFill>
              </a:rPr>
              <a:t>Allocation</a:t>
            </a:r>
            <a:r>
              <a:rPr lang="en-US" altLang="en-US" i="1" dirty="0"/>
              <a:t>:  n </a:t>
            </a:r>
            <a:r>
              <a:rPr lang="en-US" altLang="en-US" dirty="0"/>
              <a:t>x</a:t>
            </a:r>
            <a:r>
              <a:rPr lang="en-US" altLang="en-US" i="1" dirty="0"/>
              <a:t> m</a:t>
            </a:r>
            <a:r>
              <a:rPr lang="en-US" altLang="en-US" dirty="0"/>
              <a:t> matrix.  If Allocation[</a:t>
            </a:r>
            <a:r>
              <a:rPr lang="en-US" altLang="en-US" i="1" dirty="0" err="1"/>
              <a:t>i,j</a:t>
            </a:r>
            <a:r>
              <a:rPr lang="en-US" altLang="en-US" dirty="0"/>
              <a:t>] = </a:t>
            </a:r>
            <a:r>
              <a:rPr lang="en-US" altLang="en-US" i="1" dirty="0"/>
              <a:t>k</a:t>
            </a:r>
            <a:r>
              <a:rPr lang="en-US" altLang="en-US" dirty="0"/>
              <a:t> then</a:t>
            </a:r>
            <a:r>
              <a:rPr lang="en-US" altLang="en-US" i="1" dirty="0"/>
              <a:t> </a:t>
            </a:r>
            <a:r>
              <a:rPr lang="en-US" altLang="en-US" i="1" dirty="0" err="1"/>
              <a:t>T</a:t>
            </a:r>
            <a:r>
              <a:rPr lang="en-US" altLang="en-US" i="1" baseline="-25000" dirty="0" err="1"/>
              <a:t>i</a:t>
            </a:r>
            <a:r>
              <a:rPr lang="en-US" altLang="en-US" dirty="0"/>
              <a:t> is currently allocated </a:t>
            </a:r>
            <a:r>
              <a:rPr lang="en-US" altLang="en-US" i="1" dirty="0"/>
              <a:t>k</a:t>
            </a:r>
            <a:r>
              <a:rPr lang="en-US" altLang="en-US" dirty="0"/>
              <a:t> instances of </a:t>
            </a:r>
            <a:r>
              <a:rPr lang="en-US" altLang="en-US" i="1" dirty="0" err="1"/>
              <a:t>R</a:t>
            </a:r>
            <a:r>
              <a:rPr lang="en-US" altLang="en-US" i="1" baseline="-25000" dirty="0" err="1"/>
              <a:t>j</a:t>
            </a:r>
            <a:endParaRPr lang="en-US" altLang="en-US" i="1" baseline="-25000" dirty="0"/>
          </a:p>
          <a:p>
            <a:endParaRPr lang="en-US" altLang="en-US" sz="800" i="1" baseline="-25000" dirty="0"/>
          </a:p>
          <a:p>
            <a:r>
              <a:rPr lang="en-US" altLang="en-US" b="1" dirty="0">
                <a:solidFill>
                  <a:srgbClr val="000000"/>
                </a:solidFill>
              </a:rPr>
              <a:t>Need</a:t>
            </a:r>
            <a:r>
              <a:rPr lang="en-US" altLang="en-US" i="1" dirty="0"/>
              <a:t>:  n </a:t>
            </a:r>
            <a:r>
              <a:rPr lang="en-US" altLang="en-US" dirty="0"/>
              <a:t>x</a:t>
            </a:r>
            <a:r>
              <a:rPr lang="en-US" altLang="en-US" i="1" dirty="0"/>
              <a:t> m</a:t>
            </a:r>
            <a:r>
              <a:rPr lang="en-US" altLang="en-US" dirty="0"/>
              <a:t> matrix. If </a:t>
            </a:r>
            <a:r>
              <a:rPr lang="en-US" altLang="en-US" i="1" dirty="0"/>
              <a:t>Need</a:t>
            </a:r>
            <a:r>
              <a:rPr lang="en-US" altLang="en-US" dirty="0"/>
              <a:t>[</a:t>
            </a:r>
            <a:r>
              <a:rPr lang="en-US" altLang="en-US" i="1" dirty="0" err="1"/>
              <a:t>i,j</a:t>
            </a:r>
            <a:r>
              <a:rPr lang="en-US" altLang="en-US" dirty="0"/>
              <a:t>] =</a:t>
            </a:r>
            <a:r>
              <a:rPr lang="en-US" altLang="en-US" i="1" dirty="0"/>
              <a:t> k</a:t>
            </a:r>
            <a:r>
              <a:rPr lang="en-US" altLang="en-US" dirty="0"/>
              <a:t>, then</a:t>
            </a:r>
            <a:r>
              <a:rPr lang="en-US" altLang="en-US" i="1" dirty="0"/>
              <a:t> </a:t>
            </a:r>
            <a:r>
              <a:rPr lang="en-US" altLang="en-US" i="1" dirty="0" err="1"/>
              <a:t>T</a:t>
            </a:r>
            <a:r>
              <a:rPr lang="en-US" altLang="en-US" i="1" baseline="-25000" dirty="0" err="1"/>
              <a:t>i</a:t>
            </a:r>
            <a:r>
              <a:rPr lang="en-US" altLang="en-US" dirty="0"/>
              <a:t> may need </a:t>
            </a:r>
            <a:r>
              <a:rPr lang="en-US" altLang="en-US" i="1" dirty="0"/>
              <a:t>k</a:t>
            </a:r>
            <a:r>
              <a:rPr lang="en-US" altLang="en-US" dirty="0"/>
              <a:t> more instances of </a:t>
            </a:r>
            <a:r>
              <a:rPr lang="en-US" altLang="en-US" i="1" dirty="0" err="1"/>
              <a:t>R</a:t>
            </a:r>
            <a:r>
              <a:rPr lang="en-US" altLang="en-US" i="1" baseline="-25000" dirty="0" err="1"/>
              <a:t>j</a:t>
            </a:r>
            <a:r>
              <a:rPr lang="en-US" altLang="en-US" baseline="-25000" dirty="0"/>
              <a:t> </a:t>
            </a:r>
            <a:r>
              <a:rPr lang="en-US" altLang="en-US" dirty="0"/>
              <a:t>to complete its task</a:t>
            </a:r>
          </a:p>
          <a:p>
            <a:pPr lvl="2">
              <a:buFont typeface="Webdings" panose="05030102010509060703" pitchFamily="18" charset="2"/>
              <a:buNone/>
            </a:pPr>
            <a:br>
              <a:rPr lang="en-US" altLang="en-US" dirty="0"/>
            </a:br>
            <a:r>
              <a:rPr lang="en-US" altLang="en-US" b="1" i="1" dirty="0">
                <a:solidFill>
                  <a:srgbClr val="FF0000"/>
                </a:solidFill>
              </a:rPr>
              <a:t>Need</a:t>
            </a:r>
            <a:r>
              <a:rPr lang="en-US" altLang="en-US" b="1" dirty="0">
                <a:solidFill>
                  <a:srgbClr val="FF0000"/>
                </a:solidFill>
              </a:rPr>
              <a:t> [</a:t>
            </a:r>
            <a:r>
              <a:rPr lang="en-US" altLang="en-US" b="1" i="1" dirty="0" err="1">
                <a:solidFill>
                  <a:srgbClr val="FF0000"/>
                </a:solidFill>
              </a:rPr>
              <a:t>i,j</a:t>
            </a:r>
            <a:r>
              <a:rPr lang="en-US" altLang="en-US" b="1" i="1" dirty="0">
                <a:solidFill>
                  <a:srgbClr val="FF0000"/>
                </a:solidFill>
              </a:rPr>
              <a:t>]</a:t>
            </a:r>
            <a:r>
              <a:rPr lang="en-US" altLang="en-US" b="1" dirty="0">
                <a:solidFill>
                  <a:srgbClr val="FF0000"/>
                </a:solidFill>
              </a:rPr>
              <a:t> = </a:t>
            </a:r>
            <a:r>
              <a:rPr lang="en-US" altLang="en-US" b="1" i="1" dirty="0">
                <a:solidFill>
                  <a:srgbClr val="FF0000"/>
                </a:solidFill>
              </a:rPr>
              <a:t>Max</a:t>
            </a:r>
            <a:r>
              <a:rPr lang="en-US" altLang="en-US" b="1" dirty="0">
                <a:solidFill>
                  <a:srgbClr val="FF0000"/>
                </a:solidFill>
              </a:rPr>
              <a:t>[</a:t>
            </a:r>
            <a:r>
              <a:rPr lang="en-US" altLang="en-US" b="1" i="1" dirty="0" err="1">
                <a:solidFill>
                  <a:srgbClr val="FF0000"/>
                </a:solidFill>
              </a:rPr>
              <a:t>i,j</a:t>
            </a:r>
            <a:r>
              <a:rPr lang="en-US" altLang="en-US" b="1" dirty="0">
                <a:solidFill>
                  <a:srgbClr val="FF0000"/>
                </a:solidFill>
              </a:rPr>
              <a:t>] – </a:t>
            </a:r>
            <a:r>
              <a:rPr lang="en-US" altLang="en-US" b="1" i="1" dirty="0">
                <a:solidFill>
                  <a:srgbClr val="FF0000"/>
                </a:solidFill>
              </a:rPr>
              <a:t>Allocation</a:t>
            </a:r>
            <a:r>
              <a:rPr lang="en-US" altLang="en-US" b="1" dirty="0">
                <a:solidFill>
                  <a:srgbClr val="FF0000"/>
                </a:solidFill>
              </a:rPr>
              <a:t> [</a:t>
            </a:r>
            <a:r>
              <a:rPr lang="en-US" altLang="en-US" b="1" i="1" dirty="0" err="1">
                <a:solidFill>
                  <a:srgbClr val="FF0000"/>
                </a:solidFill>
              </a:rPr>
              <a:t>i,j</a:t>
            </a:r>
            <a:r>
              <a:rPr lang="en-US" altLang="en-US" b="1" dirty="0">
                <a:solidFill>
                  <a:srgbClr val="FF0000"/>
                </a:solidFill>
              </a:rPr>
              <a:t>]</a:t>
            </a:r>
          </a:p>
        </p:txBody>
      </p:sp>
      <p:sp>
        <p:nvSpPr>
          <p:cNvPr id="50179" name="Text Box 4">
            <a:extLst>
              <a:ext uri="{FF2B5EF4-FFF2-40B4-BE49-F238E27FC236}">
                <a16:creationId xmlns:a16="http://schemas.microsoft.com/office/drawing/2014/main" id="{AE86C5C3-E474-4D7C-8E73-3297B5AF2937}"/>
              </a:ext>
            </a:extLst>
          </p:cNvPr>
          <p:cNvSpPr txBox="1">
            <a:spLocks noChangeArrowheads="1"/>
          </p:cNvSpPr>
          <p:nvPr/>
        </p:nvSpPr>
        <p:spPr bwMode="auto">
          <a:xfrm>
            <a:off x="2474914" y="1106766"/>
            <a:ext cx="74687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dirty="0"/>
              <a:t>Let </a:t>
            </a:r>
            <a:r>
              <a:rPr kumimoji="0" lang="en-US" altLang="en-US" b="1" i="1" dirty="0">
                <a:solidFill>
                  <a:srgbClr val="FF0000"/>
                </a:solidFill>
              </a:rPr>
              <a:t>n</a:t>
            </a:r>
            <a:r>
              <a:rPr kumimoji="0" lang="en-US" altLang="en-US" b="1" dirty="0">
                <a:solidFill>
                  <a:srgbClr val="FF0000"/>
                </a:solidFill>
              </a:rPr>
              <a:t> = number of processes, and </a:t>
            </a:r>
            <a:r>
              <a:rPr kumimoji="0" lang="en-US" altLang="en-US" b="1" i="1" dirty="0">
                <a:solidFill>
                  <a:srgbClr val="FF0000"/>
                </a:solidFill>
              </a:rPr>
              <a:t>m </a:t>
            </a:r>
            <a:r>
              <a:rPr kumimoji="0" lang="en-US" altLang="en-US" b="1" dirty="0">
                <a:solidFill>
                  <a:srgbClr val="FF0000"/>
                </a:solidFill>
              </a:rPr>
              <a:t>= number of resources types</a:t>
            </a:r>
            <a:r>
              <a:rPr kumimoji="0" lang="en-US" altLang="en-US" dirty="0"/>
              <a:t>. </a:t>
            </a:r>
          </a:p>
        </p:txBody>
      </p:sp>
    </p:spTree>
    <p:extLst>
      <p:ext uri="{BB962C8B-B14F-4D97-AF65-F5344CB8AC3E}">
        <p14:creationId xmlns:p14="http://schemas.microsoft.com/office/powerpoint/2010/main" val="200464750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2790C097-F637-4E56-9DE9-9732B5BC1693}"/>
              </a:ext>
            </a:extLst>
          </p:cNvPr>
          <p:cNvSpPr>
            <a:spLocks noGrp="1" noChangeArrowheads="1"/>
          </p:cNvSpPr>
          <p:nvPr>
            <p:ph type="title"/>
          </p:nvPr>
        </p:nvSpPr>
        <p:spPr>
          <a:xfrm>
            <a:off x="1981200" y="0"/>
            <a:ext cx="8229600" cy="576262"/>
          </a:xfrm>
        </p:spPr>
        <p:txBody>
          <a:bodyPr/>
          <a:lstStyle/>
          <a:p>
            <a:pPr eaLnBrk="1" hangingPunct="1"/>
            <a:r>
              <a:rPr lang="en-US" altLang="en-US" dirty="0"/>
              <a:t>Safety Algorithm</a:t>
            </a:r>
          </a:p>
        </p:txBody>
      </p:sp>
      <p:sp>
        <p:nvSpPr>
          <p:cNvPr id="52226" name="Rectangle 3">
            <a:extLst>
              <a:ext uri="{FF2B5EF4-FFF2-40B4-BE49-F238E27FC236}">
                <a16:creationId xmlns:a16="http://schemas.microsoft.com/office/drawing/2014/main" id="{3636911B-2CB1-426E-842A-DA9B0800644E}"/>
              </a:ext>
            </a:extLst>
          </p:cNvPr>
          <p:cNvSpPr>
            <a:spLocks noGrp="1" noChangeArrowheads="1"/>
          </p:cNvSpPr>
          <p:nvPr>
            <p:ph type="body" idx="1"/>
          </p:nvPr>
        </p:nvSpPr>
        <p:spPr>
          <a:xfrm>
            <a:off x="2162175" y="576263"/>
            <a:ext cx="7877175" cy="4943475"/>
          </a:xfrm>
        </p:spPr>
        <p:txBody>
          <a:bodyPr/>
          <a:lstStyle/>
          <a:p>
            <a:pPr>
              <a:buFont typeface="+mj-lt"/>
              <a:buAutoNum type="arabicPeriod"/>
            </a:pPr>
            <a:r>
              <a:rPr lang="en-US" altLang="en-US" sz="2400" dirty="0"/>
              <a:t>Let </a:t>
            </a:r>
            <a:r>
              <a:rPr lang="en-US" altLang="en-US" sz="2400" b="1" i="1" dirty="0">
                <a:solidFill>
                  <a:srgbClr val="000000"/>
                </a:solidFill>
              </a:rPr>
              <a:t>Work</a:t>
            </a:r>
            <a:r>
              <a:rPr lang="en-US" altLang="en-US" sz="2400" i="1" dirty="0">
                <a:solidFill>
                  <a:srgbClr val="000000"/>
                </a:solidFill>
              </a:rPr>
              <a:t> </a:t>
            </a:r>
            <a:r>
              <a:rPr lang="en-US" altLang="en-US" sz="2400" dirty="0"/>
              <a:t>and </a:t>
            </a:r>
            <a:r>
              <a:rPr lang="en-US" altLang="en-US" sz="2400" b="1" i="1" dirty="0">
                <a:solidFill>
                  <a:srgbClr val="000000"/>
                </a:solidFill>
              </a:rPr>
              <a:t>Finish</a:t>
            </a:r>
            <a:r>
              <a:rPr lang="en-US" altLang="en-US" sz="2400" dirty="0">
                <a:solidFill>
                  <a:srgbClr val="000000"/>
                </a:solidFill>
              </a:rPr>
              <a:t> </a:t>
            </a:r>
            <a:r>
              <a:rPr lang="en-US" altLang="en-US" sz="2400" dirty="0"/>
              <a:t>be vectors of length</a:t>
            </a:r>
            <a:r>
              <a:rPr lang="en-US" altLang="en-US" sz="2400" i="1" dirty="0"/>
              <a:t> m</a:t>
            </a:r>
            <a:r>
              <a:rPr lang="en-US" altLang="en-US" sz="2400" dirty="0"/>
              <a:t> and</a:t>
            </a:r>
            <a:r>
              <a:rPr lang="en-US" altLang="en-US" sz="2400" i="1" dirty="0"/>
              <a:t> n</a:t>
            </a:r>
            <a:r>
              <a:rPr lang="en-US" altLang="en-US" sz="2400" dirty="0"/>
              <a:t>, respectively.  Initialize:</a:t>
            </a:r>
          </a:p>
          <a:p>
            <a:pPr marL="1543050" lvl="3" indent="-342900">
              <a:lnSpc>
                <a:spcPct val="90000"/>
              </a:lnSpc>
              <a:buNone/>
            </a:pPr>
            <a:r>
              <a:rPr lang="en-US" altLang="en-US" sz="2400" b="1" i="1" dirty="0"/>
              <a:t>Work </a:t>
            </a:r>
            <a:r>
              <a:rPr lang="en-US" altLang="en-US" sz="2400" b="1" dirty="0"/>
              <a:t>= </a:t>
            </a:r>
            <a:r>
              <a:rPr lang="en-US" altLang="en-US" sz="2400" b="1" i="1" dirty="0"/>
              <a:t>Available</a:t>
            </a:r>
          </a:p>
          <a:p>
            <a:pPr marL="1543050" lvl="3" indent="-342900">
              <a:lnSpc>
                <a:spcPct val="90000"/>
              </a:lnSpc>
              <a:buNone/>
            </a:pPr>
            <a:r>
              <a:rPr lang="en-US" altLang="en-US" sz="2400" b="1" i="1" dirty="0"/>
              <a:t>Finish </a:t>
            </a:r>
            <a:r>
              <a:rPr lang="en-US" altLang="en-US" sz="2400" b="1" dirty="0"/>
              <a:t>[</a:t>
            </a:r>
            <a:r>
              <a:rPr lang="en-US" altLang="en-US" sz="2400" b="1" i="1" dirty="0"/>
              <a:t>i</a:t>
            </a:r>
            <a:r>
              <a:rPr lang="en-US" altLang="en-US" sz="2400" b="1" dirty="0"/>
              <a:t>] =</a:t>
            </a:r>
            <a:r>
              <a:rPr lang="en-US" altLang="en-US" sz="2400" b="1" i="1" dirty="0"/>
              <a:t> false </a:t>
            </a:r>
            <a:r>
              <a:rPr lang="en-US" altLang="en-US" sz="2400" b="1" dirty="0"/>
              <a:t>for</a:t>
            </a:r>
            <a:r>
              <a:rPr lang="en-US" altLang="en-US" sz="2400" b="1" i="1" dirty="0"/>
              <a:t> i</a:t>
            </a:r>
            <a:r>
              <a:rPr lang="en-US" altLang="en-US" sz="2400" b="1" dirty="0"/>
              <a:t> = 0, 1, …, </a:t>
            </a:r>
            <a:r>
              <a:rPr lang="en-US" altLang="en-US" sz="2400" b="1" i="1" dirty="0"/>
              <a:t>n- </a:t>
            </a:r>
            <a:r>
              <a:rPr lang="en-US" altLang="en-US" sz="2400" b="1" dirty="0"/>
              <a:t>1</a:t>
            </a:r>
          </a:p>
          <a:p>
            <a:pPr marL="1543050" lvl="3" indent="-342900">
              <a:lnSpc>
                <a:spcPct val="90000"/>
              </a:lnSpc>
              <a:buNone/>
            </a:pPr>
            <a:endParaRPr lang="en-US" altLang="en-US" sz="1000" dirty="0"/>
          </a:p>
          <a:p>
            <a:pPr>
              <a:lnSpc>
                <a:spcPct val="90000"/>
              </a:lnSpc>
              <a:buFont typeface="+mj-lt"/>
              <a:buAutoNum type="arabicPeriod"/>
            </a:pPr>
            <a:r>
              <a:rPr lang="en-US" altLang="en-US" sz="2400" dirty="0"/>
              <a:t>Find an </a:t>
            </a:r>
            <a:r>
              <a:rPr lang="en-US" altLang="en-US" sz="2400" b="1" i="1" dirty="0"/>
              <a:t>i</a:t>
            </a:r>
            <a:r>
              <a:rPr lang="en-US" altLang="en-US" sz="2400" i="1" dirty="0"/>
              <a:t> </a:t>
            </a:r>
            <a:r>
              <a:rPr lang="en-US" altLang="en-US" sz="2400" dirty="0"/>
              <a:t>such that both: </a:t>
            </a:r>
          </a:p>
          <a:p>
            <a:pPr marL="800100" lvl="1" indent="-342900">
              <a:lnSpc>
                <a:spcPct val="90000"/>
              </a:lnSpc>
              <a:buNone/>
            </a:pPr>
            <a:r>
              <a:rPr lang="en-US" altLang="en-US" sz="2400" dirty="0"/>
              <a:t>  (a) </a:t>
            </a:r>
            <a:r>
              <a:rPr lang="en-US" altLang="en-US" sz="2400" b="1" i="1" dirty="0"/>
              <a:t>Finish</a:t>
            </a:r>
            <a:r>
              <a:rPr lang="en-US" altLang="en-US" sz="2400" b="1" dirty="0"/>
              <a:t> [</a:t>
            </a:r>
            <a:r>
              <a:rPr lang="en-US" altLang="en-US" sz="2400" b="1" i="1" dirty="0"/>
              <a:t>i</a:t>
            </a:r>
            <a:r>
              <a:rPr lang="en-US" altLang="en-US" sz="2400" b="1" dirty="0"/>
              <a:t>] = </a:t>
            </a:r>
            <a:r>
              <a:rPr lang="en-US" altLang="en-US" sz="2400" b="1" i="1" dirty="0"/>
              <a:t>false</a:t>
            </a:r>
            <a:endParaRPr lang="en-US" altLang="en-US" sz="2400" b="1" dirty="0"/>
          </a:p>
          <a:p>
            <a:pPr marL="800100" lvl="1" indent="-342900">
              <a:lnSpc>
                <a:spcPct val="90000"/>
              </a:lnSpc>
              <a:buNone/>
            </a:pPr>
            <a:r>
              <a:rPr lang="en-US" altLang="en-US" sz="2400" dirty="0"/>
              <a:t>  (b) </a:t>
            </a:r>
            <a:r>
              <a:rPr lang="en-US" altLang="en-US" sz="2400" b="1" i="1" dirty="0" err="1"/>
              <a:t>Need</a:t>
            </a:r>
            <a:r>
              <a:rPr lang="en-US" altLang="en-US" sz="2400" b="1" i="1" baseline="-25000" dirty="0" err="1"/>
              <a:t>i</a:t>
            </a:r>
            <a:r>
              <a:rPr lang="en-US" altLang="en-US" sz="2400" b="1" dirty="0"/>
              <a:t> </a:t>
            </a:r>
            <a:r>
              <a:rPr lang="en-US" altLang="en-US" sz="2400" b="1" dirty="0">
                <a:sym typeface="Symbol" panose="05050102010706020507" pitchFamily="18" charset="2"/>
              </a:rPr>
              <a:t> </a:t>
            </a:r>
            <a:r>
              <a:rPr lang="en-US" altLang="en-US" sz="2400" b="1" i="1" dirty="0">
                <a:sym typeface="Symbol" panose="05050102010706020507" pitchFamily="18" charset="2"/>
              </a:rPr>
              <a:t>Work</a:t>
            </a:r>
          </a:p>
          <a:p>
            <a:pPr marL="800100" lvl="1" indent="-342900">
              <a:lnSpc>
                <a:spcPct val="90000"/>
              </a:lnSpc>
              <a:buNone/>
            </a:pPr>
            <a:r>
              <a:rPr lang="en-US" altLang="en-US" sz="2400" dirty="0">
                <a:sym typeface="Symbol" panose="05050102010706020507" pitchFamily="18" charset="2"/>
              </a:rPr>
              <a:t>   If no such</a:t>
            </a:r>
            <a:r>
              <a:rPr lang="en-US" altLang="en-US" sz="2400" b="1" dirty="0">
                <a:sym typeface="Symbol" panose="05050102010706020507" pitchFamily="18" charset="2"/>
              </a:rPr>
              <a:t> </a:t>
            </a:r>
            <a:r>
              <a:rPr lang="en-US" altLang="en-US" sz="2400" b="1" i="1" dirty="0">
                <a:sym typeface="Symbol" panose="05050102010706020507" pitchFamily="18" charset="2"/>
              </a:rPr>
              <a:t>i </a:t>
            </a:r>
            <a:r>
              <a:rPr lang="en-US" altLang="en-US" sz="2400" dirty="0">
                <a:sym typeface="Symbol" panose="05050102010706020507" pitchFamily="18" charset="2"/>
              </a:rPr>
              <a:t>exists, go to step 4</a:t>
            </a:r>
          </a:p>
          <a:p>
            <a:pPr marL="800100" lvl="1" indent="-342900">
              <a:lnSpc>
                <a:spcPct val="90000"/>
              </a:lnSpc>
              <a:buNone/>
            </a:pPr>
            <a:endParaRPr lang="en-US" altLang="en-US" sz="1000" dirty="0">
              <a:sym typeface="Symbol" panose="05050102010706020507" pitchFamily="18" charset="2"/>
            </a:endParaRPr>
          </a:p>
          <a:p>
            <a:pPr>
              <a:buFont typeface="+mj-lt"/>
              <a:buAutoNum type="arabicPeriod"/>
            </a:pPr>
            <a:r>
              <a:rPr lang="en-US" altLang="en-US" sz="2400" dirty="0"/>
              <a:t> </a:t>
            </a:r>
            <a:r>
              <a:rPr lang="en-US" altLang="en-US" sz="2400" b="1" i="1" dirty="0"/>
              <a:t>Work</a:t>
            </a:r>
            <a:r>
              <a:rPr lang="en-US" altLang="en-US" sz="2400" b="1" dirty="0"/>
              <a:t> = </a:t>
            </a:r>
            <a:r>
              <a:rPr lang="en-US" altLang="en-US" sz="2400" b="1" i="1" dirty="0"/>
              <a:t>Work </a:t>
            </a:r>
            <a:r>
              <a:rPr lang="en-US" altLang="en-US" sz="2400" b="1" dirty="0"/>
              <a:t>+ </a:t>
            </a:r>
            <a:r>
              <a:rPr lang="en-US" altLang="en-US" sz="2400" b="1" i="1" dirty="0" err="1"/>
              <a:t>Allocation</a:t>
            </a:r>
            <a:r>
              <a:rPr lang="en-US" altLang="en-US" sz="2400" b="1" i="1" baseline="-25000" dirty="0" err="1"/>
              <a:t>i</a:t>
            </a:r>
            <a:br>
              <a:rPr lang="en-US" altLang="en-US" sz="2400" b="1" dirty="0"/>
            </a:br>
            <a:r>
              <a:rPr lang="en-US" altLang="en-US" sz="2400" b="1" dirty="0"/>
              <a:t> </a:t>
            </a:r>
            <a:r>
              <a:rPr lang="en-US" altLang="en-US" sz="2400" b="1" i="1" dirty="0"/>
              <a:t>Finish</a:t>
            </a:r>
            <a:r>
              <a:rPr lang="en-US" altLang="en-US" sz="2400" b="1" dirty="0"/>
              <a:t>[</a:t>
            </a:r>
            <a:r>
              <a:rPr lang="en-US" altLang="en-US" sz="2400" b="1" i="1" dirty="0"/>
              <a:t>i</a:t>
            </a:r>
            <a:r>
              <a:rPr lang="en-US" altLang="en-US" sz="2400" b="1" dirty="0"/>
              <a:t>] =</a:t>
            </a:r>
            <a:r>
              <a:rPr lang="en-US" altLang="en-US" sz="2400" b="1" i="1" dirty="0"/>
              <a:t> true</a:t>
            </a:r>
            <a:br>
              <a:rPr lang="en-US" altLang="en-US" sz="2400" b="1" dirty="0"/>
            </a:br>
            <a:r>
              <a:rPr lang="en-US" altLang="en-US" sz="2400" b="1" dirty="0"/>
              <a:t>  </a:t>
            </a:r>
            <a:r>
              <a:rPr lang="en-US" altLang="en-US" sz="2400" dirty="0"/>
              <a:t>go to step 2</a:t>
            </a:r>
          </a:p>
          <a:p>
            <a:pPr>
              <a:lnSpc>
                <a:spcPct val="90000"/>
              </a:lnSpc>
              <a:buFont typeface="+mj-lt"/>
              <a:buAutoNum type="arabicPeriod"/>
            </a:pPr>
            <a:endParaRPr lang="en-US" altLang="en-US" sz="900" dirty="0"/>
          </a:p>
          <a:p>
            <a:pPr>
              <a:lnSpc>
                <a:spcPct val="90000"/>
              </a:lnSpc>
              <a:buFont typeface="+mj-lt"/>
              <a:buAutoNum type="arabicPeriod"/>
            </a:pPr>
            <a:r>
              <a:rPr lang="en-US" altLang="en-US" sz="2400" dirty="0"/>
              <a:t>If </a:t>
            </a:r>
            <a:r>
              <a:rPr lang="en-US" altLang="en-US" sz="2400" b="1" i="1" dirty="0"/>
              <a:t>Finish</a:t>
            </a:r>
            <a:r>
              <a:rPr lang="en-US" altLang="en-US" sz="2400" b="1" dirty="0"/>
              <a:t> [</a:t>
            </a:r>
            <a:r>
              <a:rPr lang="en-US" altLang="en-US" sz="2400" b="1" i="1" dirty="0"/>
              <a:t>i</a:t>
            </a:r>
            <a:r>
              <a:rPr lang="en-US" altLang="en-US" sz="2400" b="1" dirty="0"/>
              <a:t>] == </a:t>
            </a:r>
            <a:r>
              <a:rPr lang="en-US" altLang="en-US" sz="2400" b="1" i="1" dirty="0"/>
              <a:t>true</a:t>
            </a:r>
            <a:r>
              <a:rPr lang="en-US" altLang="en-US" sz="2400" b="1" dirty="0"/>
              <a:t> </a:t>
            </a:r>
            <a:r>
              <a:rPr lang="en-US" altLang="en-US" sz="2400" dirty="0"/>
              <a:t>for all </a:t>
            </a:r>
            <a:r>
              <a:rPr lang="en-US" altLang="en-US" sz="2400" b="1" i="1" dirty="0"/>
              <a:t>i</a:t>
            </a:r>
            <a:r>
              <a:rPr lang="en-US" altLang="en-US" sz="2400" dirty="0"/>
              <a:t>, then the system is in a safe state</a:t>
            </a:r>
          </a:p>
        </p:txBody>
      </p:sp>
    </p:spTree>
    <p:extLst>
      <p:ext uri="{BB962C8B-B14F-4D97-AF65-F5344CB8AC3E}">
        <p14:creationId xmlns:p14="http://schemas.microsoft.com/office/powerpoint/2010/main" val="33019678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AD555E4E-D656-4473-9631-EC334BFD82B2}"/>
              </a:ext>
            </a:extLst>
          </p:cNvPr>
          <p:cNvSpPr>
            <a:spLocks noGrp="1" noChangeArrowheads="1"/>
          </p:cNvSpPr>
          <p:nvPr>
            <p:ph type="title"/>
          </p:nvPr>
        </p:nvSpPr>
        <p:spPr>
          <a:xfrm>
            <a:off x="2346325" y="172103"/>
            <a:ext cx="7924800" cy="457200"/>
          </a:xfrm>
        </p:spPr>
        <p:txBody>
          <a:bodyPr/>
          <a:lstStyle/>
          <a:p>
            <a:pPr eaLnBrk="1" hangingPunct="1"/>
            <a:r>
              <a:rPr lang="en-US" altLang="en-US" sz="2800" dirty="0"/>
              <a:t>Resource-Request Algorithm for Process </a:t>
            </a:r>
            <a:r>
              <a:rPr lang="en-US" altLang="en-US" sz="2800" i="1" dirty="0"/>
              <a:t>P</a:t>
            </a:r>
            <a:r>
              <a:rPr lang="en-US" altLang="en-US" sz="2800" i="1" baseline="-25000" dirty="0"/>
              <a:t>i</a:t>
            </a:r>
            <a:endParaRPr lang="en-US" altLang="en-US" sz="2800" dirty="0"/>
          </a:p>
        </p:txBody>
      </p:sp>
      <p:sp>
        <p:nvSpPr>
          <p:cNvPr id="54274" name="Rectangle 3">
            <a:extLst>
              <a:ext uri="{FF2B5EF4-FFF2-40B4-BE49-F238E27FC236}">
                <a16:creationId xmlns:a16="http://schemas.microsoft.com/office/drawing/2014/main" id="{778FADBB-9076-4FBD-93D9-F75ADC967EFF}"/>
              </a:ext>
            </a:extLst>
          </p:cNvPr>
          <p:cNvSpPr>
            <a:spLocks noGrp="1" noChangeArrowheads="1"/>
          </p:cNvSpPr>
          <p:nvPr>
            <p:ph type="body" idx="1"/>
          </p:nvPr>
        </p:nvSpPr>
        <p:spPr>
          <a:xfrm>
            <a:off x="1400176" y="629303"/>
            <a:ext cx="9267825" cy="5953126"/>
          </a:xfrm>
        </p:spPr>
        <p:txBody>
          <a:bodyPr/>
          <a:lstStyle/>
          <a:p>
            <a:pPr>
              <a:buFont typeface="Monotype Sorts" pitchFamily="-84" charset="2"/>
              <a:buNone/>
            </a:pPr>
            <a:r>
              <a:rPr lang="en-US" altLang="en-US" b="1" i="1" dirty="0"/>
              <a:t>     </a:t>
            </a:r>
            <a:r>
              <a:rPr lang="en-US" altLang="en-US" sz="2400" b="1" i="1" dirty="0" err="1"/>
              <a:t>Request</a:t>
            </a:r>
            <a:r>
              <a:rPr lang="en-US" altLang="en-US" sz="2400" b="1" i="1" baseline="-25000" dirty="0" err="1"/>
              <a:t>i</a:t>
            </a:r>
            <a:r>
              <a:rPr lang="en-US" altLang="en-US" sz="2400" dirty="0"/>
              <a:t> = request vector for process </a:t>
            </a:r>
            <a:r>
              <a:rPr lang="en-US" altLang="en-US" sz="2400" b="1" i="1" dirty="0" err="1"/>
              <a:t>T</a:t>
            </a:r>
            <a:r>
              <a:rPr lang="en-US" altLang="en-US" sz="2400" b="1" i="1" baseline="-25000" dirty="0" err="1"/>
              <a:t>i</a:t>
            </a:r>
            <a:r>
              <a:rPr lang="en-US" altLang="en-US" sz="2400" dirty="0"/>
              <a:t>.  If </a:t>
            </a:r>
            <a:r>
              <a:rPr lang="en-US" altLang="en-US" sz="2400" b="1" i="1" dirty="0" err="1"/>
              <a:t>Request</a:t>
            </a:r>
            <a:r>
              <a:rPr lang="en-US" altLang="en-US" sz="2400" b="1" i="1" baseline="-25000" dirty="0" err="1"/>
              <a:t>i</a:t>
            </a:r>
            <a:r>
              <a:rPr lang="en-US" altLang="en-US" sz="2400" b="1" baseline="-25000" dirty="0"/>
              <a:t> </a:t>
            </a:r>
            <a:r>
              <a:rPr lang="en-US" altLang="en-US" sz="2400" b="1" dirty="0"/>
              <a:t>[</a:t>
            </a:r>
            <a:r>
              <a:rPr lang="en-US" altLang="en-US" sz="2400" b="1" i="1" dirty="0"/>
              <a:t>j</a:t>
            </a:r>
            <a:r>
              <a:rPr lang="en-US" altLang="en-US" sz="2400" b="1" dirty="0"/>
              <a:t>] = </a:t>
            </a:r>
            <a:r>
              <a:rPr lang="en-US" altLang="en-US" sz="2400" b="1" i="1" dirty="0"/>
              <a:t>k</a:t>
            </a:r>
            <a:r>
              <a:rPr lang="en-US" altLang="en-US" sz="2400" b="1" dirty="0"/>
              <a:t> </a:t>
            </a:r>
            <a:r>
              <a:rPr lang="en-US" altLang="en-US" sz="2400" dirty="0"/>
              <a:t>then process </a:t>
            </a:r>
            <a:r>
              <a:rPr lang="en-US" altLang="en-US" sz="2400" b="1" i="1" dirty="0" err="1"/>
              <a:t>T</a:t>
            </a:r>
            <a:r>
              <a:rPr lang="en-US" altLang="en-US" sz="2400" b="1" i="1" baseline="-25000" dirty="0" err="1"/>
              <a:t>i</a:t>
            </a:r>
            <a:r>
              <a:rPr lang="en-US" altLang="en-US" sz="2400" dirty="0"/>
              <a:t> wants </a:t>
            </a:r>
            <a:r>
              <a:rPr lang="en-US" altLang="en-US" sz="2400" b="1" i="1" dirty="0"/>
              <a:t>k</a:t>
            </a:r>
            <a:r>
              <a:rPr lang="en-US" altLang="en-US" sz="2400" dirty="0"/>
              <a:t> instances of resource type </a:t>
            </a:r>
            <a:r>
              <a:rPr lang="en-US" altLang="en-US" sz="2400" b="1" i="1" dirty="0" err="1"/>
              <a:t>R</a:t>
            </a:r>
            <a:r>
              <a:rPr lang="en-US" altLang="en-US" sz="2400" b="1" i="1" baseline="-25000" dirty="0" err="1"/>
              <a:t>j</a:t>
            </a:r>
            <a:endParaRPr lang="en-US" altLang="en-US" sz="2400" b="1" baseline="-25000" dirty="0"/>
          </a:p>
          <a:p>
            <a:pPr marL="800100" lvl="1" indent="-342900">
              <a:buFont typeface="+mj-lt"/>
              <a:buAutoNum type="arabicPeriod"/>
            </a:pPr>
            <a:r>
              <a:rPr lang="en-US" altLang="en-US" sz="2400" dirty="0"/>
              <a:t>If </a:t>
            </a:r>
            <a:r>
              <a:rPr lang="en-US" altLang="en-US" sz="2400" b="1" i="1" dirty="0" err="1">
                <a:solidFill>
                  <a:srgbClr val="FF0000"/>
                </a:solidFill>
              </a:rPr>
              <a:t>Request</a:t>
            </a:r>
            <a:r>
              <a:rPr lang="en-US" altLang="en-US" sz="2400" b="1" i="1" baseline="-25000" dirty="0" err="1">
                <a:solidFill>
                  <a:srgbClr val="FF0000"/>
                </a:solidFill>
              </a:rPr>
              <a:t>i</a:t>
            </a:r>
            <a:r>
              <a:rPr lang="en-US" altLang="en-US" sz="2400" b="1" i="1" dirty="0">
                <a:solidFill>
                  <a:srgbClr val="FF0000"/>
                </a:solidFill>
              </a:rPr>
              <a:t> </a:t>
            </a:r>
            <a:r>
              <a:rPr lang="en-US" altLang="en-US" sz="2400" b="1" dirty="0">
                <a:solidFill>
                  <a:srgbClr val="FF0000"/>
                </a:solidFill>
                <a:sym typeface="Symbol" panose="05050102010706020507" pitchFamily="18" charset="2"/>
              </a:rPr>
              <a:t> </a:t>
            </a:r>
            <a:r>
              <a:rPr lang="en-US" altLang="en-US" sz="2400" b="1" i="1" dirty="0" err="1">
                <a:solidFill>
                  <a:srgbClr val="FF0000"/>
                </a:solidFill>
                <a:sym typeface="Symbol" panose="05050102010706020507" pitchFamily="18" charset="2"/>
              </a:rPr>
              <a:t>Need</a:t>
            </a:r>
            <a:r>
              <a:rPr lang="en-US" altLang="en-US" sz="2400" b="1" i="1" baseline="-25000" dirty="0" err="1">
                <a:solidFill>
                  <a:srgbClr val="FF0000"/>
                </a:solidFill>
                <a:sym typeface="Symbol" panose="05050102010706020507" pitchFamily="18" charset="2"/>
              </a:rPr>
              <a:t>i</a:t>
            </a:r>
            <a:r>
              <a:rPr lang="en-US" altLang="en-US" sz="2400" b="1" i="1" dirty="0">
                <a:solidFill>
                  <a:srgbClr val="FF0000"/>
                </a:solidFill>
                <a:sym typeface="Symbol" panose="05050102010706020507" pitchFamily="18" charset="2"/>
              </a:rPr>
              <a:t> </a:t>
            </a:r>
            <a:r>
              <a:rPr lang="en-US" altLang="en-US" sz="2400" dirty="0">
                <a:sym typeface="Symbol" panose="05050102010706020507" pitchFamily="18" charset="2"/>
              </a:rPr>
              <a:t>go to step 2.  Otherwise, raise error condition, since process has exceeded its maximum claim</a:t>
            </a:r>
          </a:p>
          <a:p>
            <a:pPr marL="800100" lvl="1" indent="-342900">
              <a:buFont typeface="+mj-lt"/>
              <a:buAutoNum type="arabicPeriod"/>
            </a:pPr>
            <a:r>
              <a:rPr lang="en-US" altLang="en-US" sz="2400" dirty="0">
                <a:sym typeface="Symbol" panose="05050102010706020507" pitchFamily="18" charset="2"/>
              </a:rPr>
              <a:t>If </a:t>
            </a:r>
            <a:r>
              <a:rPr lang="en-US" altLang="en-US" sz="2400" b="1" i="1" dirty="0" err="1">
                <a:solidFill>
                  <a:srgbClr val="FF0000"/>
                </a:solidFill>
              </a:rPr>
              <a:t>Request</a:t>
            </a:r>
            <a:r>
              <a:rPr lang="en-US" altLang="en-US" sz="2400" b="1" i="1" baseline="-25000" dirty="0" err="1">
                <a:solidFill>
                  <a:srgbClr val="FF0000"/>
                </a:solidFill>
              </a:rPr>
              <a:t>i</a:t>
            </a:r>
            <a:r>
              <a:rPr lang="en-US" altLang="en-US" sz="2400" b="1" dirty="0">
                <a:solidFill>
                  <a:srgbClr val="FF0000"/>
                </a:solidFill>
              </a:rPr>
              <a:t> </a:t>
            </a:r>
            <a:r>
              <a:rPr lang="en-US" altLang="en-US" sz="2400" b="1" dirty="0">
                <a:solidFill>
                  <a:srgbClr val="FF0000"/>
                </a:solidFill>
                <a:sym typeface="Symbol" panose="05050102010706020507" pitchFamily="18" charset="2"/>
              </a:rPr>
              <a:t> </a:t>
            </a:r>
            <a:r>
              <a:rPr lang="en-US" altLang="en-US" sz="2400" b="1" i="1" dirty="0">
                <a:solidFill>
                  <a:srgbClr val="FF0000"/>
                </a:solidFill>
                <a:sym typeface="Symbol" panose="05050102010706020507" pitchFamily="18" charset="2"/>
              </a:rPr>
              <a:t>Available</a:t>
            </a:r>
            <a:r>
              <a:rPr lang="en-US" altLang="en-US" sz="2400" dirty="0">
                <a:sym typeface="Symbol" panose="05050102010706020507" pitchFamily="18" charset="2"/>
              </a:rPr>
              <a:t>, go to step 3.  Otherwise </a:t>
            </a:r>
            <a:r>
              <a:rPr lang="en-US" altLang="en-US" sz="2400" b="1" i="1" dirty="0" err="1">
                <a:sym typeface="Symbol" panose="05050102010706020507" pitchFamily="18" charset="2"/>
              </a:rPr>
              <a:t>T</a:t>
            </a:r>
            <a:r>
              <a:rPr lang="en-US" altLang="en-US" sz="2400" b="1" i="1" baseline="-25000" dirty="0" err="1">
                <a:sym typeface="Symbol" panose="05050102010706020507" pitchFamily="18" charset="2"/>
              </a:rPr>
              <a:t>i</a:t>
            </a:r>
            <a:r>
              <a:rPr lang="en-US" altLang="en-US" sz="2400" dirty="0">
                <a:sym typeface="Symbol" panose="05050102010706020507" pitchFamily="18" charset="2"/>
              </a:rPr>
              <a:t>  must wait, since resources are not available</a:t>
            </a:r>
          </a:p>
          <a:p>
            <a:pPr marL="800100" lvl="1" indent="-342900">
              <a:buFont typeface="+mj-lt"/>
              <a:buAutoNum type="arabicPeriod"/>
            </a:pPr>
            <a:r>
              <a:rPr lang="en-US" altLang="en-US" sz="2400" dirty="0">
                <a:sym typeface="Symbol" panose="05050102010706020507" pitchFamily="18" charset="2"/>
              </a:rPr>
              <a:t>Pretend to allocate requested resources to </a:t>
            </a:r>
            <a:r>
              <a:rPr lang="en-US" altLang="en-US" sz="2400" b="1" i="1" dirty="0" err="1">
                <a:sym typeface="Symbol" panose="05050102010706020507" pitchFamily="18" charset="2"/>
              </a:rPr>
              <a:t>T</a:t>
            </a:r>
            <a:r>
              <a:rPr lang="en-US" altLang="en-US" sz="2400" b="1" i="1" baseline="-25000" dirty="0" err="1">
                <a:sym typeface="Symbol" panose="05050102010706020507" pitchFamily="18" charset="2"/>
              </a:rPr>
              <a:t>i</a:t>
            </a:r>
            <a:r>
              <a:rPr lang="en-US" altLang="en-US" sz="2400" dirty="0">
                <a:sym typeface="Symbol" panose="05050102010706020507" pitchFamily="18" charset="2"/>
              </a:rPr>
              <a:t> by modifying the state as follows:</a:t>
            </a:r>
          </a:p>
          <a:p>
            <a:pPr lvl="3">
              <a:buFontTx/>
              <a:buNone/>
            </a:pPr>
            <a:r>
              <a:rPr lang="en-US" altLang="en-US" sz="2400" dirty="0">
                <a:sym typeface="Symbol" panose="05050102010706020507" pitchFamily="18" charset="2"/>
              </a:rPr>
              <a:t>		</a:t>
            </a:r>
            <a:r>
              <a:rPr lang="en-US" altLang="en-US" sz="2400" b="1" i="1" dirty="0">
                <a:solidFill>
                  <a:srgbClr val="FF0000"/>
                </a:solidFill>
                <a:sym typeface="Symbol" panose="05050102010706020507" pitchFamily="18" charset="2"/>
              </a:rPr>
              <a:t>Available</a:t>
            </a:r>
            <a:r>
              <a:rPr lang="en-US" altLang="en-US" sz="2400" b="1" dirty="0">
                <a:solidFill>
                  <a:srgbClr val="FF0000"/>
                </a:solidFill>
                <a:sym typeface="Symbol" panose="05050102010706020507" pitchFamily="18" charset="2"/>
              </a:rPr>
              <a:t> = </a:t>
            </a:r>
            <a:r>
              <a:rPr lang="en-US" altLang="en-US" sz="2400" b="1" i="1" dirty="0">
                <a:solidFill>
                  <a:srgbClr val="FF0000"/>
                </a:solidFill>
                <a:sym typeface="Symbol" panose="05050102010706020507" pitchFamily="18" charset="2"/>
              </a:rPr>
              <a:t>Available  </a:t>
            </a:r>
            <a:r>
              <a:rPr lang="en-US" altLang="en-US" sz="2400" b="1" dirty="0">
                <a:solidFill>
                  <a:srgbClr val="FF0000"/>
                </a:solidFill>
                <a:sym typeface="Symbol" panose="05050102010706020507" pitchFamily="18" charset="2"/>
              </a:rPr>
              <a:t>–</a:t>
            </a:r>
            <a:r>
              <a:rPr lang="en-US" altLang="en-US" sz="2400" b="1" i="1" dirty="0">
                <a:solidFill>
                  <a:srgbClr val="FF0000"/>
                </a:solidFill>
                <a:sym typeface="Symbol" panose="05050102010706020507" pitchFamily="18" charset="2"/>
              </a:rPr>
              <a:t> </a:t>
            </a:r>
            <a:r>
              <a:rPr lang="en-US" altLang="en-US" sz="2400" b="1" i="1" dirty="0" err="1">
                <a:solidFill>
                  <a:srgbClr val="FF0000"/>
                </a:solidFill>
                <a:sym typeface="Symbol" panose="05050102010706020507" pitchFamily="18" charset="2"/>
              </a:rPr>
              <a:t>Request</a:t>
            </a:r>
            <a:r>
              <a:rPr lang="en-US" altLang="en-US" sz="2400" b="1" i="1" baseline="-25000" dirty="0" err="1">
                <a:solidFill>
                  <a:srgbClr val="FF0000"/>
                </a:solidFill>
                <a:sym typeface="Symbol" panose="05050102010706020507" pitchFamily="18" charset="2"/>
              </a:rPr>
              <a:t>i</a:t>
            </a:r>
            <a:r>
              <a:rPr lang="en-US" altLang="en-US" sz="2400" b="1" i="1" dirty="0">
                <a:solidFill>
                  <a:srgbClr val="FF0000"/>
                </a:solidFill>
                <a:sym typeface="Symbol" panose="05050102010706020507" pitchFamily="18" charset="2"/>
              </a:rPr>
              <a:t>;</a:t>
            </a:r>
          </a:p>
          <a:p>
            <a:pPr lvl="3">
              <a:buFontTx/>
              <a:buNone/>
            </a:pPr>
            <a:r>
              <a:rPr lang="en-US" altLang="en-US" sz="2400" b="1" dirty="0">
                <a:solidFill>
                  <a:srgbClr val="FF0000"/>
                </a:solidFill>
                <a:sym typeface="Symbol" panose="05050102010706020507" pitchFamily="18" charset="2"/>
              </a:rPr>
              <a:t>		</a:t>
            </a:r>
            <a:r>
              <a:rPr lang="en-US" altLang="en-US" sz="2400" b="1" i="1" dirty="0" err="1">
                <a:solidFill>
                  <a:srgbClr val="FF0000"/>
                </a:solidFill>
                <a:sym typeface="Symbol" panose="05050102010706020507" pitchFamily="18" charset="2"/>
              </a:rPr>
              <a:t>Allocation</a:t>
            </a:r>
            <a:r>
              <a:rPr lang="en-US" altLang="en-US" sz="2400" b="1" i="1" baseline="-25000" dirty="0" err="1">
                <a:solidFill>
                  <a:srgbClr val="FF0000"/>
                </a:solidFill>
                <a:sym typeface="Symbol" panose="05050102010706020507" pitchFamily="18" charset="2"/>
              </a:rPr>
              <a:t>i</a:t>
            </a:r>
            <a:r>
              <a:rPr lang="en-US" altLang="en-US" sz="2400" b="1" baseline="-25000" dirty="0">
                <a:solidFill>
                  <a:srgbClr val="FF0000"/>
                </a:solidFill>
                <a:sym typeface="Symbol" panose="05050102010706020507" pitchFamily="18" charset="2"/>
              </a:rPr>
              <a:t> </a:t>
            </a:r>
            <a:r>
              <a:rPr lang="en-US" altLang="en-US" sz="2400" b="1" dirty="0">
                <a:solidFill>
                  <a:srgbClr val="FF0000"/>
                </a:solidFill>
                <a:sym typeface="Symbol" panose="05050102010706020507" pitchFamily="18" charset="2"/>
              </a:rPr>
              <a:t>= </a:t>
            </a:r>
            <a:r>
              <a:rPr lang="en-US" altLang="en-US" sz="2400" b="1" i="1" dirty="0" err="1">
                <a:solidFill>
                  <a:srgbClr val="FF0000"/>
                </a:solidFill>
                <a:sym typeface="Symbol" panose="05050102010706020507" pitchFamily="18" charset="2"/>
              </a:rPr>
              <a:t>Allocation</a:t>
            </a:r>
            <a:r>
              <a:rPr lang="en-US" altLang="en-US" sz="2400" b="1" i="1" baseline="-25000" dirty="0" err="1">
                <a:solidFill>
                  <a:srgbClr val="FF0000"/>
                </a:solidFill>
                <a:sym typeface="Symbol" panose="05050102010706020507" pitchFamily="18" charset="2"/>
              </a:rPr>
              <a:t>i</a:t>
            </a:r>
            <a:r>
              <a:rPr lang="en-US" altLang="en-US" sz="2400" b="1" dirty="0">
                <a:solidFill>
                  <a:srgbClr val="FF0000"/>
                </a:solidFill>
                <a:sym typeface="Symbol" panose="05050102010706020507" pitchFamily="18" charset="2"/>
              </a:rPr>
              <a:t> + </a:t>
            </a:r>
            <a:r>
              <a:rPr lang="en-US" altLang="en-US" sz="2400" b="1" i="1" dirty="0" err="1">
                <a:solidFill>
                  <a:srgbClr val="FF0000"/>
                </a:solidFill>
                <a:sym typeface="Symbol" panose="05050102010706020507" pitchFamily="18" charset="2"/>
              </a:rPr>
              <a:t>Request</a:t>
            </a:r>
            <a:r>
              <a:rPr lang="en-US" altLang="en-US" sz="2400" b="1" i="1" baseline="-25000" dirty="0" err="1">
                <a:solidFill>
                  <a:srgbClr val="FF0000"/>
                </a:solidFill>
                <a:sym typeface="Symbol" panose="05050102010706020507" pitchFamily="18" charset="2"/>
              </a:rPr>
              <a:t>i</a:t>
            </a:r>
            <a:r>
              <a:rPr lang="en-US" altLang="en-US" sz="2400" b="1" dirty="0">
                <a:solidFill>
                  <a:srgbClr val="FF0000"/>
                </a:solidFill>
                <a:sym typeface="Symbol" panose="05050102010706020507" pitchFamily="18" charset="2"/>
              </a:rPr>
              <a:t>;</a:t>
            </a:r>
          </a:p>
          <a:p>
            <a:pPr lvl="3">
              <a:buFontTx/>
              <a:buNone/>
            </a:pPr>
            <a:r>
              <a:rPr lang="en-US" altLang="en-US" sz="2400" b="1" dirty="0">
                <a:solidFill>
                  <a:srgbClr val="FF0000"/>
                </a:solidFill>
                <a:sym typeface="Symbol" panose="05050102010706020507" pitchFamily="18" charset="2"/>
              </a:rPr>
              <a:t>		</a:t>
            </a:r>
            <a:r>
              <a:rPr lang="en-US" altLang="en-US" sz="2400" b="1" i="1" dirty="0" err="1">
                <a:solidFill>
                  <a:srgbClr val="FF0000"/>
                </a:solidFill>
                <a:sym typeface="Symbol" panose="05050102010706020507" pitchFamily="18" charset="2"/>
              </a:rPr>
              <a:t>Need</a:t>
            </a:r>
            <a:r>
              <a:rPr lang="en-US" altLang="en-US" sz="2400" b="1" i="1" baseline="-25000" dirty="0" err="1">
                <a:solidFill>
                  <a:srgbClr val="FF0000"/>
                </a:solidFill>
                <a:sym typeface="Symbol" panose="05050102010706020507" pitchFamily="18" charset="2"/>
              </a:rPr>
              <a:t>i</a:t>
            </a:r>
            <a:r>
              <a:rPr lang="en-US" altLang="en-US" sz="2400" b="1" i="1" dirty="0">
                <a:solidFill>
                  <a:srgbClr val="FF0000"/>
                </a:solidFill>
                <a:sym typeface="Symbol" panose="05050102010706020507" pitchFamily="18" charset="2"/>
              </a:rPr>
              <a:t> </a:t>
            </a:r>
            <a:r>
              <a:rPr lang="en-US" altLang="en-US" sz="2400" b="1" dirty="0">
                <a:solidFill>
                  <a:srgbClr val="FF0000"/>
                </a:solidFill>
                <a:sym typeface="Symbol" panose="05050102010706020507" pitchFamily="18" charset="2"/>
              </a:rPr>
              <a:t>=</a:t>
            </a:r>
            <a:r>
              <a:rPr lang="en-US" altLang="en-US" sz="2400" b="1" i="1" dirty="0">
                <a:solidFill>
                  <a:srgbClr val="FF0000"/>
                </a:solidFill>
                <a:sym typeface="Symbol" panose="05050102010706020507" pitchFamily="18" charset="2"/>
              </a:rPr>
              <a:t> </a:t>
            </a:r>
            <a:r>
              <a:rPr lang="en-US" altLang="en-US" sz="2400" b="1" i="1" dirty="0" err="1">
                <a:solidFill>
                  <a:srgbClr val="FF0000"/>
                </a:solidFill>
                <a:sym typeface="Symbol" panose="05050102010706020507" pitchFamily="18" charset="2"/>
              </a:rPr>
              <a:t>Need</a:t>
            </a:r>
            <a:r>
              <a:rPr lang="en-US" altLang="en-US" sz="2400" b="1" i="1" baseline="-25000" dirty="0" err="1">
                <a:solidFill>
                  <a:srgbClr val="FF0000"/>
                </a:solidFill>
                <a:sym typeface="Symbol" panose="05050102010706020507" pitchFamily="18" charset="2"/>
              </a:rPr>
              <a:t>i</a:t>
            </a:r>
            <a:r>
              <a:rPr lang="en-US" altLang="en-US" sz="2400" b="1" dirty="0">
                <a:solidFill>
                  <a:srgbClr val="FF0000"/>
                </a:solidFill>
                <a:sym typeface="Symbol" panose="05050102010706020507" pitchFamily="18" charset="2"/>
              </a:rPr>
              <a:t> – </a:t>
            </a:r>
            <a:r>
              <a:rPr lang="en-US" altLang="en-US" sz="2400" b="1" i="1" dirty="0" err="1">
                <a:solidFill>
                  <a:srgbClr val="FF0000"/>
                </a:solidFill>
                <a:sym typeface="Symbol" panose="05050102010706020507" pitchFamily="18" charset="2"/>
              </a:rPr>
              <a:t>Request</a:t>
            </a:r>
            <a:r>
              <a:rPr lang="en-US" altLang="en-US" sz="2400" b="1" i="1" baseline="-25000" dirty="0" err="1">
                <a:solidFill>
                  <a:srgbClr val="FF0000"/>
                </a:solidFill>
                <a:sym typeface="Symbol" panose="05050102010706020507" pitchFamily="18" charset="2"/>
              </a:rPr>
              <a:t>i</a:t>
            </a:r>
            <a:r>
              <a:rPr lang="en-US" altLang="en-US" sz="2400" b="1" i="1" dirty="0">
                <a:solidFill>
                  <a:srgbClr val="FF0000"/>
                </a:solidFill>
                <a:sym typeface="Symbol" panose="05050102010706020507" pitchFamily="18" charset="2"/>
              </a:rPr>
              <a:t>;</a:t>
            </a:r>
          </a:p>
          <a:p>
            <a:pPr lvl="2">
              <a:buClr>
                <a:srgbClr val="CC6600"/>
              </a:buClr>
              <a:buSzPct val="110000"/>
              <a:buFont typeface="Arial" panose="020B0604020202020204" pitchFamily="34" charset="0"/>
              <a:buChar char="•"/>
            </a:pPr>
            <a:r>
              <a:rPr lang="en-US" altLang="en-US" sz="2000" b="1" dirty="0">
                <a:solidFill>
                  <a:srgbClr val="FF0000"/>
                </a:solidFill>
                <a:sym typeface="Symbol" panose="05050102010706020507" pitchFamily="18" charset="2"/>
              </a:rPr>
              <a:t>If safe </a:t>
            </a:r>
            <a:r>
              <a:rPr lang="en-US" altLang="en-US" sz="2000" dirty="0">
                <a:sym typeface="Symbol" panose="05050102010706020507" pitchFamily="18" charset="2"/>
              </a:rPr>
              <a:t> the resources are allocated to </a:t>
            </a:r>
            <a:r>
              <a:rPr lang="en-US" altLang="en-US" sz="2000" b="1" i="1" dirty="0" err="1">
                <a:sym typeface="Symbol" panose="05050102010706020507" pitchFamily="18" charset="2"/>
              </a:rPr>
              <a:t>T</a:t>
            </a:r>
            <a:r>
              <a:rPr lang="en-US" altLang="en-US" sz="2000" b="1" i="1" baseline="-25000" dirty="0" err="1">
                <a:sym typeface="Symbol" panose="05050102010706020507" pitchFamily="18" charset="2"/>
              </a:rPr>
              <a:t>i</a:t>
            </a:r>
            <a:endParaRPr lang="en-US" altLang="en-US" sz="2000" b="1" i="1" baseline="-25000" dirty="0">
              <a:sym typeface="Symbol" panose="05050102010706020507" pitchFamily="18" charset="2"/>
            </a:endParaRPr>
          </a:p>
          <a:p>
            <a:pPr lvl="2">
              <a:buClr>
                <a:srgbClr val="CC6600"/>
              </a:buClr>
              <a:buSzPct val="110000"/>
              <a:buFont typeface="Arial" panose="020B0604020202020204" pitchFamily="34" charset="0"/>
              <a:buChar char="•"/>
            </a:pPr>
            <a:r>
              <a:rPr lang="en-US" altLang="en-US" sz="2000" b="1" dirty="0">
                <a:solidFill>
                  <a:srgbClr val="FF0000"/>
                </a:solidFill>
                <a:sym typeface="Symbol" panose="05050102010706020507" pitchFamily="18" charset="2"/>
              </a:rPr>
              <a:t>If unsafe </a:t>
            </a:r>
            <a:r>
              <a:rPr lang="en-US" altLang="en-US" sz="2000" dirty="0">
                <a:sym typeface="Symbol" panose="05050102010706020507" pitchFamily="18" charset="2"/>
              </a:rPr>
              <a:t> </a:t>
            </a:r>
            <a:r>
              <a:rPr lang="en-US" altLang="en-US" sz="2000" b="1" i="1" dirty="0" err="1">
                <a:sym typeface="Symbol" panose="05050102010706020507" pitchFamily="18" charset="2"/>
              </a:rPr>
              <a:t>T</a:t>
            </a:r>
            <a:r>
              <a:rPr lang="en-US" altLang="en-US" sz="2000" b="1" i="1" baseline="-25000" dirty="0" err="1">
                <a:sym typeface="Symbol" panose="05050102010706020507" pitchFamily="18" charset="2"/>
              </a:rPr>
              <a:t>i</a:t>
            </a:r>
            <a:r>
              <a:rPr lang="en-US" altLang="en-US" sz="2000" dirty="0">
                <a:sym typeface="Symbol" panose="05050102010706020507" pitchFamily="18" charset="2"/>
              </a:rPr>
              <a:t> must wait, and the old resource-allocation state is restored</a:t>
            </a:r>
          </a:p>
        </p:txBody>
      </p:sp>
    </p:spTree>
    <p:extLst>
      <p:ext uri="{BB962C8B-B14F-4D97-AF65-F5344CB8AC3E}">
        <p14:creationId xmlns:p14="http://schemas.microsoft.com/office/powerpoint/2010/main" val="19664356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C18387C4-9D5B-4D54-8084-FE05B91CCCB2}"/>
              </a:ext>
            </a:extLst>
          </p:cNvPr>
          <p:cNvSpPr>
            <a:spLocks noGrp="1" noChangeArrowheads="1"/>
          </p:cNvSpPr>
          <p:nvPr>
            <p:ph type="title"/>
          </p:nvPr>
        </p:nvSpPr>
        <p:spPr>
          <a:xfrm>
            <a:off x="2489200" y="1"/>
            <a:ext cx="7664450" cy="576263"/>
          </a:xfrm>
        </p:spPr>
        <p:txBody>
          <a:bodyPr/>
          <a:lstStyle/>
          <a:p>
            <a:pPr eaLnBrk="1" hangingPunct="1"/>
            <a:r>
              <a:rPr lang="en-US" altLang="en-US" dirty="0"/>
              <a:t>Example of Banker</a:t>
            </a:r>
            <a:r>
              <a:rPr lang="ja-JP" altLang="en-US" dirty="0"/>
              <a:t>’</a:t>
            </a:r>
            <a:r>
              <a:rPr lang="en-US" altLang="ja-JP" dirty="0"/>
              <a:t>s Algorithm</a:t>
            </a:r>
            <a:endParaRPr lang="en-US" altLang="en-US" dirty="0"/>
          </a:p>
        </p:txBody>
      </p:sp>
      <p:sp>
        <p:nvSpPr>
          <p:cNvPr id="56322" name="Rectangle 3">
            <a:extLst>
              <a:ext uri="{FF2B5EF4-FFF2-40B4-BE49-F238E27FC236}">
                <a16:creationId xmlns:a16="http://schemas.microsoft.com/office/drawing/2014/main" id="{F9D491DD-A38E-475F-8906-6128AD1F3862}"/>
              </a:ext>
            </a:extLst>
          </p:cNvPr>
          <p:cNvSpPr>
            <a:spLocks noGrp="1" noChangeArrowheads="1"/>
          </p:cNvSpPr>
          <p:nvPr>
            <p:ph type="body" idx="1"/>
          </p:nvPr>
        </p:nvSpPr>
        <p:spPr>
          <a:xfrm>
            <a:off x="2109788" y="576263"/>
            <a:ext cx="8272462" cy="4164012"/>
          </a:xfrm>
        </p:spPr>
        <p:txBody>
          <a:bodyPr/>
          <a:lstStyle/>
          <a:p>
            <a:pPr>
              <a:tabLst>
                <a:tab pos="1371600" algn="l"/>
                <a:tab pos="2395538" algn="ctr"/>
                <a:tab pos="3594100" algn="ctr"/>
                <a:tab pos="4805363" algn="ctr"/>
              </a:tabLst>
            </a:pPr>
            <a:r>
              <a:rPr lang="en-US" altLang="en-US" dirty="0"/>
              <a:t>5 threads </a:t>
            </a:r>
            <a:r>
              <a:rPr lang="en-US" altLang="en-US" i="1" dirty="0"/>
              <a:t>T</a:t>
            </a:r>
            <a:r>
              <a:rPr lang="en-US" altLang="en-US" baseline="-25000" dirty="0"/>
              <a:t>0  </a:t>
            </a:r>
            <a:r>
              <a:rPr lang="en-US" altLang="en-US" dirty="0"/>
              <a:t>through </a:t>
            </a:r>
            <a:r>
              <a:rPr lang="en-US" altLang="en-US" i="1" dirty="0"/>
              <a:t>T</a:t>
            </a:r>
            <a:r>
              <a:rPr lang="en-US" altLang="en-US" baseline="-25000" dirty="0"/>
              <a:t>4</a:t>
            </a:r>
            <a:r>
              <a:rPr lang="en-US" altLang="en-US" dirty="0"/>
              <a:t>; </a:t>
            </a:r>
          </a:p>
          <a:p>
            <a:pPr>
              <a:buNone/>
              <a:tabLst>
                <a:tab pos="1371600" algn="l"/>
                <a:tab pos="2395538" algn="ctr"/>
                <a:tab pos="3594100" algn="ctr"/>
                <a:tab pos="4805363" algn="ctr"/>
              </a:tabLst>
            </a:pPr>
            <a:r>
              <a:rPr lang="en-US" altLang="en-US" dirty="0"/>
              <a:t>      3 resource types:</a:t>
            </a:r>
          </a:p>
          <a:p>
            <a:pPr>
              <a:buNone/>
              <a:tabLst>
                <a:tab pos="1371600" algn="l"/>
                <a:tab pos="2395538" algn="ctr"/>
                <a:tab pos="3594100" algn="ctr"/>
                <a:tab pos="4805363" algn="ctr"/>
              </a:tabLst>
            </a:pPr>
            <a:r>
              <a:rPr lang="en-US" altLang="en-US" dirty="0"/>
              <a:t>              </a:t>
            </a:r>
            <a:r>
              <a:rPr lang="en-US" altLang="en-US" i="1" dirty="0"/>
              <a:t>A</a:t>
            </a:r>
            <a:r>
              <a:rPr lang="en-US" altLang="en-US" dirty="0"/>
              <a:t> (10 instances),  </a:t>
            </a:r>
            <a:r>
              <a:rPr lang="en-US" altLang="en-US" i="1" dirty="0"/>
              <a:t>B</a:t>
            </a:r>
            <a:r>
              <a:rPr lang="en-US" altLang="en-US" dirty="0"/>
              <a:t> (5instances), and </a:t>
            </a:r>
            <a:r>
              <a:rPr lang="en-US" altLang="en-US" i="1" dirty="0"/>
              <a:t>C</a:t>
            </a:r>
            <a:r>
              <a:rPr lang="en-US" altLang="en-US" dirty="0"/>
              <a:t> (7 instances)</a:t>
            </a:r>
          </a:p>
          <a:p>
            <a:pPr>
              <a:tabLst>
                <a:tab pos="1371600" algn="l"/>
                <a:tab pos="2395538" algn="ctr"/>
                <a:tab pos="3594100" algn="ctr"/>
                <a:tab pos="4805363" algn="ctr"/>
              </a:tabLst>
            </a:pPr>
            <a:r>
              <a:rPr lang="en-US" altLang="en-US" dirty="0"/>
              <a:t>Snapshot at time T</a:t>
            </a:r>
            <a:r>
              <a:rPr lang="en-US" altLang="en-US" baseline="-25000" dirty="0"/>
              <a:t>0</a:t>
            </a:r>
            <a:r>
              <a:rPr lang="en-US" altLang="en-US" dirty="0"/>
              <a:t>:</a:t>
            </a:r>
          </a:p>
          <a:p>
            <a:pPr>
              <a:tabLst>
                <a:tab pos="1371600" algn="l"/>
                <a:tab pos="2395538" algn="ctr"/>
                <a:tab pos="3594100" algn="ctr"/>
                <a:tab pos="4805363" algn="ctr"/>
              </a:tabLst>
            </a:pPr>
            <a:endParaRPr lang="en-US" altLang="en-US" sz="2000" dirty="0"/>
          </a:p>
          <a:p>
            <a:pPr>
              <a:buNone/>
              <a:tabLst>
                <a:tab pos="1371600" algn="l"/>
                <a:tab pos="2395538" algn="ctr"/>
                <a:tab pos="3594100" algn="ctr"/>
                <a:tab pos="4805363" algn="ctr"/>
              </a:tabLst>
            </a:pPr>
            <a:r>
              <a:rPr lang="en-US" altLang="en-US" sz="2000" dirty="0"/>
              <a:t>		</a:t>
            </a:r>
          </a:p>
          <a:p>
            <a:pPr>
              <a:buNone/>
              <a:tabLst>
                <a:tab pos="1371600" algn="l"/>
                <a:tab pos="2395538" algn="ctr"/>
                <a:tab pos="3594100" algn="ctr"/>
                <a:tab pos="4805363" algn="ctr"/>
              </a:tabLst>
            </a:pPr>
            <a:endParaRPr lang="en-US" altLang="en-US" sz="2000" dirty="0"/>
          </a:p>
          <a:p>
            <a:pPr>
              <a:buNone/>
              <a:tabLst>
                <a:tab pos="1371600" algn="l"/>
                <a:tab pos="2395538" algn="ctr"/>
                <a:tab pos="3594100" algn="ctr"/>
                <a:tab pos="4805363" algn="ctr"/>
              </a:tabLst>
            </a:pPr>
            <a:endParaRPr lang="en-US" altLang="en-US" sz="2000" dirty="0"/>
          </a:p>
          <a:p>
            <a:pPr>
              <a:buNone/>
              <a:tabLst>
                <a:tab pos="1371600" algn="l"/>
                <a:tab pos="2395538" algn="ctr"/>
                <a:tab pos="3594100" algn="ctr"/>
                <a:tab pos="4805363" algn="ctr"/>
              </a:tabLst>
            </a:pPr>
            <a:endParaRPr lang="en-US" altLang="en-US" sz="2000" dirty="0"/>
          </a:p>
          <a:p>
            <a:pPr>
              <a:buNone/>
              <a:tabLst>
                <a:tab pos="1371600" algn="l"/>
                <a:tab pos="2395538" algn="ctr"/>
                <a:tab pos="3594100" algn="ctr"/>
                <a:tab pos="4805363" algn="ctr"/>
              </a:tabLst>
            </a:pPr>
            <a:r>
              <a:rPr lang="en-US" altLang="en-US" sz="2000" dirty="0"/>
              <a:t>	</a:t>
            </a:r>
          </a:p>
          <a:p>
            <a:pPr>
              <a:buNone/>
              <a:tabLst>
                <a:tab pos="1371600" algn="l"/>
                <a:tab pos="2395538" algn="ctr"/>
                <a:tab pos="3594100" algn="ctr"/>
                <a:tab pos="4805363" algn="ctr"/>
              </a:tabLst>
            </a:pPr>
            <a:r>
              <a:rPr lang="en-US" sz="2000" b="1" dirty="0">
                <a:solidFill>
                  <a:srgbClr val="FF0000"/>
                </a:solidFill>
              </a:rPr>
              <a:t>Answer the following questions using the banker’s algorithm:</a:t>
            </a:r>
          </a:p>
          <a:p>
            <a:r>
              <a:rPr lang="en-US" sz="2000" b="1" dirty="0">
                <a:solidFill>
                  <a:srgbClr val="FF0000"/>
                </a:solidFill>
              </a:rPr>
              <a:t>a. What is the content of the matrix </a:t>
            </a:r>
            <a:r>
              <a:rPr lang="en-US" sz="2000" b="1" i="1" dirty="0">
                <a:solidFill>
                  <a:srgbClr val="FF0000"/>
                </a:solidFill>
              </a:rPr>
              <a:t>Need</a:t>
            </a:r>
            <a:r>
              <a:rPr lang="en-US" sz="2000" b="1" dirty="0">
                <a:solidFill>
                  <a:srgbClr val="FF0000"/>
                </a:solidFill>
              </a:rPr>
              <a:t>?</a:t>
            </a:r>
          </a:p>
          <a:p>
            <a:r>
              <a:rPr lang="en-US" sz="2000" b="1" dirty="0">
                <a:solidFill>
                  <a:srgbClr val="FF0000"/>
                </a:solidFill>
              </a:rPr>
              <a:t>b. Is the system in a safe state?</a:t>
            </a:r>
          </a:p>
          <a:p>
            <a:r>
              <a:rPr lang="en-US" sz="2000" b="1" dirty="0">
                <a:solidFill>
                  <a:srgbClr val="FF0000"/>
                </a:solidFill>
              </a:rPr>
              <a:t>c. If a request from thread </a:t>
            </a:r>
            <a:r>
              <a:rPr lang="en-US" sz="2000" b="1" i="1" dirty="0">
                <a:solidFill>
                  <a:srgbClr val="FF0000"/>
                </a:solidFill>
              </a:rPr>
              <a:t>T</a:t>
            </a:r>
            <a:r>
              <a:rPr lang="en-US" sz="2000" b="1" dirty="0">
                <a:solidFill>
                  <a:srgbClr val="FF0000"/>
                </a:solidFill>
              </a:rPr>
              <a:t>1 arrives for (1,0,2), can the request be granted immediately?</a:t>
            </a:r>
            <a:r>
              <a:rPr lang="en-US" altLang="en-US" sz="2000" b="1" dirty="0">
                <a:solidFill>
                  <a:srgbClr val="FF0000"/>
                </a:solidFill>
              </a:rPr>
              <a:t>	</a:t>
            </a:r>
            <a:r>
              <a:rPr lang="en-US" altLang="en-US" sz="2000" dirty="0"/>
              <a:t>	</a:t>
            </a:r>
          </a:p>
        </p:txBody>
      </p:sp>
      <p:pic>
        <p:nvPicPr>
          <p:cNvPr id="2" name="Picture 1"/>
          <p:cNvPicPr>
            <a:picLocks noChangeAspect="1"/>
          </p:cNvPicPr>
          <p:nvPr/>
        </p:nvPicPr>
        <p:blipFill>
          <a:blip r:embed="rId3"/>
          <a:stretch>
            <a:fillRect/>
          </a:stretch>
        </p:blipFill>
        <p:spPr>
          <a:xfrm>
            <a:off x="4850283" y="1614285"/>
            <a:ext cx="5065242" cy="2905530"/>
          </a:xfrm>
          <a:prstGeom prst="rect">
            <a:avLst/>
          </a:prstGeom>
        </p:spPr>
      </p:pic>
    </p:spTree>
    <p:extLst>
      <p:ext uri="{BB962C8B-B14F-4D97-AF65-F5344CB8AC3E}">
        <p14:creationId xmlns:p14="http://schemas.microsoft.com/office/powerpoint/2010/main" val="224485534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DB8887BD-D3BC-4339-B372-7CC9B71D77CF}"/>
              </a:ext>
            </a:extLst>
          </p:cNvPr>
          <p:cNvSpPr>
            <a:spLocks noGrp="1" noChangeArrowheads="1"/>
          </p:cNvSpPr>
          <p:nvPr>
            <p:ph type="title"/>
          </p:nvPr>
        </p:nvSpPr>
        <p:spPr>
          <a:xfrm>
            <a:off x="1951038" y="90439"/>
            <a:ext cx="8229600" cy="576262"/>
          </a:xfrm>
        </p:spPr>
        <p:txBody>
          <a:bodyPr/>
          <a:lstStyle/>
          <a:p>
            <a:pPr eaLnBrk="1" hangingPunct="1"/>
            <a:r>
              <a:rPr lang="en-US" altLang="en-US" dirty="0"/>
              <a:t>Example (Cont.)</a:t>
            </a:r>
          </a:p>
        </p:txBody>
      </p:sp>
      <p:sp>
        <p:nvSpPr>
          <p:cNvPr id="58370" name="Rectangle 3">
            <a:extLst>
              <a:ext uri="{FF2B5EF4-FFF2-40B4-BE49-F238E27FC236}">
                <a16:creationId xmlns:a16="http://schemas.microsoft.com/office/drawing/2014/main" id="{43FB620B-ED3D-4487-B4B3-8D8C1990193B}"/>
              </a:ext>
            </a:extLst>
          </p:cNvPr>
          <p:cNvSpPr>
            <a:spLocks noGrp="1" noChangeArrowheads="1"/>
          </p:cNvSpPr>
          <p:nvPr>
            <p:ph type="body" idx="1"/>
          </p:nvPr>
        </p:nvSpPr>
        <p:spPr>
          <a:xfrm>
            <a:off x="1951039" y="736600"/>
            <a:ext cx="7854205" cy="5873750"/>
          </a:xfrm>
        </p:spPr>
        <p:txBody>
          <a:bodyPr/>
          <a:lstStyle/>
          <a:p>
            <a:pPr>
              <a:tabLst>
                <a:tab pos="2452688" algn="l"/>
                <a:tab pos="3492500" algn="ctr"/>
              </a:tabLst>
            </a:pPr>
            <a:r>
              <a:rPr lang="en-US" altLang="en-US" dirty="0"/>
              <a:t>The content of the matrix </a:t>
            </a:r>
            <a:r>
              <a:rPr lang="en-US" altLang="en-US" b="1" i="1" dirty="0"/>
              <a:t>Need</a:t>
            </a:r>
            <a:r>
              <a:rPr lang="en-US" altLang="en-US" dirty="0"/>
              <a:t> is defined to be </a:t>
            </a:r>
            <a:r>
              <a:rPr lang="en-US" altLang="en-US" b="1" i="1" dirty="0">
                <a:solidFill>
                  <a:srgbClr val="FF0000"/>
                </a:solidFill>
              </a:rPr>
              <a:t>Max</a:t>
            </a:r>
            <a:r>
              <a:rPr lang="en-US" altLang="en-US" b="1" dirty="0">
                <a:solidFill>
                  <a:srgbClr val="FF0000"/>
                </a:solidFill>
              </a:rPr>
              <a:t> – </a:t>
            </a:r>
            <a:r>
              <a:rPr lang="en-US" altLang="en-US" b="1" i="1" dirty="0">
                <a:solidFill>
                  <a:srgbClr val="FF0000"/>
                </a:solidFill>
              </a:rPr>
              <a:t>Allocation</a:t>
            </a:r>
            <a:endParaRPr lang="en-US" altLang="en-US" b="1" dirty="0">
              <a:solidFill>
                <a:srgbClr val="FF0000"/>
              </a:solidFill>
            </a:endParaRPr>
          </a:p>
          <a:p>
            <a:pPr>
              <a:buNone/>
              <a:tabLst>
                <a:tab pos="2452688" algn="l"/>
                <a:tab pos="3492500" algn="ctr"/>
              </a:tabLst>
            </a:pPr>
            <a:endParaRPr lang="en-US" altLang="en-US" dirty="0"/>
          </a:p>
          <a:p>
            <a:pPr>
              <a:buNone/>
              <a:tabLst>
                <a:tab pos="2452688" algn="l"/>
                <a:tab pos="3492500" algn="ctr"/>
              </a:tabLst>
            </a:pPr>
            <a:r>
              <a:rPr lang="en-US" altLang="en-US" dirty="0"/>
              <a:t>			</a:t>
            </a:r>
            <a:br>
              <a:rPr lang="en-US" altLang="en-US" dirty="0"/>
            </a:br>
            <a:endParaRPr lang="en-US" altLang="en-US" dirty="0"/>
          </a:p>
          <a:p>
            <a:pPr>
              <a:buNone/>
              <a:tabLst>
                <a:tab pos="2452688" algn="l"/>
                <a:tab pos="3492500" algn="ctr"/>
              </a:tabLst>
            </a:pPr>
            <a:endParaRPr lang="en-US" altLang="en-US" dirty="0"/>
          </a:p>
          <a:p>
            <a:pPr>
              <a:buNone/>
              <a:tabLst>
                <a:tab pos="2452688" algn="l"/>
                <a:tab pos="3492500" algn="ctr"/>
              </a:tabLst>
            </a:pPr>
            <a:endParaRPr lang="en-US" altLang="en-US" dirty="0"/>
          </a:p>
          <a:p>
            <a:pPr>
              <a:buNone/>
              <a:tabLst>
                <a:tab pos="2452688" algn="l"/>
                <a:tab pos="3492500" algn="ctr"/>
              </a:tabLst>
            </a:pPr>
            <a:endParaRPr lang="en-US" altLang="en-US" dirty="0"/>
          </a:p>
          <a:p>
            <a:pPr>
              <a:buNone/>
              <a:tabLst>
                <a:tab pos="2452688" algn="l"/>
                <a:tab pos="3492500" algn="ctr"/>
              </a:tabLst>
            </a:pPr>
            <a:endParaRPr lang="en-US" altLang="en-US" dirty="0"/>
          </a:p>
          <a:p>
            <a:pPr>
              <a:buNone/>
              <a:tabLst>
                <a:tab pos="2452688" algn="l"/>
                <a:tab pos="3492500" algn="ctr"/>
              </a:tabLst>
            </a:pPr>
            <a:endParaRPr lang="en-US" altLang="en-US" dirty="0"/>
          </a:p>
          <a:p>
            <a:pPr>
              <a:buNone/>
              <a:tabLst>
                <a:tab pos="2452688" algn="l"/>
                <a:tab pos="3492500" algn="ctr"/>
              </a:tabLst>
            </a:pPr>
            <a:endParaRPr lang="en-US" altLang="en-US" dirty="0"/>
          </a:p>
          <a:p>
            <a:pPr>
              <a:buNone/>
              <a:tabLst>
                <a:tab pos="2452688" algn="l"/>
                <a:tab pos="3492500" algn="ctr"/>
              </a:tabLst>
            </a:pPr>
            <a:endParaRPr lang="en-US" altLang="en-US" dirty="0"/>
          </a:p>
          <a:p>
            <a:pPr>
              <a:buNone/>
              <a:tabLst>
                <a:tab pos="2452688" algn="l"/>
                <a:tab pos="3492500" algn="ctr"/>
              </a:tabLst>
            </a:pPr>
            <a:endParaRPr lang="en-US" altLang="en-US" dirty="0"/>
          </a:p>
          <a:p>
            <a:pPr>
              <a:buNone/>
              <a:tabLst>
                <a:tab pos="2452688" algn="l"/>
                <a:tab pos="3492500" algn="ctr"/>
              </a:tabLst>
            </a:pPr>
            <a:endParaRPr lang="en-US" altLang="en-US" dirty="0"/>
          </a:p>
          <a:p>
            <a:pPr>
              <a:tabLst>
                <a:tab pos="2452688" algn="l"/>
                <a:tab pos="3492500" algn="ctr"/>
              </a:tabLst>
            </a:pPr>
            <a:r>
              <a:rPr lang="en-US" altLang="en-US" dirty="0"/>
              <a:t>The system is in a safe state since the sequence &lt; </a:t>
            </a:r>
            <a:r>
              <a:rPr lang="en-US" altLang="en-US" i="1" dirty="0"/>
              <a:t>T</a:t>
            </a:r>
            <a:r>
              <a:rPr lang="en-US" altLang="en-US" baseline="-25000" dirty="0"/>
              <a:t>1</a:t>
            </a:r>
            <a:r>
              <a:rPr lang="en-US" altLang="en-US" dirty="0"/>
              <a:t>, </a:t>
            </a:r>
            <a:r>
              <a:rPr lang="en-US" altLang="en-US" i="1" dirty="0"/>
              <a:t>T</a:t>
            </a:r>
            <a:r>
              <a:rPr lang="en-US" altLang="en-US" baseline="-25000" dirty="0"/>
              <a:t>3</a:t>
            </a:r>
            <a:r>
              <a:rPr lang="en-US" altLang="en-US" dirty="0"/>
              <a:t>, </a:t>
            </a:r>
            <a:r>
              <a:rPr lang="en-US" altLang="en-US" i="1" dirty="0"/>
              <a:t>T</a:t>
            </a:r>
            <a:r>
              <a:rPr lang="en-US" altLang="en-US" baseline="-25000" dirty="0"/>
              <a:t>4</a:t>
            </a:r>
            <a:r>
              <a:rPr lang="en-US" altLang="en-US" dirty="0"/>
              <a:t>, </a:t>
            </a:r>
            <a:r>
              <a:rPr lang="en-US" altLang="en-US" i="1" dirty="0"/>
              <a:t>T</a:t>
            </a:r>
            <a:r>
              <a:rPr lang="en-US" altLang="en-US" baseline="-25000" dirty="0"/>
              <a:t>2</a:t>
            </a:r>
            <a:r>
              <a:rPr lang="en-US" altLang="en-US" dirty="0"/>
              <a:t>, </a:t>
            </a:r>
            <a:r>
              <a:rPr lang="en-US" altLang="en-US" i="1" dirty="0"/>
              <a:t>T</a:t>
            </a:r>
            <a:r>
              <a:rPr lang="en-US" altLang="en-US" baseline="-25000" dirty="0"/>
              <a:t>0</a:t>
            </a:r>
            <a:r>
              <a:rPr lang="en-US" altLang="en-US" dirty="0"/>
              <a:t>&gt; satisfies safety criteria</a:t>
            </a:r>
            <a:endParaRPr lang="en-US" altLang="en-US" baseline="-25000" dirty="0"/>
          </a:p>
        </p:txBody>
      </p:sp>
      <p:pic>
        <p:nvPicPr>
          <p:cNvPr id="4" name="Picture 3"/>
          <p:cNvPicPr>
            <a:picLocks noChangeAspect="1"/>
          </p:cNvPicPr>
          <p:nvPr/>
        </p:nvPicPr>
        <p:blipFill>
          <a:blip r:embed="rId3"/>
          <a:stretch>
            <a:fillRect/>
          </a:stretch>
        </p:blipFill>
        <p:spPr>
          <a:xfrm>
            <a:off x="7335229" y="1634145"/>
            <a:ext cx="2575612" cy="2905530"/>
          </a:xfrm>
          <a:prstGeom prst="rect">
            <a:avLst/>
          </a:prstGeom>
        </p:spPr>
      </p:pic>
      <p:pic>
        <p:nvPicPr>
          <p:cNvPr id="5" name="Picture 4"/>
          <p:cNvPicPr>
            <a:picLocks noChangeAspect="1"/>
          </p:cNvPicPr>
          <p:nvPr/>
        </p:nvPicPr>
        <p:blipFill>
          <a:blip r:embed="rId4"/>
          <a:stretch>
            <a:fillRect/>
          </a:stretch>
        </p:blipFill>
        <p:spPr>
          <a:xfrm>
            <a:off x="1731542" y="1419225"/>
            <a:ext cx="5065242" cy="2905530"/>
          </a:xfrm>
          <a:prstGeom prst="rect">
            <a:avLst/>
          </a:prstGeom>
        </p:spPr>
      </p:pic>
    </p:spTree>
    <p:extLst>
      <p:ext uri="{BB962C8B-B14F-4D97-AF65-F5344CB8AC3E}">
        <p14:creationId xmlns:p14="http://schemas.microsoft.com/office/powerpoint/2010/main" val="398399757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948266538"/>
              </p:ext>
            </p:extLst>
          </p:nvPr>
        </p:nvGraphicFramePr>
        <p:xfrm>
          <a:off x="1676401" y="2905530"/>
          <a:ext cx="8667750" cy="3779520"/>
        </p:xfrm>
        <a:graphic>
          <a:graphicData uri="http://schemas.openxmlformats.org/drawingml/2006/table">
            <a:tbl>
              <a:tblPr firstRow="1" bandRow="1">
                <a:tableStyleId>{5C22544A-7EE6-4342-B048-85BDC9FD1C3A}</a:tableStyleId>
              </a:tblPr>
              <a:tblGrid>
                <a:gridCol w="2889250">
                  <a:extLst>
                    <a:ext uri="{9D8B030D-6E8A-4147-A177-3AD203B41FA5}">
                      <a16:colId xmlns:a16="http://schemas.microsoft.com/office/drawing/2014/main" val="20000"/>
                    </a:ext>
                  </a:extLst>
                </a:gridCol>
                <a:gridCol w="2889250">
                  <a:extLst>
                    <a:ext uri="{9D8B030D-6E8A-4147-A177-3AD203B41FA5}">
                      <a16:colId xmlns:a16="http://schemas.microsoft.com/office/drawing/2014/main" val="20001"/>
                    </a:ext>
                  </a:extLst>
                </a:gridCol>
                <a:gridCol w="2889250">
                  <a:extLst>
                    <a:ext uri="{9D8B030D-6E8A-4147-A177-3AD203B41FA5}">
                      <a16:colId xmlns:a16="http://schemas.microsoft.com/office/drawing/2014/main" val="20002"/>
                    </a:ext>
                  </a:extLst>
                </a:gridCol>
              </a:tblGrid>
              <a:tr h="3529012">
                <a:tc>
                  <a:txBody>
                    <a:bodyPr/>
                    <a:lstStyle/>
                    <a:p>
                      <a:r>
                        <a:rPr lang="en-US" dirty="0"/>
                        <a:t>Work = Available</a:t>
                      </a:r>
                    </a:p>
                    <a:p>
                      <a:r>
                        <a:rPr lang="en-US" altLang="en-US" sz="1800" b="1" i="1" dirty="0"/>
                        <a:t>Finish </a:t>
                      </a:r>
                      <a:r>
                        <a:rPr lang="en-US" altLang="en-US" sz="1800" b="1" dirty="0"/>
                        <a:t>[</a:t>
                      </a:r>
                      <a:r>
                        <a:rPr lang="en-US" altLang="en-US" sz="1800" b="1" i="1" dirty="0" err="1"/>
                        <a:t>i</a:t>
                      </a:r>
                      <a:r>
                        <a:rPr lang="en-US" altLang="en-US" sz="1800" b="1" dirty="0"/>
                        <a:t>] =</a:t>
                      </a:r>
                      <a:r>
                        <a:rPr lang="en-US" altLang="en-US" sz="1800" b="1" i="1" dirty="0"/>
                        <a:t> false </a:t>
                      </a:r>
                    </a:p>
                    <a:p>
                      <a:r>
                        <a:rPr lang="en-US" altLang="en-US" sz="1800" b="1" i="1" u="sng" dirty="0"/>
                        <a:t>T0</a:t>
                      </a:r>
                    </a:p>
                    <a:p>
                      <a:pPr marL="57150" lvl="1" indent="0">
                        <a:lnSpc>
                          <a:spcPct val="90000"/>
                        </a:lnSpc>
                        <a:buFont typeface="Monotype Sorts" pitchFamily="-84" charset="2"/>
                        <a:buNone/>
                      </a:pPr>
                      <a:r>
                        <a:rPr lang="en-US" altLang="en-US" sz="2000" b="1" i="1" dirty="0"/>
                        <a:t>Finish</a:t>
                      </a:r>
                      <a:r>
                        <a:rPr lang="en-US" altLang="en-US" sz="2000" b="1" dirty="0"/>
                        <a:t> [</a:t>
                      </a:r>
                      <a:r>
                        <a:rPr lang="en-US" altLang="en-US" sz="2000" b="1" i="1" dirty="0" err="1"/>
                        <a:t>i</a:t>
                      </a:r>
                      <a:r>
                        <a:rPr lang="en-US" altLang="en-US" sz="2000" b="1" dirty="0"/>
                        <a:t>] = </a:t>
                      </a:r>
                      <a:r>
                        <a:rPr lang="en-US" altLang="en-US" sz="2000" b="1" i="1" dirty="0"/>
                        <a:t>false</a:t>
                      </a:r>
                      <a:endParaRPr lang="en-US" altLang="en-US" sz="2000" b="1" i="0" dirty="0"/>
                    </a:p>
                    <a:p>
                      <a:pPr marL="57150" lvl="1" indent="0">
                        <a:lnSpc>
                          <a:spcPct val="90000"/>
                        </a:lnSpc>
                        <a:buFont typeface="Monotype Sorts" pitchFamily="-84" charset="2"/>
                        <a:buNone/>
                      </a:pPr>
                      <a:r>
                        <a:rPr lang="en-US" altLang="en-US" sz="2000" b="1" i="1" dirty="0" err="1"/>
                        <a:t>Need</a:t>
                      </a:r>
                      <a:r>
                        <a:rPr lang="en-US" altLang="en-US" sz="2000" b="1" i="1" baseline="-25000" dirty="0" err="1"/>
                        <a:t>i</a:t>
                      </a:r>
                      <a:r>
                        <a:rPr lang="en-US" altLang="en-US" sz="2000" b="1" dirty="0"/>
                        <a:t> </a:t>
                      </a:r>
                      <a:r>
                        <a:rPr lang="en-US" altLang="en-US" sz="2000" b="1" dirty="0">
                          <a:sym typeface="Symbol" panose="05050102010706020507" pitchFamily="18" charset="2"/>
                        </a:rPr>
                        <a:t> </a:t>
                      </a:r>
                      <a:r>
                        <a:rPr lang="en-US" altLang="en-US" sz="2000" b="1" i="1" dirty="0">
                          <a:sym typeface="Symbol" panose="05050102010706020507" pitchFamily="18" charset="2"/>
                        </a:rPr>
                        <a:t>Work</a:t>
                      </a:r>
                    </a:p>
                    <a:p>
                      <a:pPr marL="57150" lvl="1" indent="0">
                        <a:lnSpc>
                          <a:spcPct val="90000"/>
                        </a:lnSpc>
                        <a:buFont typeface="Monotype Sorts" pitchFamily="-84" charset="2"/>
                        <a:buNone/>
                      </a:pPr>
                      <a:endParaRPr lang="en-US" altLang="en-US" sz="2000" b="1" i="1" dirty="0">
                        <a:sym typeface="Symbol" panose="05050102010706020507" pitchFamily="18" charset="2"/>
                      </a:endParaRPr>
                    </a:p>
                    <a:p>
                      <a:pPr marL="57150" lvl="1" indent="0">
                        <a:lnSpc>
                          <a:spcPct val="90000"/>
                        </a:lnSpc>
                        <a:buFont typeface="Monotype Sorts" pitchFamily="-84" charset="2"/>
                        <a:buNone/>
                      </a:pPr>
                      <a:endParaRPr lang="en-US" altLang="en-US" sz="2000" b="1" i="1" dirty="0">
                        <a:sym typeface="Symbol" panose="05050102010706020507" pitchFamily="18" charset="2"/>
                      </a:endParaRPr>
                    </a:p>
                    <a:p>
                      <a:pPr marL="57150" lvl="1" indent="0">
                        <a:lnSpc>
                          <a:spcPct val="90000"/>
                        </a:lnSpc>
                        <a:buFont typeface="Monotype Sorts" pitchFamily="-84" charset="2"/>
                        <a:buNone/>
                      </a:pPr>
                      <a:r>
                        <a:rPr lang="en-US" altLang="en-US" sz="2000" b="1" i="1" dirty="0"/>
                        <a:t>Work</a:t>
                      </a:r>
                      <a:r>
                        <a:rPr lang="en-US" altLang="en-US" sz="2000" b="1" dirty="0"/>
                        <a:t> = </a:t>
                      </a:r>
                      <a:r>
                        <a:rPr lang="en-US" altLang="en-US" sz="2000" b="1" i="1" dirty="0"/>
                        <a:t>Work </a:t>
                      </a:r>
                      <a:r>
                        <a:rPr lang="en-US" altLang="en-US" sz="2000" b="1" dirty="0"/>
                        <a:t>+ </a:t>
                      </a:r>
                      <a:r>
                        <a:rPr lang="en-US" altLang="en-US" sz="2000" b="1" i="1" dirty="0" err="1"/>
                        <a:t>Allocation</a:t>
                      </a:r>
                      <a:r>
                        <a:rPr lang="en-US" altLang="en-US" sz="2000" b="1" i="1" baseline="-25000" dirty="0" err="1"/>
                        <a:t>i</a:t>
                      </a:r>
                      <a:endParaRPr lang="en-US" altLang="en-US" sz="2000" b="1" i="1" baseline="-25000" dirty="0"/>
                    </a:p>
                    <a:p>
                      <a:pPr marL="57150" lvl="1" indent="0">
                        <a:lnSpc>
                          <a:spcPct val="90000"/>
                        </a:lnSpc>
                        <a:buFont typeface="Monotype Sorts" pitchFamily="-84" charset="2"/>
                        <a:buNone/>
                      </a:pPr>
                      <a:endParaRPr lang="en-US" altLang="en-US" sz="2000" b="1" i="1" baseline="-25000" dirty="0"/>
                    </a:p>
                    <a:p>
                      <a:pPr marL="57150" lvl="1" indent="0">
                        <a:lnSpc>
                          <a:spcPct val="90000"/>
                        </a:lnSpc>
                        <a:buFont typeface="Monotype Sorts" pitchFamily="-84" charset="2"/>
                        <a:buNone/>
                      </a:pPr>
                      <a:r>
                        <a:rPr lang="en-US" altLang="en-US" sz="2000" b="1" i="1" dirty="0"/>
                        <a:t>Work</a:t>
                      </a:r>
                      <a:r>
                        <a:rPr lang="en-US" altLang="en-US" sz="2000" b="1" dirty="0"/>
                        <a:t> =</a:t>
                      </a:r>
                      <a:endParaRPr lang="en-US" altLang="en-US" sz="2000" b="1" i="1" baseline="-25000" dirty="0"/>
                    </a:p>
                    <a:p>
                      <a:pPr marL="57150" lvl="1" indent="0">
                        <a:lnSpc>
                          <a:spcPct val="90000"/>
                        </a:lnSpc>
                        <a:buFont typeface="Monotype Sorts" pitchFamily="-84" charset="2"/>
                        <a:buNone/>
                      </a:pPr>
                      <a:endParaRPr lang="en-US" altLang="en-US" sz="2000" b="1" i="1" baseline="-25000" dirty="0"/>
                    </a:p>
                    <a:p>
                      <a:pPr marL="57150" lvl="1" indent="0">
                        <a:lnSpc>
                          <a:spcPct val="90000"/>
                        </a:lnSpc>
                        <a:buFont typeface="Monotype Sorts" pitchFamily="-84" charset="2"/>
                        <a:buNone/>
                      </a:pPr>
                      <a:br>
                        <a:rPr lang="en-US" altLang="en-US" sz="2000" b="1" dirty="0"/>
                      </a:br>
                      <a:r>
                        <a:rPr lang="en-US" altLang="en-US" sz="2000" b="1" dirty="0"/>
                        <a:t> </a:t>
                      </a:r>
                      <a:r>
                        <a:rPr lang="en-US" altLang="en-US" sz="2000" b="1" i="1" dirty="0"/>
                        <a:t>Finish</a:t>
                      </a:r>
                      <a:r>
                        <a:rPr lang="en-US" altLang="en-US" sz="2000" b="1" dirty="0"/>
                        <a:t>[</a:t>
                      </a:r>
                      <a:r>
                        <a:rPr lang="en-US" altLang="en-US" sz="2000" b="1" i="1" dirty="0" err="1"/>
                        <a:t>i</a:t>
                      </a:r>
                      <a:r>
                        <a:rPr lang="en-US" altLang="en-US" sz="2000" b="1" dirty="0"/>
                        <a:t>] =</a:t>
                      </a:r>
                      <a:endParaRPr lang="en-US" dirty="0"/>
                    </a:p>
                  </a:txBody>
                  <a:tcPr>
                    <a:solidFill>
                      <a:srgbClr val="C00000"/>
                    </a:solidFill>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altLang="en-US" sz="2000" b="1" i="1" dirty="0"/>
                        <a:t>Work</a:t>
                      </a:r>
                      <a:r>
                        <a:rPr lang="en-US" altLang="en-US" sz="2000" b="1" dirty="0"/>
                        <a:t> =</a:t>
                      </a:r>
                      <a:endParaRPr lang="en-US" altLang="en-US" sz="2000" b="1" i="1" baseline="-25000" dirty="0"/>
                    </a:p>
                    <a:p>
                      <a:endParaRPr lang="en-US" altLang="en-US" sz="1800" b="1" i="1" u="sng" dirty="0"/>
                    </a:p>
                    <a:p>
                      <a:r>
                        <a:rPr lang="en-US" altLang="en-US" sz="1800" b="1" i="1" u="sng" dirty="0"/>
                        <a:t>T1</a:t>
                      </a:r>
                    </a:p>
                    <a:p>
                      <a:pPr marL="57150" lvl="1" indent="0">
                        <a:lnSpc>
                          <a:spcPct val="90000"/>
                        </a:lnSpc>
                        <a:buFont typeface="Monotype Sorts" pitchFamily="-84" charset="2"/>
                        <a:buNone/>
                      </a:pPr>
                      <a:r>
                        <a:rPr lang="en-US" altLang="en-US" sz="2000" b="1" i="1" dirty="0"/>
                        <a:t>Finish</a:t>
                      </a:r>
                      <a:r>
                        <a:rPr lang="en-US" altLang="en-US" sz="2000" b="1" dirty="0"/>
                        <a:t> [</a:t>
                      </a:r>
                      <a:r>
                        <a:rPr lang="en-US" altLang="en-US" sz="2000" b="1" i="1" dirty="0" err="1"/>
                        <a:t>i</a:t>
                      </a:r>
                      <a:r>
                        <a:rPr lang="en-US" altLang="en-US" sz="2000" b="1" dirty="0"/>
                        <a:t>] = </a:t>
                      </a:r>
                      <a:r>
                        <a:rPr lang="en-US" altLang="en-US" sz="2000" b="1" i="1" dirty="0"/>
                        <a:t>false</a:t>
                      </a:r>
                      <a:endParaRPr lang="en-US" altLang="en-US" sz="2000" b="1" i="0" dirty="0"/>
                    </a:p>
                    <a:p>
                      <a:pPr marL="57150" lvl="1" indent="0">
                        <a:lnSpc>
                          <a:spcPct val="90000"/>
                        </a:lnSpc>
                        <a:buFont typeface="Monotype Sorts" pitchFamily="-84" charset="2"/>
                        <a:buNone/>
                      </a:pPr>
                      <a:r>
                        <a:rPr lang="en-US" altLang="en-US" sz="2000" b="1" i="1" dirty="0" err="1"/>
                        <a:t>Need</a:t>
                      </a:r>
                      <a:r>
                        <a:rPr lang="en-US" altLang="en-US" sz="2000" b="1" i="1" baseline="-25000" dirty="0" err="1"/>
                        <a:t>i</a:t>
                      </a:r>
                      <a:r>
                        <a:rPr lang="en-US" altLang="en-US" sz="2000" b="1" dirty="0"/>
                        <a:t> </a:t>
                      </a:r>
                      <a:r>
                        <a:rPr lang="en-US" altLang="en-US" sz="2000" b="1" dirty="0">
                          <a:sym typeface="Symbol" panose="05050102010706020507" pitchFamily="18" charset="2"/>
                        </a:rPr>
                        <a:t> </a:t>
                      </a:r>
                      <a:r>
                        <a:rPr lang="en-US" altLang="en-US" sz="2000" b="1" i="1" dirty="0">
                          <a:sym typeface="Symbol" panose="05050102010706020507" pitchFamily="18" charset="2"/>
                        </a:rPr>
                        <a:t>Work</a:t>
                      </a:r>
                    </a:p>
                    <a:p>
                      <a:pPr marL="57150" lvl="1" indent="0">
                        <a:lnSpc>
                          <a:spcPct val="90000"/>
                        </a:lnSpc>
                        <a:buFont typeface="Monotype Sorts" pitchFamily="-84" charset="2"/>
                        <a:buNone/>
                      </a:pPr>
                      <a:endParaRPr lang="en-US" altLang="en-US" sz="2000" b="1" i="1" dirty="0">
                        <a:sym typeface="Symbol" panose="05050102010706020507" pitchFamily="18" charset="2"/>
                      </a:endParaRPr>
                    </a:p>
                    <a:p>
                      <a:pPr marL="57150" lvl="1" indent="0">
                        <a:lnSpc>
                          <a:spcPct val="90000"/>
                        </a:lnSpc>
                        <a:buFont typeface="Monotype Sorts" pitchFamily="-84" charset="2"/>
                        <a:buNone/>
                      </a:pPr>
                      <a:endParaRPr lang="en-US" altLang="en-US" sz="2000" b="1" i="1" dirty="0">
                        <a:sym typeface="Symbol" panose="05050102010706020507" pitchFamily="18" charset="2"/>
                      </a:endParaRPr>
                    </a:p>
                    <a:p>
                      <a:pPr marL="57150" lvl="1" indent="0">
                        <a:lnSpc>
                          <a:spcPct val="90000"/>
                        </a:lnSpc>
                        <a:buFont typeface="Monotype Sorts" pitchFamily="-84" charset="2"/>
                        <a:buNone/>
                      </a:pPr>
                      <a:r>
                        <a:rPr lang="en-US" altLang="en-US" sz="2000" b="1" i="1" dirty="0"/>
                        <a:t>Work</a:t>
                      </a:r>
                      <a:r>
                        <a:rPr lang="en-US" altLang="en-US" sz="2000" b="1" dirty="0"/>
                        <a:t> = </a:t>
                      </a:r>
                      <a:r>
                        <a:rPr lang="en-US" altLang="en-US" sz="2000" b="1" i="1" dirty="0"/>
                        <a:t>Work </a:t>
                      </a:r>
                      <a:r>
                        <a:rPr lang="en-US" altLang="en-US" sz="2000" b="1" dirty="0"/>
                        <a:t>+ </a:t>
                      </a:r>
                      <a:r>
                        <a:rPr lang="en-US" altLang="en-US" sz="2000" b="1" i="1" dirty="0" err="1"/>
                        <a:t>Allocation</a:t>
                      </a:r>
                      <a:r>
                        <a:rPr lang="en-US" altLang="en-US" sz="2000" b="1" i="1" baseline="-25000" dirty="0" err="1"/>
                        <a:t>i</a:t>
                      </a:r>
                      <a:endParaRPr lang="en-US" altLang="en-US" sz="2000" b="1" i="1" baseline="-25000" dirty="0"/>
                    </a:p>
                    <a:p>
                      <a:pPr marL="57150" lvl="1" indent="0">
                        <a:lnSpc>
                          <a:spcPct val="90000"/>
                        </a:lnSpc>
                        <a:buFont typeface="Monotype Sorts" pitchFamily="-84" charset="2"/>
                        <a:buNone/>
                      </a:pPr>
                      <a:endParaRPr lang="en-US" altLang="en-US" sz="2000" b="1" i="1" baseline="-25000" dirty="0"/>
                    </a:p>
                    <a:p>
                      <a:pPr marL="57150" lvl="1" indent="0">
                        <a:lnSpc>
                          <a:spcPct val="90000"/>
                        </a:lnSpc>
                        <a:buFont typeface="Monotype Sorts" pitchFamily="-84" charset="2"/>
                        <a:buNone/>
                      </a:pPr>
                      <a:r>
                        <a:rPr lang="en-US" altLang="en-US" sz="2000" b="1" i="1" dirty="0"/>
                        <a:t>Work</a:t>
                      </a:r>
                      <a:r>
                        <a:rPr lang="en-US" altLang="en-US" sz="2000" b="1" dirty="0"/>
                        <a:t> =</a:t>
                      </a:r>
                      <a:endParaRPr lang="en-US" altLang="en-US" sz="2000" b="1" i="1" baseline="-25000" dirty="0"/>
                    </a:p>
                    <a:p>
                      <a:pPr marL="57150" lvl="1" indent="0">
                        <a:lnSpc>
                          <a:spcPct val="90000"/>
                        </a:lnSpc>
                        <a:buFont typeface="Monotype Sorts" pitchFamily="-84" charset="2"/>
                        <a:buNone/>
                      </a:pPr>
                      <a:endParaRPr lang="en-US" altLang="en-US" sz="2000" b="1" i="1" baseline="-25000" dirty="0"/>
                    </a:p>
                    <a:p>
                      <a:pPr marL="57150" lvl="1" indent="0">
                        <a:lnSpc>
                          <a:spcPct val="90000"/>
                        </a:lnSpc>
                        <a:buFont typeface="Monotype Sorts" pitchFamily="-84" charset="2"/>
                        <a:buNone/>
                      </a:pPr>
                      <a:br>
                        <a:rPr lang="en-US" altLang="en-US" sz="2000" b="1" dirty="0"/>
                      </a:br>
                      <a:r>
                        <a:rPr lang="en-US" altLang="en-US" sz="2000" b="1" dirty="0"/>
                        <a:t> </a:t>
                      </a:r>
                      <a:r>
                        <a:rPr lang="en-US" altLang="en-US" sz="2000" b="1" i="1" dirty="0"/>
                        <a:t>Finish</a:t>
                      </a:r>
                      <a:r>
                        <a:rPr lang="en-US" altLang="en-US" sz="2000" b="1" dirty="0"/>
                        <a:t>[</a:t>
                      </a:r>
                      <a:r>
                        <a:rPr lang="en-US" altLang="en-US" sz="2000" b="1" i="1" dirty="0" err="1"/>
                        <a:t>i</a:t>
                      </a:r>
                      <a:r>
                        <a:rPr lang="en-US" altLang="en-US" sz="2000" b="1" dirty="0"/>
                        <a:t>] =</a:t>
                      </a:r>
                      <a:endParaRPr lang="en-US" dirty="0"/>
                    </a:p>
                  </a:txBody>
                  <a:tcPr>
                    <a:solidFill>
                      <a:srgbClr val="C00000"/>
                    </a:solidFill>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altLang="en-US" sz="2000" b="1" i="1" dirty="0"/>
                        <a:t>Work</a:t>
                      </a:r>
                      <a:r>
                        <a:rPr lang="en-US" altLang="en-US" sz="2000" b="1" dirty="0"/>
                        <a:t> =</a:t>
                      </a:r>
                      <a:endParaRPr lang="en-US" altLang="en-US" sz="2000" b="1" i="1" baseline="-25000" dirty="0"/>
                    </a:p>
                    <a:p>
                      <a:endParaRPr lang="en-US" altLang="en-US" sz="1800" b="1" i="1" u="sng" dirty="0"/>
                    </a:p>
                    <a:p>
                      <a:r>
                        <a:rPr lang="en-US" altLang="en-US" sz="1800" b="1" i="1" u="sng" dirty="0"/>
                        <a:t>T2</a:t>
                      </a:r>
                    </a:p>
                    <a:p>
                      <a:pPr marL="57150" lvl="1" indent="0">
                        <a:lnSpc>
                          <a:spcPct val="90000"/>
                        </a:lnSpc>
                        <a:buFont typeface="Monotype Sorts" pitchFamily="-84" charset="2"/>
                        <a:buNone/>
                      </a:pPr>
                      <a:r>
                        <a:rPr lang="en-US" altLang="en-US" sz="2000" b="1" i="1" dirty="0"/>
                        <a:t>Finish</a:t>
                      </a:r>
                      <a:r>
                        <a:rPr lang="en-US" altLang="en-US" sz="2000" b="1" dirty="0"/>
                        <a:t> [</a:t>
                      </a:r>
                      <a:r>
                        <a:rPr lang="en-US" altLang="en-US" sz="2000" b="1" i="1" dirty="0" err="1"/>
                        <a:t>i</a:t>
                      </a:r>
                      <a:r>
                        <a:rPr lang="en-US" altLang="en-US" sz="2000" b="1" dirty="0"/>
                        <a:t>] = </a:t>
                      </a:r>
                      <a:r>
                        <a:rPr lang="en-US" altLang="en-US" sz="2000" b="1" i="1" dirty="0"/>
                        <a:t>false</a:t>
                      </a:r>
                      <a:endParaRPr lang="en-US" altLang="en-US" sz="2000" b="1" i="0" dirty="0"/>
                    </a:p>
                    <a:p>
                      <a:pPr marL="57150" lvl="1" indent="0">
                        <a:lnSpc>
                          <a:spcPct val="90000"/>
                        </a:lnSpc>
                        <a:buFont typeface="Monotype Sorts" pitchFamily="-84" charset="2"/>
                        <a:buNone/>
                      </a:pPr>
                      <a:r>
                        <a:rPr lang="en-US" altLang="en-US" sz="2000" b="1" i="1" dirty="0" err="1"/>
                        <a:t>Need</a:t>
                      </a:r>
                      <a:r>
                        <a:rPr lang="en-US" altLang="en-US" sz="2000" b="1" i="1" baseline="-25000" dirty="0" err="1"/>
                        <a:t>i</a:t>
                      </a:r>
                      <a:r>
                        <a:rPr lang="en-US" altLang="en-US" sz="2000" b="1" dirty="0"/>
                        <a:t> </a:t>
                      </a:r>
                      <a:r>
                        <a:rPr lang="en-US" altLang="en-US" sz="2000" b="1" dirty="0">
                          <a:sym typeface="Symbol" panose="05050102010706020507" pitchFamily="18" charset="2"/>
                        </a:rPr>
                        <a:t> </a:t>
                      </a:r>
                      <a:r>
                        <a:rPr lang="en-US" altLang="en-US" sz="2000" b="1" i="1" dirty="0">
                          <a:sym typeface="Symbol" panose="05050102010706020507" pitchFamily="18" charset="2"/>
                        </a:rPr>
                        <a:t>Work</a:t>
                      </a:r>
                    </a:p>
                    <a:p>
                      <a:pPr marL="57150" lvl="1" indent="0">
                        <a:lnSpc>
                          <a:spcPct val="90000"/>
                        </a:lnSpc>
                        <a:buFont typeface="Monotype Sorts" pitchFamily="-84" charset="2"/>
                        <a:buNone/>
                      </a:pPr>
                      <a:endParaRPr lang="en-US" altLang="en-US" sz="2000" b="1" i="1" dirty="0">
                        <a:sym typeface="Symbol" panose="05050102010706020507" pitchFamily="18" charset="2"/>
                      </a:endParaRPr>
                    </a:p>
                    <a:p>
                      <a:pPr marL="57150" lvl="1" indent="0">
                        <a:lnSpc>
                          <a:spcPct val="90000"/>
                        </a:lnSpc>
                        <a:buFont typeface="Monotype Sorts" pitchFamily="-84" charset="2"/>
                        <a:buNone/>
                      </a:pPr>
                      <a:endParaRPr lang="en-US" altLang="en-US" sz="2000" b="1" i="1" dirty="0">
                        <a:sym typeface="Symbol" panose="05050102010706020507" pitchFamily="18" charset="2"/>
                      </a:endParaRPr>
                    </a:p>
                    <a:p>
                      <a:pPr marL="57150" lvl="1" indent="0">
                        <a:lnSpc>
                          <a:spcPct val="90000"/>
                        </a:lnSpc>
                        <a:buFont typeface="Monotype Sorts" pitchFamily="-84" charset="2"/>
                        <a:buNone/>
                      </a:pPr>
                      <a:r>
                        <a:rPr lang="en-US" altLang="en-US" sz="2000" b="1" i="1" dirty="0"/>
                        <a:t>Work</a:t>
                      </a:r>
                      <a:r>
                        <a:rPr lang="en-US" altLang="en-US" sz="2000" b="1" dirty="0"/>
                        <a:t> = </a:t>
                      </a:r>
                      <a:r>
                        <a:rPr lang="en-US" altLang="en-US" sz="2000" b="1" i="1" dirty="0"/>
                        <a:t>Work </a:t>
                      </a:r>
                      <a:r>
                        <a:rPr lang="en-US" altLang="en-US" sz="2000" b="1" dirty="0"/>
                        <a:t>+ </a:t>
                      </a:r>
                      <a:r>
                        <a:rPr lang="en-US" altLang="en-US" sz="2000" b="1" i="1" dirty="0" err="1"/>
                        <a:t>Allocation</a:t>
                      </a:r>
                      <a:r>
                        <a:rPr lang="en-US" altLang="en-US" sz="2000" b="1" i="1" baseline="-25000" dirty="0" err="1"/>
                        <a:t>i</a:t>
                      </a:r>
                      <a:endParaRPr lang="en-US" altLang="en-US" sz="2000" b="1" i="1" baseline="-25000" dirty="0"/>
                    </a:p>
                    <a:p>
                      <a:pPr marL="57150" lvl="1" indent="0">
                        <a:lnSpc>
                          <a:spcPct val="90000"/>
                        </a:lnSpc>
                        <a:buFont typeface="Monotype Sorts" pitchFamily="-84" charset="2"/>
                        <a:buNone/>
                      </a:pPr>
                      <a:endParaRPr lang="en-US" altLang="en-US" sz="2000" b="1" i="1" baseline="-25000" dirty="0"/>
                    </a:p>
                    <a:p>
                      <a:pPr marL="57150" lvl="1" indent="0">
                        <a:lnSpc>
                          <a:spcPct val="90000"/>
                        </a:lnSpc>
                        <a:buFont typeface="Monotype Sorts" pitchFamily="-84" charset="2"/>
                        <a:buNone/>
                      </a:pPr>
                      <a:r>
                        <a:rPr lang="en-US" altLang="en-US" sz="2000" b="1" i="1" dirty="0"/>
                        <a:t>Work</a:t>
                      </a:r>
                      <a:r>
                        <a:rPr lang="en-US" altLang="en-US" sz="2000" b="1" dirty="0"/>
                        <a:t> =</a:t>
                      </a:r>
                      <a:endParaRPr lang="en-US" altLang="en-US" sz="2000" b="1" i="1" baseline="-25000" dirty="0"/>
                    </a:p>
                    <a:p>
                      <a:pPr marL="57150" lvl="1" indent="0">
                        <a:lnSpc>
                          <a:spcPct val="90000"/>
                        </a:lnSpc>
                        <a:buFont typeface="Monotype Sorts" pitchFamily="-84" charset="2"/>
                        <a:buNone/>
                      </a:pPr>
                      <a:endParaRPr lang="en-US" altLang="en-US" sz="2000" b="1" i="1" baseline="-25000" dirty="0"/>
                    </a:p>
                    <a:p>
                      <a:pPr marL="57150" lvl="1" indent="0">
                        <a:lnSpc>
                          <a:spcPct val="90000"/>
                        </a:lnSpc>
                        <a:buFont typeface="Monotype Sorts" pitchFamily="-84" charset="2"/>
                        <a:buNone/>
                      </a:pPr>
                      <a:br>
                        <a:rPr lang="en-US" altLang="en-US" sz="2000" b="1" dirty="0"/>
                      </a:br>
                      <a:r>
                        <a:rPr lang="en-US" altLang="en-US" sz="2000" b="1" dirty="0"/>
                        <a:t> </a:t>
                      </a:r>
                      <a:r>
                        <a:rPr lang="en-US" altLang="en-US" sz="2000" b="1" i="1" dirty="0"/>
                        <a:t>Finish</a:t>
                      </a:r>
                      <a:r>
                        <a:rPr lang="en-US" altLang="en-US" sz="2000" b="1" dirty="0"/>
                        <a:t>[</a:t>
                      </a:r>
                      <a:r>
                        <a:rPr lang="en-US" altLang="en-US" sz="2000" b="1" i="1" dirty="0" err="1"/>
                        <a:t>i</a:t>
                      </a:r>
                      <a:r>
                        <a:rPr lang="en-US" altLang="en-US" sz="2000" b="1" dirty="0"/>
                        <a:t>] =</a:t>
                      </a:r>
                      <a:endParaRPr lang="en-US" dirty="0"/>
                    </a:p>
                  </a:txBody>
                  <a:tcPr>
                    <a:solidFill>
                      <a:srgbClr val="C00000"/>
                    </a:solidFill>
                  </a:tcPr>
                </a:tc>
                <a:extLst>
                  <a:ext uri="{0D108BD9-81ED-4DB2-BD59-A6C34878D82A}">
                    <a16:rowId xmlns:a16="http://schemas.microsoft.com/office/drawing/2014/main" val="10000"/>
                  </a:ext>
                </a:extLst>
              </a:tr>
            </a:tbl>
          </a:graphicData>
        </a:graphic>
      </p:graphicFrame>
      <p:pic>
        <p:nvPicPr>
          <p:cNvPr id="5" name="Picture 4"/>
          <p:cNvPicPr>
            <a:picLocks noChangeAspect="1"/>
          </p:cNvPicPr>
          <p:nvPr/>
        </p:nvPicPr>
        <p:blipFill>
          <a:blip r:embed="rId2"/>
          <a:stretch>
            <a:fillRect/>
          </a:stretch>
        </p:blipFill>
        <p:spPr>
          <a:xfrm>
            <a:off x="1840383" y="0"/>
            <a:ext cx="5065242" cy="2905530"/>
          </a:xfrm>
          <a:prstGeom prst="rect">
            <a:avLst/>
          </a:prstGeom>
        </p:spPr>
      </p:pic>
      <p:pic>
        <p:nvPicPr>
          <p:cNvPr id="6" name="Picture 5"/>
          <p:cNvPicPr>
            <a:picLocks noChangeAspect="1"/>
          </p:cNvPicPr>
          <p:nvPr/>
        </p:nvPicPr>
        <p:blipFill>
          <a:blip r:embed="rId3"/>
          <a:stretch>
            <a:fillRect/>
          </a:stretch>
        </p:blipFill>
        <p:spPr>
          <a:xfrm>
            <a:off x="7349438" y="0"/>
            <a:ext cx="2575612" cy="2905530"/>
          </a:xfrm>
          <a:prstGeom prst="rect">
            <a:avLst/>
          </a:prstGeom>
        </p:spPr>
      </p:pic>
    </p:spTree>
    <p:extLst>
      <p:ext uri="{BB962C8B-B14F-4D97-AF65-F5344CB8AC3E}">
        <p14:creationId xmlns:p14="http://schemas.microsoft.com/office/powerpoint/2010/main" val="33695217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23320881"/>
              </p:ext>
            </p:extLst>
          </p:nvPr>
        </p:nvGraphicFramePr>
        <p:xfrm>
          <a:off x="361951" y="3000780"/>
          <a:ext cx="8667750" cy="4053840"/>
        </p:xfrm>
        <a:graphic>
          <a:graphicData uri="http://schemas.openxmlformats.org/drawingml/2006/table">
            <a:tbl>
              <a:tblPr firstRow="1" bandRow="1">
                <a:tableStyleId>{5C22544A-7EE6-4342-B048-85BDC9FD1C3A}</a:tableStyleId>
              </a:tblPr>
              <a:tblGrid>
                <a:gridCol w="4448174">
                  <a:extLst>
                    <a:ext uri="{9D8B030D-6E8A-4147-A177-3AD203B41FA5}">
                      <a16:colId xmlns:a16="http://schemas.microsoft.com/office/drawing/2014/main" val="20000"/>
                    </a:ext>
                  </a:extLst>
                </a:gridCol>
                <a:gridCol w="2314575">
                  <a:extLst>
                    <a:ext uri="{9D8B030D-6E8A-4147-A177-3AD203B41FA5}">
                      <a16:colId xmlns:a16="http://schemas.microsoft.com/office/drawing/2014/main" val="20001"/>
                    </a:ext>
                  </a:extLst>
                </a:gridCol>
                <a:gridCol w="1905001">
                  <a:extLst>
                    <a:ext uri="{9D8B030D-6E8A-4147-A177-3AD203B41FA5}">
                      <a16:colId xmlns:a16="http://schemas.microsoft.com/office/drawing/2014/main" val="20002"/>
                    </a:ext>
                  </a:extLst>
                </a:gridCol>
              </a:tblGrid>
              <a:tr h="3552420">
                <a:tc>
                  <a:txBody>
                    <a:bodyPr/>
                    <a:lstStyle/>
                    <a:p>
                      <a:r>
                        <a:rPr lang="en-US" dirty="0"/>
                        <a:t>Request </a:t>
                      </a:r>
                      <a:r>
                        <a:rPr lang="en-US" altLang="en-US" sz="1800" b="1" dirty="0">
                          <a:sym typeface="Symbol" panose="05050102010706020507" pitchFamily="18" charset="2"/>
                        </a:rPr>
                        <a:t> </a:t>
                      </a:r>
                      <a:r>
                        <a:rPr lang="en-US" altLang="en-US" sz="1800" b="1" i="1" dirty="0">
                          <a:sym typeface="Symbol" panose="05050102010706020507" pitchFamily="18" charset="2"/>
                        </a:rPr>
                        <a:t>Need</a:t>
                      </a:r>
                    </a:p>
                    <a:p>
                      <a:endParaRPr lang="en-US" sz="1800" b="1" i="1" dirty="0">
                        <a:sym typeface="Symbol" panose="05050102010706020507" pitchFamily="18" charset="2"/>
                      </a:endParaRPr>
                    </a:p>
                    <a:p>
                      <a:endParaRPr lang="en-US" sz="1800" b="1" i="1" dirty="0">
                        <a:sym typeface="Symbol" panose="05050102010706020507" pitchFamily="18" charset="2"/>
                      </a:endParaRPr>
                    </a:p>
                    <a:p>
                      <a:r>
                        <a:rPr lang="en-US" altLang="en-US" sz="1800" b="1" i="1" dirty="0" err="1">
                          <a:solidFill>
                            <a:schemeClr val="bg1"/>
                          </a:solidFill>
                        </a:rPr>
                        <a:t>Request</a:t>
                      </a:r>
                      <a:r>
                        <a:rPr lang="en-US" altLang="en-US" sz="1800" b="1" i="1" baseline="-25000" dirty="0" err="1">
                          <a:solidFill>
                            <a:schemeClr val="bg1"/>
                          </a:solidFill>
                        </a:rPr>
                        <a:t>i</a:t>
                      </a:r>
                      <a:r>
                        <a:rPr lang="en-US" altLang="en-US" sz="1800" b="1" dirty="0">
                          <a:solidFill>
                            <a:schemeClr val="bg1"/>
                          </a:solidFill>
                        </a:rPr>
                        <a:t> </a:t>
                      </a:r>
                      <a:r>
                        <a:rPr lang="en-US" altLang="en-US" sz="1800" b="1" dirty="0">
                          <a:solidFill>
                            <a:schemeClr val="bg1"/>
                          </a:solidFill>
                          <a:sym typeface="Symbol" panose="05050102010706020507" pitchFamily="18" charset="2"/>
                        </a:rPr>
                        <a:t> </a:t>
                      </a:r>
                      <a:r>
                        <a:rPr lang="en-US" altLang="en-US" sz="1800" b="1" i="1" dirty="0">
                          <a:solidFill>
                            <a:schemeClr val="bg1"/>
                          </a:solidFill>
                          <a:sym typeface="Symbol" panose="05050102010706020507" pitchFamily="18" charset="2"/>
                        </a:rPr>
                        <a:t>Available</a:t>
                      </a:r>
                    </a:p>
                    <a:p>
                      <a:endParaRPr lang="en-US" sz="1800" b="1" i="1" dirty="0">
                        <a:solidFill>
                          <a:schemeClr val="bg1"/>
                        </a:solidFill>
                        <a:sym typeface="Symbol" panose="05050102010706020507" pitchFamily="18" charset="2"/>
                      </a:endParaRPr>
                    </a:p>
                    <a:p>
                      <a:pPr marL="57150" lvl="3" indent="0">
                        <a:buFontTx/>
                        <a:buNone/>
                      </a:pPr>
                      <a:r>
                        <a:rPr lang="en-US" altLang="en-US" sz="1800" b="1" i="1" kern="1200" dirty="0">
                          <a:solidFill>
                            <a:schemeClr val="bg1"/>
                          </a:solidFill>
                          <a:latin typeface="+mn-lt"/>
                          <a:ea typeface="+mn-ea"/>
                          <a:cs typeface="+mn-cs"/>
                          <a:sym typeface="Symbol" panose="05050102010706020507" pitchFamily="18" charset="2"/>
                        </a:rPr>
                        <a:t>Available = Available  – </a:t>
                      </a:r>
                      <a:r>
                        <a:rPr lang="en-US" altLang="en-US" sz="1800" b="1" i="1" kern="1200" dirty="0" err="1">
                          <a:solidFill>
                            <a:schemeClr val="bg1"/>
                          </a:solidFill>
                          <a:latin typeface="+mn-lt"/>
                          <a:ea typeface="+mn-ea"/>
                          <a:cs typeface="+mn-cs"/>
                          <a:sym typeface="Symbol" panose="05050102010706020507" pitchFamily="18" charset="2"/>
                        </a:rPr>
                        <a:t>Requesti</a:t>
                      </a:r>
                      <a:r>
                        <a:rPr lang="en-US" altLang="en-US" sz="1800" b="1" i="1" kern="1200" dirty="0">
                          <a:solidFill>
                            <a:schemeClr val="bg1"/>
                          </a:solidFill>
                          <a:latin typeface="+mn-lt"/>
                          <a:ea typeface="+mn-ea"/>
                          <a:cs typeface="+mn-cs"/>
                          <a:sym typeface="Symbol" panose="05050102010706020507" pitchFamily="18" charset="2"/>
                        </a:rPr>
                        <a:t>;</a:t>
                      </a:r>
                    </a:p>
                    <a:p>
                      <a:pPr marL="57150" lvl="3" indent="0">
                        <a:buFontTx/>
                        <a:buNone/>
                      </a:pPr>
                      <a:endParaRPr lang="en-US" altLang="en-US" sz="1800" b="1" i="1" kern="1200" dirty="0">
                        <a:solidFill>
                          <a:schemeClr val="bg1"/>
                        </a:solidFill>
                        <a:latin typeface="+mn-lt"/>
                        <a:ea typeface="+mn-ea"/>
                        <a:cs typeface="+mn-cs"/>
                        <a:sym typeface="Symbol" panose="05050102010706020507" pitchFamily="18" charset="2"/>
                      </a:endParaRPr>
                    </a:p>
                    <a:p>
                      <a:pPr marL="57150" lvl="3" indent="0">
                        <a:buFontTx/>
                        <a:buNone/>
                      </a:pPr>
                      <a:endParaRPr lang="en-US" altLang="en-US" sz="1800" b="1" i="1" kern="1200" dirty="0">
                        <a:solidFill>
                          <a:schemeClr val="bg1"/>
                        </a:solidFill>
                        <a:latin typeface="+mn-lt"/>
                        <a:ea typeface="+mn-ea"/>
                        <a:cs typeface="+mn-cs"/>
                        <a:sym typeface="Symbol" panose="05050102010706020507" pitchFamily="18" charset="2"/>
                      </a:endParaRPr>
                    </a:p>
                    <a:p>
                      <a:pPr marL="57150" lvl="3" indent="0">
                        <a:buFontTx/>
                        <a:buNone/>
                      </a:pPr>
                      <a:r>
                        <a:rPr lang="en-US" altLang="en-US" sz="1800" b="1" i="1" kern="1200" dirty="0" err="1">
                          <a:solidFill>
                            <a:schemeClr val="bg1"/>
                          </a:solidFill>
                          <a:latin typeface="+mn-lt"/>
                          <a:ea typeface="+mn-ea"/>
                          <a:cs typeface="+mn-cs"/>
                          <a:sym typeface="Symbol" panose="05050102010706020507" pitchFamily="18" charset="2"/>
                        </a:rPr>
                        <a:t>Allocationi</a:t>
                      </a:r>
                      <a:r>
                        <a:rPr lang="en-US" altLang="en-US" sz="1800" b="1" i="1" kern="1200" dirty="0">
                          <a:solidFill>
                            <a:schemeClr val="bg1"/>
                          </a:solidFill>
                          <a:latin typeface="+mn-lt"/>
                          <a:ea typeface="+mn-ea"/>
                          <a:cs typeface="+mn-cs"/>
                          <a:sym typeface="Symbol" panose="05050102010706020507" pitchFamily="18" charset="2"/>
                        </a:rPr>
                        <a:t> = </a:t>
                      </a:r>
                      <a:r>
                        <a:rPr lang="en-US" altLang="en-US" sz="1800" b="1" i="1" kern="1200" dirty="0" err="1">
                          <a:solidFill>
                            <a:schemeClr val="bg1"/>
                          </a:solidFill>
                          <a:latin typeface="+mn-lt"/>
                          <a:ea typeface="+mn-ea"/>
                          <a:cs typeface="+mn-cs"/>
                          <a:sym typeface="Symbol" panose="05050102010706020507" pitchFamily="18" charset="2"/>
                        </a:rPr>
                        <a:t>Allocationi</a:t>
                      </a:r>
                      <a:r>
                        <a:rPr lang="en-US" altLang="en-US" sz="1800" b="1" i="1" kern="1200" dirty="0">
                          <a:solidFill>
                            <a:schemeClr val="bg1"/>
                          </a:solidFill>
                          <a:latin typeface="+mn-lt"/>
                          <a:ea typeface="+mn-ea"/>
                          <a:cs typeface="+mn-cs"/>
                          <a:sym typeface="Symbol" panose="05050102010706020507" pitchFamily="18" charset="2"/>
                        </a:rPr>
                        <a:t> + </a:t>
                      </a:r>
                      <a:r>
                        <a:rPr lang="en-US" altLang="en-US" sz="1800" b="1" i="1" kern="1200" dirty="0" err="1">
                          <a:solidFill>
                            <a:schemeClr val="bg1"/>
                          </a:solidFill>
                          <a:latin typeface="+mn-lt"/>
                          <a:ea typeface="+mn-ea"/>
                          <a:cs typeface="+mn-cs"/>
                          <a:sym typeface="Symbol" panose="05050102010706020507" pitchFamily="18" charset="2"/>
                        </a:rPr>
                        <a:t>Requesti</a:t>
                      </a:r>
                      <a:r>
                        <a:rPr lang="en-US" altLang="en-US" sz="1800" b="1" i="1" kern="1200" dirty="0">
                          <a:solidFill>
                            <a:schemeClr val="bg1"/>
                          </a:solidFill>
                          <a:latin typeface="+mn-lt"/>
                          <a:ea typeface="+mn-ea"/>
                          <a:cs typeface="+mn-cs"/>
                          <a:sym typeface="Symbol" panose="05050102010706020507" pitchFamily="18" charset="2"/>
                        </a:rPr>
                        <a:t>;</a:t>
                      </a:r>
                    </a:p>
                    <a:p>
                      <a:pPr marL="57150" lvl="3" indent="0">
                        <a:buFontTx/>
                        <a:buNone/>
                      </a:pPr>
                      <a:endParaRPr lang="en-US" altLang="en-US" sz="1800" b="1" i="1" kern="1200" dirty="0">
                        <a:solidFill>
                          <a:schemeClr val="bg1"/>
                        </a:solidFill>
                        <a:latin typeface="+mn-lt"/>
                        <a:ea typeface="+mn-ea"/>
                        <a:cs typeface="+mn-cs"/>
                        <a:sym typeface="Symbol" panose="05050102010706020507" pitchFamily="18" charset="2"/>
                      </a:endParaRPr>
                    </a:p>
                    <a:p>
                      <a:pPr marL="57150" lvl="3" indent="0">
                        <a:buFontTx/>
                        <a:buNone/>
                      </a:pPr>
                      <a:endParaRPr lang="en-US" altLang="en-US" sz="1800" b="1" i="1" kern="1200" dirty="0">
                        <a:solidFill>
                          <a:schemeClr val="bg1"/>
                        </a:solidFill>
                        <a:latin typeface="+mn-lt"/>
                        <a:ea typeface="+mn-ea"/>
                        <a:cs typeface="+mn-cs"/>
                        <a:sym typeface="Symbol" panose="05050102010706020507" pitchFamily="18" charset="2"/>
                      </a:endParaRPr>
                    </a:p>
                    <a:p>
                      <a:pPr marL="57150" lvl="3" indent="0">
                        <a:buFontTx/>
                        <a:buNone/>
                      </a:pPr>
                      <a:r>
                        <a:rPr lang="en-US" altLang="en-US" sz="1800" b="1" i="1" kern="1200" dirty="0" err="1">
                          <a:solidFill>
                            <a:schemeClr val="bg1"/>
                          </a:solidFill>
                          <a:latin typeface="+mn-lt"/>
                          <a:ea typeface="+mn-ea"/>
                          <a:cs typeface="+mn-cs"/>
                          <a:sym typeface="Symbol" panose="05050102010706020507" pitchFamily="18" charset="2"/>
                        </a:rPr>
                        <a:t>Needi</a:t>
                      </a:r>
                      <a:r>
                        <a:rPr lang="en-US" altLang="en-US" sz="1800" b="1" i="1" kern="1200" dirty="0">
                          <a:solidFill>
                            <a:schemeClr val="bg1"/>
                          </a:solidFill>
                          <a:latin typeface="+mn-lt"/>
                          <a:ea typeface="+mn-ea"/>
                          <a:cs typeface="+mn-cs"/>
                          <a:sym typeface="Symbol" panose="05050102010706020507" pitchFamily="18" charset="2"/>
                        </a:rPr>
                        <a:t> = </a:t>
                      </a:r>
                      <a:r>
                        <a:rPr lang="en-US" altLang="en-US" sz="1800" b="1" i="1" kern="1200" dirty="0" err="1">
                          <a:solidFill>
                            <a:schemeClr val="bg1"/>
                          </a:solidFill>
                          <a:latin typeface="+mn-lt"/>
                          <a:ea typeface="+mn-ea"/>
                          <a:cs typeface="+mn-cs"/>
                          <a:sym typeface="Symbol" panose="05050102010706020507" pitchFamily="18" charset="2"/>
                        </a:rPr>
                        <a:t>Needi</a:t>
                      </a:r>
                      <a:r>
                        <a:rPr lang="en-US" altLang="en-US" sz="1800" b="1" i="1" kern="1200" dirty="0">
                          <a:solidFill>
                            <a:schemeClr val="bg1"/>
                          </a:solidFill>
                          <a:latin typeface="+mn-lt"/>
                          <a:ea typeface="+mn-ea"/>
                          <a:cs typeface="+mn-cs"/>
                          <a:sym typeface="Symbol" panose="05050102010706020507" pitchFamily="18" charset="2"/>
                        </a:rPr>
                        <a:t> – </a:t>
                      </a:r>
                      <a:r>
                        <a:rPr lang="en-US" altLang="en-US" sz="1800" b="1" i="1" kern="1200" dirty="0" err="1">
                          <a:solidFill>
                            <a:schemeClr val="bg1"/>
                          </a:solidFill>
                          <a:latin typeface="+mn-lt"/>
                          <a:ea typeface="+mn-ea"/>
                          <a:cs typeface="+mn-cs"/>
                          <a:sym typeface="Symbol" panose="05050102010706020507" pitchFamily="18" charset="2"/>
                        </a:rPr>
                        <a:t>Requesti</a:t>
                      </a:r>
                      <a:r>
                        <a:rPr lang="en-US" altLang="en-US" sz="1800" b="1" i="1" kern="1200" dirty="0">
                          <a:solidFill>
                            <a:schemeClr val="bg1"/>
                          </a:solidFill>
                          <a:latin typeface="+mn-lt"/>
                          <a:ea typeface="+mn-ea"/>
                          <a:cs typeface="+mn-cs"/>
                          <a:sym typeface="Symbol" panose="05050102010706020507" pitchFamily="18" charset="2"/>
                        </a:rPr>
                        <a:t>;</a:t>
                      </a:r>
                      <a:endParaRPr lang="en-US" dirty="0">
                        <a:solidFill>
                          <a:schemeClr val="bg1"/>
                        </a:solidFill>
                      </a:endParaRPr>
                    </a:p>
                  </a:txBody>
                  <a:tcPr>
                    <a:solidFill>
                      <a:srgbClr val="C00000"/>
                    </a:solidFill>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altLang="en-US" sz="2000" b="1" i="1" dirty="0"/>
                        <a:t>Work</a:t>
                      </a:r>
                      <a:r>
                        <a:rPr lang="en-US" altLang="en-US" sz="2000" b="1" dirty="0"/>
                        <a:t> =</a:t>
                      </a:r>
                      <a:endParaRPr lang="en-US" altLang="en-US" sz="2000" b="1" i="1" baseline="-25000" dirty="0"/>
                    </a:p>
                    <a:p>
                      <a:endParaRPr lang="en-US" altLang="en-US" sz="1800" b="1" i="1" u="sng" dirty="0"/>
                    </a:p>
                    <a:p>
                      <a:r>
                        <a:rPr lang="en-US" altLang="en-US" sz="1800" b="1" i="1" u="sng" dirty="0"/>
                        <a:t>T</a:t>
                      </a:r>
                    </a:p>
                    <a:p>
                      <a:pPr marL="57150" lvl="1" indent="0">
                        <a:lnSpc>
                          <a:spcPct val="90000"/>
                        </a:lnSpc>
                        <a:buFont typeface="Monotype Sorts" pitchFamily="-84" charset="2"/>
                        <a:buNone/>
                      </a:pPr>
                      <a:r>
                        <a:rPr lang="en-US" altLang="en-US" sz="2000" b="1" i="1" dirty="0"/>
                        <a:t>Finish</a:t>
                      </a:r>
                      <a:r>
                        <a:rPr lang="en-US" altLang="en-US" sz="2000" b="1" dirty="0"/>
                        <a:t> [</a:t>
                      </a:r>
                      <a:r>
                        <a:rPr lang="en-US" altLang="en-US" sz="2000" b="1" i="1" dirty="0" err="1"/>
                        <a:t>i</a:t>
                      </a:r>
                      <a:r>
                        <a:rPr lang="en-US" altLang="en-US" sz="2000" b="1" dirty="0"/>
                        <a:t>] = </a:t>
                      </a:r>
                      <a:r>
                        <a:rPr lang="en-US" altLang="en-US" sz="2000" b="1" i="1" dirty="0"/>
                        <a:t>false</a:t>
                      </a:r>
                      <a:endParaRPr lang="en-US" altLang="en-US" sz="2000" b="1" i="0" dirty="0"/>
                    </a:p>
                    <a:p>
                      <a:pPr marL="57150" lvl="1" indent="0">
                        <a:lnSpc>
                          <a:spcPct val="90000"/>
                        </a:lnSpc>
                        <a:buFont typeface="Monotype Sorts" pitchFamily="-84" charset="2"/>
                        <a:buNone/>
                      </a:pPr>
                      <a:r>
                        <a:rPr lang="en-US" altLang="en-US" sz="2000" b="1" i="1" dirty="0" err="1"/>
                        <a:t>Need</a:t>
                      </a:r>
                      <a:r>
                        <a:rPr lang="en-US" altLang="en-US" sz="2000" b="1" i="1" baseline="-25000" dirty="0" err="1"/>
                        <a:t>i</a:t>
                      </a:r>
                      <a:r>
                        <a:rPr lang="en-US" altLang="en-US" sz="2000" b="1" dirty="0"/>
                        <a:t> </a:t>
                      </a:r>
                      <a:r>
                        <a:rPr lang="en-US" altLang="en-US" sz="2000" b="1" dirty="0">
                          <a:sym typeface="Symbol" panose="05050102010706020507" pitchFamily="18" charset="2"/>
                        </a:rPr>
                        <a:t> </a:t>
                      </a:r>
                      <a:r>
                        <a:rPr lang="en-US" altLang="en-US" sz="2000" b="1" i="1" dirty="0">
                          <a:sym typeface="Symbol" panose="05050102010706020507" pitchFamily="18" charset="2"/>
                        </a:rPr>
                        <a:t>Work</a:t>
                      </a:r>
                    </a:p>
                    <a:p>
                      <a:pPr marL="57150" lvl="1" indent="0">
                        <a:lnSpc>
                          <a:spcPct val="90000"/>
                        </a:lnSpc>
                        <a:buFont typeface="Monotype Sorts" pitchFamily="-84" charset="2"/>
                        <a:buNone/>
                      </a:pPr>
                      <a:endParaRPr lang="en-US" altLang="en-US" sz="2000" b="1" i="1" dirty="0">
                        <a:sym typeface="Symbol" panose="05050102010706020507" pitchFamily="18" charset="2"/>
                      </a:endParaRPr>
                    </a:p>
                    <a:p>
                      <a:pPr marL="57150" lvl="1" indent="0">
                        <a:lnSpc>
                          <a:spcPct val="90000"/>
                        </a:lnSpc>
                        <a:buFont typeface="Monotype Sorts" pitchFamily="-84" charset="2"/>
                        <a:buNone/>
                      </a:pPr>
                      <a:endParaRPr lang="en-US" altLang="en-US" sz="2000" b="1" i="1" dirty="0">
                        <a:sym typeface="Symbol" panose="05050102010706020507" pitchFamily="18" charset="2"/>
                      </a:endParaRPr>
                    </a:p>
                    <a:p>
                      <a:pPr marL="57150" lvl="1" indent="0">
                        <a:lnSpc>
                          <a:spcPct val="90000"/>
                        </a:lnSpc>
                        <a:buFont typeface="Monotype Sorts" pitchFamily="-84" charset="2"/>
                        <a:buNone/>
                      </a:pPr>
                      <a:r>
                        <a:rPr lang="en-US" altLang="en-US" sz="2000" b="1" i="1" dirty="0"/>
                        <a:t>Work</a:t>
                      </a:r>
                      <a:r>
                        <a:rPr lang="en-US" altLang="en-US" sz="2000" b="1" dirty="0"/>
                        <a:t> = </a:t>
                      </a:r>
                      <a:r>
                        <a:rPr lang="en-US" altLang="en-US" sz="2000" b="1" i="1" dirty="0"/>
                        <a:t>Work </a:t>
                      </a:r>
                      <a:r>
                        <a:rPr lang="en-US" altLang="en-US" sz="2000" b="1" dirty="0"/>
                        <a:t>+ </a:t>
                      </a:r>
                      <a:r>
                        <a:rPr lang="en-US" altLang="en-US" sz="2000" b="1" i="1" dirty="0" err="1"/>
                        <a:t>Allocation</a:t>
                      </a:r>
                      <a:r>
                        <a:rPr lang="en-US" altLang="en-US" sz="2000" b="1" i="1" baseline="-25000" dirty="0" err="1"/>
                        <a:t>i</a:t>
                      </a:r>
                      <a:endParaRPr lang="en-US" altLang="en-US" sz="2000" b="1" i="1" baseline="-25000" dirty="0"/>
                    </a:p>
                    <a:p>
                      <a:pPr marL="57150" lvl="1" indent="0">
                        <a:lnSpc>
                          <a:spcPct val="90000"/>
                        </a:lnSpc>
                        <a:buFont typeface="Monotype Sorts" pitchFamily="-84" charset="2"/>
                        <a:buNone/>
                      </a:pPr>
                      <a:endParaRPr lang="en-US" altLang="en-US" sz="2000" b="1" i="1" baseline="-25000" dirty="0"/>
                    </a:p>
                    <a:p>
                      <a:pPr marL="57150" lvl="1" indent="0">
                        <a:lnSpc>
                          <a:spcPct val="90000"/>
                        </a:lnSpc>
                        <a:buFont typeface="Monotype Sorts" pitchFamily="-84" charset="2"/>
                        <a:buNone/>
                      </a:pPr>
                      <a:r>
                        <a:rPr lang="en-US" altLang="en-US" sz="2000" b="1" i="1" dirty="0"/>
                        <a:t>Work</a:t>
                      </a:r>
                      <a:r>
                        <a:rPr lang="en-US" altLang="en-US" sz="2000" b="1" dirty="0"/>
                        <a:t> =</a:t>
                      </a:r>
                      <a:endParaRPr lang="en-US" altLang="en-US" sz="2000" b="1" i="1" baseline="-25000" dirty="0"/>
                    </a:p>
                    <a:p>
                      <a:pPr marL="57150" lvl="1" indent="0">
                        <a:lnSpc>
                          <a:spcPct val="90000"/>
                        </a:lnSpc>
                        <a:buFont typeface="Monotype Sorts" pitchFamily="-84" charset="2"/>
                        <a:buNone/>
                      </a:pPr>
                      <a:endParaRPr lang="en-US" altLang="en-US" sz="2000" b="1" i="1" baseline="-25000" dirty="0"/>
                    </a:p>
                    <a:p>
                      <a:pPr marL="57150" lvl="1" indent="0">
                        <a:lnSpc>
                          <a:spcPct val="90000"/>
                        </a:lnSpc>
                        <a:buFont typeface="Monotype Sorts" pitchFamily="-84" charset="2"/>
                        <a:buNone/>
                      </a:pPr>
                      <a:br>
                        <a:rPr lang="en-US" altLang="en-US" sz="2000" b="1" dirty="0"/>
                      </a:br>
                      <a:r>
                        <a:rPr lang="en-US" altLang="en-US" sz="2000" b="1" dirty="0"/>
                        <a:t> </a:t>
                      </a:r>
                      <a:r>
                        <a:rPr lang="en-US" altLang="en-US" sz="2000" b="1" i="1" dirty="0"/>
                        <a:t>Finish</a:t>
                      </a:r>
                      <a:r>
                        <a:rPr lang="en-US" altLang="en-US" sz="2000" b="1" dirty="0"/>
                        <a:t>[</a:t>
                      </a:r>
                      <a:r>
                        <a:rPr lang="en-US" altLang="en-US" sz="2000" b="1" i="1" dirty="0" err="1"/>
                        <a:t>i</a:t>
                      </a:r>
                      <a:r>
                        <a:rPr lang="en-US" altLang="en-US" sz="2000" b="1" dirty="0"/>
                        <a:t>] =</a:t>
                      </a:r>
                      <a:endParaRPr lang="en-US" dirty="0"/>
                    </a:p>
                  </a:txBody>
                  <a:tcPr>
                    <a:solidFill>
                      <a:srgbClr val="C00000"/>
                    </a:solidFill>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altLang="en-US" sz="2000" b="1" i="1" dirty="0"/>
                        <a:t>Work</a:t>
                      </a:r>
                      <a:r>
                        <a:rPr lang="en-US" altLang="en-US" sz="2000" b="1" dirty="0"/>
                        <a:t> =</a:t>
                      </a:r>
                      <a:endParaRPr lang="en-US" altLang="en-US" sz="2000" b="1" i="1" baseline="-25000" dirty="0"/>
                    </a:p>
                    <a:p>
                      <a:endParaRPr lang="en-US" altLang="en-US" sz="1800" b="1" i="1" u="sng" dirty="0"/>
                    </a:p>
                    <a:p>
                      <a:r>
                        <a:rPr lang="en-US" altLang="en-US" sz="1800" b="1" i="1" u="sng" dirty="0"/>
                        <a:t>T</a:t>
                      </a:r>
                    </a:p>
                    <a:p>
                      <a:pPr marL="57150" lvl="1" indent="0">
                        <a:lnSpc>
                          <a:spcPct val="90000"/>
                        </a:lnSpc>
                        <a:buFont typeface="Monotype Sorts" pitchFamily="-84" charset="2"/>
                        <a:buNone/>
                      </a:pPr>
                      <a:r>
                        <a:rPr lang="en-US" altLang="en-US" sz="2000" b="1" i="1" dirty="0"/>
                        <a:t>Finish</a:t>
                      </a:r>
                      <a:r>
                        <a:rPr lang="en-US" altLang="en-US" sz="2000" b="1" dirty="0"/>
                        <a:t> [</a:t>
                      </a:r>
                      <a:r>
                        <a:rPr lang="en-US" altLang="en-US" sz="2000" b="1" i="1" dirty="0" err="1"/>
                        <a:t>i</a:t>
                      </a:r>
                      <a:r>
                        <a:rPr lang="en-US" altLang="en-US" sz="2000" b="1" dirty="0"/>
                        <a:t>] = </a:t>
                      </a:r>
                      <a:r>
                        <a:rPr lang="en-US" altLang="en-US" sz="2000" b="1" i="1" dirty="0"/>
                        <a:t>false</a:t>
                      </a:r>
                      <a:endParaRPr lang="en-US" altLang="en-US" sz="2000" b="1" i="0" dirty="0"/>
                    </a:p>
                    <a:p>
                      <a:pPr marL="57150" lvl="1" indent="0">
                        <a:lnSpc>
                          <a:spcPct val="90000"/>
                        </a:lnSpc>
                        <a:buFont typeface="Monotype Sorts" pitchFamily="-84" charset="2"/>
                        <a:buNone/>
                      </a:pPr>
                      <a:r>
                        <a:rPr lang="en-US" altLang="en-US" sz="2000" b="1" i="1" dirty="0" err="1"/>
                        <a:t>Need</a:t>
                      </a:r>
                      <a:r>
                        <a:rPr lang="en-US" altLang="en-US" sz="2000" b="1" i="1" baseline="-25000" dirty="0" err="1"/>
                        <a:t>i</a:t>
                      </a:r>
                      <a:r>
                        <a:rPr lang="en-US" altLang="en-US" sz="2000" b="1" dirty="0"/>
                        <a:t> </a:t>
                      </a:r>
                      <a:r>
                        <a:rPr lang="en-US" altLang="en-US" sz="2000" b="1" dirty="0">
                          <a:sym typeface="Symbol" panose="05050102010706020507" pitchFamily="18" charset="2"/>
                        </a:rPr>
                        <a:t> </a:t>
                      </a:r>
                      <a:r>
                        <a:rPr lang="en-US" altLang="en-US" sz="2000" b="1" i="1" dirty="0">
                          <a:sym typeface="Symbol" panose="05050102010706020507" pitchFamily="18" charset="2"/>
                        </a:rPr>
                        <a:t>Work</a:t>
                      </a:r>
                    </a:p>
                    <a:p>
                      <a:pPr marL="57150" lvl="1" indent="0">
                        <a:lnSpc>
                          <a:spcPct val="90000"/>
                        </a:lnSpc>
                        <a:buFont typeface="Monotype Sorts" pitchFamily="-84" charset="2"/>
                        <a:buNone/>
                      </a:pPr>
                      <a:endParaRPr lang="en-US" altLang="en-US" sz="2000" b="1" i="1" dirty="0">
                        <a:sym typeface="Symbol" panose="05050102010706020507" pitchFamily="18" charset="2"/>
                      </a:endParaRPr>
                    </a:p>
                    <a:p>
                      <a:pPr marL="57150" lvl="1" indent="0">
                        <a:lnSpc>
                          <a:spcPct val="90000"/>
                        </a:lnSpc>
                        <a:buFont typeface="Monotype Sorts" pitchFamily="-84" charset="2"/>
                        <a:buNone/>
                      </a:pPr>
                      <a:endParaRPr lang="en-US" altLang="en-US" sz="2000" b="1" i="1" dirty="0">
                        <a:sym typeface="Symbol" panose="05050102010706020507" pitchFamily="18" charset="2"/>
                      </a:endParaRPr>
                    </a:p>
                    <a:p>
                      <a:pPr marL="57150" lvl="1" indent="0">
                        <a:lnSpc>
                          <a:spcPct val="90000"/>
                        </a:lnSpc>
                        <a:buFont typeface="Monotype Sorts" pitchFamily="-84" charset="2"/>
                        <a:buNone/>
                      </a:pPr>
                      <a:r>
                        <a:rPr lang="en-US" altLang="en-US" sz="2000" b="1" i="1" dirty="0"/>
                        <a:t>Work</a:t>
                      </a:r>
                      <a:r>
                        <a:rPr lang="en-US" altLang="en-US" sz="2000" b="1" dirty="0"/>
                        <a:t> = </a:t>
                      </a:r>
                      <a:r>
                        <a:rPr lang="en-US" altLang="en-US" sz="2000" b="1" i="1" dirty="0"/>
                        <a:t>Work </a:t>
                      </a:r>
                      <a:r>
                        <a:rPr lang="en-US" altLang="en-US" sz="2000" b="1" dirty="0"/>
                        <a:t>+ </a:t>
                      </a:r>
                      <a:r>
                        <a:rPr lang="en-US" altLang="en-US" sz="2000" b="1" i="1" dirty="0" err="1"/>
                        <a:t>Allocation</a:t>
                      </a:r>
                      <a:r>
                        <a:rPr lang="en-US" altLang="en-US" sz="2000" b="1" i="1" baseline="-25000" dirty="0" err="1"/>
                        <a:t>i</a:t>
                      </a:r>
                      <a:endParaRPr lang="en-US" altLang="en-US" sz="2000" b="1" i="1" baseline="-25000" dirty="0"/>
                    </a:p>
                    <a:p>
                      <a:pPr marL="57150" lvl="1" indent="0">
                        <a:lnSpc>
                          <a:spcPct val="90000"/>
                        </a:lnSpc>
                        <a:buFont typeface="Monotype Sorts" pitchFamily="-84" charset="2"/>
                        <a:buNone/>
                      </a:pPr>
                      <a:endParaRPr lang="en-US" altLang="en-US" sz="2000" b="1" i="1" baseline="-25000" dirty="0"/>
                    </a:p>
                    <a:p>
                      <a:pPr marL="57150" lvl="1" indent="0">
                        <a:lnSpc>
                          <a:spcPct val="90000"/>
                        </a:lnSpc>
                        <a:buFont typeface="Monotype Sorts" pitchFamily="-84" charset="2"/>
                        <a:buNone/>
                      </a:pPr>
                      <a:r>
                        <a:rPr lang="en-US" altLang="en-US" sz="2000" b="1" i="1" dirty="0"/>
                        <a:t>Work</a:t>
                      </a:r>
                      <a:r>
                        <a:rPr lang="en-US" altLang="en-US" sz="2000" b="1" dirty="0"/>
                        <a:t> =</a:t>
                      </a:r>
                      <a:endParaRPr lang="en-US" altLang="en-US" sz="2000" b="1" i="1" baseline="-25000" dirty="0"/>
                    </a:p>
                    <a:p>
                      <a:pPr marL="57150" lvl="1" indent="0">
                        <a:lnSpc>
                          <a:spcPct val="90000"/>
                        </a:lnSpc>
                        <a:buFont typeface="Monotype Sorts" pitchFamily="-84" charset="2"/>
                        <a:buNone/>
                      </a:pPr>
                      <a:endParaRPr lang="en-US" altLang="en-US" sz="2000" b="1" i="1" baseline="-25000" dirty="0"/>
                    </a:p>
                    <a:p>
                      <a:pPr marL="57150" lvl="1" indent="0">
                        <a:lnSpc>
                          <a:spcPct val="90000"/>
                        </a:lnSpc>
                        <a:buFont typeface="Monotype Sorts" pitchFamily="-84" charset="2"/>
                        <a:buNone/>
                      </a:pPr>
                      <a:br>
                        <a:rPr lang="en-US" altLang="en-US" sz="2000" b="1" dirty="0"/>
                      </a:br>
                      <a:r>
                        <a:rPr lang="en-US" altLang="en-US" sz="2000" b="1" dirty="0"/>
                        <a:t> </a:t>
                      </a:r>
                      <a:r>
                        <a:rPr lang="en-US" altLang="en-US" sz="2000" b="1" i="1" dirty="0"/>
                        <a:t>Finish</a:t>
                      </a:r>
                      <a:r>
                        <a:rPr lang="en-US" altLang="en-US" sz="2000" b="1" dirty="0"/>
                        <a:t>[</a:t>
                      </a:r>
                      <a:r>
                        <a:rPr lang="en-US" altLang="en-US" sz="2000" b="1" i="1" dirty="0" err="1"/>
                        <a:t>i</a:t>
                      </a:r>
                      <a:r>
                        <a:rPr lang="en-US" altLang="en-US" sz="2000" b="1" dirty="0"/>
                        <a:t>] =</a:t>
                      </a:r>
                      <a:endParaRPr lang="en-US" dirty="0"/>
                    </a:p>
                  </a:txBody>
                  <a:tcPr>
                    <a:solidFill>
                      <a:srgbClr val="C00000"/>
                    </a:solidFill>
                  </a:tcPr>
                </a:tc>
                <a:extLst>
                  <a:ext uri="{0D108BD9-81ED-4DB2-BD59-A6C34878D82A}">
                    <a16:rowId xmlns:a16="http://schemas.microsoft.com/office/drawing/2014/main" val="10000"/>
                  </a:ext>
                </a:extLst>
              </a:tr>
            </a:tbl>
          </a:graphicData>
        </a:graphic>
      </p:graphicFrame>
      <p:pic>
        <p:nvPicPr>
          <p:cNvPr id="5" name="Picture 4"/>
          <p:cNvPicPr>
            <a:picLocks noChangeAspect="1"/>
          </p:cNvPicPr>
          <p:nvPr/>
        </p:nvPicPr>
        <p:blipFill>
          <a:blip r:embed="rId2"/>
          <a:stretch>
            <a:fillRect/>
          </a:stretch>
        </p:blipFill>
        <p:spPr>
          <a:xfrm>
            <a:off x="0" y="0"/>
            <a:ext cx="5065242" cy="2905530"/>
          </a:xfrm>
          <a:prstGeom prst="rect">
            <a:avLst/>
          </a:prstGeom>
        </p:spPr>
      </p:pic>
      <p:pic>
        <p:nvPicPr>
          <p:cNvPr id="6" name="Picture 5"/>
          <p:cNvPicPr>
            <a:picLocks noChangeAspect="1"/>
          </p:cNvPicPr>
          <p:nvPr/>
        </p:nvPicPr>
        <p:blipFill>
          <a:blip r:embed="rId3"/>
          <a:stretch>
            <a:fillRect/>
          </a:stretch>
        </p:blipFill>
        <p:spPr>
          <a:xfrm>
            <a:off x="7349438" y="0"/>
            <a:ext cx="2575612" cy="2905530"/>
          </a:xfrm>
          <a:prstGeom prst="rect">
            <a:avLst/>
          </a:prstGeom>
        </p:spPr>
      </p:pic>
      <p:sp>
        <p:nvSpPr>
          <p:cNvPr id="2" name="Rectangle 1"/>
          <p:cNvSpPr/>
          <p:nvPr/>
        </p:nvSpPr>
        <p:spPr>
          <a:xfrm>
            <a:off x="4648201" y="1090815"/>
            <a:ext cx="1929713" cy="1477328"/>
          </a:xfrm>
          <a:prstGeom prst="rect">
            <a:avLst/>
          </a:prstGeom>
        </p:spPr>
        <p:txBody>
          <a:bodyPr wrap="square">
            <a:spAutoFit/>
          </a:bodyPr>
          <a:lstStyle/>
          <a:p>
            <a:r>
              <a:rPr lang="en-US" b="1" i="1" dirty="0">
                <a:solidFill>
                  <a:srgbClr val="FF0000"/>
                </a:solidFill>
              </a:rPr>
              <a:t>T</a:t>
            </a:r>
            <a:r>
              <a:rPr lang="en-US" b="1" dirty="0">
                <a:solidFill>
                  <a:srgbClr val="FF0000"/>
                </a:solidFill>
              </a:rPr>
              <a:t>1 arrives for (1,0,2), can the request be granted immediately?</a:t>
            </a:r>
            <a:endParaRPr lang="en-US" dirty="0"/>
          </a:p>
        </p:txBody>
      </p:sp>
    </p:spTree>
    <p:extLst>
      <p:ext uri="{BB962C8B-B14F-4D97-AF65-F5344CB8AC3E}">
        <p14:creationId xmlns:p14="http://schemas.microsoft.com/office/powerpoint/2010/main" val="13452501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AD3E796E-9D4C-428C-896A-890447D904DD}"/>
              </a:ext>
            </a:extLst>
          </p:cNvPr>
          <p:cNvSpPr>
            <a:spLocks noGrp="1" noChangeArrowheads="1"/>
          </p:cNvSpPr>
          <p:nvPr>
            <p:ph type="title"/>
          </p:nvPr>
        </p:nvSpPr>
        <p:spPr>
          <a:xfrm>
            <a:off x="2341564" y="214313"/>
            <a:ext cx="7869237" cy="576262"/>
          </a:xfrm>
        </p:spPr>
        <p:txBody>
          <a:bodyPr/>
          <a:lstStyle/>
          <a:p>
            <a:pPr eaLnBrk="1" hangingPunct="1"/>
            <a:r>
              <a:rPr lang="en-US" altLang="en-US"/>
              <a:t>Example:  </a:t>
            </a:r>
            <a:r>
              <a:rPr lang="en-US" altLang="en-US" i="1"/>
              <a:t>P</a:t>
            </a:r>
            <a:r>
              <a:rPr lang="en-US" altLang="en-US" baseline="-25000"/>
              <a:t>1</a:t>
            </a:r>
            <a:r>
              <a:rPr lang="en-US" altLang="en-US"/>
              <a:t> Request (1,0,2)</a:t>
            </a:r>
          </a:p>
        </p:txBody>
      </p:sp>
      <p:sp>
        <p:nvSpPr>
          <p:cNvPr id="60418" name="Rectangle 3">
            <a:extLst>
              <a:ext uri="{FF2B5EF4-FFF2-40B4-BE49-F238E27FC236}">
                <a16:creationId xmlns:a16="http://schemas.microsoft.com/office/drawing/2014/main" id="{5866BF7C-1FA0-4840-882A-7A5E6F0E9A18}"/>
              </a:ext>
            </a:extLst>
          </p:cNvPr>
          <p:cNvSpPr>
            <a:spLocks noGrp="1" noChangeArrowheads="1"/>
          </p:cNvSpPr>
          <p:nvPr>
            <p:ph type="body" idx="1"/>
          </p:nvPr>
        </p:nvSpPr>
        <p:spPr>
          <a:xfrm>
            <a:off x="2336414" y="1103313"/>
            <a:ext cx="7869237" cy="5103812"/>
          </a:xfrm>
        </p:spPr>
        <p:txBody>
          <a:bodyPr/>
          <a:lstStyle/>
          <a:p>
            <a:pPr>
              <a:tabLst>
                <a:tab pos="1544638" algn="l"/>
                <a:tab pos="2452688" algn="ctr"/>
                <a:tab pos="3767138" algn="ctr"/>
                <a:tab pos="5022850" algn="ctr"/>
              </a:tabLst>
            </a:pPr>
            <a:r>
              <a:rPr lang="en-US" altLang="en-US" dirty="0"/>
              <a:t>Check that Request </a:t>
            </a:r>
            <a:r>
              <a:rPr lang="en-US" altLang="en-US" dirty="0">
                <a:sym typeface="Symbol" panose="05050102010706020507" pitchFamily="18" charset="2"/>
              </a:rPr>
              <a:t> Available (that is, (1,0,2)  (3,3,2)  true</a:t>
            </a:r>
            <a:endParaRPr lang="en-US" altLang="en-US" i="1" dirty="0">
              <a:sym typeface="Symbol" panose="05050102010706020507" pitchFamily="18" charset="2"/>
            </a:endParaRPr>
          </a:p>
          <a:p>
            <a:pPr>
              <a:buNone/>
              <a:tabLst>
                <a:tab pos="1544638" algn="l"/>
                <a:tab pos="2452688" algn="ctr"/>
                <a:tab pos="3767138" algn="ctr"/>
                <a:tab pos="5022850" algn="ctr"/>
              </a:tabLst>
            </a:pPr>
            <a:r>
              <a:rPr lang="en-US" altLang="en-US" i="1" dirty="0"/>
              <a:t>			</a:t>
            </a:r>
            <a:r>
              <a:rPr lang="en-US" altLang="en-US" i="1" u="sng" dirty="0"/>
              <a:t>Allocation</a:t>
            </a:r>
            <a:r>
              <a:rPr lang="en-US" altLang="en-US" i="1" dirty="0"/>
              <a:t>	</a:t>
            </a:r>
            <a:r>
              <a:rPr lang="en-US" altLang="en-US" i="1" u="sng" dirty="0"/>
              <a:t>Need</a:t>
            </a:r>
            <a:r>
              <a:rPr lang="en-US" altLang="en-US" i="1" dirty="0"/>
              <a:t>	   </a:t>
            </a:r>
            <a:r>
              <a:rPr lang="en-US" altLang="en-US" i="1" u="sng" dirty="0"/>
              <a:t>Available</a:t>
            </a:r>
            <a:endParaRPr lang="en-US" altLang="en-US" i="1" dirty="0"/>
          </a:p>
          <a:p>
            <a:pPr>
              <a:buNone/>
              <a:tabLst>
                <a:tab pos="1544638" algn="l"/>
                <a:tab pos="2452688" algn="ctr"/>
                <a:tab pos="3767138" algn="ctr"/>
                <a:tab pos="5022850" algn="ctr"/>
              </a:tabLst>
            </a:pPr>
            <a:r>
              <a:rPr lang="en-US" altLang="en-US" i="1" dirty="0"/>
              <a:t>			A B C	A B C	 A B C </a:t>
            </a:r>
          </a:p>
          <a:p>
            <a:pPr>
              <a:buNone/>
              <a:tabLst>
                <a:tab pos="1544638" algn="l"/>
                <a:tab pos="2452688" algn="ctr"/>
                <a:tab pos="3767138" algn="ctr"/>
                <a:tab pos="5022850" algn="ctr"/>
              </a:tabLst>
            </a:pPr>
            <a:r>
              <a:rPr lang="en-US" altLang="en-US" dirty="0"/>
              <a:t>		</a:t>
            </a:r>
            <a:r>
              <a:rPr lang="en-US" altLang="en-US" i="1" dirty="0"/>
              <a:t>T</a:t>
            </a:r>
            <a:r>
              <a:rPr lang="en-US" altLang="en-US" baseline="-25000" dirty="0"/>
              <a:t>0</a:t>
            </a:r>
            <a:r>
              <a:rPr lang="en-US" altLang="en-US" dirty="0"/>
              <a:t>	0 1 0 	7 4 3 	2 3 0</a:t>
            </a:r>
          </a:p>
          <a:p>
            <a:pPr>
              <a:buNone/>
              <a:tabLst>
                <a:tab pos="1544638" algn="l"/>
                <a:tab pos="2452688" algn="ctr"/>
                <a:tab pos="3767138" algn="ctr"/>
                <a:tab pos="5022850" algn="ctr"/>
              </a:tabLst>
            </a:pPr>
            <a:r>
              <a:rPr lang="en-US" altLang="en-US" dirty="0"/>
              <a:t>		</a:t>
            </a:r>
            <a:r>
              <a:rPr lang="en-US" altLang="en-US" i="1" dirty="0"/>
              <a:t>T</a:t>
            </a:r>
            <a:r>
              <a:rPr lang="en-US" altLang="en-US" baseline="-25000" dirty="0"/>
              <a:t>1</a:t>
            </a:r>
            <a:r>
              <a:rPr lang="en-US" altLang="en-US" dirty="0"/>
              <a:t>	      3 0 2             0 2 0 	</a:t>
            </a:r>
          </a:p>
          <a:p>
            <a:pPr>
              <a:buNone/>
              <a:tabLst>
                <a:tab pos="1544638" algn="l"/>
                <a:tab pos="2452688" algn="ctr"/>
                <a:tab pos="3767138" algn="ctr"/>
                <a:tab pos="5022850" algn="ctr"/>
              </a:tabLst>
            </a:pPr>
            <a:r>
              <a:rPr lang="en-US" altLang="en-US" dirty="0"/>
              <a:t>		</a:t>
            </a:r>
            <a:r>
              <a:rPr lang="en-US" altLang="en-US" i="1" dirty="0"/>
              <a:t>T</a:t>
            </a:r>
            <a:r>
              <a:rPr lang="en-US" altLang="en-US" baseline="-25000" dirty="0"/>
              <a:t>2</a:t>
            </a:r>
            <a:r>
              <a:rPr lang="en-US" altLang="en-US" dirty="0"/>
              <a:t>	3 0 2 	 6 0 0 </a:t>
            </a:r>
          </a:p>
          <a:p>
            <a:pPr>
              <a:buNone/>
              <a:tabLst>
                <a:tab pos="1544638" algn="l"/>
                <a:tab pos="2452688" algn="ctr"/>
                <a:tab pos="3767138" algn="ctr"/>
                <a:tab pos="5022850" algn="ctr"/>
              </a:tabLst>
            </a:pPr>
            <a:r>
              <a:rPr lang="en-US" altLang="en-US" dirty="0"/>
              <a:t>		</a:t>
            </a:r>
            <a:r>
              <a:rPr lang="en-US" altLang="en-US" i="1" dirty="0"/>
              <a:t>T</a:t>
            </a:r>
            <a:r>
              <a:rPr lang="en-US" altLang="en-US" baseline="-25000" dirty="0"/>
              <a:t>3</a:t>
            </a:r>
            <a:r>
              <a:rPr lang="en-US" altLang="en-US" dirty="0"/>
              <a:t>	2 1 1 	0 1 1</a:t>
            </a:r>
          </a:p>
          <a:p>
            <a:pPr>
              <a:buNone/>
              <a:tabLst>
                <a:tab pos="1544638" algn="l"/>
                <a:tab pos="2452688" algn="ctr"/>
                <a:tab pos="3767138" algn="ctr"/>
                <a:tab pos="5022850" algn="ctr"/>
              </a:tabLst>
            </a:pPr>
            <a:r>
              <a:rPr lang="en-US" altLang="en-US" dirty="0"/>
              <a:t>		</a:t>
            </a:r>
            <a:r>
              <a:rPr lang="en-US" altLang="en-US" i="1" dirty="0"/>
              <a:t>T</a:t>
            </a:r>
            <a:r>
              <a:rPr lang="en-US" altLang="en-US" baseline="-25000" dirty="0"/>
              <a:t>4</a:t>
            </a:r>
            <a:r>
              <a:rPr lang="en-US" altLang="en-US" dirty="0"/>
              <a:t>	0 0 2 	 4 3 1 </a:t>
            </a:r>
          </a:p>
          <a:p>
            <a:pPr>
              <a:buNone/>
              <a:tabLst>
                <a:tab pos="1544638" algn="l"/>
                <a:tab pos="2452688" algn="ctr"/>
                <a:tab pos="3767138" algn="ctr"/>
                <a:tab pos="5022850" algn="ctr"/>
              </a:tabLst>
            </a:pPr>
            <a:endParaRPr lang="en-US" altLang="en-US" sz="800" dirty="0"/>
          </a:p>
          <a:p>
            <a:pPr>
              <a:tabLst>
                <a:tab pos="1544638" algn="l"/>
                <a:tab pos="2452688" algn="ctr"/>
                <a:tab pos="3767138" algn="ctr"/>
                <a:tab pos="5022850" algn="ctr"/>
              </a:tabLst>
            </a:pPr>
            <a:r>
              <a:rPr lang="en-US" altLang="en-US" dirty="0"/>
              <a:t>Executing safety algorithm shows that sequence &lt; </a:t>
            </a:r>
            <a:r>
              <a:rPr lang="en-US" altLang="en-US" b="1" i="1" dirty="0"/>
              <a:t>T</a:t>
            </a:r>
            <a:r>
              <a:rPr lang="en-US" altLang="en-US" b="1" baseline="-25000" dirty="0"/>
              <a:t>1</a:t>
            </a:r>
            <a:r>
              <a:rPr lang="en-US" altLang="en-US" b="1" dirty="0"/>
              <a:t>, </a:t>
            </a:r>
            <a:r>
              <a:rPr lang="en-US" altLang="en-US" b="1" i="1" dirty="0"/>
              <a:t>T</a:t>
            </a:r>
            <a:r>
              <a:rPr lang="en-US" altLang="en-US" b="1" baseline="-25000" dirty="0"/>
              <a:t>3</a:t>
            </a:r>
            <a:r>
              <a:rPr lang="en-US" altLang="en-US" b="1" dirty="0"/>
              <a:t>, </a:t>
            </a:r>
            <a:r>
              <a:rPr lang="en-US" altLang="en-US" b="1" i="1" dirty="0"/>
              <a:t>T</a:t>
            </a:r>
            <a:r>
              <a:rPr lang="en-US" altLang="en-US" b="1" baseline="-25000" dirty="0"/>
              <a:t>4</a:t>
            </a:r>
            <a:r>
              <a:rPr lang="en-US" altLang="en-US" b="1" dirty="0"/>
              <a:t>, </a:t>
            </a:r>
            <a:r>
              <a:rPr lang="en-US" altLang="en-US" b="1" i="1" dirty="0"/>
              <a:t>T</a:t>
            </a:r>
            <a:r>
              <a:rPr lang="en-US" altLang="en-US" b="1" baseline="-25000" dirty="0"/>
              <a:t>0</a:t>
            </a:r>
            <a:r>
              <a:rPr lang="en-US" altLang="en-US" b="1" dirty="0"/>
              <a:t>, </a:t>
            </a:r>
            <a:r>
              <a:rPr lang="en-US" altLang="en-US" b="1" i="1" dirty="0"/>
              <a:t>T</a:t>
            </a:r>
            <a:r>
              <a:rPr lang="en-US" altLang="en-US" b="1" baseline="-25000" dirty="0"/>
              <a:t>2</a:t>
            </a:r>
            <a:r>
              <a:rPr lang="en-US" altLang="en-US" dirty="0"/>
              <a:t>&gt; satisfies safety requirement</a:t>
            </a:r>
          </a:p>
          <a:p>
            <a:pPr>
              <a:tabLst>
                <a:tab pos="1544638" algn="l"/>
                <a:tab pos="2452688" algn="ctr"/>
                <a:tab pos="3767138" algn="ctr"/>
                <a:tab pos="5022850" algn="ctr"/>
              </a:tabLst>
            </a:pPr>
            <a:endParaRPr lang="en-US" altLang="en-US" sz="800" dirty="0"/>
          </a:p>
          <a:p>
            <a:pPr>
              <a:tabLst>
                <a:tab pos="1544638" algn="l"/>
                <a:tab pos="2452688" algn="ctr"/>
                <a:tab pos="3767138" algn="ctr"/>
                <a:tab pos="5022850" algn="ctr"/>
              </a:tabLst>
            </a:pPr>
            <a:r>
              <a:rPr lang="en-US" altLang="en-US" dirty="0"/>
              <a:t>Can request for (3,3,0) by </a:t>
            </a:r>
            <a:r>
              <a:rPr lang="en-US" altLang="en-US" b="1" i="1" dirty="0"/>
              <a:t>T</a:t>
            </a:r>
            <a:r>
              <a:rPr lang="en-US" altLang="en-US" b="1" baseline="-25000" dirty="0"/>
              <a:t>4</a:t>
            </a:r>
            <a:r>
              <a:rPr lang="en-US" altLang="en-US" dirty="0"/>
              <a:t> be granted?</a:t>
            </a:r>
          </a:p>
          <a:p>
            <a:pPr>
              <a:tabLst>
                <a:tab pos="1544638" algn="l"/>
                <a:tab pos="2452688" algn="ctr"/>
                <a:tab pos="3767138" algn="ctr"/>
                <a:tab pos="5022850" algn="ctr"/>
              </a:tabLst>
            </a:pPr>
            <a:endParaRPr lang="en-US" altLang="en-US" sz="800" dirty="0"/>
          </a:p>
          <a:p>
            <a:pPr>
              <a:tabLst>
                <a:tab pos="1544638" algn="l"/>
                <a:tab pos="2452688" algn="ctr"/>
                <a:tab pos="3767138" algn="ctr"/>
                <a:tab pos="5022850" algn="ctr"/>
              </a:tabLst>
            </a:pPr>
            <a:r>
              <a:rPr lang="en-US" altLang="en-US" dirty="0"/>
              <a:t>Can request for (0,2,0) by </a:t>
            </a:r>
            <a:r>
              <a:rPr lang="en-US" altLang="en-US" b="1" i="1" dirty="0"/>
              <a:t>T</a:t>
            </a:r>
            <a:r>
              <a:rPr lang="en-US" altLang="en-US" b="1" baseline="-25000" dirty="0"/>
              <a:t>0</a:t>
            </a:r>
            <a:r>
              <a:rPr lang="en-US" altLang="en-US" dirty="0"/>
              <a:t> be granted?</a:t>
            </a:r>
          </a:p>
          <a:p>
            <a:pPr>
              <a:buNone/>
              <a:tabLst>
                <a:tab pos="1544638" algn="l"/>
                <a:tab pos="2452688" algn="ctr"/>
                <a:tab pos="3767138" algn="ctr"/>
                <a:tab pos="5022850" algn="ctr"/>
              </a:tabLst>
            </a:pPr>
            <a:endParaRPr lang="en-US" altLang="en-US" dirty="0"/>
          </a:p>
        </p:txBody>
      </p:sp>
    </p:spTree>
    <p:extLst>
      <p:ext uri="{BB962C8B-B14F-4D97-AF65-F5344CB8AC3E}">
        <p14:creationId xmlns:p14="http://schemas.microsoft.com/office/powerpoint/2010/main" val="119420910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573354F7-D46C-481C-9D4A-3953C7C9966A}"/>
              </a:ext>
            </a:extLst>
          </p:cNvPr>
          <p:cNvSpPr>
            <a:spLocks noGrp="1" noChangeArrowheads="1"/>
          </p:cNvSpPr>
          <p:nvPr>
            <p:ph type="title"/>
          </p:nvPr>
        </p:nvSpPr>
        <p:spPr>
          <a:xfrm>
            <a:off x="2665413" y="235762"/>
            <a:ext cx="7421562" cy="576262"/>
          </a:xfrm>
        </p:spPr>
        <p:txBody>
          <a:bodyPr/>
          <a:lstStyle/>
          <a:p>
            <a:pPr eaLnBrk="1" hangingPunct="1"/>
            <a:r>
              <a:rPr lang="en-US" altLang="en-US" dirty="0"/>
              <a:t>Deadlock Detection</a:t>
            </a:r>
          </a:p>
        </p:txBody>
      </p:sp>
      <p:sp>
        <p:nvSpPr>
          <p:cNvPr id="62466" name="Rectangle 3">
            <a:extLst>
              <a:ext uri="{FF2B5EF4-FFF2-40B4-BE49-F238E27FC236}">
                <a16:creationId xmlns:a16="http://schemas.microsoft.com/office/drawing/2014/main" id="{B0C7DA51-11F7-430E-8F04-C804721EE6AB}"/>
              </a:ext>
            </a:extLst>
          </p:cNvPr>
          <p:cNvSpPr>
            <a:spLocks noGrp="1" noChangeArrowheads="1"/>
          </p:cNvSpPr>
          <p:nvPr>
            <p:ph type="body" idx="1"/>
          </p:nvPr>
        </p:nvSpPr>
        <p:spPr>
          <a:xfrm>
            <a:off x="2335765" y="1233489"/>
            <a:ext cx="7527990" cy="4530725"/>
          </a:xfrm>
        </p:spPr>
        <p:txBody>
          <a:bodyPr/>
          <a:lstStyle/>
          <a:p>
            <a:r>
              <a:rPr lang="en-US" altLang="en-US" dirty="0"/>
              <a:t>Allow system to enter deadlock state </a:t>
            </a:r>
            <a:br>
              <a:rPr lang="en-US" altLang="en-US" dirty="0"/>
            </a:br>
            <a:endParaRPr lang="en-US" altLang="en-US" dirty="0"/>
          </a:p>
          <a:p>
            <a:r>
              <a:rPr lang="en-US" altLang="en-US" dirty="0"/>
              <a:t>Detection algorithm</a:t>
            </a:r>
            <a:br>
              <a:rPr lang="en-US" altLang="en-US" dirty="0"/>
            </a:br>
            <a:endParaRPr lang="en-US" altLang="en-US" dirty="0"/>
          </a:p>
          <a:p>
            <a:r>
              <a:rPr lang="en-US" altLang="en-US" dirty="0"/>
              <a:t>Recovery scheme</a:t>
            </a:r>
          </a:p>
        </p:txBody>
      </p:sp>
    </p:spTree>
    <p:extLst>
      <p:ext uri="{BB962C8B-B14F-4D97-AF65-F5344CB8AC3E}">
        <p14:creationId xmlns:p14="http://schemas.microsoft.com/office/powerpoint/2010/main" val="40726926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2E0AC6EB-98B0-4800-BA12-8164E36330A4}"/>
              </a:ext>
            </a:extLst>
          </p:cNvPr>
          <p:cNvSpPr>
            <a:spLocks noGrp="1" noChangeArrowheads="1"/>
          </p:cNvSpPr>
          <p:nvPr>
            <p:ph type="title"/>
          </p:nvPr>
        </p:nvSpPr>
        <p:spPr>
          <a:xfrm>
            <a:off x="2601686" y="-19986"/>
            <a:ext cx="7772400" cy="844551"/>
          </a:xfrm>
        </p:spPr>
        <p:txBody>
          <a:bodyPr/>
          <a:lstStyle/>
          <a:p>
            <a:pPr eaLnBrk="1" hangingPunct="1"/>
            <a:r>
              <a:rPr lang="en-US" altLang="en-US" dirty="0"/>
              <a:t>Single Instance of Each Resource Type</a:t>
            </a:r>
          </a:p>
        </p:txBody>
      </p:sp>
      <p:sp>
        <p:nvSpPr>
          <p:cNvPr id="64514" name="Rectangle 3">
            <a:extLst>
              <a:ext uri="{FF2B5EF4-FFF2-40B4-BE49-F238E27FC236}">
                <a16:creationId xmlns:a16="http://schemas.microsoft.com/office/drawing/2014/main" id="{9A96C6DF-1521-4C97-AEB7-B25DA22EF839}"/>
              </a:ext>
            </a:extLst>
          </p:cNvPr>
          <p:cNvSpPr>
            <a:spLocks noGrp="1" noChangeArrowheads="1"/>
          </p:cNvSpPr>
          <p:nvPr>
            <p:ph type="body" idx="1"/>
          </p:nvPr>
        </p:nvSpPr>
        <p:spPr>
          <a:xfrm>
            <a:off x="2351089" y="1173164"/>
            <a:ext cx="7585075" cy="4511675"/>
          </a:xfrm>
        </p:spPr>
        <p:txBody>
          <a:bodyPr/>
          <a:lstStyle/>
          <a:p>
            <a:r>
              <a:rPr lang="en-US" altLang="en-US" dirty="0"/>
              <a:t>Maintain </a:t>
            </a:r>
            <a:r>
              <a:rPr lang="en-US" altLang="en-US" b="1" dirty="0">
                <a:solidFill>
                  <a:srgbClr val="006699"/>
                </a:solidFill>
                <a:latin typeface="+mj-lt"/>
              </a:rPr>
              <a:t>wait-for</a:t>
            </a:r>
            <a:r>
              <a:rPr lang="en-US" altLang="en-US" b="1" dirty="0">
                <a:solidFill>
                  <a:srgbClr val="3366FF"/>
                </a:solidFill>
              </a:rPr>
              <a:t> </a:t>
            </a:r>
            <a:r>
              <a:rPr lang="en-US" altLang="en-US" dirty="0"/>
              <a:t>graph</a:t>
            </a:r>
          </a:p>
          <a:p>
            <a:pPr lvl="1"/>
            <a:r>
              <a:rPr lang="en-US" altLang="en-US" dirty="0"/>
              <a:t>Nodes are threads</a:t>
            </a:r>
          </a:p>
          <a:p>
            <a:pPr lvl="1"/>
            <a:r>
              <a:rPr lang="en-US" altLang="en-US" b="1" i="1" dirty="0" err="1"/>
              <a:t>T</a:t>
            </a:r>
            <a:r>
              <a:rPr lang="en-US" altLang="en-US" b="1" i="1" baseline="-25000" dirty="0" err="1"/>
              <a:t>i</a:t>
            </a:r>
            <a:r>
              <a:rPr lang="en-US" altLang="en-US" b="1" dirty="0"/>
              <a:t> </a:t>
            </a:r>
            <a:r>
              <a:rPr lang="en-US" altLang="en-US" b="1" dirty="0">
                <a:sym typeface="Symbol" panose="05050102010706020507" pitchFamily="18" charset="2"/>
              </a:rPr>
              <a:t> </a:t>
            </a:r>
            <a:r>
              <a:rPr lang="en-US" altLang="en-US" b="1" i="1" dirty="0" err="1">
                <a:sym typeface="Symbol" panose="05050102010706020507" pitchFamily="18" charset="2"/>
              </a:rPr>
              <a:t>T</a:t>
            </a:r>
            <a:r>
              <a:rPr lang="en-US" altLang="en-US" b="1" i="1" baseline="-25000" dirty="0" err="1">
                <a:sym typeface="Symbol" panose="05050102010706020507" pitchFamily="18" charset="2"/>
              </a:rPr>
              <a:t>j</a:t>
            </a:r>
            <a:r>
              <a:rPr lang="en-US" altLang="en-US" b="1" i="1" baseline="-25000" dirty="0">
                <a:sym typeface="Symbol" panose="05050102010706020507" pitchFamily="18" charset="2"/>
              </a:rPr>
              <a:t>   </a:t>
            </a:r>
            <a:r>
              <a:rPr lang="en-US" altLang="en-US" dirty="0">
                <a:sym typeface="Symbol" panose="05050102010706020507" pitchFamily="18" charset="2"/>
              </a:rPr>
              <a:t>if </a:t>
            </a:r>
            <a:r>
              <a:rPr lang="en-US" altLang="en-US" b="1" i="1" dirty="0" err="1">
                <a:sym typeface="Symbol" panose="05050102010706020507" pitchFamily="18" charset="2"/>
              </a:rPr>
              <a:t>T</a:t>
            </a:r>
            <a:r>
              <a:rPr lang="en-US" altLang="en-US" b="1" i="1" baseline="-25000" dirty="0" err="1">
                <a:sym typeface="Symbol" panose="05050102010706020507" pitchFamily="18" charset="2"/>
              </a:rPr>
              <a:t>i</a:t>
            </a:r>
            <a:r>
              <a:rPr lang="en-US" altLang="en-US" i="1" dirty="0">
                <a:sym typeface="Symbol" panose="05050102010706020507" pitchFamily="18" charset="2"/>
              </a:rPr>
              <a:t> </a:t>
            </a:r>
            <a:r>
              <a:rPr lang="en-US" altLang="en-US" dirty="0">
                <a:sym typeface="Symbol" panose="05050102010706020507" pitchFamily="18" charset="2"/>
              </a:rPr>
              <a:t>is waiting for</a:t>
            </a:r>
            <a:r>
              <a:rPr lang="en-US" altLang="en-US" i="1" dirty="0">
                <a:sym typeface="Symbol" panose="05050102010706020507" pitchFamily="18" charset="2"/>
              </a:rPr>
              <a:t> </a:t>
            </a:r>
            <a:r>
              <a:rPr lang="en-US" altLang="en-US" b="1" i="1" dirty="0" err="1">
                <a:sym typeface="Symbol" panose="05050102010706020507" pitchFamily="18" charset="2"/>
              </a:rPr>
              <a:t>T</a:t>
            </a:r>
            <a:r>
              <a:rPr lang="en-US" altLang="en-US" b="1" i="1" baseline="-25000" dirty="0" err="1">
                <a:sym typeface="Symbol" panose="05050102010706020507" pitchFamily="18" charset="2"/>
              </a:rPr>
              <a:t>j</a:t>
            </a:r>
            <a:br>
              <a:rPr lang="en-US" altLang="en-US" b="1" i="1" dirty="0">
                <a:sym typeface="Symbol" panose="05050102010706020507" pitchFamily="18" charset="2"/>
              </a:rPr>
            </a:br>
            <a:endParaRPr lang="en-US" altLang="en-US" b="1" i="1" dirty="0">
              <a:sym typeface="Symbol" panose="05050102010706020507" pitchFamily="18" charset="2"/>
            </a:endParaRPr>
          </a:p>
          <a:p>
            <a:r>
              <a:rPr lang="en-US" altLang="en-US" dirty="0"/>
              <a:t>Periodically invoke an algorithm that searches for a cycle in the graph. If there is a cycle, there exists a deadlock</a:t>
            </a:r>
          </a:p>
          <a:p>
            <a:pPr>
              <a:buFont typeface="Monotype Sorts" pitchFamily="-84" charset="2"/>
              <a:buNone/>
            </a:pPr>
            <a:endParaRPr lang="en-US" altLang="en-US" dirty="0"/>
          </a:p>
          <a:p>
            <a:r>
              <a:rPr lang="en-US" altLang="en-US" dirty="0"/>
              <a:t>An algorithm to detect a cycle in a graph requires an order of</a:t>
            </a:r>
            <a:r>
              <a:rPr lang="en-US" altLang="en-US" i="1" dirty="0"/>
              <a:t> </a:t>
            </a:r>
            <a:r>
              <a:rPr lang="en-US" altLang="en-US" b="1" i="1" dirty="0"/>
              <a:t>n</a:t>
            </a:r>
            <a:r>
              <a:rPr lang="en-US" altLang="en-US" b="1" baseline="30000" dirty="0"/>
              <a:t>2</a:t>
            </a:r>
            <a:r>
              <a:rPr lang="en-US" altLang="en-US" b="1" dirty="0"/>
              <a:t> </a:t>
            </a:r>
            <a:r>
              <a:rPr lang="en-US" altLang="en-US" dirty="0"/>
              <a:t>operations, where </a:t>
            </a:r>
            <a:r>
              <a:rPr lang="en-US" altLang="en-US" b="1" i="1" dirty="0"/>
              <a:t>n</a:t>
            </a:r>
            <a:r>
              <a:rPr lang="en-US" altLang="en-US" dirty="0"/>
              <a:t> is the number of vertices in the graph</a:t>
            </a:r>
          </a:p>
        </p:txBody>
      </p:sp>
    </p:spTree>
    <p:extLst>
      <p:ext uri="{BB962C8B-B14F-4D97-AF65-F5344CB8AC3E}">
        <p14:creationId xmlns:p14="http://schemas.microsoft.com/office/powerpoint/2010/main" val="102517786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0484A614-EAE8-49DD-A55B-4F7E12A56EA6}"/>
              </a:ext>
            </a:extLst>
          </p:cNvPr>
          <p:cNvSpPr>
            <a:spLocks noGrp="1" noChangeArrowheads="1"/>
          </p:cNvSpPr>
          <p:nvPr>
            <p:ph type="title"/>
          </p:nvPr>
        </p:nvSpPr>
        <p:spPr>
          <a:xfrm>
            <a:off x="2282165" y="270077"/>
            <a:ext cx="8288629" cy="457200"/>
          </a:xfrm>
        </p:spPr>
        <p:txBody>
          <a:bodyPr/>
          <a:lstStyle/>
          <a:p>
            <a:pPr eaLnBrk="1" hangingPunct="1"/>
            <a:r>
              <a:rPr lang="en-US" altLang="en-US" sz="2400" dirty="0"/>
              <a:t>Resource-Allocation Graph and  Wait-for Graph</a:t>
            </a:r>
          </a:p>
        </p:txBody>
      </p:sp>
      <p:sp>
        <p:nvSpPr>
          <p:cNvPr id="66562" name="Text Box 5">
            <a:extLst>
              <a:ext uri="{FF2B5EF4-FFF2-40B4-BE49-F238E27FC236}">
                <a16:creationId xmlns:a16="http://schemas.microsoft.com/office/drawing/2014/main" id="{FD3E6C09-91AB-4252-8558-115F273E58C9}"/>
              </a:ext>
            </a:extLst>
          </p:cNvPr>
          <p:cNvSpPr txBox="1">
            <a:spLocks noChangeArrowheads="1"/>
          </p:cNvSpPr>
          <p:nvPr/>
        </p:nvSpPr>
        <p:spPr bwMode="auto">
          <a:xfrm>
            <a:off x="2847975" y="5661025"/>
            <a:ext cx="2927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en-US" altLang="en-US" dirty="0"/>
              <a:t>Resource-Allocation Graph</a:t>
            </a:r>
          </a:p>
        </p:txBody>
      </p:sp>
      <p:sp>
        <p:nvSpPr>
          <p:cNvPr id="66563" name="Text Box 6">
            <a:extLst>
              <a:ext uri="{FF2B5EF4-FFF2-40B4-BE49-F238E27FC236}">
                <a16:creationId xmlns:a16="http://schemas.microsoft.com/office/drawing/2014/main" id="{4DB892FA-9656-4369-B039-CF364DF8033A}"/>
              </a:ext>
            </a:extLst>
          </p:cNvPr>
          <p:cNvSpPr txBox="1">
            <a:spLocks noChangeArrowheads="1"/>
          </p:cNvSpPr>
          <p:nvPr/>
        </p:nvSpPr>
        <p:spPr bwMode="auto">
          <a:xfrm>
            <a:off x="6629400" y="5661025"/>
            <a:ext cx="3143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en-US" altLang="en-US" dirty="0"/>
              <a:t>Corresponding wait-for graph</a:t>
            </a:r>
          </a:p>
        </p:txBody>
      </p:sp>
      <p:pic>
        <p:nvPicPr>
          <p:cNvPr id="66564" name="Picture 1">
            <a:extLst>
              <a:ext uri="{FF2B5EF4-FFF2-40B4-BE49-F238E27FC236}">
                <a16:creationId xmlns:a16="http://schemas.microsoft.com/office/drawing/2014/main" id="{0B62FAF8-3075-42AC-BA0B-5BDEAC7D4D0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43099" y="885825"/>
            <a:ext cx="8734426" cy="4533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424684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A3ED25FA-FD51-4DC3-9667-49F48E298265}"/>
              </a:ext>
            </a:extLst>
          </p:cNvPr>
          <p:cNvSpPr>
            <a:spLocks noGrp="1" noChangeArrowheads="1"/>
          </p:cNvSpPr>
          <p:nvPr>
            <p:ph type="title"/>
          </p:nvPr>
        </p:nvSpPr>
        <p:spPr>
          <a:xfrm>
            <a:off x="2740331" y="131947"/>
            <a:ext cx="7772400" cy="628650"/>
          </a:xfrm>
        </p:spPr>
        <p:txBody>
          <a:bodyPr/>
          <a:lstStyle/>
          <a:p>
            <a:pPr eaLnBrk="1" hangingPunct="1"/>
            <a:r>
              <a:rPr lang="en-US" altLang="en-US" dirty="0"/>
              <a:t>Several Instances of a Resource Type</a:t>
            </a:r>
          </a:p>
        </p:txBody>
      </p:sp>
      <p:sp>
        <p:nvSpPr>
          <p:cNvPr id="68610" name="Rectangle 3">
            <a:extLst>
              <a:ext uri="{FF2B5EF4-FFF2-40B4-BE49-F238E27FC236}">
                <a16:creationId xmlns:a16="http://schemas.microsoft.com/office/drawing/2014/main" id="{A408F457-CD45-48AA-8181-E44F8AA0A577}"/>
              </a:ext>
            </a:extLst>
          </p:cNvPr>
          <p:cNvSpPr>
            <a:spLocks noGrp="1" noChangeArrowheads="1"/>
          </p:cNvSpPr>
          <p:nvPr>
            <p:ph type="body" idx="1"/>
          </p:nvPr>
        </p:nvSpPr>
        <p:spPr>
          <a:xfrm>
            <a:off x="2406651" y="1187451"/>
            <a:ext cx="7580215" cy="3851275"/>
          </a:xfrm>
        </p:spPr>
        <p:txBody>
          <a:bodyPr/>
          <a:lstStyle/>
          <a:p>
            <a:r>
              <a:rPr lang="en-US" altLang="en-US" b="1" dirty="0">
                <a:solidFill>
                  <a:srgbClr val="000000"/>
                </a:solidFill>
              </a:rPr>
              <a:t>Available</a:t>
            </a:r>
            <a:r>
              <a:rPr lang="en-US" altLang="en-US" i="1" dirty="0"/>
              <a:t>:</a:t>
            </a:r>
            <a:r>
              <a:rPr lang="en-US" altLang="en-US" dirty="0"/>
              <a:t>  A vector of length </a:t>
            </a:r>
            <a:r>
              <a:rPr lang="en-US" altLang="en-US" b="1" i="1" dirty="0"/>
              <a:t>m</a:t>
            </a:r>
            <a:r>
              <a:rPr lang="en-US" altLang="en-US" dirty="0"/>
              <a:t> indicates the number of available resources of each type</a:t>
            </a:r>
          </a:p>
          <a:p>
            <a:r>
              <a:rPr lang="en-US" altLang="en-US" b="1" dirty="0">
                <a:solidFill>
                  <a:srgbClr val="000000"/>
                </a:solidFill>
              </a:rPr>
              <a:t>Allocation</a:t>
            </a:r>
            <a:r>
              <a:rPr lang="en-US" altLang="en-US" i="1" dirty="0"/>
              <a:t>:</a:t>
            </a:r>
            <a:r>
              <a:rPr lang="en-US" altLang="en-US" dirty="0"/>
              <a:t>  An </a:t>
            </a:r>
            <a:r>
              <a:rPr lang="en-US" altLang="en-US" b="1" i="1" dirty="0"/>
              <a:t>n </a:t>
            </a:r>
            <a:r>
              <a:rPr lang="en-US" altLang="en-US" b="1" dirty="0"/>
              <a:t>x</a:t>
            </a:r>
            <a:r>
              <a:rPr lang="en-US" altLang="en-US" b="1" i="1" dirty="0"/>
              <a:t> m</a:t>
            </a:r>
            <a:r>
              <a:rPr lang="en-US" altLang="en-US" b="1" dirty="0"/>
              <a:t> </a:t>
            </a:r>
            <a:r>
              <a:rPr lang="en-US" altLang="en-US" dirty="0"/>
              <a:t>matrix defines the number of resources of each type currently allocated to each thread.</a:t>
            </a:r>
          </a:p>
          <a:p>
            <a:r>
              <a:rPr lang="en-US" altLang="en-US" b="1" dirty="0">
                <a:solidFill>
                  <a:srgbClr val="000000"/>
                </a:solidFill>
              </a:rPr>
              <a:t>Request</a:t>
            </a:r>
            <a:r>
              <a:rPr lang="en-US" altLang="en-US" i="1" dirty="0"/>
              <a:t>:</a:t>
            </a:r>
            <a:r>
              <a:rPr lang="en-US" altLang="en-US" dirty="0"/>
              <a:t>  An </a:t>
            </a:r>
            <a:r>
              <a:rPr lang="en-US" altLang="en-US" b="1" i="1" dirty="0"/>
              <a:t>n </a:t>
            </a:r>
            <a:r>
              <a:rPr lang="en-US" altLang="en-US" b="1" dirty="0"/>
              <a:t>x</a:t>
            </a:r>
            <a:r>
              <a:rPr lang="en-US" altLang="en-US" b="1" i="1" dirty="0"/>
              <a:t> m</a:t>
            </a:r>
            <a:r>
              <a:rPr lang="en-US" altLang="en-US" b="1" dirty="0"/>
              <a:t> </a:t>
            </a:r>
            <a:r>
              <a:rPr lang="en-US" altLang="en-US" dirty="0"/>
              <a:t>matrix indicates the current request  of each thread.  If </a:t>
            </a:r>
            <a:r>
              <a:rPr lang="en-US" altLang="en-US" b="1" i="1" dirty="0"/>
              <a:t>Request </a:t>
            </a:r>
            <a:r>
              <a:rPr lang="en-US" altLang="en-US" b="1" dirty="0"/>
              <a:t>[</a:t>
            </a:r>
            <a:r>
              <a:rPr lang="en-US" altLang="en-US" b="1" i="1" dirty="0"/>
              <a:t>i</a:t>
            </a:r>
            <a:r>
              <a:rPr lang="en-US" altLang="en-US" b="1" dirty="0"/>
              <a:t>][</a:t>
            </a:r>
            <a:r>
              <a:rPr lang="en-US" altLang="en-US" b="1" i="1" dirty="0"/>
              <a:t>j</a:t>
            </a:r>
            <a:r>
              <a:rPr lang="en-US" altLang="en-US" b="1" dirty="0"/>
              <a:t>] = </a:t>
            </a:r>
            <a:r>
              <a:rPr lang="en-US" altLang="en-US" b="1" i="1" dirty="0"/>
              <a:t>k</a:t>
            </a:r>
            <a:r>
              <a:rPr lang="en-US" altLang="en-US" dirty="0"/>
              <a:t>, then thread</a:t>
            </a:r>
            <a:r>
              <a:rPr lang="en-US" altLang="en-US" i="1" dirty="0"/>
              <a:t> </a:t>
            </a:r>
            <a:r>
              <a:rPr lang="en-US" altLang="en-US" b="1" i="1" dirty="0" err="1"/>
              <a:t>T</a:t>
            </a:r>
            <a:r>
              <a:rPr lang="en-US" altLang="en-US" b="1" i="1" baseline="-25000" dirty="0" err="1"/>
              <a:t>i</a:t>
            </a:r>
            <a:r>
              <a:rPr lang="en-US" altLang="en-US" dirty="0"/>
              <a:t> is requesting</a:t>
            </a:r>
            <a:r>
              <a:rPr lang="en-US" altLang="en-US" i="1" dirty="0"/>
              <a:t> </a:t>
            </a:r>
            <a:r>
              <a:rPr lang="en-US" altLang="en-US" b="1" i="1" dirty="0"/>
              <a:t>k</a:t>
            </a:r>
            <a:r>
              <a:rPr lang="en-US" altLang="en-US" dirty="0"/>
              <a:t> more instances of resource type </a:t>
            </a:r>
            <a:r>
              <a:rPr lang="en-US" altLang="en-US" b="1" i="1" dirty="0" err="1"/>
              <a:t>R</a:t>
            </a:r>
            <a:r>
              <a:rPr lang="en-US" altLang="en-US" b="1" i="1" baseline="-25000" dirty="0" err="1"/>
              <a:t>j</a:t>
            </a:r>
            <a:r>
              <a:rPr lang="en-US" altLang="en-US" dirty="0"/>
              <a:t>.</a:t>
            </a:r>
          </a:p>
        </p:txBody>
      </p:sp>
    </p:spTree>
    <p:extLst>
      <p:ext uri="{BB962C8B-B14F-4D97-AF65-F5344CB8AC3E}">
        <p14:creationId xmlns:p14="http://schemas.microsoft.com/office/powerpoint/2010/main" val="14334841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6A086C2B-A5AE-4F5F-8E2A-3790509946FF}"/>
              </a:ext>
            </a:extLst>
          </p:cNvPr>
          <p:cNvSpPr>
            <a:spLocks noGrp="1" noChangeArrowheads="1"/>
          </p:cNvSpPr>
          <p:nvPr>
            <p:ph type="title"/>
          </p:nvPr>
        </p:nvSpPr>
        <p:spPr>
          <a:xfrm>
            <a:off x="2255415" y="236380"/>
            <a:ext cx="7899400" cy="576263"/>
          </a:xfrm>
        </p:spPr>
        <p:txBody>
          <a:bodyPr/>
          <a:lstStyle/>
          <a:p>
            <a:pPr eaLnBrk="1" hangingPunct="1"/>
            <a:r>
              <a:rPr lang="en-US" altLang="en-US" dirty="0"/>
              <a:t>Detection Algorithm</a:t>
            </a:r>
          </a:p>
        </p:txBody>
      </p:sp>
      <p:sp>
        <p:nvSpPr>
          <p:cNvPr id="70658" name="Rectangle 3">
            <a:extLst>
              <a:ext uri="{FF2B5EF4-FFF2-40B4-BE49-F238E27FC236}">
                <a16:creationId xmlns:a16="http://schemas.microsoft.com/office/drawing/2014/main" id="{4F25B4FD-55C6-400C-B972-1DEDC818534C}"/>
              </a:ext>
            </a:extLst>
          </p:cNvPr>
          <p:cNvSpPr>
            <a:spLocks noGrp="1" noChangeArrowheads="1"/>
          </p:cNvSpPr>
          <p:nvPr>
            <p:ph type="body" idx="1"/>
          </p:nvPr>
        </p:nvSpPr>
        <p:spPr>
          <a:xfrm>
            <a:off x="2519363" y="1233489"/>
            <a:ext cx="7753350" cy="4530725"/>
          </a:xfrm>
        </p:spPr>
        <p:txBody>
          <a:bodyPr/>
          <a:lstStyle/>
          <a:p>
            <a:pPr>
              <a:buFont typeface="+mj-lt"/>
              <a:buAutoNum type="arabicPeriod"/>
            </a:pPr>
            <a:r>
              <a:rPr lang="en-US" altLang="en-US" dirty="0"/>
              <a:t>Let </a:t>
            </a:r>
            <a:r>
              <a:rPr lang="en-US" altLang="en-US" b="1" i="1" dirty="0"/>
              <a:t>Work</a:t>
            </a:r>
            <a:r>
              <a:rPr lang="en-US" altLang="en-US" dirty="0"/>
              <a:t> and </a:t>
            </a:r>
            <a:r>
              <a:rPr lang="en-US" altLang="en-US" b="1" i="1" dirty="0"/>
              <a:t>Finish</a:t>
            </a:r>
            <a:r>
              <a:rPr lang="en-US" altLang="en-US" dirty="0"/>
              <a:t> be vectors of length </a:t>
            </a:r>
            <a:r>
              <a:rPr lang="en-US" altLang="en-US" b="1" i="1" dirty="0"/>
              <a:t>m</a:t>
            </a:r>
            <a:r>
              <a:rPr lang="en-US" altLang="en-US" dirty="0"/>
              <a:t> and </a:t>
            </a:r>
            <a:r>
              <a:rPr lang="en-US" altLang="en-US" b="1" i="1" dirty="0"/>
              <a:t>n</a:t>
            </a:r>
            <a:r>
              <a:rPr lang="en-US" altLang="en-US" dirty="0"/>
              <a:t>, respectively Initialize:</a:t>
            </a:r>
          </a:p>
          <a:p>
            <a:pPr marL="850900" lvl="1" indent="-393700">
              <a:buFont typeface="+mj-lt"/>
              <a:buAutoNum type="alphaLcParenR"/>
            </a:pPr>
            <a:r>
              <a:rPr lang="en-US" altLang="en-US" i="1" dirty="0"/>
              <a:t> </a:t>
            </a:r>
            <a:r>
              <a:rPr lang="en-US" altLang="en-US" b="1" i="1" dirty="0"/>
              <a:t>Work</a:t>
            </a:r>
            <a:r>
              <a:rPr lang="en-US" altLang="en-US" b="1" dirty="0"/>
              <a:t> = </a:t>
            </a:r>
            <a:r>
              <a:rPr lang="en-US" altLang="en-US" b="1" i="1" dirty="0"/>
              <a:t>Available</a:t>
            </a:r>
            <a:endParaRPr lang="en-US" altLang="en-US" b="1" dirty="0"/>
          </a:p>
          <a:p>
            <a:pPr marL="850900" lvl="1" indent="-393700">
              <a:buFont typeface="+mj-lt"/>
              <a:buAutoNum type="alphaLcParenR"/>
            </a:pPr>
            <a:r>
              <a:rPr lang="en-US" altLang="en-US" dirty="0"/>
              <a:t> For </a:t>
            </a:r>
            <a:r>
              <a:rPr lang="en-US" altLang="en-US" b="1" i="1" dirty="0"/>
              <a:t>i</a:t>
            </a:r>
            <a:r>
              <a:rPr lang="en-US" altLang="en-US" b="1" dirty="0"/>
              <a:t> = 1,2, …,</a:t>
            </a:r>
            <a:r>
              <a:rPr lang="en-US" altLang="en-US" b="1" i="1" dirty="0"/>
              <a:t> n</a:t>
            </a:r>
            <a:r>
              <a:rPr lang="en-US" altLang="en-US" dirty="0"/>
              <a:t>, if </a:t>
            </a:r>
            <a:r>
              <a:rPr lang="en-US" altLang="en-US" b="1" i="1" dirty="0" err="1"/>
              <a:t>Allocation</a:t>
            </a:r>
            <a:r>
              <a:rPr lang="en-US" altLang="en-US" b="1" i="1" baseline="-25000" dirty="0" err="1"/>
              <a:t>i</a:t>
            </a:r>
            <a:r>
              <a:rPr lang="en-US" altLang="en-US" b="1" dirty="0"/>
              <a:t> </a:t>
            </a:r>
            <a:r>
              <a:rPr lang="en-US" altLang="en-US" b="1" dirty="0">
                <a:sym typeface="Symbol" panose="05050102010706020507" pitchFamily="18" charset="2"/>
              </a:rPr>
              <a:t> 0</a:t>
            </a:r>
            <a:r>
              <a:rPr lang="en-US" altLang="en-US" dirty="0">
                <a:sym typeface="Symbol" panose="05050102010706020507" pitchFamily="18" charset="2"/>
              </a:rPr>
              <a:t>, then </a:t>
            </a:r>
            <a:br>
              <a:rPr lang="en-US" altLang="en-US" dirty="0">
                <a:sym typeface="Symbol" panose="05050102010706020507" pitchFamily="18" charset="2"/>
              </a:rPr>
            </a:br>
            <a:r>
              <a:rPr lang="en-US" altLang="en-US" dirty="0">
                <a:sym typeface="Symbol" panose="05050102010706020507" pitchFamily="18" charset="2"/>
              </a:rPr>
              <a:t> </a:t>
            </a:r>
            <a:r>
              <a:rPr lang="en-US" altLang="en-US" b="1" i="1" dirty="0">
                <a:sym typeface="Symbol" panose="05050102010706020507" pitchFamily="18" charset="2"/>
              </a:rPr>
              <a:t>Finish</a:t>
            </a:r>
            <a:r>
              <a:rPr lang="en-US" altLang="en-US" b="1" dirty="0">
                <a:sym typeface="Symbol" panose="05050102010706020507" pitchFamily="18" charset="2"/>
              </a:rPr>
              <a:t>[i] </a:t>
            </a:r>
            <a:r>
              <a:rPr lang="en-US" altLang="en-US" b="1" i="1" dirty="0">
                <a:sym typeface="Symbol" panose="05050102010706020507" pitchFamily="18" charset="2"/>
              </a:rPr>
              <a:t>= false</a:t>
            </a:r>
            <a:r>
              <a:rPr lang="en-US" altLang="en-US" dirty="0">
                <a:sym typeface="Symbol" panose="05050102010706020507" pitchFamily="18" charset="2"/>
              </a:rPr>
              <a:t>; otherwise, </a:t>
            </a:r>
            <a:r>
              <a:rPr lang="en-US" altLang="en-US" b="1" i="1" dirty="0">
                <a:sym typeface="Symbol" panose="05050102010706020507" pitchFamily="18" charset="2"/>
              </a:rPr>
              <a:t>Finish</a:t>
            </a:r>
            <a:r>
              <a:rPr lang="en-US" altLang="en-US" b="1" dirty="0">
                <a:sym typeface="Symbol" panose="05050102010706020507" pitchFamily="18" charset="2"/>
              </a:rPr>
              <a:t>[i] = </a:t>
            </a:r>
            <a:r>
              <a:rPr lang="en-US" altLang="en-US" b="1" i="1" dirty="0">
                <a:sym typeface="Symbol" panose="05050102010706020507" pitchFamily="18" charset="2"/>
              </a:rPr>
              <a:t>true</a:t>
            </a:r>
          </a:p>
          <a:p>
            <a:pPr marL="850900" lvl="1" indent="-393700">
              <a:buNone/>
            </a:pPr>
            <a:endParaRPr lang="en-US" altLang="en-US" dirty="0">
              <a:sym typeface="Symbol" panose="05050102010706020507" pitchFamily="18" charset="2"/>
            </a:endParaRPr>
          </a:p>
          <a:p>
            <a:pPr>
              <a:buFont typeface="+mj-lt"/>
              <a:buAutoNum type="arabicPeriod"/>
            </a:pPr>
            <a:r>
              <a:rPr lang="en-US" altLang="en-US" dirty="0"/>
              <a:t>Find an index </a:t>
            </a:r>
            <a:r>
              <a:rPr lang="en-US" altLang="en-US" b="1" i="1" dirty="0"/>
              <a:t>i</a:t>
            </a:r>
            <a:r>
              <a:rPr lang="en-US" altLang="en-US" i="1" dirty="0"/>
              <a:t> </a:t>
            </a:r>
            <a:r>
              <a:rPr lang="en-US" altLang="en-US" dirty="0"/>
              <a:t>such that both:</a:t>
            </a:r>
          </a:p>
          <a:p>
            <a:pPr marL="850900" lvl="1" indent="-393700">
              <a:buFont typeface="+mj-lt"/>
              <a:buAutoNum type="alphaLcParenR"/>
            </a:pPr>
            <a:r>
              <a:rPr lang="en-US" altLang="en-US" i="1" dirty="0"/>
              <a:t> </a:t>
            </a:r>
            <a:r>
              <a:rPr lang="en-US" altLang="en-US" b="1" i="1" dirty="0"/>
              <a:t>Finish</a:t>
            </a:r>
            <a:r>
              <a:rPr lang="en-US" altLang="en-US" b="1" dirty="0"/>
              <a:t>[</a:t>
            </a:r>
            <a:r>
              <a:rPr lang="en-US" altLang="en-US" b="1" i="1" dirty="0"/>
              <a:t>i</a:t>
            </a:r>
            <a:r>
              <a:rPr lang="en-US" altLang="en-US" b="1" dirty="0"/>
              <a:t>] == </a:t>
            </a:r>
            <a:r>
              <a:rPr lang="en-US" altLang="en-US" b="1" i="1" dirty="0"/>
              <a:t>false</a:t>
            </a:r>
            <a:endParaRPr lang="en-US" altLang="en-US" b="1" dirty="0"/>
          </a:p>
          <a:p>
            <a:pPr marL="850900" lvl="1" indent="-393700">
              <a:buFont typeface="+mj-lt"/>
              <a:buAutoNum type="alphaLcParenR"/>
            </a:pPr>
            <a:r>
              <a:rPr lang="en-US" altLang="en-US" i="1" dirty="0"/>
              <a:t> </a:t>
            </a:r>
            <a:r>
              <a:rPr lang="en-US" altLang="en-US" b="1" i="1" dirty="0" err="1"/>
              <a:t>Request</a:t>
            </a:r>
            <a:r>
              <a:rPr lang="en-US" altLang="en-US" b="1" i="1" baseline="-25000" dirty="0" err="1"/>
              <a:t>i</a:t>
            </a:r>
            <a:r>
              <a:rPr lang="en-US" altLang="en-US" b="1" dirty="0"/>
              <a:t> </a:t>
            </a:r>
            <a:r>
              <a:rPr lang="en-US" altLang="en-US" b="1" dirty="0">
                <a:sym typeface="Symbol" panose="05050102010706020507" pitchFamily="18" charset="2"/>
              </a:rPr>
              <a:t> </a:t>
            </a:r>
            <a:r>
              <a:rPr lang="en-US" altLang="en-US" b="1" i="1" dirty="0">
                <a:sym typeface="Symbol" panose="05050102010706020507" pitchFamily="18" charset="2"/>
              </a:rPr>
              <a:t>Work</a:t>
            </a:r>
            <a:br>
              <a:rPr lang="en-US" altLang="en-US" b="1" i="1" dirty="0">
                <a:sym typeface="Symbol" panose="05050102010706020507" pitchFamily="18" charset="2"/>
              </a:rPr>
            </a:br>
            <a:endParaRPr lang="en-US" altLang="en-US" b="1" dirty="0">
              <a:sym typeface="Symbol" panose="05050102010706020507" pitchFamily="18" charset="2"/>
            </a:endParaRPr>
          </a:p>
          <a:p>
            <a:pPr marL="850900" lvl="1" indent="-393700">
              <a:buNone/>
            </a:pPr>
            <a:r>
              <a:rPr lang="en-US" altLang="en-US" dirty="0">
                <a:sym typeface="Symbol" panose="05050102010706020507" pitchFamily="18" charset="2"/>
              </a:rPr>
              <a:t>If no such </a:t>
            </a:r>
            <a:r>
              <a:rPr lang="en-US" altLang="en-US" b="1" i="1" dirty="0">
                <a:sym typeface="Symbol" panose="05050102010706020507" pitchFamily="18" charset="2"/>
              </a:rPr>
              <a:t>i</a:t>
            </a:r>
            <a:r>
              <a:rPr lang="en-US" altLang="en-US" b="1" dirty="0">
                <a:sym typeface="Symbol" panose="05050102010706020507" pitchFamily="18" charset="2"/>
              </a:rPr>
              <a:t> </a:t>
            </a:r>
            <a:r>
              <a:rPr lang="en-US" altLang="en-US" dirty="0">
                <a:sym typeface="Symbol" panose="05050102010706020507" pitchFamily="18" charset="2"/>
              </a:rPr>
              <a:t>exists, go to step 4</a:t>
            </a:r>
            <a:endParaRPr lang="en-US" altLang="en-US" dirty="0"/>
          </a:p>
        </p:txBody>
      </p:sp>
    </p:spTree>
    <p:extLst>
      <p:ext uri="{BB962C8B-B14F-4D97-AF65-F5344CB8AC3E}">
        <p14:creationId xmlns:p14="http://schemas.microsoft.com/office/powerpoint/2010/main" val="291254335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AC8DFB5C-1F8D-4190-83A2-9517D9381473}"/>
              </a:ext>
            </a:extLst>
          </p:cNvPr>
          <p:cNvSpPr>
            <a:spLocks noGrp="1" noChangeArrowheads="1"/>
          </p:cNvSpPr>
          <p:nvPr>
            <p:ph type="title"/>
          </p:nvPr>
        </p:nvSpPr>
        <p:spPr>
          <a:xfrm>
            <a:off x="2652714" y="214313"/>
            <a:ext cx="7558087" cy="576262"/>
          </a:xfrm>
        </p:spPr>
        <p:txBody>
          <a:bodyPr/>
          <a:lstStyle/>
          <a:p>
            <a:pPr eaLnBrk="1" hangingPunct="1"/>
            <a:r>
              <a:rPr lang="en-US" altLang="en-US" dirty="0"/>
              <a:t>Detection Algorithm (Cont.)</a:t>
            </a:r>
          </a:p>
        </p:txBody>
      </p:sp>
      <p:sp>
        <p:nvSpPr>
          <p:cNvPr id="72706" name="Rectangle 3">
            <a:extLst>
              <a:ext uri="{FF2B5EF4-FFF2-40B4-BE49-F238E27FC236}">
                <a16:creationId xmlns:a16="http://schemas.microsoft.com/office/drawing/2014/main" id="{1590227E-597D-4241-9B48-CEE17B87BD41}"/>
              </a:ext>
            </a:extLst>
          </p:cNvPr>
          <p:cNvSpPr>
            <a:spLocks noGrp="1" noChangeArrowheads="1"/>
          </p:cNvSpPr>
          <p:nvPr>
            <p:ph type="body" idx="1"/>
          </p:nvPr>
        </p:nvSpPr>
        <p:spPr>
          <a:xfrm>
            <a:off x="2471738" y="1171576"/>
            <a:ext cx="7218362" cy="2297113"/>
          </a:xfrm>
        </p:spPr>
        <p:txBody>
          <a:bodyPr/>
          <a:lstStyle/>
          <a:p>
            <a:pPr>
              <a:lnSpc>
                <a:spcPct val="90000"/>
              </a:lnSpc>
              <a:buAutoNum type="arabicPeriod" startAt="3"/>
            </a:pPr>
            <a:r>
              <a:rPr lang="en-US" altLang="en-US" i="1" dirty="0"/>
              <a:t> </a:t>
            </a:r>
            <a:r>
              <a:rPr lang="en-US" altLang="en-US" b="1" i="1" dirty="0"/>
              <a:t>Work</a:t>
            </a:r>
            <a:r>
              <a:rPr lang="en-US" altLang="en-US" b="1" dirty="0"/>
              <a:t> = </a:t>
            </a:r>
            <a:r>
              <a:rPr lang="en-US" altLang="en-US" b="1" i="1" dirty="0"/>
              <a:t>Work</a:t>
            </a:r>
            <a:r>
              <a:rPr lang="en-US" altLang="en-US" b="1" dirty="0"/>
              <a:t> + </a:t>
            </a:r>
            <a:r>
              <a:rPr lang="en-US" altLang="en-US" b="1" i="1" dirty="0" err="1"/>
              <a:t>Allocation</a:t>
            </a:r>
            <a:r>
              <a:rPr lang="en-US" altLang="en-US" b="1" i="1" baseline="-25000" dirty="0" err="1"/>
              <a:t>i</a:t>
            </a:r>
            <a:br>
              <a:rPr lang="en-US" altLang="en-US" b="1" dirty="0"/>
            </a:br>
            <a:r>
              <a:rPr lang="en-US" altLang="en-US" b="1" dirty="0"/>
              <a:t>     </a:t>
            </a:r>
            <a:r>
              <a:rPr lang="en-US" altLang="en-US" b="1" i="1" dirty="0"/>
              <a:t>Finish</a:t>
            </a:r>
            <a:r>
              <a:rPr lang="en-US" altLang="en-US" b="1" dirty="0"/>
              <a:t>[</a:t>
            </a:r>
            <a:r>
              <a:rPr lang="en-US" altLang="en-US" b="1" i="1" dirty="0"/>
              <a:t>i</a:t>
            </a:r>
            <a:r>
              <a:rPr lang="en-US" altLang="en-US" b="1" dirty="0"/>
              <a:t>] = </a:t>
            </a:r>
            <a:r>
              <a:rPr lang="en-US" altLang="en-US" b="1" i="1" dirty="0"/>
              <a:t>true</a:t>
            </a:r>
            <a:br>
              <a:rPr lang="en-US" altLang="en-US" b="1" dirty="0"/>
            </a:br>
            <a:r>
              <a:rPr lang="en-US" altLang="en-US" b="1" dirty="0"/>
              <a:t>     </a:t>
            </a:r>
            <a:r>
              <a:rPr lang="en-US" altLang="en-US" dirty="0"/>
              <a:t>go to step 2</a:t>
            </a:r>
            <a:br>
              <a:rPr lang="en-US" altLang="en-US" dirty="0"/>
            </a:br>
            <a:r>
              <a:rPr lang="en-US" altLang="en-US" dirty="0"/>
              <a:t> </a:t>
            </a:r>
          </a:p>
          <a:p>
            <a:pPr>
              <a:lnSpc>
                <a:spcPct val="90000"/>
              </a:lnSpc>
              <a:buAutoNum type="arabicPeriod" startAt="3"/>
            </a:pPr>
            <a:r>
              <a:rPr lang="en-US" altLang="en-US" dirty="0"/>
              <a:t>If </a:t>
            </a:r>
            <a:r>
              <a:rPr lang="en-US" altLang="en-US" b="1" i="1" dirty="0"/>
              <a:t>Finish[i] == false</a:t>
            </a:r>
            <a:r>
              <a:rPr lang="en-US" altLang="en-US" dirty="0"/>
              <a:t>, for some </a:t>
            </a:r>
            <a:r>
              <a:rPr lang="en-US" altLang="en-US" b="1" i="1" dirty="0"/>
              <a:t>i</a:t>
            </a:r>
            <a:r>
              <a:rPr lang="en-US" altLang="en-US" dirty="0"/>
              <a:t>, 1 </a:t>
            </a:r>
            <a:r>
              <a:rPr lang="en-US" altLang="en-US" dirty="0">
                <a:sym typeface="Symbol" panose="05050102010706020507" pitchFamily="18" charset="2"/>
              </a:rPr>
              <a:t> </a:t>
            </a:r>
            <a:r>
              <a:rPr lang="en-US" altLang="en-US" b="1" i="1" dirty="0">
                <a:sym typeface="Symbol" panose="05050102010706020507" pitchFamily="18" charset="2"/>
              </a:rPr>
              <a:t>i</a:t>
            </a:r>
            <a:r>
              <a:rPr lang="en-US" altLang="en-US" dirty="0">
                <a:sym typeface="Symbol" panose="05050102010706020507" pitchFamily="18" charset="2"/>
              </a:rPr>
              <a:t>   </a:t>
            </a:r>
            <a:r>
              <a:rPr lang="en-US" altLang="en-US" b="1" i="1" dirty="0">
                <a:sym typeface="Symbol" panose="05050102010706020507" pitchFamily="18" charset="2"/>
              </a:rPr>
              <a:t>n</a:t>
            </a:r>
            <a:r>
              <a:rPr lang="en-US" altLang="en-US" dirty="0">
                <a:sym typeface="Symbol" panose="05050102010706020507" pitchFamily="18" charset="2"/>
              </a:rPr>
              <a:t>, then the system is in   deadlock state. Moreover, if </a:t>
            </a:r>
            <a:r>
              <a:rPr lang="en-US" altLang="en-US" b="1" i="1" dirty="0">
                <a:sym typeface="Symbol" panose="05050102010706020507" pitchFamily="18" charset="2"/>
              </a:rPr>
              <a:t>Finish</a:t>
            </a:r>
            <a:r>
              <a:rPr lang="en-US" altLang="en-US" b="1" dirty="0">
                <a:sym typeface="Symbol" panose="05050102010706020507" pitchFamily="18" charset="2"/>
              </a:rPr>
              <a:t>[</a:t>
            </a:r>
            <a:r>
              <a:rPr lang="en-US" altLang="en-US" b="1" i="1" dirty="0">
                <a:sym typeface="Symbol" panose="05050102010706020507" pitchFamily="18" charset="2"/>
              </a:rPr>
              <a:t>i</a:t>
            </a:r>
            <a:r>
              <a:rPr lang="en-US" altLang="en-US" b="1" dirty="0">
                <a:sym typeface="Symbol" panose="05050102010706020507" pitchFamily="18" charset="2"/>
              </a:rPr>
              <a:t>] == </a:t>
            </a:r>
            <a:r>
              <a:rPr lang="en-US" altLang="en-US" b="1" i="1" dirty="0">
                <a:sym typeface="Symbol" panose="05050102010706020507" pitchFamily="18" charset="2"/>
              </a:rPr>
              <a:t>false</a:t>
            </a:r>
            <a:r>
              <a:rPr lang="en-US" altLang="en-US" dirty="0">
                <a:sym typeface="Symbol" panose="05050102010706020507" pitchFamily="18" charset="2"/>
              </a:rPr>
              <a:t>, then </a:t>
            </a:r>
            <a:r>
              <a:rPr lang="en-US" altLang="en-US" b="1" i="1" dirty="0" err="1">
                <a:sym typeface="Symbol" panose="05050102010706020507" pitchFamily="18" charset="2"/>
              </a:rPr>
              <a:t>T</a:t>
            </a:r>
            <a:r>
              <a:rPr lang="en-US" altLang="en-US" b="1" i="1" baseline="-25000" dirty="0" err="1">
                <a:sym typeface="Symbol" panose="05050102010706020507" pitchFamily="18" charset="2"/>
              </a:rPr>
              <a:t>i</a:t>
            </a:r>
            <a:r>
              <a:rPr lang="en-US" altLang="en-US" dirty="0">
                <a:sym typeface="Symbol" panose="05050102010706020507" pitchFamily="18" charset="2"/>
              </a:rPr>
              <a:t> is deadlocked</a:t>
            </a:r>
          </a:p>
          <a:p>
            <a:pPr>
              <a:lnSpc>
                <a:spcPct val="90000"/>
              </a:lnSpc>
              <a:buFont typeface="Monotype Sorts" pitchFamily="-84" charset="2"/>
              <a:buNone/>
            </a:pPr>
            <a:r>
              <a:rPr lang="en-US" altLang="en-US" dirty="0">
                <a:sym typeface="Symbol" panose="05050102010706020507" pitchFamily="18" charset="2"/>
              </a:rPr>
              <a:t>	</a:t>
            </a:r>
            <a:endParaRPr lang="en-US" altLang="en-US" dirty="0"/>
          </a:p>
        </p:txBody>
      </p:sp>
      <p:sp>
        <p:nvSpPr>
          <p:cNvPr id="72707" name="Text Box 4">
            <a:extLst>
              <a:ext uri="{FF2B5EF4-FFF2-40B4-BE49-F238E27FC236}">
                <a16:creationId xmlns:a16="http://schemas.microsoft.com/office/drawing/2014/main" id="{96085A5E-EEBE-4448-A0CB-F924E9CDA054}"/>
              </a:ext>
            </a:extLst>
          </p:cNvPr>
          <p:cNvSpPr txBox="1">
            <a:spLocks noChangeArrowheads="1"/>
          </p:cNvSpPr>
          <p:nvPr/>
        </p:nvSpPr>
        <p:spPr bwMode="auto">
          <a:xfrm>
            <a:off x="2376488" y="3824288"/>
            <a:ext cx="7694612"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b="1">
                <a:solidFill>
                  <a:srgbClr val="FF0066"/>
                </a:solidFill>
                <a:sym typeface="Symbol" panose="05050102010706020507" pitchFamily="18" charset="2"/>
              </a:rPr>
              <a:t>Algorithm requires an order of O(</a:t>
            </a:r>
            <a:r>
              <a:rPr kumimoji="0" lang="en-US" altLang="en-US" b="1" i="1">
                <a:solidFill>
                  <a:srgbClr val="FF0066"/>
                </a:solidFill>
                <a:sym typeface="Symbol" panose="05050102010706020507" pitchFamily="18" charset="2"/>
              </a:rPr>
              <a:t>m </a:t>
            </a:r>
            <a:r>
              <a:rPr kumimoji="0" lang="en-US" altLang="en-US" b="1">
                <a:solidFill>
                  <a:srgbClr val="FF0066"/>
                </a:solidFill>
                <a:sym typeface="Symbol" panose="05050102010706020507" pitchFamily="18" charset="2"/>
              </a:rPr>
              <a:t>x</a:t>
            </a:r>
            <a:r>
              <a:rPr kumimoji="0" lang="en-US" altLang="en-US" b="1" i="1">
                <a:solidFill>
                  <a:srgbClr val="FF0066"/>
                </a:solidFill>
                <a:sym typeface="Symbol" panose="05050102010706020507" pitchFamily="18" charset="2"/>
              </a:rPr>
              <a:t> n</a:t>
            </a:r>
            <a:r>
              <a:rPr kumimoji="0" lang="en-US" altLang="en-US" b="1" baseline="30000">
                <a:solidFill>
                  <a:srgbClr val="FF0066"/>
                </a:solidFill>
                <a:sym typeface="Symbol" panose="05050102010706020507" pitchFamily="18" charset="2"/>
              </a:rPr>
              <a:t>2</a:t>
            </a:r>
            <a:r>
              <a:rPr kumimoji="0" lang="en-US" altLang="en-US" b="1">
                <a:solidFill>
                  <a:srgbClr val="FF0066"/>
                </a:solidFill>
                <a:sym typeface="Symbol" panose="05050102010706020507" pitchFamily="18" charset="2"/>
              </a:rPr>
              <a:t>) operations to detect whether the system is in deadlocked state</a:t>
            </a:r>
            <a:endParaRPr kumimoji="0" lang="en-US" altLang="en-US">
              <a:solidFill>
                <a:srgbClr val="FF0066"/>
              </a:solidFill>
            </a:endParaRPr>
          </a:p>
          <a:p>
            <a:pPr>
              <a:spcBef>
                <a:spcPct val="50000"/>
              </a:spcBef>
              <a:buClrTx/>
              <a:buSzTx/>
              <a:buFontTx/>
              <a:buNone/>
            </a:pPr>
            <a:endParaRPr kumimoji="0" lang="en-US" altLang="en-US">
              <a:solidFill>
                <a:srgbClr val="FF0066"/>
              </a:solidFill>
            </a:endParaRPr>
          </a:p>
        </p:txBody>
      </p:sp>
    </p:spTree>
    <p:extLst>
      <p:ext uri="{BB962C8B-B14F-4D97-AF65-F5344CB8AC3E}">
        <p14:creationId xmlns:p14="http://schemas.microsoft.com/office/powerpoint/2010/main" val="420449585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800984523"/>
              </p:ext>
            </p:extLst>
          </p:nvPr>
        </p:nvGraphicFramePr>
        <p:xfrm>
          <a:off x="1676401" y="2905530"/>
          <a:ext cx="8667750" cy="3779520"/>
        </p:xfrm>
        <a:graphic>
          <a:graphicData uri="http://schemas.openxmlformats.org/drawingml/2006/table">
            <a:tbl>
              <a:tblPr firstRow="1" bandRow="1">
                <a:tableStyleId>{5C22544A-7EE6-4342-B048-85BDC9FD1C3A}</a:tableStyleId>
              </a:tblPr>
              <a:tblGrid>
                <a:gridCol w="2889250">
                  <a:extLst>
                    <a:ext uri="{9D8B030D-6E8A-4147-A177-3AD203B41FA5}">
                      <a16:colId xmlns:a16="http://schemas.microsoft.com/office/drawing/2014/main" val="20000"/>
                    </a:ext>
                  </a:extLst>
                </a:gridCol>
                <a:gridCol w="2889250">
                  <a:extLst>
                    <a:ext uri="{9D8B030D-6E8A-4147-A177-3AD203B41FA5}">
                      <a16:colId xmlns:a16="http://schemas.microsoft.com/office/drawing/2014/main" val="20001"/>
                    </a:ext>
                  </a:extLst>
                </a:gridCol>
                <a:gridCol w="2889250">
                  <a:extLst>
                    <a:ext uri="{9D8B030D-6E8A-4147-A177-3AD203B41FA5}">
                      <a16:colId xmlns:a16="http://schemas.microsoft.com/office/drawing/2014/main" val="20002"/>
                    </a:ext>
                  </a:extLst>
                </a:gridCol>
              </a:tblGrid>
              <a:tr h="3529012">
                <a:tc>
                  <a:txBody>
                    <a:bodyPr/>
                    <a:lstStyle/>
                    <a:p>
                      <a:r>
                        <a:rPr lang="en-US" dirty="0"/>
                        <a:t>Work = Available</a:t>
                      </a:r>
                    </a:p>
                    <a:p>
                      <a:r>
                        <a:rPr lang="en-US" altLang="en-US" sz="1800" b="1" i="1" dirty="0"/>
                        <a:t>Finish </a:t>
                      </a:r>
                      <a:r>
                        <a:rPr lang="en-US" altLang="en-US" sz="1800" b="1" dirty="0"/>
                        <a:t>[</a:t>
                      </a:r>
                      <a:r>
                        <a:rPr lang="en-US" altLang="en-US" sz="1800" b="1" i="1" dirty="0" err="1"/>
                        <a:t>i</a:t>
                      </a:r>
                      <a:r>
                        <a:rPr lang="en-US" altLang="en-US" sz="1800" b="1" dirty="0"/>
                        <a:t>] =</a:t>
                      </a:r>
                      <a:r>
                        <a:rPr lang="en-US" altLang="en-US" sz="1800" b="1" i="1" dirty="0"/>
                        <a:t> false </a:t>
                      </a:r>
                    </a:p>
                    <a:p>
                      <a:r>
                        <a:rPr lang="en-US" altLang="en-US" sz="1800" b="1" i="1" u="sng" dirty="0"/>
                        <a:t>T0</a:t>
                      </a:r>
                    </a:p>
                    <a:p>
                      <a:pPr marL="57150" lvl="1" indent="0">
                        <a:lnSpc>
                          <a:spcPct val="90000"/>
                        </a:lnSpc>
                        <a:buFont typeface="Monotype Sorts" pitchFamily="-84" charset="2"/>
                        <a:buNone/>
                      </a:pPr>
                      <a:r>
                        <a:rPr lang="en-US" altLang="en-US" sz="2000" b="1" i="1" dirty="0"/>
                        <a:t>Finish</a:t>
                      </a:r>
                      <a:r>
                        <a:rPr lang="en-US" altLang="en-US" sz="2000" b="1" dirty="0"/>
                        <a:t> [</a:t>
                      </a:r>
                      <a:r>
                        <a:rPr lang="en-US" altLang="en-US" sz="2000" b="1" i="1" dirty="0" err="1"/>
                        <a:t>i</a:t>
                      </a:r>
                      <a:r>
                        <a:rPr lang="en-US" altLang="en-US" sz="2000" b="1" dirty="0"/>
                        <a:t>] = </a:t>
                      </a:r>
                      <a:r>
                        <a:rPr lang="en-US" altLang="en-US" sz="2000" b="1" i="1" dirty="0"/>
                        <a:t>false</a:t>
                      </a:r>
                      <a:endParaRPr lang="en-US" altLang="en-US" sz="2000" b="1" i="0" dirty="0"/>
                    </a:p>
                    <a:p>
                      <a:pPr marL="57150" lvl="1" indent="0">
                        <a:lnSpc>
                          <a:spcPct val="90000"/>
                        </a:lnSpc>
                        <a:buFont typeface="Monotype Sorts" pitchFamily="-84" charset="2"/>
                        <a:buNone/>
                      </a:pPr>
                      <a:r>
                        <a:rPr lang="en-US" altLang="en-US" sz="2000" b="1" i="1" dirty="0" err="1"/>
                        <a:t>Request</a:t>
                      </a:r>
                      <a:r>
                        <a:rPr lang="en-US" altLang="en-US" sz="2000" b="1" i="1" baseline="-25000" dirty="0" err="1"/>
                        <a:t>i</a:t>
                      </a:r>
                      <a:r>
                        <a:rPr lang="en-US" altLang="en-US" sz="2000" b="1" dirty="0"/>
                        <a:t> </a:t>
                      </a:r>
                      <a:r>
                        <a:rPr lang="en-US" altLang="en-US" sz="2000" b="1" dirty="0">
                          <a:sym typeface="Symbol" panose="05050102010706020507" pitchFamily="18" charset="2"/>
                        </a:rPr>
                        <a:t> </a:t>
                      </a:r>
                      <a:r>
                        <a:rPr lang="en-US" altLang="en-US" sz="2000" b="1" i="1" dirty="0">
                          <a:sym typeface="Symbol" panose="05050102010706020507" pitchFamily="18" charset="2"/>
                        </a:rPr>
                        <a:t>Work</a:t>
                      </a:r>
                    </a:p>
                    <a:p>
                      <a:pPr marL="57150" lvl="1" indent="0">
                        <a:lnSpc>
                          <a:spcPct val="90000"/>
                        </a:lnSpc>
                        <a:buFont typeface="Monotype Sorts" pitchFamily="-84" charset="2"/>
                        <a:buNone/>
                      </a:pPr>
                      <a:endParaRPr lang="en-US" altLang="en-US" sz="2000" b="1" i="1" dirty="0">
                        <a:sym typeface="Symbol" panose="05050102010706020507" pitchFamily="18" charset="2"/>
                      </a:endParaRPr>
                    </a:p>
                    <a:p>
                      <a:pPr marL="57150" lvl="1" indent="0">
                        <a:lnSpc>
                          <a:spcPct val="90000"/>
                        </a:lnSpc>
                        <a:buFont typeface="Monotype Sorts" pitchFamily="-84" charset="2"/>
                        <a:buNone/>
                      </a:pPr>
                      <a:endParaRPr lang="en-US" altLang="en-US" sz="2000" b="1" i="1" dirty="0">
                        <a:sym typeface="Symbol" panose="05050102010706020507" pitchFamily="18" charset="2"/>
                      </a:endParaRPr>
                    </a:p>
                    <a:p>
                      <a:pPr marL="57150" lvl="1" indent="0">
                        <a:lnSpc>
                          <a:spcPct val="90000"/>
                        </a:lnSpc>
                        <a:buFont typeface="Monotype Sorts" pitchFamily="-84" charset="2"/>
                        <a:buNone/>
                      </a:pPr>
                      <a:r>
                        <a:rPr lang="en-US" altLang="en-US" sz="2000" b="1" i="1" dirty="0"/>
                        <a:t>Work</a:t>
                      </a:r>
                      <a:r>
                        <a:rPr lang="en-US" altLang="en-US" sz="2000" b="1" dirty="0"/>
                        <a:t> = </a:t>
                      </a:r>
                      <a:r>
                        <a:rPr lang="en-US" altLang="en-US" sz="2000" b="1" i="1" dirty="0"/>
                        <a:t>Work </a:t>
                      </a:r>
                      <a:r>
                        <a:rPr lang="en-US" altLang="en-US" sz="2000" b="1" dirty="0"/>
                        <a:t>+ </a:t>
                      </a:r>
                      <a:r>
                        <a:rPr lang="en-US" altLang="en-US" sz="2000" b="1" i="1" dirty="0" err="1"/>
                        <a:t>Allocation</a:t>
                      </a:r>
                      <a:r>
                        <a:rPr lang="en-US" altLang="en-US" sz="2000" b="1" i="1" baseline="-25000" dirty="0" err="1"/>
                        <a:t>i</a:t>
                      </a:r>
                      <a:endParaRPr lang="en-US" altLang="en-US" sz="2000" b="1" i="1" baseline="-25000" dirty="0"/>
                    </a:p>
                    <a:p>
                      <a:pPr marL="57150" lvl="1" indent="0">
                        <a:lnSpc>
                          <a:spcPct val="90000"/>
                        </a:lnSpc>
                        <a:buFont typeface="Monotype Sorts" pitchFamily="-84" charset="2"/>
                        <a:buNone/>
                      </a:pPr>
                      <a:endParaRPr lang="en-US" altLang="en-US" sz="2000" b="1" i="1" baseline="-25000" dirty="0"/>
                    </a:p>
                    <a:p>
                      <a:pPr marL="57150" lvl="1" indent="0">
                        <a:lnSpc>
                          <a:spcPct val="90000"/>
                        </a:lnSpc>
                        <a:buFont typeface="Monotype Sorts" pitchFamily="-84" charset="2"/>
                        <a:buNone/>
                      </a:pPr>
                      <a:r>
                        <a:rPr lang="en-US" altLang="en-US" sz="2000" b="1" i="1" dirty="0"/>
                        <a:t>Work</a:t>
                      </a:r>
                      <a:r>
                        <a:rPr lang="en-US" altLang="en-US" sz="2000" b="1" dirty="0"/>
                        <a:t> =</a:t>
                      </a:r>
                      <a:endParaRPr lang="en-US" altLang="en-US" sz="2000" b="1" i="1" baseline="-25000" dirty="0"/>
                    </a:p>
                    <a:p>
                      <a:pPr marL="57150" lvl="1" indent="0">
                        <a:lnSpc>
                          <a:spcPct val="90000"/>
                        </a:lnSpc>
                        <a:buFont typeface="Monotype Sorts" pitchFamily="-84" charset="2"/>
                        <a:buNone/>
                      </a:pPr>
                      <a:endParaRPr lang="en-US" altLang="en-US" sz="2000" b="1" i="1" baseline="-25000" dirty="0"/>
                    </a:p>
                    <a:p>
                      <a:pPr marL="57150" lvl="1" indent="0">
                        <a:lnSpc>
                          <a:spcPct val="90000"/>
                        </a:lnSpc>
                        <a:buFont typeface="Monotype Sorts" pitchFamily="-84" charset="2"/>
                        <a:buNone/>
                      </a:pPr>
                      <a:br>
                        <a:rPr lang="en-US" altLang="en-US" sz="2000" b="1" dirty="0"/>
                      </a:br>
                      <a:r>
                        <a:rPr lang="en-US" altLang="en-US" sz="2000" b="1" dirty="0"/>
                        <a:t> </a:t>
                      </a:r>
                      <a:r>
                        <a:rPr lang="en-US" altLang="en-US" sz="2000" b="1" i="1" dirty="0"/>
                        <a:t>Finish</a:t>
                      </a:r>
                      <a:r>
                        <a:rPr lang="en-US" altLang="en-US" sz="2000" b="1" dirty="0"/>
                        <a:t>[</a:t>
                      </a:r>
                      <a:r>
                        <a:rPr lang="en-US" altLang="en-US" sz="2000" b="1" i="1" dirty="0" err="1"/>
                        <a:t>i</a:t>
                      </a:r>
                      <a:r>
                        <a:rPr lang="en-US" altLang="en-US" sz="2000" b="1" dirty="0"/>
                        <a:t>] =</a:t>
                      </a:r>
                      <a:endParaRPr lang="en-US" dirty="0"/>
                    </a:p>
                  </a:txBody>
                  <a:tcPr>
                    <a:solidFill>
                      <a:srgbClr val="C00000"/>
                    </a:solidFill>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altLang="en-US" sz="2000" b="1" i="1" dirty="0"/>
                        <a:t>Work</a:t>
                      </a:r>
                      <a:r>
                        <a:rPr lang="en-US" altLang="en-US" sz="2000" b="1" dirty="0"/>
                        <a:t> =</a:t>
                      </a:r>
                      <a:endParaRPr lang="en-US" altLang="en-US" sz="2000" b="1" i="1" baseline="-25000" dirty="0"/>
                    </a:p>
                    <a:p>
                      <a:endParaRPr lang="en-US" altLang="en-US" sz="1800" b="1" i="1" u="sng" dirty="0"/>
                    </a:p>
                    <a:p>
                      <a:r>
                        <a:rPr lang="en-US" altLang="en-US" sz="1800" b="1" i="1" u="sng" dirty="0"/>
                        <a:t>T1</a:t>
                      </a:r>
                    </a:p>
                    <a:p>
                      <a:pPr marL="57150" lvl="1" indent="0">
                        <a:lnSpc>
                          <a:spcPct val="90000"/>
                        </a:lnSpc>
                        <a:buFont typeface="Monotype Sorts" pitchFamily="-84" charset="2"/>
                        <a:buNone/>
                      </a:pPr>
                      <a:r>
                        <a:rPr lang="en-US" altLang="en-US" sz="2000" b="1" i="1" dirty="0"/>
                        <a:t>Finish</a:t>
                      </a:r>
                      <a:r>
                        <a:rPr lang="en-US" altLang="en-US" sz="2000" b="1" dirty="0"/>
                        <a:t> [</a:t>
                      </a:r>
                      <a:r>
                        <a:rPr lang="en-US" altLang="en-US" sz="2000" b="1" i="1" dirty="0" err="1"/>
                        <a:t>i</a:t>
                      </a:r>
                      <a:r>
                        <a:rPr lang="en-US" altLang="en-US" sz="2000" b="1" dirty="0"/>
                        <a:t>] = </a:t>
                      </a:r>
                      <a:r>
                        <a:rPr lang="en-US" altLang="en-US" sz="2000" b="1" i="1" dirty="0"/>
                        <a:t>false</a:t>
                      </a:r>
                      <a:endParaRPr lang="en-US" altLang="en-US" sz="2000" b="1" i="0" dirty="0"/>
                    </a:p>
                    <a:p>
                      <a:pPr marL="57150" lvl="1" indent="0">
                        <a:lnSpc>
                          <a:spcPct val="90000"/>
                        </a:lnSpc>
                        <a:buFont typeface="Monotype Sorts" pitchFamily="-84" charset="2"/>
                        <a:buNone/>
                      </a:pPr>
                      <a:r>
                        <a:rPr lang="en-US" altLang="en-US" sz="2000" b="1" i="1" dirty="0" err="1"/>
                        <a:t>Request</a:t>
                      </a:r>
                      <a:r>
                        <a:rPr lang="en-US" altLang="en-US" sz="2000" b="1" i="1" baseline="-25000" dirty="0" err="1"/>
                        <a:t>i</a:t>
                      </a:r>
                      <a:r>
                        <a:rPr lang="en-US" altLang="en-US" sz="2000" b="1" dirty="0"/>
                        <a:t> </a:t>
                      </a:r>
                      <a:r>
                        <a:rPr lang="en-US" altLang="en-US" sz="2000" b="1" dirty="0">
                          <a:sym typeface="Symbol" panose="05050102010706020507" pitchFamily="18" charset="2"/>
                        </a:rPr>
                        <a:t> </a:t>
                      </a:r>
                      <a:r>
                        <a:rPr lang="en-US" altLang="en-US" sz="2000" b="1" i="1" dirty="0">
                          <a:sym typeface="Symbol" panose="05050102010706020507" pitchFamily="18" charset="2"/>
                        </a:rPr>
                        <a:t>Work</a:t>
                      </a:r>
                    </a:p>
                    <a:p>
                      <a:pPr marL="57150" lvl="1" indent="0">
                        <a:lnSpc>
                          <a:spcPct val="90000"/>
                        </a:lnSpc>
                        <a:buFont typeface="Monotype Sorts" pitchFamily="-84" charset="2"/>
                        <a:buNone/>
                      </a:pPr>
                      <a:endParaRPr lang="en-US" altLang="en-US" sz="2000" b="1" i="1" dirty="0">
                        <a:sym typeface="Symbol" panose="05050102010706020507" pitchFamily="18" charset="2"/>
                      </a:endParaRPr>
                    </a:p>
                    <a:p>
                      <a:pPr marL="57150" lvl="1" indent="0">
                        <a:lnSpc>
                          <a:spcPct val="90000"/>
                        </a:lnSpc>
                        <a:buFont typeface="Monotype Sorts" pitchFamily="-84" charset="2"/>
                        <a:buNone/>
                      </a:pPr>
                      <a:endParaRPr lang="en-US" altLang="en-US" sz="2000" b="1" i="1" dirty="0">
                        <a:sym typeface="Symbol" panose="05050102010706020507" pitchFamily="18" charset="2"/>
                      </a:endParaRPr>
                    </a:p>
                    <a:p>
                      <a:pPr marL="57150" lvl="1" indent="0">
                        <a:lnSpc>
                          <a:spcPct val="90000"/>
                        </a:lnSpc>
                        <a:buFont typeface="Monotype Sorts" pitchFamily="-84" charset="2"/>
                        <a:buNone/>
                      </a:pPr>
                      <a:r>
                        <a:rPr lang="en-US" altLang="en-US" sz="2000" b="1" i="1" dirty="0"/>
                        <a:t>Work</a:t>
                      </a:r>
                      <a:r>
                        <a:rPr lang="en-US" altLang="en-US" sz="2000" b="1" dirty="0"/>
                        <a:t> = </a:t>
                      </a:r>
                      <a:r>
                        <a:rPr lang="en-US" altLang="en-US" sz="2000" b="1" i="1" dirty="0"/>
                        <a:t>Work </a:t>
                      </a:r>
                      <a:r>
                        <a:rPr lang="en-US" altLang="en-US" sz="2000" b="1" dirty="0"/>
                        <a:t>+ </a:t>
                      </a:r>
                      <a:r>
                        <a:rPr lang="en-US" altLang="en-US" sz="2000" b="1" i="1" dirty="0" err="1"/>
                        <a:t>Allocation</a:t>
                      </a:r>
                      <a:r>
                        <a:rPr lang="en-US" altLang="en-US" sz="2000" b="1" i="1" baseline="-25000" dirty="0" err="1"/>
                        <a:t>i</a:t>
                      </a:r>
                      <a:endParaRPr lang="en-US" altLang="en-US" sz="2000" b="1" i="1" baseline="-25000" dirty="0"/>
                    </a:p>
                    <a:p>
                      <a:pPr marL="57150" lvl="1" indent="0">
                        <a:lnSpc>
                          <a:spcPct val="90000"/>
                        </a:lnSpc>
                        <a:buFont typeface="Monotype Sorts" pitchFamily="-84" charset="2"/>
                        <a:buNone/>
                      </a:pPr>
                      <a:endParaRPr lang="en-US" altLang="en-US" sz="2000" b="1" i="1" baseline="-25000" dirty="0"/>
                    </a:p>
                    <a:p>
                      <a:pPr marL="57150" lvl="1" indent="0">
                        <a:lnSpc>
                          <a:spcPct val="90000"/>
                        </a:lnSpc>
                        <a:buFont typeface="Monotype Sorts" pitchFamily="-84" charset="2"/>
                        <a:buNone/>
                      </a:pPr>
                      <a:r>
                        <a:rPr lang="en-US" altLang="en-US" sz="2000" b="1" i="1" dirty="0"/>
                        <a:t>Work</a:t>
                      </a:r>
                      <a:r>
                        <a:rPr lang="en-US" altLang="en-US" sz="2000" b="1" dirty="0"/>
                        <a:t> =</a:t>
                      </a:r>
                      <a:endParaRPr lang="en-US" altLang="en-US" sz="2000" b="1" i="1" baseline="-25000" dirty="0"/>
                    </a:p>
                    <a:p>
                      <a:pPr marL="57150" lvl="1" indent="0">
                        <a:lnSpc>
                          <a:spcPct val="90000"/>
                        </a:lnSpc>
                        <a:buFont typeface="Monotype Sorts" pitchFamily="-84" charset="2"/>
                        <a:buNone/>
                      </a:pPr>
                      <a:endParaRPr lang="en-US" altLang="en-US" sz="2000" b="1" i="1" baseline="-25000" dirty="0"/>
                    </a:p>
                    <a:p>
                      <a:pPr marL="57150" lvl="1" indent="0">
                        <a:lnSpc>
                          <a:spcPct val="90000"/>
                        </a:lnSpc>
                        <a:buFont typeface="Monotype Sorts" pitchFamily="-84" charset="2"/>
                        <a:buNone/>
                      </a:pPr>
                      <a:br>
                        <a:rPr lang="en-US" altLang="en-US" sz="2000" b="1" dirty="0"/>
                      </a:br>
                      <a:r>
                        <a:rPr lang="en-US" altLang="en-US" sz="2000" b="1" dirty="0"/>
                        <a:t> </a:t>
                      </a:r>
                      <a:r>
                        <a:rPr lang="en-US" altLang="en-US" sz="2000" b="1" i="1" dirty="0"/>
                        <a:t>Finish</a:t>
                      </a:r>
                      <a:r>
                        <a:rPr lang="en-US" altLang="en-US" sz="2000" b="1" dirty="0"/>
                        <a:t>[</a:t>
                      </a:r>
                      <a:r>
                        <a:rPr lang="en-US" altLang="en-US" sz="2000" b="1" i="1" dirty="0" err="1"/>
                        <a:t>i</a:t>
                      </a:r>
                      <a:r>
                        <a:rPr lang="en-US" altLang="en-US" sz="2000" b="1" dirty="0"/>
                        <a:t>] =</a:t>
                      </a:r>
                      <a:endParaRPr lang="en-US" dirty="0"/>
                    </a:p>
                  </a:txBody>
                  <a:tcPr>
                    <a:solidFill>
                      <a:srgbClr val="C00000"/>
                    </a:solidFill>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altLang="en-US" sz="2000" b="1" i="1" dirty="0"/>
                        <a:t>Work</a:t>
                      </a:r>
                      <a:r>
                        <a:rPr lang="en-US" altLang="en-US" sz="2000" b="1" dirty="0"/>
                        <a:t> =</a:t>
                      </a:r>
                      <a:endParaRPr lang="en-US" altLang="en-US" sz="2000" b="1" i="1" baseline="-25000" dirty="0"/>
                    </a:p>
                    <a:p>
                      <a:endParaRPr lang="en-US" altLang="en-US" sz="1800" b="1" i="1" u="sng" dirty="0"/>
                    </a:p>
                    <a:p>
                      <a:r>
                        <a:rPr lang="en-US" altLang="en-US" sz="1800" b="1" i="1" u="sng" dirty="0"/>
                        <a:t>T2</a:t>
                      </a:r>
                    </a:p>
                    <a:p>
                      <a:pPr marL="57150" lvl="1" indent="0">
                        <a:lnSpc>
                          <a:spcPct val="90000"/>
                        </a:lnSpc>
                        <a:buFont typeface="Monotype Sorts" pitchFamily="-84" charset="2"/>
                        <a:buNone/>
                      </a:pPr>
                      <a:r>
                        <a:rPr lang="en-US" altLang="en-US" sz="2000" b="1" i="1" dirty="0"/>
                        <a:t>Finish</a:t>
                      </a:r>
                      <a:r>
                        <a:rPr lang="en-US" altLang="en-US" sz="2000" b="1" dirty="0"/>
                        <a:t> [</a:t>
                      </a:r>
                      <a:r>
                        <a:rPr lang="en-US" altLang="en-US" sz="2000" b="1" i="1" dirty="0" err="1"/>
                        <a:t>i</a:t>
                      </a:r>
                      <a:r>
                        <a:rPr lang="en-US" altLang="en-US" sz="2000" b="1" dirty="0"/>
                        <a:t>] = </a:t>
                      </a:r>
                      <a:r>
                        <a:rPr lang="en-US" altLang="en-US" sz="2000" b="1" i="1" dirty="0"/>
                        <a:t>false</a:t>
                      </a:r>
                      <a:endParaRPr lang="en-US" altLang="en-US" sz="2000" b="1" i="0" dirty="0"/>
                    </a:p>
                    <a:p>
                      <a:pPr marL="57150" lvl="1" indent="0">
                        <a:lnSpc>
                          <a:spcPct val="90000"/>
                        </a:lnSpc>
                        <a:buFont typeface="Monotype Sorts" pitchFamily="-84" charset="2"/>
                        <a:buNone/>
                      </a:pPr>
                      <a:r>
                        <a:rPr lang="en-US" altLang="en-US" sz="2000" b="1" i="1" dirty="0" err="1"/>
                        <a:t>Request</a:t>
                      </a:r>
                      <a:r>
                        <a:rPr lang="en-US" altLang="en-US" sz="2000" b="1" i="1" baseline="-25000" dirty="0" err="1"/>
                        <a:t>i</a:t>
                      </a:r>
                      <a:r>
                        <a:rPr lang="en-US" altLang="en-US" sz="2000" b="1" dirty="0"/>
                        <a:t> </a:t>
                      </a:r>
                      <a:r>
                        <a:rPr lang="en-US" altLang="en-US" sz="2000" b="1" dirty="0">
                          <a:sym typeface="Symbol" panose="05050102010706020507" pitchFamily="18" charset="2"/>
                        </a:rPr>
                        <a:t> </a:t>
                      </a:r>
                      <a:r>
                        <a:rPr lang="en-US" altLang="en-US" sz="2000" b="1" i="1" dirty="0">
                          <a:sym typeface="Symbol" panose="05050102010706020507" pitchFamily="18" charset="2"/>
                        </a:rPr>
                        <a:t>Work</a:t>
                      </a:r>
                    </a:p>
                    <a:p>
                      <a:pPr marL="57150" lvl="1" indent="0">
                        <a:lnSpc>
                          <a:spcPct val="90000"/>
                        </a:lnSpc>
                        <a:buFont typeface="Monotype Sorts" pitchFamily="-84" charset="2"/>
                        <a:buNone/>
                      </a:pPr>
                      <a:endParaRPr lang="en-US" altLang="en-US" sz="2000" b="1" i="1" dirty="0">
                        <a:sym typeface="Symbol" panose="05050102010706020507" pitchFamily="18" charset="2"/>
                      </a:endParaRPr>
                    </a:p>
                    <a:p>
                      <a:pPr marL="57150" lvl="1" indent="0">
                        <a:lnSpc>
                          <a:spcPct val="90000"/>
                        </a:lnSpc>
                        <a:buFont typeface="Monotype Sorts" pitchFamily="-84" charset="2"/>
                        <a:buNone/>
                      </a:pPr>
                      <a:endParaRPr lang="en-US" altLang="en-US" sz="2000" b="1" i="1" dirty="0">
                        <a:sym typeface="Symbol" panose="05050102010706020507" pitchFamily="18" charset="2"/>
                      </a:endParaRPr>
                    </a:p>
                    <a:p>
                      <a:pPr marL="57150" lvl="1" indent="0">
                        <a:lnSpc>
                          <a:spcPct val="90000"/>
                        </a:lnSpc>
                        <a:buFont typeface="Monotype Sorts" pitchFamily="-84" charset="2"/>
                        <a:buNone/>
                      </a:pPr>
                      <a:r>
                        <a:rPr lang="en-US" altLang="en-US" sz="2000" b="1" i="1" dirty="0"/>
                        <a:t>Work</a:t>
                      </a:r>
                      <a:r>
                        <a:rPr lang="en-US" altLang="en-US" sz="2000" b="1" dirty="0"/>
                        <a:t> = </a:t>
                      </a:r>
                      <a:r>
                        <a:rPr lang="en-US" altLang="en-US" sz="2000" b="1" i="1" dirty="0"/>
                        <a:t>Work </a:t>
                      </a:r>
                      <a:r>
                        <a:rPr lang="en-US" altLang="en-US" sz="2000" b="1" dirty="0"/>
                        <a:t>+ </a:t>
                      </a:r>
                      <a:r>
                        <a:rPr lang="en-US" altLang="en-US" sz="2000" b="1" i="1" dirty="0" err="1"/>
                        <a:t>Allocation</a:t>
                      </a:r>
                      <a:r>
                        <a:rPr lang="en-US" altLang="en-US" sz="2000" b="1" i="1" baseline="-25000" dirty="0" err="1"/>
                        <a:t>i</a:t>
                      </a:r>
                      <a:endParaRPr lang="en-US" altLang="en-US" sz="2000" b="1" i="1" baseline="-25000" dirty="0"/>
                    </a:p>
                    <a:p>
                      <a:pPr marL="57150" lvl="1" indent="0">
                        <a:lnSpc>
                          <a:spcPct val="90000"/>
                        </a:lnSpc>
                        <a:buFont typeface="Monotype Sorts" pitchFamily="-84" charset="2"/>
                        <a:buNone/>
                      </a:pPr>
                      <a:endParaRPr lang="en-US" altLang="en-US" sz="2000" b="1" i="1" baseline="-25000" dirty="0"/>
                    </a:p>
                    <a:p>
                      <a:pPr marL="57150" lvl="1" indent="0">
                        <a:lnSpc>
                          <a:spcPct val="90000"/>
                        </a:lnSpc>
                        <a:buFont typeface="Monotype Sorts" pitchFamily="-84" charset="2"/>
                        <a:buNone/>
                      </a:pPr>
                      <a:r>
                        <a:rPr lang="en-US" altLang="en-US" sz="2000" b="1" i="1" dirty="0"/>
                        <a:t>Work</a:t>
                      </a:r>
                      <a:r>
                        <a:rPr lang="en-US" altLang="en-US" sz="2000" b="1" dirty="0"/>
                        <a:t> =</a:t>
                      </a:r>
                      <a:endParaRPr lang="en-US" altLang="en-US" sz="2000" b="1" i="1" baseline="-25000" dirty="0"/>
                    </a:p>
                    <a:p>
                      <a:pPr marL="57150" lvl="1" indent="0">
                        <a:lnSpc>
                          <a:spcPct val="90000"/>
                        </a:lnSpc>
                        <a:buFont typeface="Monotype Sorts" pitchFamily="-84" charset="2"/>
                        <a:buNone/>
                      </a:pPr>
                      <a:endParaRPr lang="en-US" altLang="en-US" sz="2000" b="1" i="1" baseline="-25000" dirty="0"/>
                    </a:p>
                    <a:p>
                      <a:pPr marL="57150" lvl="1" indent="0">
                        <a:lnSpc>
                          <a:spcPct val="90000"/>
                        </a:lnSpc>
                        <a:buFont typeface="Monotype Sorts" pitchFamily="-84" charset="2"/>
                        <a:buNone/>
                      </a:pPr>
                      <a:br>
                        <a:rPr lang="en-US" altLang="en-US" sz="2000" b="1" dirty="0"/>
                      </a:br>
                      <a:r>
                        <a:rPr lang="en-US" altLang="en-US" sz="2000" b="1" dirty="0"/>
                        <a:t> </a:t>
                      </a:r>
                      <a:r>
                        <a:rPr lang="en-US" altLang="en-US" sz="2000" b="1" i="1" dirty="0"/>
                        <a:t>Finish</a:t>
                      </a:r>
                      <a:r>
                        <a:rPr lang="en-US" altLang="en-US" sz="2000" b="1" dirty="0"/>
                        <a:t>[</a:t>
                      </a:r>
                      <a:r>
                        <a:rPr lang="en-US" altLang="en-US" sz="2000" b="1" i="1" dirty="0" err="1"/>
                        <a:t>i</a:t>
                      </a:r>
                      <a:r>
                        <a:rPr lang="en-US" altLang="en-US" sz="2000" b="1" dirty="0"/>
                        <a:t>] =</a:t>
                      </a:r>
                      <a:endParaRPr lang="en-US" dirty="0"/>
                    </a:p>
                  </a:txBody>
                  <a:tcPr>
                    <a:solidFill>
                      <a:srgbClr val="C00000"/>
                    </a:solidFill>
                  </a:tcPr>
                </a:tc>
                <a:extLst>
                  <a:ext uri="{0D108BD9-81ED-4DB2-BD59-A6C34878D82A}">
                    <a16:rowId xmlns:a16="http://schemas.microsoft.com/office/drawing/2014/main" val="10000"/>
                  </a:ext>
                </a:extLst>
              </a:tr>
            </a:tbl>
          </a:graphicData>
        </a:graphic>
      </p:graphicFrame>
      <p:pic>
        <p:nvPicPr>
          <p:cNvPr id="2" name="Picture 1"/>
          <p:cNvPicPr>
            <a:picLocks noChangeAspect="1"/>
          </p:cNvPicPr>
          <p:nvPr/>
        </p:nvPicPr>
        <p:blipFill>
          <a:blip r:embed="rId2"/>
          <a:stretch>
            <a:fillRect/>
          </a:stretch>
        </p:blipFill>
        <p:spPr>
          <a:xfrm>
            <a:off x="1761780" y="209550"/>
            <a:ext cx="4934639" cy="2581635"/>
          </a:xfrm>
          <a:prstGeom prst="rect">
            <a:avLst/>
          </a:prstGeom>
        </p:spPr>
      </p:pic>
    </p:spTree>
    <p:extLst>
      <p:ext uri="{BB962C8B-B14F-4D97-AF65-F5344CB8AC3E}">
        <p14:creationId xmlns:p14="http://schemas.microsoft.com/office/powerpoint/2010/main" val="300120776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676401" y="2905530"/>
          <a:ext cx="8667750" cy="3779520"/>
        </p:xfrm>
        <a:graphic>
          <a:graphicData uri="http://schemas.openxmlformats.org/drawingml/2006/table">
            <a:tbl>
              <a:tblPr firstRow="1" bandRow="1">
                <a:tableStyleId>{5C22544A-7EE6-4342-B048-85BDC9FD1C3A}</a:tableStyleId>
              </a:tblPr>
              <a:tblGrid>
                <a:gridCol w="2889250">
                  <a:extLst>
                    <a:ext uri="{9D8B030D-6E8A-4147-A177-3AD203B41FA5}">
                      <a16:colId xmlns:a16="http://schemas.microsoft.com/office/drawing/2014/main" val="20000"/>
                    </a:ext>
                  </a:extLst>
                </a:gridCol>
                <a:gridCol w="2889250">
                  <a:extLst>
                    <a:ext uri="{9D8B030D-6E8A-4147-A177-3AD203B41FA5}">
                      <a16:colId xmlns:a16="http://schemas.microsoft.com/office/drawing/2014/main" val="20001"/>
                    </a:ext>
                  </a:extLst>
                </a:gridCol>
                <a:gridCol w="2889250">
                  <a:extLst>
                    <a:ext uri="{9D8B030D-6E8A-4147-A177-3AD203B41FA5}">
                      <a16:colId xmlns:a16="http://schemas.microsoft.com/office/drawing/2014/main" val="20002"/>
                    </a:ext>
                  </a:extLst>
                </a:gridCol>
              </a:tblGrid>
              <a:tr h="3529012">
                <a:tc>
                  <a:txBody>
                    <a:bodyPr/>
                    <a:lstStyle/>
                    <a:p>
                      <a:r>
                        <a:rPr lang="en-US" dirty="0"/>
                        <a:t>Work = Available</a:t>
                      </a:r>
                    </a:p>
                    <a:p>
                      <a:r>
                        <a:rPr lang="en-US" altLang="en-US" sz="1800" b="1" i="1" dirty="0"/>
                        <a:t>Finish </a:t>
                      </a:r>
                      <a:r>
                        <a:rPr lang="en-US" altLang="en-US" sz="1800" b="1" dirty="0"/>
                        <a:t>[</a:t>
                      </a:r>
                      <a:r>
                        <a:rPr lang="en-US" altLang="en-US" sz="1800" b="1" i="1" dirty="0" err="1"/>
                        <a:t>i</a:t>
                      </a:r>
                      <a:r>
                        <a:rPr lang="en-US" altLang="en-US" sz="1800" b="1" dirty="0"/>
                        <a:t>] =</a:t>
                      </a:r>
                      <a:r>
                        <a:rPr lang="en-US" altLang="en-US" sz="1800" b="1" i="1" dirty="0"/>
                        <a:t> false </a:t>
                      </a:r>
                    </a:p>
                    <a:p>
                      <a:r>
                        <a:rPr lang="en-US" altLang="en-US" sz="1800" b="1" i="1" u="sng" dirty="0"/>
                        <a:t>T0</a:t>
                      </a:r>
                    </a:p>
                    <a:p>
                      <a:pPr marL="57150" lvl="1" indent="0">
                        <a:lnSpc>
                          <a:spcPct val="90000"/>
                        </a:lnSpc>
                        <a:buFont typeface="Monotype Sorts" pitchFamily="-84" charset="2"/>
                        <a:buNone/>
                      </a:pPr>
                      <a:r>
                        <a:rPr lang="en-US" altLang="en-US" sz="2000" b="1" i="1" dirty="0"/>
                        <a:t>Finish</a:t>
                      </a:r>
                      <a:r>
                        <a:rPr lang="en-US" altLang="en-US" sz="2000" b="1" dirty="0"/>
                        <a:t> [</a:t>
                      </a:r>
                      <a:r>
                        <a:rPr lang="en-US" altLang="en-US" sz="2000" b="1" i="1" dirty="0" err="1"/>
                        <a:t>i</a:t>
                      </a:r>
                      <a:r>
                        <a:rPr lang="en-US" altLang="en-US" sz="2000" b="1" dirty="0"/>
                        <a:t>] = </a:t>
                      </a:r>
                      <a:r>
                        <a:rPr lang="en-US" altLang="en-US" sz="2000" b="1" i="1" dirty="0"/>
                        <a:t>false</a:t>
                      </a:r>
                      <a:endParaRPr lang="en-US" altLang="en-US" sz="2000" b="1" i="0" dirty="0"/>
                    </a:p>
                    <a:p>
                      <a:pPr marL="57150" lvl="1" indent="0">
                        <a:lnSpc>
                          <a:spcPct val="90000"/>
                        </a:lnSpc>
                        <a:buFont typeface="Monotype Sorts" pitchFamily="-84" charset="2"/>
                        <a:buNone/>
                      </a:pPr>
                      <a:r>
                        <a:rPr lang="en-US" altLang="en-US" sz="2000" b="1" i="1" dirty="0" err="1"/>
                        <a:t>Request</a:t>
                      </a:r>
                      <a:r>
                        <a:rPr lang="en-US" altLang="en-US" sz="2000" b="1" i="1" baseline="-25000" dirty="0" err="1"/>
                        <a:t>i</a:t>
                      </a:r>
                      <a:r>
                        <a:rPr lang="en-US" altLang="en-US" sz="2000" b="1" dirty="0"/>
                        <a:t> </a:t>
                      </a:r>
                      <a:r>
                        <a:rPr lang="en-US" altLang="en-US" sz="2000" b="1" dirty="0">
                          <a:sym typeface="Symbol" panose="05050102010706020507" pitchFamily="18" charset="2"/>
                        </a:rPr>
                        <a:t> </a:t>
                      </a:r>
                      <a:r>
                        <a:rPr lang="en-US" altLang="en-US" sz="2000" b="1" i="1" dirty="0">
                          <a:sym typeface="Symbol" panose="05050102010706020507" pitchFamily="18" charset="2"/>
                        </a:rPr>
                        <a:t>Work</a:t>
                      </a:r>
                    </a:p>
                    <a:p>
                      <a:pPr marL="57150" lvl="1" indent="0">
                        <a:lnSpc>
                          <a:spcPct val="90000"/>
                        </a:lnSpc>
                        <a:buFont typeface="Monotype Sorts" pitchFamily="-84" charset="2"/>
                        <a:buNone/>
                      </a:pPr>
                      <a:endParaRPr lang="en-US" altLang="en-US" sz="2000" b="1" i="1" dirty="0">
                        <a:sym typeface="Symbol" panose="05050102010706020507" pitchFamily="18" charset="2"/>
                      </a:endParaRPr>
                    </a:p>
                    <a:p>
                      <a:pPr marL="57150" lvl="1" indent="0">
                        <a:lnSpc>
                          <a:spcPct val="90000"/>
                        </a:lnSpc>
                        <a:buFont typeface="Monotype Sorts" pitchFamily="-84" charset="2"/>
                        <a:buNone/>
                      </a:pPr>
                      <a:endParaRPr lang="en-US" altLang="en-US" sz="2000" b="1" i="1" dirty="0">
                        <a:sym typeface="Symbol" panose="05050102010706020507" pitchFamily="18" charset="2"/>
                      </a:endParaRPr>
                    </a:p>
                    <a:p>
                      <a:pPr marL="57150" lvl="1" indent="0">
                        <a:lnSpc>
                          <a:spcPct val="90000"/>
                        </a:lnSpc>
                        <a:buFont typeface="Monotype Sorts" pitchFamily="-84" charset="2"/>
                        <a:buNone/>
                      </a:pPr>
                      <a:r>
                        <a:rPr lang="en-US" altLang="en-US" sz="2000" b="1" i="1" dirty="0"/>
                        <a:t>Work</a:t>
                      </a:r>
                      <a:r>
                        <a:rPr lang="en-US" altLang="en-US" sz="2000" b="1" dirty="0"/>
                        <a:t> = </a:t>
                      </a:r>
                      <a:r>
                        <a:rPr lang="en-US" altLang="en-US" sz="2000" b="1" i="1" dirty="0"/>
                        <a:t>Work </a:t>
                      </a:r>
                      <a:r>
                        <a:rPr lang="en-US" altLang="en-US" sz="2000" b="1" dirty="0"/>
                        <a:t>+ </a:t>
                      </a:r>
                      <a:r>
                        <a:rPr lang="en-US" altLang="en-US" sz="2000" b="1" i="1" dirty="0" err="1"/>
                        <a:t>Allocation</a:t>
                      </a:r>
                      <a:r>
                        <a:rPr lang="en-US" altLang="en-US" sz="2000" b="1" i="1" baseline="-25000" dirty="0" err="1"/>
                        <a:t>i</a:t>
                      </a:r>
                      <a:endParaRPr lang="en-US" altLang="en-US" sz="2000" b="1" i="1" baseline="-25000" dirty="0"/>
                    </a:p>
                    <a:p>
                      <a:pPr marL="57150" lvl="1" indent="0">
                        <a:lnSpc>
                          <a:spcPct val="90000"/>
                        </a:lnSpc>
                        <a:buFont typeface="Monotype Sorts" pitchFamily="-84" charset="2"/>
                        <a:buNone/>
                      </a:pPr>
                      <a:endParaRPr lang="en-US" altLang="en-US" sz="2000" b="1" i="1" baseline="-25000" dirty="0"/>
                    </a:p>
                    <a:p>
                      <a:pPr marL="57150" lvl="1" indent="0">
                        <a:lnSpc>
                          <a:spcPct val="90000"/>
                        </a:lnSpc>
                        <a:buFont typeface="Monotype Sorts" pitchFamily="-84" charset="2"/>
                        <a:buNone/>
                      </a:pPr>
                      <a:r>
                        <a:rPr lang="en-US" altLang="en-US" sz="2000" b="1" i="1" dirty="0"/>
                        <a:t>Work</a:t>
                      </a:r>
                      <a:r>
                        <a:rPr lang="en-US" altLang="en-US" sz="2000" b="1" dirty="0"/>
                        <a:t> =</a:t>
                      </a:r>
                      <a:endParaRPr lang="en-US" altLang="en-US" sz="2000" b="1" i="1" baseline="-25000" dirty="0"/>
                    </a:p>
                    <a:p>
                      <a:pPr marL="57150" lvl="1" indent="0">
                        <a:lnSpc>
                          <a:spcPct val="90000"/>
                        </a:lnSpc>
                        <a:buFont typeface="Monotype Sorts" pitchFamily="-84" charset="2"/>
                        <a:buNone/>
                      </a:pPr>
                      <a:endParaRPr lang="en-US" altLang="en-US" sz="2000" b="1" i="1" baseline="-25000" dirty="0"/>
                    </a:p>
                    <a:p>
                      <a:pPr marL="57150" lvl="1" indent="0">
                        <a:lnSpc>
                          <a:spcPct val="90000"/>
                        </a:lnSpc>
                        <a:buFont typeface="Monotype Sorts" pitchFamily="-84" charset="2"/>
                        <a:buNone/>
                      </a:pPr>
                      <a:br>
                        <a:rPr lang="en-US" altLang="en-US" sz="2000" b="1" dirty="0"/>
                      </a:br>
                      <a:r>
                        <a:rPr lang="en-US" altLang="en-US" sz="2000" b="1" dirty="0"/>
                        <a:t> </a:t>
                      </a:r>
                      <a:r>
                        <a:rPr lang="en-US" altLang="en-US" sz="2000" b="1" i="1" dirty="0"/>
                        <a:t>Finish</a:t>
                      </a:r>
                      <a:r>
                        <a:rPr lang="en-US" altLang="en-US" sz="2000" b="1" dirty="0"/>
                        <a:t>[</a:t>
                      </a:r>
                      <a:r>
                        <a:rPr lang="en-US" altLang="en-US" sz="2000" b="1" i="1" dirty="0" err="1"/>
                        <a:t>i</a:t>
                      </a:r>
                      <a:r>
                        <a:rPr lang="en-US" altLang="en-US" sz="2000" b="1" dirty="0"/>
                        <a:t>] =</a:t>
                      </a:r>
                      <a:endParaRPr lang="en-US" dirty="0"/>
                    </a:p>
                  </a:txBody>
                  <a:tcPr>
                    <a:solidFill>
                      <a:srgbClr val="C00000"/>
                    </a:solidFill>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altLang="en-US" sz="2000" b="1" i="1" dirty="0"/>
                        <a:t>Work</a:t>
                      </a:r>
                      <a:r>
                        <a:rPr lang="en-US" altLang="en-US" sz="2000" b="1" dirty="0"/>
                        <a:t> =</a:t>
                      </a:r>
                      <a:endParaRPr lang="en-US" altLang="en-US" sz="2000" b="1" i="1" baseline="-25000" dirty="0"/>
                    </a:p>
                    <a:p>
                      <a:endParaRPr lang="en-US" altLang="en-US" sz="1800" b="1" i="1" u="sng" dirty="0"/>
                    </a:p>
                    <a:p>
                      <a:r>
                        <a:rPr lang="en-US" altLang="en-US" sz="1800" b="1" i="1" u="sng" dirty="0"/>
                        <a:t>T1</a:t>
                      </a:r>
                    </a:p>
                    <a:p>
                      <a:pPr marL="57150" lvl="1" indent="0">
                        <a:lnSpc>
                          <a:spcPct val="90000"/>
                        </a:lnSpc>
                        <a:buFont typeface="Monotype Sorts" pitchFamily="-84" charset="2"/>
                        <a:buNone/>
                      </a:pPr>
                      <a:r>
                        <a:rPr lang="en-US" altLang="en-US" sz="2000" b="1" i="1" dirty="0"/>
                        <a:t>Finish</a:t>
                      </a:r>
                      <a:r>
                        <a:rPr lang="en-US" altLang="en-US" sz="2000" b="1" dirty="0"/>
                        <a:t> [</a:t>
                      </a:r>
                      <a:r>
                        <a:rPr lang="en-US" altLang="en-US" sz="2000" b="1" i="1" dirty="0" err="1"/>
                        <a:t>i</a:t>
                      </a:r>
                      <a:r>
                        <a:rPr lang="en-US" altLang="en-US" sz="2000" b="1" dirty="0"/>
                        <a:t>] = </a:t>
                      </a:r>
                      <a:r>
                        <a:rPr lang="en-US" altLang="en-US" sz="2000" b="1" i="1" dirty="0"/>
                        <a:t>false</a:t>
                      </a:r>
                      <a:endParaRPr lang="en-US" altLang="en-US" sz="2000" b="1" i="0" dirty="0"/>
                    </a:p>
                    <a:p>
                      <a:pPr marL="57150" lvl="1" indent="0">
                        <a:lnSpc>
                          <a:spcPct val="90000"/>
                        </a:lnSpc>
                        <a:buFont typeface="Monotype Sorts" pitchFamily="-84" charset="2"/>
                        <a:buNone/>
                      </a:pPr>
                      <a:r>
                        <a:rPr lang="en-US" altLang="en-US" sz="2000" b="1" i="1" dirty="0" err="1"/>
                        <a:t>Request</a:t>
                      </a:r>
                      <a:r>
                        <a:rPr lang="en-US" altLang="en-US" sz="2000" b="1" i="1" baseline="-25000" dirty="0" err="1"/>
                        <a:t>i</a:t>
                      </a:r>
                      <a:r>
                        <a:rPr lang="en-US" altLang="en-US" sz="2000" b="1" dirty="0"/>
                        <a:t> </a:t>
                      </a:r>
                      <a:r>
                        <a:rPr lang="en-US" altLang="en-US" sz="2000" b="1" dirty="0">
                          <a:sym typeface="Symbol" panose="05050102010706020507" pitchFamily="18" charset="2"/>
                        </a:rPr>
                        <a:t> </a:t>
                      </a:r>
                      <a:r>
                        <a:rPr lang="en-US" altLang="en-US" sz="2000" b="1" i="1" dirty="0">
                          <a:sym typeface="Symbol" panose="05050102010706020507" pitchFamily="18" charset="2"/>
                        </a:rPr>
                        <a:t>Work</a:t>
                      </a:r>
                    </a:p>
                    <a:p>
                      <a:pPr marL="57150" lvl="1" indent="0">
                        <a:lnSpc>
                          <a:spcPct val="90000"/>
                        </a:lnSpc>
                        <a:buFont typeface="Monotype Sorts" pitchFamily="-84" charset="2"/>
                        <a:buNone/>
                      </a:pPr>
                      <a:endParaRPr lang="en-US" altLang="en-US" sz="2000" b="1" i="1" dirty="0">
                        <a:sym typeface="Symbol" panose="05050102010706020507" pitchFamily="18" charset="2"/>
                      </a:endParaRPr>
                    </a:p>
                    <a:p>
                      <a:pPr marL="57150" lvl="1" indent="0">
                        <a:lnSpc>
                          <a:spcPct val="90000"/>
                        </a:lnSpc>
                        <a:buFont typeface="Monotype Sorts" pitchFamily="-84" charset="2"/>
                        <a:buNone/>
                      </a:pPr>
                      <a:endParaRPr lang="en-US" altLang="en-US" sz="2000" b="1" i="1" dirty="0">
                        <a:sym typeface="Symbol" panose="05050102010706020507" pitchFamily="18" charset="2"/>
                      </a:endParaRPr>
                    </a:p>
                    <a:p>
                      <a:pPr marL="57150" lvl="1" indent="0">
                        <a:lnSpc>
                          <a:spcPct val="90000"/>
                        </a:lnSpc>
                        <a:buFont typeface="Monotype Sorts" pitchFamily="-84" charset="2"/>
                        <a:buNone/>
                      </a:pPr>
                      <a:r>
                        <a:rPr lang="en-US" altLang="en-US" sz="2000" b="1" i="1" dirty="0"/>
                        <a:t>Work</a:t>
                      </a:r>
                      <a:r>
                        <a:rPr lang="en-US" altLang="en-US" sz="2000" b="1" dirty="0"/>
                        <a:t> = </a:t>
                      </a:r>
                      <a:r>
                        <a:rPr lang="en-US" altLang="en-US" sz="2000" b="1" i="1" dirty="0"/>
                        <a:t>Work </a:t>
                      </a:r>
                      <a:r>
                        <a:rPr lang="en-US" altLang="en-US" sz="2000" b="1" dirty="0"/>
                        <a:t>+ </a:t>
                      </a:r>
                      <a:r>
                        <a:rPr lang="en-US" altLang="en-US" sz="2000" b="1" i="1" dirty="0" err="1"/>
                        <a:t>Allocation</a:t>
                      </a:r>
                      <a:r>
                        <a:rPr lang="en-US" altLang="en-US" sz="2000" b="1" i="1" baseline="-25000" dirty="0" err="1"/>
                        <a:t>i</a:t>
                      </a:r>
                      <a:endParaRPr lang="en-US" altLang="en-US" sz="2000" b="1" i="1" baseline="-25000" dirty="0"/>
                    </a:p>
                    <a:p>
                      <a:pPr marL="57150" lvl="1" indent="0">
                        <a:lnSpc>
                          <a:spcPct val="90000"/>
                        </a:lnSpc>
                        <a:buFont typeface="Monotype Sorts" pitchFamily="-84" charset="2"/>
                        <a:buNone/>
                      </a:pPr>
                      <a:endParaRPr lang="en-US" altLang="en-US" sz="2000" b="1" i="1" baseline="-25000" dirty="0"/>
                    </a:p>
                    <a:p>
                      <a:pPr marL="57150" lvl="1" indent="0">
                        <a:lnSpc>
                          <a:spcPct val="90000"/>
                        </a:lnSpc>
                        <a:buFont typeface="Monotype Sorts" pitchFamily="-84" charset="2"/>
                        <a:buNone/>
                      </a:pPr>
                      <a:r>
                        <a:rPr lang="en-US" altLang="en-US" sz="2000" b="1" i="1" dirty="0"/>
                        <a:t>Work</a:t>
                      </a:r>
                      <a:r>
                        <a:rPr lang="en-US" altLang="en-US" sz="2000" b="1" dirty="0"/>
                        <a:t> =</a:t>
                      </a:r>
                      <a:endParaRPr lang="en-US" altLang="en-US" sz="2000" b="1" i="1" baseline="-25000" dirty="0"/>
                    </a:p>
                    <a:p>
                      <a:pPr marL="57150" lvl="1" indent="0">
                        <a:lnSpc>
                          <a:spcPct val="90000"/>
                        </a:lnSpc>
                        <a:buFont typeface="Monotype Sorts" pitchFamily="-84" charset="2"/>
                        <a:buNone/>
                      </a:pPr>
                      <a:endParaRPr lang="en-US" altLang="en-US" sz="2000" b="1" i="1" baseline="-25000" dirty="0"/>
                    </a:p>
                    <a:p>
                      <a:pPr marL="57150" lvl="1" indent="0">
                        <a:lnSpc>
                          <a:spcPct val="90000"/>
                        </a:lnSpc>
                        <a:buFont typeface="Monotype Sorts" pitchFamily="-84" charset="2"/>
                        <a:buNone/>
                      </a:pPr>
                      <a:br>
                        <a:rPr lang="en-US" altLang="en-US" sz="2000" b="1" dirty="0"/>
                      </a:br>
                      <a:r>
                        <a:rPr lang="en-US" altLang="en-US" sz="2000" b="1" dirty="0"/>
                        <a:t> </a:t>
                      </a:r>
                      <a:r>
                        <a:rPr lang="en-US" altLang="en-US" sz="2000" b="1" i="1" dirty="0"/>
                        <a:t>Finish</a:t>
                      </a:r>
                      <a:r>
                        <a:rPr lang="en-US" altLang="en-US" sz="2000" b="1" dirty="0"/>
                        <a:t>[</a:t>
                      </a:r>
                      <a:r>
                        <a:rPr lang="en-US" altLang="en-US" sz="2000" b="1" i="1" dirty="0" err="1"/>
                        <a:t>i</a:t>
                      </a:r>
                      <a:r>
                        <a:rPr lang="en-US" altLang="en-US" sz="2000" b="1" dirty="0"/>
                        <a:t>] =</a:t>
                      </a:r>
                      <a:endParaRPr lang="en-US" dirty="0"/>
                    </a:p>
                  </a:txBody>
                  <a:tcPr>
                    <a:solidFill>
                      <a:srgbClr val="C00000"/>
                    </a:solidFill>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altLang="en-US" sz="2000" b="1" i="1" dirty="0"/>
                        <a:t>Work</a:t>
                      </a:r>
                      <a:r>
                        <a:rPr lang="en-US" altLang="en-US" sz="2000" b="1" dirty="0"/>
                        <a:t> =</a:t>
                      </a:r>
                      <a:endParaRPr lang="en-US" altLang="en-US" sz="2000" b="1" i="1" baseline="-25000" dirty="0"/>
                    </a:p>
                    <a:p>
                      <a:endParaRPr lang="en-US" altLang="en-US" sz="1800" b="1" i="1" u="sng" dirty="0"/>
                    </a:p>
                    <a:p>
                      <a:r>
                        <a:rPr lang="en-US" altLang="en-US" sz="1800" b="1" i="1" u="sng" dirty="0"/>
                        <a:t>T2</a:t>
                      </a:r>
                    </a:p>
                    <a:p>
                      <a:pPr marL="57150" lvl="1" indent="0">
                        <a:lnSpc>
                          <a:spcPct val="90000"/>
                        </a:lnSpc>
                        <a:buFont typeface="Monotype Sorts" pitchFamily="-84" charset="2"/>
                        <a:buNone/>
                      </a:pPr>
                      <a:r>
                        <a:rPr lang="en-US" altLang="en-US" sz="2000" b="1" i="1" dirty="0"/>
                        <a:t>Finish</a:t>
                      </a:r>
                      <a:r>
                        <a:rPr lang="en-US" altLang="en-US" sz="2000" b="1" dirty="0"/>
                        <a:t> [</a:t>
                      </a:r>
                      <a:r>
                        <a:rPr lang="en-US" altLang="en-US" sz="2000" b="1" i="1" dirty="0" err="1"/>
                        <a:t>i</a:t>
                      </a:r>
                      <a:r>
                        <a:rPr lang="en-US" altLang="en-US" sz="2000" b="1" dirty="0"/>
                        <a:t>] = </a:t>
                      </a:r>
                      <a:r>
                        <a:rPr lang="en-US" altLang="en-US" sz="2000" b="1" i="1" dirty="0"/>
                        <a:t>false</a:t>
                      </a:r>
                      <a:endParaRPr lang="en-US" altLang="en-US" sz="2000" b="1" i="0" dirty="0"/>
                    </a:p>
                    <a:p>
                      <a:pPr marL="57150" lvl="1" indent="0">
                        <a:lnSpc>
                          <a:spcPct val="90000"/>
                        </a:lnSpc>
                        <a:buFont typeface="Monotype Sorts" pitchFamily="-84" charset="2"/>
                        <a:buNone/>
                      </a:pPr>
                      <a:r>
                        <a:rPr lang="en-US" altLang="en-US" sz="2000" b="1" i="1" dirty="0" err="1"/>
                        <a:t>Request</a:t>
                      </a:r>
                      <a:r>
                        <a:rPr lang="en-US" altLang="en-US" sz="2000" b="1" i="1" baseline="-25000" dirty="0" err="1"/>
                        <a:t>i</a:t>
                      </a:r>
                      <a:r>
                        <a:rPr lang="en-US" altLang="en-US" sz="2000" b="1" dirty="0"/>
                        <a:t> </a:t>
                      </a:r>
                      <a:r>
                        <a:rPr lang="en-US" altLang="en-US" sz="2000" b="1" dirty="0">
                          <a:sym typeface="Symbol" panose="05050102010706020507" pitchFamily="18" charset="2"/>
                        </a:rPr>
                        <a:t> </a:t>
                      </a:r>
                      <a:r>
                        <a:rPr lang="en-US" altLang="en-US" sz="2000" b="1" i="1" dirty="0">
                          <a:sym typeface="Symbol" panose="05050102010706020507" pitchFamily="18" charset="2"/>
                        </a:rPr>
                        <a:t>Work</a:t>
                      </a:r>
                    </a:p>
                    <a:p>
                      <a:pPr marL="57150" lvl="1" indent="0">
                        <a:lnSpc>
                          <a:spcPct val="90000"/>
                        </a:lnSpc>
                        <a:buFont typeface="Monotype Sorts" pitchFamily="-84" charset="2"/>
                        <a:buNone/>
                      </a:pPr>
                      <a:endParaRPr lang="en-US" altLang="en-US" sz="2000" b="1" i="1" dirty="0">
                        <a:sym typeface="Symbol" panose="05050102010706020507" pitchFamily="18" charset="2"/>
                      </a:endParaRPr>
                    </a:p>
                    <a:p>
                      <a:pPr marL="57150" lvl="1" indent="0">
                        <a:lnSpc>
                          <a:spcPct val="90000"/>
                        </a:lnSpc>
                        <a:buFont typeface="Monotype Sorts" pitchFamily="-84" charset="2"/>
                        <a:buNone/>
                      </a:pPr>
                      <a:endParaRPr lang="en-US" altLang="en-US" sz="2000" b="1" i="1" dirty="0">
                        <a:sym typeface="Symbol" panose="05050102010706020507" pitchFamily="18" charset="2"/>
                      </a:endParaRPr>
                    </a:p>
                    <a:p>
                      <a:pPr marL="57150" lvl="1" indent="0">
                        <a:lnSpc>
                          <a:spcPct val="90000"/>
                        </a:lnSpc>
                        <a:buFont typeface="Monotype Sorts" pitchFamily="-84" charset="2"/>
                        <a:buNone/>
                      </a:pPr>
                      <a:r>
                        <a:rPr lang="en-US" altLang="en-US" sz="2000" b="1" i="1" dirty="0"/>
                        <a:t>Work</a:t>
                      </a:r>
                      <a:r>
                        <a:rPr lang="en-US" altLang="en-US" sz="2000" b="1" dirty="0"/>
                        <a:t> = </a:t>
                      </a:r>
                      <a:r>
                        <a:rPr lang="en-US" altLang="en-US" sz="2000" b="1" i="1" dirty="0"/>
                        <a:t>Work </a:t>
                      </a:r>
                      <a:r>
                        <a:rPr lang="en-US" altLang="en-US" sz="2000" b="1" dirty="0"/>
                        <a:t>+ </a:t>
                      </a:r>
                      <a:r>
                        <a:rPr lang="en-US" altLang="en-US" sz="2000" b="1" i="1" dirty="0" err="1"/>
                        <a:t>Allocation</a:t>
                      </a:r>
                      <a:r>
                        <a:rPr lang="en-US" altLang="en-US" sz="2000" b="1" i="1" baseline="-25000" dirty="0" err="1"/>
                        <a:t>i</a:t>
                      </a:r>
                      <a:endParaRPr lang="en-US" altLang="en-US" sz="2000" b="1" i="1" baseline="-25000" dirty="0"/>
                    </a:p>
                    <a:p>
                      <a:pPr marL="57150" lvl="1" indent="0">
                        <a:lnSpc>
                          <a:spcPct val="90000"/>
                        </a:lnSpc>
                        <a:buFont typeface="Monotype Sorts" pitchFamily="-84" charset="2"/>
                        <a:buNone/>
                      </a:pPr>
                      <a:endParaRPr lang="en-US" altLang="en-US" sz="2000" b="1" i="1" baseline="-25000" dirty="0"/>
                    </a:p>
                    <a:p>
                      <a:pPr marL="57150" lvl="1" indent="0">
                        <a:lnSpc>
                          <a:spcPct val="90000"/>
                        </a:lnSpc>
                        <a:buFont typeface="Monotype Sorts" pitchFamily="-84" charset="2"/>
                        <a:buNone/>
                      </a:pPr>
                      <a:r>
                        <a:rPr lang="en-US" altLang="en-US" sz="2000" b="1" i="1" dirty="0"/>
                        <a:t>Work</a:t>
                      </a:r>
                      <a:r>
                        <a:rPr lang="en-US" altLang="en-US" sz="2000" b="1" dirty="0"/>
                        <a:t> =</a:t>
                      </a:r>
                      <a:endParaRPr lang="en-US" altLang="en-US" sz="2000" b="1" i="1" baseline="-25000" dirty="0"/>
                    </a:p>
                    <a:p>
                      <a:pPr marL="57150" lvl="1" indent="0">
                        <a:lnSpc>
                          <a:spcPct val="90000"/>
                        </a:lnSpc>
                        <a:buFont typeface="Monotype Sorts" pitchFamily="-84" charset="2"/>
                        <a:buNone/>
                      </a:pPr>
                      <a:endParaRPr lang="en-US" altLang="en-US" sz="2000" b="1" i="1" baseline="-25000" dirty="0"/>
                    </a:p>
                    <a:p>
                      <a:pPr marL="57150" lvl="1" indent="0">
                        <a:lnSpc>
                          <a:spcPct val="90000"/>
                        </a:lnSpc>
                        <a:buFont typeface="Monotype Sorts" pitchFamily="-84" charset="2"/>
                        <a:buNone/>
                      </a:pPr>
                      <a:br>
                        <a:rPr lang="en-US" altLang="en-US" sz="2000" b="1" dirty="0"/>
                      </a:br>
                      <a:r>
                        <a:rPr lang="en-US" altLang="en-US" sz="2000" b="1" dirty="0"/>
                        <a:t> </a:t>
                      </a:r>
                      <a:r>
                        <a:rPr lang="en-US" altLang="en-US" sz="2000" b="1" i="1" dirty="0"/>
                        <a:t>Finish</a:t>
                      </a:r>
                      <a:r>
                        <a:rPr lang="en-US" altLang="en-US" sz="2000" b="1" dirty="0"/>
                        <a:t>[</a:t>
                      </a:r>
                      <a:r>
                        <a:rPr lang="en-US" altLang="en-US" sz="2000" b="1" i="1" dirty="0" err="1"/>
                        <a:t>i</a:t>
                      </a:r>
                      <a:r>
                        <a:rPr lang="en-US" altLang="en-US" sz="2000" b="1" dirty="0"/>
                        <a:t>] =</a:t>
                      </a:r>
                      <a:endParaRPr lang="en-US" dirty="0"/>
                    </a:p>
                  </a:txBody>
                  <a:tcPr>
                    <a:solidFill>
                      <a:srgbClr val="C00000"/>
                    </a:solidFill>
                  </a:tcPr>
                </a:tc>
                <a:extLst>
                  <a:ext uri="{0D108BD9-81ED-4DB2-BD59-A6C34878D82A}">
                    <a16:rowId xmlns:a16="http://schemas.microsoft.com/office/drawing/2014/main" val="10000"/>
                  </a:ext>
                </a:extLst>
              </a:tr>
            </a:tbl>
          </a:graphicData>
        </a:graphic>
      </p:graphicFrame>
      <p:pic>
        <p:nvPicPr>
          <p:cNvPr id="3" name="Picture 2"/>
          <p:cNvPicPr>
            <a:picLocks noChangeAspect="1"/>
          </p:cNvPicPr>
          <p:nvPr/>
        </p:nvPicPr>
        <p:blipFill>
          <a:blip r:embed="rId2"/>
          <a:stretch>
            <a:fillRect/>
          </a:stretch>
        </p:blipFill>
        <p:spPr>
          <a:xfrm>
            <a:off x="2102955" y="268514"/>
            <a:ext cx="5507520" cy="2493735"/>
          </a:xfrm>
          <a:prstGeom prst="rect">
            <a:avLst/>
          </a:prstGeom>
        </p:spPr>
      </p:pic>
    </p:spTree>
    <p:extLst>
      <p:ext uri="{BB962C8B-B14F-4D97-AF65-F5344CB8AC3E}">
        <p14:creationId xmlns:p14="http://schemas.microsoft.com/office/powerpoint/2010/main" val="158986963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20245696-9CE8-4FC7-BC3D-C43A860346C8}"/>
              </a:ext>
            </a:extLst>
          </p:cNvPr>
          <p:cNvSpPr>
            <a:spLocks noGrp="1" noChangeArrowheads="1"/>
          </p:cNvSpPr>
          <p:nvPr>
            <p:ph type="title"/>
          </p:nvPr>
        </p:nvSpPr>
        <p:spPr>
          <a:xfrm>
            <a:off x="2546350" y="214313"/>
            <a:ext cx="7664450" cy="576262"/>
          </a:xfrm>
        </p:spPr>
        <p:txBody>
          <a:bodyPr/>
          <a:lstStyle/>
          <a:p>
            <a:pPr eaLnBrk="1" hangingPunct="1"/>
            <a:r>
              <a:rPr lang="en-US" altLang="en-US" dirty="0"/>
              <a:t>Example of Detection Algorithm</a:t>
            </a:r>
          </a:p>
        </p:txBody>
      </p:sp>
      <p:sp>
        <p:nvSpPr>
          <p:cNvPr id="74754" name="Rectangle 3">
            <a:extLst>
              <a:ext uri="{FF2B5EF4-FFF2-40B4-BE49-F238E27FC236}">
                <a16:creationId xmlns:a16="http://schemas.microsoft.com/office/drawing/2014/main" id="{CBEDF2A5-8F09-4357-9519-FCAE0F3F3B32}"/>
              </a:ext>
            </a:extLst>
          </p:cNvPr>
          <p:cNvSpPr>
            <a:spLocks noGrp="1" noChangeArrowheads="1"/>
          </p:cNvSpPr>
          <p:nvPr>
            <p:ph type="body" idx="1"/>
          </p:nvPr>
        </p:nvSpPr>
        <p:spPr>
          <a:xfrm>
            <a:off x="2425701" y="1108076"/>
            <a:ext cx="8037513" cy="5121275"/>
          </a:xfrm>
        </p:spPr>
        <p:txBody>
          <a:bodyPr/>
          <a:lstStyle/>
          <a:p>
            <a:pPr>
              <a:tabLst>
                <a:tab pos="1428750" algn="l"/>
                <a:tab pos="2338388" algn="ctr"/>
                <a:tab pos="3594100" algn="ctr"/>
                <a:tab pos="4921250" algn="ctr"/>
              </a:tabLst>
            </a:pPr>
            <a:r>
              <a:rPr lang="en-US" altLang="en-US" dirty="0"/>
              <a:t>Five threads </a:t>
            </a:r>
            <a:r>
              <a:rPr lang="en-US" altLang="en-US" b="1" i="1" dirty="0"/>
              <a:t>T</a:t>
            </a:r>
            <a:r>
              <a:rPr lang="en-US" altLang="en-US" b="1" baseline="-25000" dirty="0"/>
              <a:t>0</a:t>
            </a:r>
            <a:r>
              <a:rPr lang="en-US" altLang="en-US" dirty="0"/>
              <a:t> through </a:t>
            </a:r>
            <a:r>
              <a:rPr lang="en-US" altLang="en-US" b="1" i="1" dirty="0"/>
              <a:t>T</a:t>
            </a:r>
            <a:r>
              <a:rPr lang="en-US" altLang="en-US" b="1" baseline="-25000" dirty="0"/>
              <a:t>4</a:t>
            </a:r>
            <a:r>
              <a:rPr lang="en-US" altLang="en-US" dirty="0"/>
              <a:t>;</a:t>
            </a:r>
            <a:r>
              <a:rPr lang="en-US" altLang="en-US" baseline="-25000" dirty="0"/>
              <a:t> </a:t>
            </a:r>
            <a:r>
              <a:rPr lang="en-US" altLang="en-US" dirty="0"/>
              <a:t>three resource types </a:t>
            </a:r>
            <a:br>
              <a:rPr lang="en-US" altLang="en-US" dirty="0"/>
            </a:br>
            <a:r>
              <a:rPr lang="en-US" altLang="en-US" dirty="0"/>
              <a:t>A (7 instances), </a:t>
            </a:r>
            <a:r>
              <a:rPr lang="en-US" altLang="en-US" i="1" dirty="0"/>
              <a:t>B </a:t>
            </a:r>
            <a:r>
              <a:rPr lang="en-US" altLang="en-US" dirty="0"/>
              <a:t>(2 instances), and </a:t>
            </a:r>
            <a:r>
              <a:rPr lang="en-US" altLang="en-US" i="1" dirty="0"/>
              <a:t>C</a:t>
            </a:r>
            <a:r>
              <a:rPr lang="en-US" altLang="en-US" dirty="0"/>
              <a:t> (6 instances)</a:t>
            </a:r>
          </a:p>
          <a:p>
            <a:pPr>
              <a:buNone/>
              <a:tabLst>
                <a:tab pos="1428750" algn="l"/>
                <a:tab pos="2338388" algn="ctr"/>
                <a:tab pos="3594100" algn="ctr"/>
                <a:tab pos="4921250" algn="ctr"/>
              </a:tabLst>
            </a:pPr>
            <a:endParaRPr lang="en-US" altLang="en-US" dirty="0"/>
          </a:p>
          <a:p>
            <a:pPr>
              <a:tabLst>
                <a:tab pos="1428750" algn="l"/>
                <a:tab pos="2338388" algn="ctr"/>
                <a:tab pos="3594100" algn="ctr"/>
                <a:tab pos="4921250" algn="ctr"/>
              </a:tabLst>
            </a:pPr>
            <a:r>
              <a:rPr lang="en-US" altLang="en-US" dirty="0"/>
              <a:t>Snapshot at time </a:t>
            </a:r>
            <a:r>
              <a:rPr lang="en-US" altLang="en-US" b="1" i="1" dirty="0"/>
              <a:t>T</a:t>
            </a:r>
            <a:r>
              <a:rPr lang="en-US" altLang="en-US" b="1" baseline="-25000" dirty="0"/>
              <a:t>0</a:t>
            </a:r>
            <a:r>
              <a:rPr lang="en-US" altLang="en-US" dirty="0"/>
              <a:t>:</a:t>
            </a:r>
          </a:p>
          <a:p>
            <a:pPr>
              <a:buNone/>
              <a:tabLst>
                <a:tab pos="1428750" algn="l"/>
                <a:tab pos="2338388" algn="ctr"/>
                <a:tab pos="3594100" algn="ctr"/>
                <a:tab pos="4921250" algn="ctr"/>
              </a:tabLst>
            </a:pPr>
            <a:r>
              <a:rPr lang="en-US" altLang="en-US" dirty="0"/>
              <a:t>			 </a:t>
            </a:r>
            <a:r>
              <a:rPr lang="en-US" altLang="en-US" i="1" u="sng" dirty="0"/>
              <a:t>Allocation</a:t>
            </a:r>
            <a:r>
              <a:rPr lang="en-US" altLang="en-US" i="1" dirty="0"/>
              <a:t>	</a:t>
            </a:r>
            <a:r>
              <a:rPr lang="en-US" altLang="en-US" i="1" u="sng" dirty="0"/>
              <a:t>Request</a:t>
            </a:r>
            <a:r>
              <a:rPr lang="en-US" altLang="en-US" i="1" dirty="0"/>
              <a:t>	</a:t>
            </a:r>
            <a:r>
              <a:rPr lang="en-US" altLang="en-US" i="1" u="sng" dirty="0"/>
              <a:t>Available</a:t>
            </a:r>
          </a:p>
          <a:p>
            <a:pPr>
              <a:buNone/>
              <a:tabLst>
                <a:tab pos="1428750" algn="l"/>
                <a:tab pos="2338388" algn="ctr"/>
                <a:tab pos="3594100" algn="ctr"/>
                <a:tab pos="4921250" algn="ctr"/>
              </a:tabLst>
            </a:pPr>
            <a:r>
              <a:rPr lang="en-US" altLang="en-US" dirty="0"/>
              <a:t>			</a:t>
            </a:r>
            <a:r>
              <a:rPr lang="en-US" altLang="en-US" i="1" dirty="0"/>
              <a:t>A B C 	  A B C 	A B C</a:t>
            </a:r>
          </a:p>
          <a:p>
            <a:pPr>
              <a:buNone/>
              <a:tabLst>
                <a:tab pos="1428750" algn="l"/>
                <a:tab pos="2338388" algn="ctr"/>
                <a:tab pos="3594100" algn="ctr"/>
                <a:tab pos="4921250" algn="ctr"/>
              </a:tabLst>
            </a:pPr>
            <a:r>
              <a:rPr lang="en-US" altLang="en-US" dirty="0"/>
              <a:t>	         </a:t>
            </a:r>
            <a:r>
              <a:rPr lang="en-US" altLang="en-US" i="1" dirty="0"/>
              <a:t>T</a:t>
            </a:r>
            <a:r>
              <a:rPr lang="en-US" altLang="en-US" baseline="-25000" dirty="0"/>
              <a:t>0</a:t>
            </a:r>
            <a:r>
              <a:rPr lang="en-US" altLang="en-US" dirty="0"/>
              <a:t>	          0 1 0             0 0 0 	0 0 0</a:t>
            </a:r>
          </a:p>
          <a:p>
            <a:pPr>
              <a:buNone/>
              <a:tabLst>
                <a:tab pos="1428750" algn="l"/>
                <a:tab pos="2338388" algn="ctr"/>
                <a:tab pos="3594100" algn="ctr"/>
                <a:tab pos="4921250" algn="ctr"/>
              </a:tabLst>
            </a:pPr>
            <a:r>
              <a:rPr lang="en-US" altLang="en-US" i="1" dirty="0"/>
              <a:t>              T</a:t>
            </a:r>
            <a:r>
              <a:rPr lang="en-US" altLang="en-US" baseline="-25000" dirty="0"/>
              <a:t>1</a:t>
            </a:r>
            <a:r>
              <a:rPr lang="en-US" altLang="en-US" dirty="0"/>
              <a:t>	          	2 0 0 	  2 0 2</a:t>
            </a:r>
          </a:p>
          <a:p>
            <a:pPr>
              <a:buNone/>
              <a:tabLst>
                <a:tab pos="1428750" algn="l"/>
                <a:tab pos="2338388" algn="ctr"/>
                <a:tab pos="3594100" algn="ctr"/>
                <a:tab pos="4921250" algn="ctr"/>
              </a:tabLst>
            </a:pPr>
            <a:r>
              <a:rPr lang="en-US" altLang="en-US" i="1" dirty="0"/>
              <a:t>              T</a:t>
            </a:r>
            <a:r>
              <a:rPr lang="en-US" altLang="en-US" baseline="-25000" dirty="0"/>
              <a:t>2</a:t>
            </a:r>
            <a:r>
              <a:rPr lang="en-US" altLang="en-US" dirty="0"/>
              <a:t>		          3 0 3             0 0 </a:t>
            </a:r>
            <a:r>
              <a:rPr lang="en-US" altLang="en-US" sz="2400" b="1" dirty="0">
                <a:solidFill>
                  <a:srgbClr val="FF0000"/>
                </a:solidFill>
              </a:rPr>
              <a:t>1</a:t>
            </a:r>
            <a:r>
              <a:rPr lang="en-US" altLang="en-US" dirty="0"/>
              <a:t> </a:t>
            </a:r>
          </a:p>
          <a:p>
            <a:pPr>
              <a:buNone/>
              <a:tabLst>
                <a:tab pos="1428750" algn="l"/>
                <a:tab pos="2338388" algn="ctr"/>
                <a:tab pos="3594100" algn="ctr"/>
                <a:tab pos="4921250" algn="ctr"/>
              </a:tabLst>
            </a:pPr>
            <a:r>
              <a:rPr lang="en-US" altLang="en-US" i="1" dirty="0"/>
              <a:t>              T</a:t>
            </a:r>
            <a:r>
              <a:rPr lang="en-US" altLang="en-US" baseline="-25000" dirty="0"/>
              <a:t>3</a:t>
            </a:r>
            <a:r>
              <a:rPr lang="en-US" altLang="en-US" dirty="0"/>
              <a:t>		2 1 1 	   1 0 0 </a:t>
            </a:r>
          </a:p>
          <a:p>
            <a:pPr>
              <a:buNone/>
              <a:tabLst>
                <a:tab pos="1428750" algn="l"/>
                <a:tab pos="2338388" algn="ctr"/>
                <a:tab pos="3594100" algn="ctr"/>
                <a:tab pos="4921250" algn="ctr"/>
              </a:tabLst>
            </a:pPr>
            <a:r>
              <a:rPr lang="en-US" altLang="en-US" dirty="0"/>
              <a:t>	         </a:t>
            </a:r>
            <a:r>
              <a:rPr lang="en-US" altLang="en-US" i="1" dirty="0"/>
              <a:t>T</a:t>
            </a:r>
            <a:r>
              <a:rPr lang="en-US" altLang="en-US" baseline="-25000" dirty="0"/>
              <a:t>4	</a:t>
            </a:r>
            <a:r>
              <a:rPr lang="en-US" altLang="en-US" dirty="0"/>
              <a:t>	0 0 2 	   0 0 2</a:t>
            </a:r>
          </a:p>
          <a:p>
            <a:pPr>
              <a:buNone/>
              <a:tabLst>
                <a:tab pos="1428750" algn="l"/>
                <a:tab pos="2338388" algn="ctr"/>
                <a:tab pos="3594100" algn="ctr"/>
                <a:tab pos="4921250" algn="ctr"/>
              </a:tabLst>
            </a:pPr>
            <a:endParaRPr lang="en-US" altLang="en-US" dirty="0"/>
          </a:p>
          <a:p>
            <a:pPr>
              <a:tabLst>
                <a:tab pos="1428750" algn="l"/>
                <a:tab pos="2338388" algn="ctr"/>
                <a:tab pos="3594100" algn="ctr"/>
                <a:tab pos="4921250" algn="ctr"/>
              </a:tabLst>
            </a:pPr>
            <a:r>
              <a:rPr lang="en-US" altLang="en-US" dirty="0"/>
              <a:t>Sequence &lt;</a:t>
            </a:r>
            <a:r>
              <a:rPr lang="en-US" altLang="en-US" b="1" i="1" dirty="0"/>
              <a:t>T</a:t>
            </a:r>
            <a:r>
              <a:rPr lang="en-US" altLang="en-US" b="1" i="1" baseline="-25000" dirty="0"/>
              <a:t>0</a:t>
            </a:r>
            <a:r>
              <a:rPr lang="en-US" altLang="en-US" b="1" i="1" dirty="0"/>
              <a:t>, T</a:t>
            </a:r>
            <a:r>
              <a:rPr lang="en-US" altLang="en-US" b="1" i="1" baseline="-25000" dirty="0"/>
              <a:t>2</a:t>
            </a:r>
            <a:r>
              <a:rPr lang="en-US" altLang="en-US" b="1" i="1" dirty="0"/>
              <a:t>, T</a:t>
            </a:r>
            <a:r>
              <a:rPr lang="en-US" altLang="en-US" b="1" i="1" baseline="-25000" dirty="0"/>
              <a:t>3</a:t>
            </a:r>
            <a:r>
              <a:rPr lang="en-US" altLang="en-US" b="1" i="1" dirty="0"/>
              <a:t>, T</a:t>
            </a:r>
            <a:r>
              <a:rPr lang="en-US" altLang="en-US" b="1" i="1" baseline="-25000" dirty="0"/>
              <a:t>1</a:t>
            </a:r>
            <a:r>
              <a:rPr lang="en-US" altLang="en-US" b="1" i="1" dirty="0"/>
              <a:t>, T</a:t>
            </a:r>
            <a:r>
              <a:rPr lang="en-US" altLang="en-US" b="1" i="1" baseline="-25000" dirty="0"/>
              <a:t>4</a:t>
            </a:r>
            <a:r>
              <a:rPr lang="en-US" altLang="en-US" dirty="0"/>
              <a:t>&gt; will result in </a:t>
            </a:r>
            <a:r>
              <a:rPr lang="en-US" altLang="en-US" b="1" i="1" dirty="0"/>
              <a:t>Finish[i] = true </a:t>
            </a:r>
            <a:r>
              <a:rPr lang="en-US" altLang="en-US" dirty="0"/>
              <a:t>for all </a:t>
            </a:r>
            <a:r>
              <a:rPr lang="en-US" altLang="en-US" b="1" i="1" dirty="0"/>
              <a:t>i</a:t>
            </a:r>
            <a:endParaRPr lang="en-US" altLang="en-US" b="1" dirty="0"/>
          </a:p>
          <a:p>
            <a:pPr>
              <a:buNone/>
              <a:tabLst>
                <a:tab pos="1428750" algn="l"/>
                <a:tab pos="2338388" algn="ctr"/>
                <a:tab pos="3594100" algn="ctr"/>
                <a:tab pos="4921250" algn="ctr"/>
              </a:tabLst>
            </a:pPr>
            <a:endParaRPr lang="en-US" altLang="en-US" dirty="0"/>
          </a:p>
        </p:txBody>
      </p:sp>
    </p:spTree>
    <p:extLst>
      <p:ext uri="{BB962C8B-B14F-4D97-AF65-F5344CB8AC3E}">
        <p14:creationId xmlns:p14="http://schemas.microsoft.com/office/powerpoint/2010/main" val="73887816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DA86E4C4-151E-4B29-AF3A-94D82C4FF0E6}"/>
              </a:ext>
            </a:extLst>
          </p:cNvPr>
          <p:cNvSpPr>
            <a:spLocks noGrp="1" noChangeArrowheads="1"/>
          </p:cNvSpPr>
          <p:nvPr>
            <p:ph type="title"/>
          </p:nvPr>
        </p:nvSpPr>
        <p:spPr>
          <a:xfrm>
            <a:off x="1981200" y="214313"/>
            <a:ext cx="8229600" cy="576262"/>
          </a:xfrm>
        </p:spPr>
        <p:txBody>
          <a:bodyPr/>
          <a:lstStyle/>
          <a:p>
            <a:pPr eaLnBrk="1" hangingPunct="1"/>
            <a:r>
              <a:rPr lang="en-US" altLang="en-US" dirty="0"/>
              <a:t>Example (Cont.)</a:t>
            </a:r>
          </a:p>
        </p:txBody>
      </p:sp>
      <p:sp>
        <p:nvSpPr>
          <p:cNvPr id="76802" name="Rectangle 3">
            <a:extLst>
              <a:ext uri="{FF2B5EF4-FFF2-40B4-BE49-F238E27FC236}">
                <a16:creationId xmlns:a16="http://schemas.microsoft.com/office/drawing/2014/main" id="{198FFF5E-8931-4A8B-8BF7-20846C289136}"/>
              </a:ext>
            </a:extLst>
          </p:cNvPr>
          <p:cNvSpPr>
            <a:spLocks noGrp="1" noChangeArrowheads="1"/>
          </p:cNvSpPr>
          <p:nvPr>
            <p:ph type="body" idx="1"/>
          </p:nvPr>
        </p:nvSpPr>
        <p:spPr>
          <a:xfrm>
            <a:off x="2330451" y="1233489"/>
            <a:ext cx="7781925" cy="5037137"/>
          </a:xfrm>
        </p:spPr>
        <p:txBody>
          <a:bodyPr/>
          <a:lstStyle/>
          <a:p>
            <a:pPr>
              <a:tabLst>
                <a:tab pos="2800350" algn="l"/>
                <a:tab pos="3708400" algn="ctr"/>
              </a:tabLst>
            </a:pPr>
            <a:r>
              <a:rPr lang="en-US" altLang="en-US" b="1" i="1" dirty="0"/>
              <a:t>T</a:t>
            </a:r>
            <a:r>
              <a:rPr lang="en-US" altLang="en-US" b="1" baseline="-25000" dirty="0"/>
              <a:t>2</a:t>
            </a:r>
            <a:r>
              <a:rPr lang="en-US" altLang="en-US" dirty="0"/>
              <a:t> requests an additional instance of type</a:t>
            </a:r>
            <a:r>
              <a:rPr lang="en-US" altLang="en-US" i="1" dirty="0"/>
              <a:t> </a:t>
            </a:r>
            <a:r>
              <a:rPr lang="en-US" altLang="en-US" b="1" i="1" dirty="0"/>
              <a:t>C</a:t>
            </a:r>
            <a:endParaRPr lang="en-US" altLang="en-US" b="1" dirty="0"/>
          </a:p>
          <a:p>
            <a:pPr>
              <a:buNone/>
              <a:tabLst>
                <a:tab pos="2800350" algn="l"/>
                <a:tab pos="3708400" algn="ctr"/>
              </a:tabLst>
            </a:pPr>
            <a:r>
              <a:rPr lang="en-US" altLang="en-US" dirty="0"/>
              <a:t>			</a:t>
            </a:r>
            <a:r>
              <a:rPr lang="en-US" altLang="en-US" i="1" u="sng" dirty="0"/>
              <a:t>Request</a:t>
            </a:r>
            <a:endParaRPr lang="en-US" altLang="en-US" i="1" dirty="0"/>
          </a:p>
          <a:p>
            <a:pPr>
              <a:buNone/>
              <a:tabLst>
                <a:tab pos="2800350" algn="l"/>
                <a:tab pos="3708400" algn="ctr"/>
              </a:tabLst>
            </a:pPr>
            <a:r>
              <a:rPr lang="en-US" altLang="en-US" i="1" dirty="0"/>
              <a:t>			A B C</a:t>
            </a:r>
          </a:p>
          <a:p>
            <a:pPr>
              <a:buNone/>
              <a:tabLst>
                <a:tab pos="2800350" algn="l"/>
                <a:tab pos="3708400" algn="ctr"/>
              </a:tabLst>
            </a:pPr>
            <a:r>
              <a:rPr lang="en-US" altLang="en-US" dirty="0"/>
              <a:t>		 </a:t>
            </a:r>
            <a:r>
              <a:rPr lang="en-US" altLang="en-US" i="1" dirty="0"/>
              <a:t>T</a:t>
            </a:r>
            <a:r>
              <a:rPr lang="en-US" altLang="en-US" baseline="-25000" dirty="0"/>
              <a:t>0</a:t>
            </a:r>
            <a:r>
              <a:rPr lang="en-US" altLang="en-US" dirty="0"/>
              <a:t>	0 0 0</a:t>
            </a:r>
          </a:p>
          <a:p>
            <a:pPr>
              <a:buNone/>
              <a:tabLst>
                <a:tab pos="2800350" algn="l"/>
                <a:tab pos="3708400" algn="ctr"/>
              </a:tabLst>
            </a:pPr>
            <a:r>
              <a:rPr lang="en-US" altLang="en-US" dirty="0"/>
              <a:t>		 </a:t>
            </a:r>
            <a:r>
              <a:rPr lang="en-US" altLang="en-US" i="1" dirty="0"/>
              <a:t>T</a:t>
            </a:r>
            <a:r>
              <a:rPr lang="en-US" altLang="en-US" baseline="-25000" dirty="0"/>
              <a:t>1</a:t>
            </a:r>
            <a:r>
              <a:rPr lang="en-US" altLang="en-US" dirty="0"/>
              <a:t>	2 0 2</a:t>
            </a:r>
          </a:p>
          <a:p>
            <a:pPr>
              <a:buNone/>
              <a:tabLst>
                <a:tab pos="2800350" algn="l"/>
                <a:tab pos="3708400" algn="ctr"/>
              </a:tabLst>
            </a:pPr>
            <a:r>
              <a:rPr lang="en-US" altLang="en-US" dirty="0"/>
              <a:t>		 </a:t>
            </a:r>
            <a:r>
              <a:rPr lang="en-US" altLang="en-US" i="1" dirty="0"/>
              <a:t>T</a:t>
            </a:r>
            <a:r>
              <a:rPr lang="en-US" altLang="en-US" baseline="-25000" dirty="0"/>
              <a:t>2</a:t>
            </a:r>
            <a:r>
              <a:rPr lang="en-US" altLang="en-US" dirty="0"/>
              <a:t>	0 0 1</a:t>
            </a:r>
          </a:p>
          <a:p>
            <a:pPr>
              <a:buNone/>
              <a:tabLst>
                <a:tab pos="2800350" algn="l"/>
                <a:tab pos="3708400" algn="ctr"/>
              </a:tabLst>
            </a:pPr>
            <a:r>
              <a:rPr lang="en-US" altLang="en-US" dirty="0"/>
              <a:t>		 </a:t>
            </a:r>
            <a:r>
              <a:rPr lang="en-US" altLang="en-US" i="1" dirty="0"/>
              <a:t>T</a:t>
            </a:r>
            <a:r>
              <a:rPr lang="en-US" altLang="en-US" baseline="-25000" dirty="0"/>
              <a:t>3</a:t>
            </a:r>
            <a:r>
              <a:rPr lang="en-US" altLang="en-US" dirty="0"/>
              <a:t>	1 0 0 </a:t>
            </a:r>
          </a:p>
          <a:p>
            <a:pPr>
              <a:buNone/>
              <a:tabLst>
                <a:tab pos="2800350" algn="l"/>
                <a:tab pos="3708400" algn="ctr"/>
              </a:tabLst>
            </a:pPr>
            <a:r>
              <a:rPr lang="en-US" altLang="en-US" dirty="0"/>
              <a:t>		 </a:t>
            </a:r>
            <a:r>
              <a:rPr lang="en-US" altLang="en-US" i="1" dirty="0"/>
              <a:t>T</a:t>
            </a:r>
            <a:r>
              <a:rPr lang="en-US" altLang="en-US" baseline="-25000" dirty="0"/>
              <a:t>4</a:t>
            </a:r>
            <a:r>
              <a:rPr lang="en-US" altLang="en-US" dirty="0"/>
              <a:t>	0 0 2</a:t>
            </a:r>
          </a:p>
          <a:p>
            <a:pPr>
              <a:buNone/>
              <a:tabLst>
                <a:tab pos="2800350" algn="l"/>
                <a:tab pos="3708400" algn="ctr"/>
              </a:tabLst>
            </a:pPr>
            <a:endParaRPr lang="en-US" altLang="en-US" sz="800" dirty="0"/>
          </a:p>
          <a:p>
            <a:pPr>
              <a:tabLst>
                <a:tab pos="2800350" algn="l"/>
                <a:tab pos="3708400" algn="ctr"/>
              </a:tabLst>
            </a:pPr>
            <a:r>
              <a:rPr lang="en-US" altLang="en-US" dirty="0"/>
              <a:t>State of system?</a:t>
            </a:r>
          </a:p>
          <a:p>
            <a:pPr lvl="1">
              <a:tabLst>
                <a:tab pos="2800350" algn="l"/>
                <a:tab pos="3708400" algn="ctr"/>
              </a:tabLst>
            </a:pPr>
            <a:r>
              <a:rPr lang="en-US" altLang="en-US" dirty="0"/>
              <a:t>Can reclaim resources held by thread </a:t>
            </a:r>
            <a:r>
              <a:rPr lang="en-US" altLang="en-US" b="1" i="1" dirty="0"/>
              <a:t>T</a:t>
            </a:r>
            <a:r>
              <a:rPr lang="en-US" altLang="en-US" b="1" baseline="-25000" dirty="0"/>
              <a:t>0</a:t>
            </a:r>
            <a:r>
              <a:rPr lang="en-US" altLang="en-US" dirty="0"/>
              <a:t>, but insufficient resources to fulfill other processes; requests</a:t>
            </a:r>
          </a:p>
          <a:p>
            <a:pPr lvl="1">
              <a:tabLst>
                <a:tab pos="2800350" algn="l"/>
                <a:tab pos="3708400" algn="ctr"/>
              </a:tabLst>
            </a:pPr>
            <a:r>
              <a:rPr lang="en-US" altLang="en-US" dirty="0"/>
              <a:t>Deadlock exists, consisting of processes </a:t>
            </a:r>
            <a:r>
              <a:rPr lang="en-US" altLang="en-US" b="1" i="1" dirty="0"/>
              <a:t>T</a:t>
            </a:r>
            <a:r>
              <a:rPr lang="en-US" altLang="en-US" b="1" baseline="-25000" dirty="0"/>
              <a:t>1</a:t>
            </a:r>
            <a:r>
              <a:rPr lang="en-US" altLang="en-US" b="1" dirty="0"/>
              <a:t>, </a:t>
            </a:r>
            <a:r>
              <a:rPr lang="en-US" altLang="en-US" b="1" baseline="-25000" dirty="0"/>
              <a:t> </a:t>
            </a:r>
            <a:r>
              <a:rPr lang="en-US" altLang="en-US" b="1" i="1" dirty="0"/>
              <a:t>T</a:t>
            </a:r>
            <a:r>
              <a:rPr lang="en-US" altLang="en-US" b="1" baseline="-25000" dirty="0"/>
              <a:t>2</a:t>
            </a:r>
            <a:r>
              <a:rPr lang="en-US" altLang="en-US" b="1" dirty="0"/>
              <a:t>, </a:t>
            </a:r>
            <a:r>
              <a:rPr lang="en-US" altLang="en-US" b="1" i="1" dirty="0"/>
              <a:t>T</a:t>
            </a:r>
            <a:r>
              <a:rPr lang="en-US" altLang="en-US" b="1" baseline="-25000" dirty="0"/>
              <a:t>3</a:t>
            </a:r>
            <a:r>
              <a:rPr lang="en-US" altLang="en-US" dirty="0"/>
              <a:t>, and </a:t>
            </a:r>
            <a:r>
              <a:rPr lang="en-US" altLang="en-US" b="1" i="1" dirty="0"/>
              <a:t>T</a:t>
            </a:r>
            <a:r>
              <a:rPr lang="en-US" altLang="en-US" b="1" baseline="-25000" dirty="0"/>
              <a:t>4</a:t>
            </a:r>
            <a:endParaRPr lang="en-US" altLang="en-US" b="1" dirty="0"/>
          </a:p>
        </p:txBody>
      </p:sp>
    </p:spTree>
    <p:extLst>
      <p:ext uri="{BB962C8B-B14F-4D97-AF65-F5344CB8AC3E}">
        <p14:creationId xmlns:p14="http://schemas.microsoft.com/office/powerpoint/2010/main" val="301627827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1AC46895-F09F-4AA8-B270-CB5567B1C5B0}"/>
              </a:ext>
            </a:extLst>
          </p:cNvPr>
          <p:cNvSpPr>
            <a:spLocks noGrp="1" noChangeArrowheads="1"/>
          </p:cNvSpPr>
          <p:nvPr>
            <p:ph type="title"/>
          </p:nvPr>
        </p:nvSpPr>
        <p:spPr>
          <a:xfrm>
            <a:off x="2040732" y="359230"/>
            <a:ext cx="8588375" cy="457200"/>
          </a:xfrm>
        </p:spPr>
        <p:txBody>
          <a:bodyPr/>
          <a:lstStyle/>
          <a:p>
            <a:pPr eaLnBrk="1" hangingPunct="1"/>
            <a:r>
              <a:rPr lang="en-US" altLang="en-US" sz="2400" dirty="0"/>
              <a:t>Recovery from Deadlock:  Process Termination</a:t>
            </a:r>
          </a:p>
        </p:txBody>
      </p:sp>
      <p:sp>
        <p:nvSpPr>
          <p:cNvPr id="80898" name="Rectangle 3">
            <a:extLst>
              <a:ext uri="{FF2B5EF4-FFF2-40B4-BE49-F238E27FC236}">
                <a16:creationId xmlns:a16="http://schemas.microsoft.com/office/drawing/2014/main" id="{38916639-ABF6-4FC4-8E81-7F4537AFC987}"/>
              </a:ext>
            </a:extLst>
          </p:cNvPr>
          <p:cNvSpPr>
            <a:spLocks noGrp="1" noChangeArrowheads="1"/>
          </p:cNvSpPr>
          <p:nvPr>
            <p:ph type="body" idx="1"/>
          </p:nvPr>
        </p:nvSpPr>
        <p:spPr>
          <a:xfrm>
            <a:off x="2487613" y="1108076"/>
            <a:ext cx="7694612" cy="4530725"/>
          </a:xfrm>
        </p:spPr>
        <p:txBody>
          <a:bodyPr/>
          <a:lstStyle/>
          <a:p>
            <a:r>
              <a:rPr lang="en-US" altLang="en-US" dirty="0"/>
              <a:t>Abort all deadlocked threads</a:t>
            </a:r>
          </a:p>
          <a:p>
            <a:r>
              <a:rPr lang="en-US" altLang="en-US" dirty="0"/>
              <a:t>Abort one process at a time until the deadlock cycle is eliminated</a:t>
            </a:r>
          </a:p>
          <a:p>
            <a:r>
              <a:rPr lang="en-US" altLang="en-US" dirty="0"/>
              <a:t>In which order should we choose to abort?</a:t>
            </a:r>
          </a:p>
          <a:p>
            <a:pPr marL="800100" lvl="1" indent="-342900">
              <a:buFont typeface="Arial" panose="020B0604020202020204" pitchFamily="34" charset="0"/>
              <a:buAutoNum type="arabicPeriod"/>
            </a:pPr>
            <a:r>
              <a:rPr lang="en-US" altLang="en-US" dirty="0"/>
              <a:t>Priority of the thread</a:t>
            </a:r>
          </a:p>
          <a:p>
            <a:pPr marL="800100" lvl="1" indent="-342900">
              <a:buFont typeface="Arial" panose="020B0604020202020204" pitchFamily="34" charset="0"/>
              <a:buAutoNum type="arabicPeriod"/>
            </a:pPr>
            <a:r>
              <a:rPr lang="en-US" altLang="en-US" dirty="0"/>
              <a:t>How long has the thread computed, and how much longer to completion</a:t>
            </a:r>
          </a:p>
          <a:p>
            <a:pPr marL="800100" lvl="1" indent="-342900">
              <a:buFont typeface="Arial" panose="020B0604020202020204" pitchFamily="34" charset="0"/>
              <a:buAutoNum type="arabicPeriod"/>
            </a:pPr>
            <a:r>
              <a:rPr lang="en-US" altLang="en-US" dirty="0"/>
              <a:t>Resources that the thread has used</a:t>
            </a:r>
          </a:p>
          <a:p>
            <a:pPr marL="800100" lvl="1" indent="-342900">
              <a:buFont typeface="Arial" panose="020B0604020202020204" pitchFamily="34" charset="0"/>
              <a:buAutoNum type="arabicPeriod"/>
            </a:pPr>
            <a:r>
              <a:rPr lang="en-US" altLang="en-US" dirty="0"/>
              <a:t>Resources that the thread needs to complete</a:t>
            </a:r>
          </a:p>
          <a:p>
            <a:pPr marL="800100" lvl="1" indent="-342900">
              <a:buFont typeface="Arial" panose="020B0604020202020204" pitchFamily="34" charset="0"/>
              <a:buAutoNum type="arabicPeriod"/>
            </a:pPr>
            <a:r>
              <a:rPr lang="en-US" altLang="en-US" dirty="0"/>
              <a:t>How many threads will need to be terminated</a:t>
            </a:r>
          </a:p>
          <a:p>
            <a:pPr marL="800100" lvl="1" indent="-342900">
              <a:buFont typeface="Arial" panose="020B0604020202020204" pitchFamily="34" charset="0"/>
              <a:buAutoNum type="arabicPeriod"/>
            </a:pPr>
            <a:r>
              <a:rPr lang="en-US" altLang="en-US" dirty="0"/>
              <a:t>Is the thread interactive or batch?</a:t>
            </a:r>
          </a:p>
        </p:txBody>
      </p:sp>
    </p:spTree>
    <p:extLst>
      <p:ext uri="{BB962C8B-B14F-4D97-AF65-F5344CB8AC3E}">
        <p14:creationId xmlns:p14="http://schemas.microsoft.com/office/powerpoint/2010/main" val="315571834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019776DB-F4CF-4A0D-88E0-0C4A9C46D294}"/>
              </a:ext>
            </a:extLst>
          </p:cNvPr>
          <p:cNvSpPr>
            <a:spLocks noGrp="1" noChangeArrowheads="1"/>
          </p:cNvSpPr>
          <p:nvPr>
            <p:ph type="title"/>
          </p:nvPr>
        </p:nvSpPr>
        <p:spPr>
          <a:xfrm>
            <a:off x="2186572" y="348894"/>
            <a:ext cx="8020050" cy="457200"/>
          </a:xfrm>
        </p:spPr>
        <p:txBody>
          <a:bodyPr/>
          <a:lstStyle/>
          <a:p>
            <a:pPr eaLnBrk="1" hangingPunct="1"/>
            <a:r>
              <a:rPr lang="en-US" altLang="en-US" sz="2400" dirty="0"/>
              <a:t>Recovery from Deadlock:  Resource Preemption</a:t>
            </a:r>
          </a:p>
        </p:txBody>
      </p:sp>
      <p:sp>
        <p:nvSpPr>
          <p:cNvPr id="82946" name="Rectangle 3">
            <a:extLst>
              <a:ext uri="{FF2B5EF4-FFF2-40B4-BE49-F238E27FC236}">
                <a16:creationId xmlns:a16="http://schemas.microsoft.com/office/drawing/2014/main" id="{1EC2BE65-1915-4205-9A59-81178CB32515}"/>
              </a:ext>
            </a:extLst>
          </p:cNvPr>
          <p:cNvSpPr>
            <a:spLocks noGrp="1" noChangeArrowheads="1"/>
          </p:cNvSpPr>
          <p:nvPr>
            <p:ph type="body" idx="1"/>
          </p:nvPr>
        </p:nvSpPr>
        <p:spPr>
          <a:xfrm>
            <a:off x="2382839" y="1150938"/>
            <a:ext cx="6802437" cy="4483100"/>
          </a:xfrm>
        </p:spPr>
        <p:txBody>
          <a:bodyPr/>
          <a:lstStyle/>
          <a:p>
            <a:r>
              <a:rPr lang="en-US" altLang="en-US" b="1" dirty="0"/>
              <a:t>Selecting a victim </a:t>
            </a:r>
            <a:r>
              <a:rPr lang="en-US" altLang="en-US" dirty="0"/>
              <a:t>– minimize cost</a:t>
            </a:r>
          </a:p>
          <a:p>
            <a:r>
              <a:rPr lang="en-US" altLang="en-US" b="1" dirty="0"/>
              <a:t>Rollback</a:t>
            </a:r>
            <a:r>
              <a:rPr lang="en-US" altLang="en-US" dirty="0"/>
              <a:t> – return to some safe state, restart the thread for that state</a:t>
            </a:r>
          </a:p>
          <a:p>
            <a:r>
              <a:rPr lang="en-US" altLang="en-US" b="1" dirty="0"/>
              <a:t>Starvation</a:t>
            </a:r>
            <a:r>
              <a:rPr lang="en-US" altLang="en-US" dirty="0"/>
              <a:t> –  same thread may always be picked as victim, include number of rollback in cost factor</a:t>
            </a:r>
          </a:p>
        </p:txBody>
      </p:sp>
    </p:spTree>
    <p:extLst>
      <p:ext uri="{BB962C8B-B14F-4D97-AF65-F5344CB8AC3E}">
        <p14:creationId xmlns:p14="http://schemas.microsoft.com/office/powerpoint/2010/main" val="2621913737"/>
      </p:ext>
    </p:extLst>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18602</TotalTime>
  <Words>5679</Words>
  <Application>Microsoft Office PowerPoint</Application>
  <PresentationFormat>Widescreen</PresentationFormat>
  <Paragraphs>1127</Paragraphs>
  <Slides>89</Slides>
  <Notes>61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89</vt:i4>
      </vt:variant>
    </vt:vector>
  </HeadingPairs>
  <TitlesOfParts>
    <vt:vector size="102" baseType="lpstr">
      <vt:lpstr>ＭＳ Ｐゴシック</vt:lpstr>
      <vt:lpstr>Arial</vt:lpstr>
      <vt:lpstr>Courier New</vt:lpstr>
      <vt:lpstr>Helvetica</vt:lpstr>
      <vt:lpstr>Monotype Sorts</vt:lpstr>
      <vt:lpstr>PalatinoLTStd-Bold</vt:lpstr>
      <vt:lpstr>PalatinoLTStd-Roman</vt:lpstr>
      <vt:lpstr>Symbol</vt:lpstr>
      <vt:lpstr>Times New Roman</vt:lpstr>
      <vt:lpstr>Verdana</vt:lpstr>
      <vt:lpstr>Webdings</vt:lpstr>
      <vt:lpstr>Wingdings</vt:lpstr>
      <vt:lpstr>os-8</vt:lpstr>
      <vt:lpstr>Module 3 Process Scheduling</vt:lpstr>
      <vt:lpstr>PowerPoint Presentation</vt:lpstr>
      <vt:lpstr>CPU Scheduling</vt:lpstr>
      <vt:lpstr>CPU Scheduler</vt:lpstr>
      <vt:lpstr>Preemptive and Nonpreemptive Scheduling</vt:lpstr>
      <vt:lpstr>Preemptive Scheduling and Race Conditions</vt:lpstr>
      <vt:lpstr>Dispatcher</vt:lpstr>
      <vt:lpstr>Scheduling Criteria</vt:lpstr>
      <vt:lpstr>Scheduling Algorithm Optimization Criteria</vt:lpstr>
      <vt:lpstr>First- Come, First-Served (FCFS) Scheduling</vt:lpstr>
      <vt:lpstr>First- Come, First-Served (FCFS) Scheduling</vt:lpstr>
      <vt:lpstr>First- Come, First-Served (FCFS) Scheduling</vt:lpstr>
      <vt:lpstr>First- Come, First-Served (FCFS) Scheduling</vt:lpstr>
      <vt:lpstr>PowerPoint Presentation</vt:lpstr>
      <vt:lpstr>FCFS Scheduling (Cont.)</vt:lpstr>
      <vt:lpstr>Shortest-Job-First (SJF) Scheduling</vt:lpstr>
      <vt:lpstr>PowerPoint Presentation</vt:lpstr>
      <vt:lpstr>PowerPoint Presentation</vt:lpstr>
      <vt:lpstr>Shortest Remaining Time First (SRTF)  SJF - Preemptive Scheduling</vt:lpstr>
      <vt:lpstr>Example of SJF</vt:lpstr>
      <vt:lpstr>SJF – Preemptive Scheduling Example of Shortest-remaining-time-first</vt:lpstr>
      <vt:lpstr>Round Robin (RR)</vt:lpstr>
      <vt:lpstr>Example of RR with Time Quantum = 4</vt:lpstr>
      <vt:lpstr>Round Robin (RR) Scheduling </vt:lpstr>
      <vt:lpstr>Round Robin (RR) Scheduling </vt:lpstr>
      <vt:lpstr>Priority Scheduling</vt:lpstr>
      <vt:lpstr>Example of Priority Scheduling</vt:lpstr>
      <vt:lpstr>Priority Scheduling – Non Preemptive </vt:lpstr>
      <vt:lpstr>Priority Scheduling –Preemptive </vt:lpstr>
      <vt:lpstr>Priority Scheduling – Non Preemptive </vt:lpstr>
      <vt:lpstr>Priority Scheduling w/ Round-Robin</vt:lpstr>
      <vt:lpstr>Multilevel Queue</vt:lpstr>
      <vt:lpstr>Multilevel Queue</vt:lpstr>
      <vt:lpstr>Multilevel Queue</vt:lpstr>
      <vt:lpstr>Example</vt:lpstr>
      <vt:lpstr>Multilevel Queue Scheduling </vt:lpstr>
      <vt:lpstr>Multilevel Feedback Queue</vt:lpstr>
      <vt:lpstr>Example of Multilevel Feedback Queue</vt:lpstr>
      <vt:lpstr>Multilevel Feedback Queue</vt:lpstr>
      <vt:lpstr>Multilevel feedback Queue Scheduling </vt:lpstr>
      <vt:lpstr>Multilevel feedback Queue Scheduling – Ex. 2 </vt:lpstr>
      <vt:lpstr>PowerPoint Presentation</vt:lpstr>
      <vt:lpstr>Deadlocks</vt:lpstr>
      <vt:lpstr>Outline</vt:lpstr>
      <vt:lpstr> Objectives</vt:lpstr>
      <vt:lpstr>System Model</vt:lpstr>
      <vt:lpstr>Deadlock with Semaphores</vt:lpstr>
      <vt:lpstr>Deadlock Characterization</vt:lpstr>
      <vt:lpstr>Resource-Allocation Graph</vt:lpstr>
      <vt:lpstr>Resource Allocation Graph Example</vt:lpstr>
      <vt:lpstr>Resource Allocation Graph with a Deadlock</vt:lpstr>
      <vt:lpstr>PowerPoint Presentation</vt:lpstr>
      <vt:lpstr>Draw RAG and check for deadlock</vt:lpstr>
      <vt:lpstr>Graph with a Cycle But no Deadlock</vt:lpstr>
      <vt:lpstr>Basic Facts</vt:lpstr>
      <vt:lpstr>Methods for Handling Deadlocks</vt:lpstr>
      <vt:lpstr>Deadlock Prevention</vt:lpstr>
      <vt:lpstr>Deadlock Prevention (Cont.)</vt:lpstr>
      <vt:lpstr>Circular Wait</vt:lpstr>
      <vt:lpstr>Deadlock Avoidance</vt:lpstr>
      <vt:lpstr>Safe, Unsafe, Deadlock State </vt:lpstr>
      <vt:lpstr>Safe State</vt:lpstr>
      <vt:lpstr>Basic Facts</vt:lpstr>
      <vt:lpstr>Avoidance Algorithms</vt:lpstr>
      <vt:lpstr>Resource-Allocation Graph Scheme</vt:lpstr>
      <vt:lpstr>Resource-Allocation Graph</vt:lpstr>
      <vt:lpstr>Unsafe State In Resource-Allocation Graph</vt:lpstr>
      <vt:lpstr>Resource-Allocation Graph Algorithm</vt:lpstr>
      <vt:lpstr>Banker’s Algorithm</vt:lpstr>
      <vt:lpstr>Data Structures for the Banker’s Algorithm </vt:lpstr>
      <vt:lpstr>Safety Algorithm</vt:lpstr>
      <vt:lpstr>Resource-Request Algorithm for Process Pi</vt:lpstr>
      <vt:lpstr>Example of Banker’s Algorithm</vt:lpstr>
      <vt:lpstr>Example (Cont.)</vt:lpstr>
      <vt:lpstr>PowerPoint Presentation</vt:lpstr>
      <vt:lpstr>PowerPoint Presentation</vt:lpstr>
      <vt:lpstr>Example:  P1 Request (1,0,2)</vt:lpstr>
      <vt:lpstr>Deadlock Detection</vt:lpstr>
      <vt:lpstr>Single Instance of Each Resource Type</vt:lpstr>
      <vt:lpstr>Resource-Allocation Graph and  Wait-for Graph</vt:lpstr>
      <vt:lpstr>Several Instances of a Resource Type</vt:lpstr>
      <vt:lpstr>Detection Algorithm</vt:lpstr>
      <vt:lpstr>Detection Algorithm (Cont.)</vt:lpstr>
      <vt:lpstr>PowerPoint Presentation</vt:lpstr>
      <vt:lpstr>PowerPoint Presentation</vt:lpstr>
      <vt:lpstr>Example of Detection Algorithm</vt:lpstr>
      <vt:lpstr>Example (Cont.)</vt:lpstr>
      <vt:lpstr>Recovery from Deadlock:  Process Termination</vt:lpstr>
      <vt:lpstr>Recovery from Deadlock:  Resource Preemption</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Dr.M.A. Berlin</cp:lastModifiedBy>
  <cp:revision>488</cp:revision>
  <cp:lastPrinted>2013-10-02T18:16:40Z</cp:lastPrinted>
  <dcterms:created xsi:type="dcterms:W3CDTF">2011-01-13T23:43:38Z</dcterms:created>
  <dcterms:modified xsi:type="dcterms:W3CDTF">2026-06-01T05:24:19Z</dcterms:modified>
</cp:coreProperties>
</file>