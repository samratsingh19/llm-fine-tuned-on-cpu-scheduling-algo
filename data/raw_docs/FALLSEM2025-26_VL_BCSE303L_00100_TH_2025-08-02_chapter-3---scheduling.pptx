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7"/>
  </p:notesMasterIdLst>
  <p:handoutMasterIdLst>
    <p:handoutMasterId r:id="rId48"/>
  </p:handoutMasterIdLst>
  <p:sldIdLst>
    <p:sldId id="331" r:id="rId2"/>
    <p:sldId id="332" r:id="rId3"/>
    <p:sldId id="333" r:id="rId4"/>
    <p:sldId id="334" r:id="rId5"/>
    <p:sldId id="336" r:id="rId6"/>
    <p:sldId id="401" r:id="rId7"/>
    <p:sldId id="402" r:id="rId8"/>
    <p:sldId id="337" r:id="rId9"/>
    <p:sldId id="338" r:id="rId10"/>
    <p:sldId id="339" r:id="rId11"/>
    <p:sldId id="340" r:id="rId12"/>
    <p:sldId id="341" r:id="rId13"/>
    <p:sldId id="403" r:id="rId14"/>
    <p:sldId id="419" r:id="rId15"/>
    <p:sldId id="421" r:id="rId16"/>
    <p:sldId id="345" r:id="rId17"/>
    <p:sldId id="422" r:id="rId18"/>
    <p:sldId id="424" r:id="rId19"/>
    <p:sldId id="423" r:id="rId20"/>
    <p:sldId id="350" r:id="rId21"/>
    <p:sldId id="351" r:id="rId22"/>
    <p:sldId id="352" r:id="rId23"/>
    <p:sldId id="353" r:id="rId24"/>
    <p:sldId id="348" r:id="rId25"/>
    <p:sldId id="425" r:id="rId26"/>
    <p:sldId id="427" r:id="rId27"/>
    <p:sldId id="426" r:id="rId28"/>
    <p:sldId id="354" r:id="rId29"/>
    <p:sldId id="400" r:id="rId30"/>
    <p:sldId id="356" r:id="rId31"/>
    <p:sldId id="404" r:id="rId32"/>
    <p:sldId id="358" r:id="rId33"/>
    <p:sldId id="359" r:id="rId34"/>
    <p:sldId id="360" r:id="rId35"/>
    <p:sldId id="361" r:id="rId36"/>
    <p:sldId id="362" r:id="rId37"/>
    <p:sldId id="405" r:id="rId38"/>
    <p:sldId id="365" r:id="rId39"/>
    <p:sldId id="411" r:id="rId40"/>
    <p:sldId id="412" r:id="rId41"/>
    <p:sldId id="413" r:id="rId42"/>
    <p:sldId id="364" r:id="rId43"/>
    <p:sldId id="414" r:id="rId44"/>
    <p:sldId id="363" r:id="rId45"/>
    <p:sldId id="417" r:id="rId46"/>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 xmlns:p15="http://schemas.microsoft.com/office/powerpoint/2012/main">
        <p15:guide id="1" orient="horz" pos="816">
          <p15:clr>
            <a:srgbClr val="A4A3A4"/>
          </p15:clr>
        </p15:guide>
        <p15:guide id="2" pos="44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485" autoAdjust="0"/>
    <p:restoredTop sz="94635"/>
  </p:normalViewPr>
  <p:slideViewPr>
    <p:cSldViewPr snapToGrid="0">
      <p:cViewPr>
        <p:scale>
          <a:sx n="76" d="100"/>
          <a:sy n="76" d="100"/>
        </p:scale>
        <p:origin x="-1128"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18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extLst>
      <p:ext uri="{BB962C8B-B14F-4D97-AF65-F5344CB8AC3E}">
        <p14:creationId xmlns:p14="http://schemas.microsoft.com/office/powerpoint/2010/main" val="37592611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8434" name="Rectangle 2">
            <a:extLst>
              <a:ext uri="{FF2B5EF4-FFF2-40B4-BE49-F238E27FC236}">
                <a16:creationId xmlns=""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0482" name="Rectangle 2">
            <a:extLst>
              <a:ext uri="{FF2B5EF4-FFF2-40B4-BE49-F238E27FC236}">
                <a16:creationId xmlns=""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2530" name="Rectangle 2">
            <a:extLst>
              <a:ext uri="{FF2B5EF4-FFF2-40B4-BE49-F238E27FC236}">
                <a16:creationId xmlns=""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4578" name="Rectangle 2">
            <a:extLst>
              <a:ext uri="{FF2B5EF4-FFF2-40B4-BE49-F238E27FC236}">
                <a16:creationId xmlns=""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6626" name="Rectangle 2">
            <a:extLst>
              <a:ext uri="{FF2B5EF4-FFF2-40B4-BE49-F238E27FC236}">
                <a16:creationId xmlns=""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4578" name="Rectangle 2">
            <a:extLst>
              <a:ext uri="{FF2B5EF4-FFF2-40B4-BE49-F238E27FC236}">
                <a16:creationId xmlns=""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32770" name="Rectangle 2">
            <a:extLst>
              <a:ext uri="{FF2B5EF4-FFF2-40B4-BE49-F238E27FC236}">
                <a16:creationId xmlns=""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4818" name="Rectangle 2">
            <a:extLst>
              <a:ext uri="{FF2B5EF4-FFF2-40B4-BE49-F238E27FC236}">
                <a16:creationId xmlns=""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6866" name="Rectangle 2">
            <a:extLst>
              <a:ext uri="{FF2B5EF4-FFF2-40B4-BE49-F238E27FC236}">
                <a16:creationId xmlns=""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8914" name="Rectangle 2">
            <a:extLst>
              <a:ext uri="{FF2B5EF4-FFF2-40B4-BE49-F238E27FC236}">
                <a16:creationId xmlns=""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0962" name="Rectangle 2">
            <a:extLst>
              <a:ext uri="{FF2B5EF4-FFF2-40B4-BE49-F238E27FC236}">
                <a16:creationId xmlns=""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3010" name="Rectangle 2">
            <a:extLst>
              <a:ext uri="{FF2B5EF4-FFF2-40B4-BE49-F238E27FC236}">
                <a16:creationId xmlns=""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5058" name="Rectangle 2">
            <a:extLst>
              <a:ext uri="{FF2B5EF4-FFF2-40B4-BE49-F238E27FC236}">
                <a16:creationId xmlns=""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7106" name="Rectangle 2">
            <a:extLst>
              <a:ext uri="{FF2B5EF4-FFF2-40B4-BE49-F238E27FC236}">
                <a16:creationId xmlns=""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9154" name="Rectangle 2">
            <a:extLst>
              <a:ext uri="{FF2B5EF4-FFF2-40B4-BE49-F238E27FC236}">
                <a16:creationId xmlns=""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1202" name="Rectangle 2">
            <a:extLst>
              <a:ext uri="{FF2B5EF4-FFF2-40B4-BE49-F238E27FC236}">
                <a16:creationId xmlns=""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3250" name="Rectangle 2">
            <a:extLst>
              <a:ext uri="{FF2B5EF4-FFF2-40B4-BE49-F238E27FC236}">
                <a16:creationId xmlns=""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5298" name="Rectangle 2">
            <a:extLst>
              <a:ext uri="{FF2B5EF4-FFF2-40B4-BE49-F238E27FC236}">
                <a16:creationId xmlns=""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60418" name="Rectangle 2">
            <a:extLst>
              <a:ext uri="{FF2B5EF4-FFF2-40B4-BE49-F238E27FC236}">
                <a16:creationId xmlns=""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2466" name="Rectangle 2">
            <a:extLst>
              <a:ext uri="{FF2B5EF4-FFF2-40B4-BE49-F238E27FC236}">
                <a16:creationId xmlns=""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4514" name="Rectangle 2">
            <a:extLst>
              <a:ext uri="{FF2B5EF4-FFF2-40B4-BE49-F238E27FC236}">
                <a16:creationId xmlns=""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6562" name="Rectangle 2">
            <a:extLst>
              <a:ext uri="{FF2B5EF4-FFF2-40B4-BE49-F238E27FC236}">
                <a16:creationId xmlns=""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8610" name="Rectangle 2">
            <a:extLst>
              <a:ext uri="{FF2B5EF4-FFF2-40B4-BE49-F238E27FC236}">
                <a16:creationId xmlns=""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70658" name="Rectangle 2">
            <a:extLst>
              <a:ext uri="{FF2B5EF4-FFF2-40B4-BE49-F238E27FC236}">
                <a16:creationId xmlns=""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70658" name="Rectangle 2">
            <a:extLst>
              <a:ext uri="{FF2B5EF4-FFF2-40B4-BE49-F238E27FC236}">
                <a16:creationId xmlns=""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9874" name="Rectangle 2">
            <a:extLst>
              <a:ext uri="{FF2B5EF4-FFF2-40B4-BE49-F238E27FC236}">
                <a16:creationId xmlns=""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81922" name="Rectangle 2">
            <a:extLst>
              <a:ext uri="{FF2B5EF4-FFF2-40B4-BE49-F238E27FC236}">
                <a16:creationId xmlns=""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141314" name="Rectangle 2">
            <a:extLst>
              <a:ext uri="{FF2B5EF4-FFF2-40B4-BE49-F238E27FC236}">
                <a16:creationId xmlns=""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 xmlns:a16="http://schemas.microsoft.com/office/drawing/2014/main" id="{3DAC903C-4247-4B47-AD8D-48C1A580FDF4}"/>
              </a:ext>
            </a:extLst>
          </p:cNvPr>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a:t>
            </a:r>
            <a:r>
              <a:rPr lang="en-US" altLang="en-US" dirty="0" smtClean="0"/>
              <a:t>criteria</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 xmlns:a16="http://schemas.microsoft.com/office/drawing/2014/main" id="{B2D356C4-1B27-4D4C-8A80-D241E2CD7B36}"/>
              </a:ext>
            </a:extLst>
          </p:cNvPr>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type="body" idx="1"/>
          </p:nvPr>
        </p:nvSpPr>
        <p:spPr>
          <a:xfrm>
            <a:off x="838201" y="1169988"/>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type="body" idx="1"/>
          </p:nvPr>
        </p:nvSpPr>
        <p:spPr>
          <a:xfrm>
            <a:off x="931985" y="1193434"/>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 xmlns:a16="http://schemas.microsoft.com/office/drawing/2014/main" id="{6B795676-7DD0-4F16-8B81-4EFFF754D531}"/>
              </a:ext>
            </a:extLst>
          </p:cNvPr>
          <p:cNvSpPr>
            <a:spLocks noGrp="1" noChangeArrowheads="1"/>
          </p:cNvSpPr>
          <p:nvPr>
            <p:ph type="body" idx="1"/>
          </p:nvPr>
        </p:nvSpPr>
        <p:spPr>
          <a:xfrm>
            <a:off x="931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 xmlns:a16="http://schemas.microsoft.com/office/drawing/2014/main" id="{E113DAE6-D3A7-45EF-87B5-890976FCB8D4}"/>
              </a:ext>
            </a:extLst>
          </p:cNvPr>
          <p:cNvSpPr>
            <a:spLocks noGrp="1" noChangeArrowheads="1"/>
          </p:cNvSpPr>
          <p:nvPr>
            <p:ph type="body" idx="1"/>
          </p:nvPr>
        </p:nvSpPr>
        <p:spPr>
          <a:xfrm>
            <a:off x="849083" y="1119235"/>
            <a:ext cx="4754548" cy="4515661"/>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17411" name="Picture 1">
            <a:extLst>
              <a:ext uri="{FF2B5EF4-FFF2-40B4-BE49-F238E27FC236}">
                <a16:creationId xmlns=""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 xmlns:a16="http://schemas.microsoft.com/office/drawing/2014/main" id="{4338C466-115B-47DE-A288-6C7152DF0770}"/>
              </a:ext>
            </a:extLst>
          </p:cNvPr>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 xmlns:a16="http://schemas.microsoft.com/office/drawing/2014/main" id="{332EE341-968F-42D6-9F71-9462061509EC}"/>
              </a:ext>
            </a:extLst>
          </p:cNvPr>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 xmlns:a16="http://schemas.microsoft.com/office/drawing/2014/main" id="{823814F7-CEBB-4A55-80A1-4EA7BB1EEA9B}"/>
              </a:ext>
            </a:extLst>
          </p:cNvPr>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 xmlns:a16="http://schemas.microsoft.com/office/drawing/2014/main" id="{00593719-A5A4-4326-8529-37EC324927D6}"/>
              </a:ext>
            </a:extLst>
          </p:cNvPr>
          <p:cNvSpPr>
            <a:spLocks noGrp="1" noChangeArrowheads="1"/>
          </p:cNvSpPr>
          <p:nvPr>
            <p:ph type="body" idx="1"/>
          </p:nvPr>
        </p:nvSpPr>
        <p:spPr>
          <a:xfrm>
            <a:off x="833438" y="1250949"/>
            <a:ext cx="7788048" cy="4594679"/>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burst</a:t>
            </a: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r>
              <a:rPr lang="en-US" altLang="en-US" dirty="0">
                <a:cs typeface="ＭＳ Ｐゴシック" charset="-128"/>
              </a:rPr>
              <a:t>Commonly, </a:t>
            </a:r>
            <a:r>
              <a:rPr lang="en-US" altLang="en-US" dirty="0">
                <a:latin typeface="Lucida Grande" pitchFamily="-84" charset="0"/>
                <a:cs typeface="ＭＳ Ｐゴシック" charset="-128"/>
              </a:rPr>
              <a:t>α </a:t>
            </a:r>
            <a:r>
              <a:rPr lang="en-US" altLang="en-US" dirty="0">
                <a:cs typeface="ＭＳ Ｐゴシック" charset="-128"/>
              </a:rPr>
              <a:t>set to ½</a:t>
            </a:r>
          </a:p>
        </p:txBody>
      </p:sp>
      <p:pic>
        <p:nvPicPr>
          <p:cNvPr id="31748" name="Picture 1">
            <a:extLst>
              <a:ext uri="{FF2B5EF4-FFF2-40B4-BE49-F238E27FC236}">
                <a16:creationId xmlns=""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3022" y="3782501"/>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 xmlns:a16="http://schemas.microsoft.com/office/drawing/2014/main" id="{427B0884-5EC4-48E6-847A-70815D91C373}"/>
              </a:ext>
            </a:extLst>
          </p:cNvPr>
          <p:cNvPicPr>
            <a:picLocks noChangeAspect="1"/>
          </p:cNvPicPr>
          <p:nvPr/>
        </p:nvPicPr>
        <p:blipFill>
          <a:blip r:embed="rId4"/>
          <a:stretch>
            <a:fillRect/>
          </a:stretch>
        </p:blipFill>
        <p:spPr>
          <a:xfrm>
            <a:off x="1504165" y="2611222"/>
            <a:ext cx="44577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 xmlns:a16="http://schemas.microsoft.com/office/drawing/2014/main" id="{D651A984-67C5-468C-8F88-230FFA867BD5}"/>
              </a:ext>
            </a:extLst>
          </p:cNvPr>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 xmlns:a16="http://schemas.microsoft.com/office/drawing/2014/main" id="{823814F7-CEBB-4A55-80A1-4EA7BB1EEA9B}"/>
              </a:ext>
            </a:extLst>
          </p:cNvPr>
          <p:cNvSpPr>
            <a:spLocks noGrp="1" noChangeArrowheads="1"/>
          </p:cNvSpPr>
          <p:nvPr>
            <p:ph type="body" idx="1"/>
          </p:nvPr>
        </p:nvSpPr>
        <p:spPr>
          <a:xfrm>
            <a:off x="821093" y="1139969"/>
            <a:ext cx="6760325"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Tree>
    <p:extLst>
      <p:ext uri="{BB962C8B-B14F-4D97-AF65-F5344CB8AC3E}">
        <p14:creationId xmlns:p14="http://schemas.microsoft.com/office/powerpoint/2010/main" val="2452641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 xmlns:a16="http://schemas.microsoft.com/office/drawing/2014/main" id="{E17EE130-D776-4D6D-84E6-F464A160ACBF}"/>
              </a:ext>
            </a:extLst>
          </p:cNvPr>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 xmlns:a16="http://schemas.microsoft.com/office/drawing/2014/main" id="{CDADF2B2-580D-4F09-8A23-D969CD614667}"/>
              </a:ext>
            </a:extLst>
          </p:cNvPr>
          <p:cNvSpPr>
            <a:spLocks noGrp="1" noChangeArrowheads="1"/>
          </p:cNvSpPr>
          <p:nvPr>
            <p:ph type="body" idx="1"/>
          </p:nvPr>
        </p:nvSpPr>
        <p:spPr>
          <a:xfrm>
            <a:off x="806450" y="1233487"/>
            <a:ext cx="7973868" cy="4907539"/>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 xmlns:a16="http://schemas.microsoft.com/office/drawing/2014/main" id="{2105BD44-B36B-488F-9B4A-6D230FFCC50A}"/>
              </a:ext>
            </a:extLst>
          </p:cNvPr>
          <p:cNvSpPr>
            <a:spLocks noGrp="1" noChangeArrowheads="1"/>
          </p:cNvSpPr>
          <p:nvPr>
            <p:ph type="body"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49682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 xmlns:a16="http://schemas.microsoft.com/office/drawing/2014/main" id="{ABB3FE17-4C94-4A31-A709-AB137253300C}"/>
              </a:ext>
            </a:extLst>
          </p:cNvPr>
          <p:cNvSpPr>
            <a:spLocks noGrp="1" noChangeArrowheads="1"/>
          </p:cNvSpPr>
          <p:nvPr>
            <p:ph type="body"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val="3206840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 xmlns:a16="http://schemas.microsoft.com/office/drawing/2014/main" id="{1C367D1A-7DE2-4C9D-8F9F-8D980F3D95B0}"/>
              </a:ext>
            </a:extLst>
          </p:cNvPr>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 xmlns:a16="http://schemas.microsoft.com/office/drawing/2014/main" id="{ABB3FE17-4C94-4A31-A709-AB137253300C}"/>
              </a:ext>
            </a:extLst>
          </p:cNvPr>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 xmlns:a16="http://schemas.microsoft.com/office/drawing/2014/main" id="{4EB10D59-818F-4E4B-B4C9-ED90EEB4FFA0}"/>
              </a:ext>
            </a:extLst>
          </p:cNvPr>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LWP</a:t>
            </a:r>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 – Linux and macOS only allow PTHREAD_SCOPE_SYSTEM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 xmlns:a16="http://schemas.microsoft.com/office/drawing/2014/main" id="{B97D95DB-777A-482C-BA27-4C2D3C6CA8AF}"/>
              </a:ext>
            </a:extLst>
          </p:cNvPr>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#define NUM_THREADS 5 </a:t>
            </a: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get the default attributes */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p>
          <a:p>
            <a:pPr marL="0" indent="0">
              <a:buFont typeface="Monotype Sorts" pitchFamily="-84" charset="2"/>
              <a:buNone/>
            </a:pPr>
            <a:r>
              <a:rPr lang="en-US" altLang="en-US" sz="1400" dirty="0">
                <a:latin typeface="Courier New" panose="02070309020205020404" pitchFamily="49" charset="0"/>
              </a:rPr>
              <a:t>   else { </a:t>
            </a:r>
          </a:p>
          <a:p>
            <a:pPr marL="0" indent="0">
              <a:buFont typeface="Monotype Sorts" pitchFamily="-84" charset="2"/>
              <a:buNone/>
            </a:pPr>
            <a:r>
              <a:rPr lang="en-US" altLang="en-US" sz="1400" dirty="0">
                <a:latin typeface="Courier New" panose="02070309020205020404" pitchFamily="49" charset="0"/>
              </a:rPr>
              <a:t>      if (scope == PTHREAD_SCOPE_PROCESS)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p>
          <a:p>
            <a:pPr marL="0" indent="0">
              <a:buFont typeface="Monotype Sorts" pitchFamily="-84" charset="2"/>
              <a:buNone/>
            </a:pPr>
            <a:r>
              <a:rPr lang="en-US" altLang="en-US" sz="1400" dirty="0">
                <a:latin typeface="Courier New" panose="02070309020205020404" pitchFamily="49" charset="0"/>
              </a:rPr>
              <a:t>      else if (scope == PTHREAD_SCOPE_SYSTEM)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p>
          <a:p>
            <a:pPr marL="0" indent="0">
              <a:buFont typeface="Monotype Sorts" pitchFamily="-84" charset="2"/>
              <a:buNone/>
            </a:pPr>
            <a:r>
              <a:rPr lang="en-US" altLang="en-US" sz="1400" dirty="0">
                <a:latin typeface="Courier New" panose="02070309020205020404" pitchFamily="49" charset="0"/>
              </a:rPr>
              <a:t>   }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dirty="0">
                <a:latin typeface="Courier New" panose="02070309020205020404" pitchFamily="49" charset="0"/>
              </a:rPr>
              <a:t>   /* set the scheduling algorithm to PCS or SCS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pthread_create</a:t>
            </a:r>
            <a:r>
              <a:rPr lang="en-US" altLang="en-US" sz="1700" dirty="0">
                <a:latin typeface="Courier New" panose="02070309020205020404" pitchFamily="49" charset="0"/>
              </a:rPr>
              <a:t>(&amp;</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],&amp;</a:t>
            </a:r>
            <a:r>
              <a:rPr lang="en-US" altLang="en-US" sz="1700" dirty="0" err="1">
                <a:latin typeface="Courier New" panose="02070309020205020404" pitchFamily="49" charset="0"/>
              </a:rPr>
              <a:t>attr,runner,NULL</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Each thread will begin control in this function */ </a:t>
            </a: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do some work ...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pthread_exit</a:t>
            </a:r>
            <a:r>
              <a:rPr lang="en-US" altLang="en-US" sz="1700" dirty="0">
                <a:latin typeface="Courier New" panose="02070309020205020404" pitchFamily="49" charset="0"/>
              </a:rPr>
              <a:t>(0); </a:t>
            </a:r>
          </a:p>
          <a:p>
            <a:pPr marL="0" indent="0">
              <a:buFont typeface="Monotype Sorts" pitchFamily="-84" charset="2"/>
              <a:buNone/>
            </a:pPr>
            <a:r>
              <a:rPr lang="en-US" altLang="en-US" sz="1700" dirty="0">
                <a:latin typeface="Courier New" panose="02070309020205020404" pitchFamily="49" charset="0"/>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 xmlns:a16="http://schemas.microsoft.com/office/drawing/2014/main" id="{7A08C823-220F-4189-B103-BC03391E7F6B}"/>
              </a:ext>
            </a:extLst>
          </p:cNvPr>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pic>
        <p:nvPicPr>
          <p:cNvPr id="71683" name="Picture 3">
            <a:extLst>
              <a:ext uri="{FF2B5EF4-FFF2-40B4-BE49-F238E27FC236}">
                <a16:creationId xmlns=""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 xmlns:a16="http://schemas.microsoft.com/office/drawing/2014/main" id="{A98C968A-AF4F-450D-BAED-792FA6118868}"/>
              </a:ext>
            </a:extLst>
          </p:cNvPr>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a:extLst>
              <a:ext uri="{FF2B5EF4-FFF2-40B4-BE49-F238E27FC236}">
                <a16:creationId xmlns=""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 xmlns:a16="http://schemas.microsoft.com/office/drawing/2014/main" id="{1282DD5F-B7F7-4A28-B908-F260F89F83FA}"/>
              </a:ext>
            </a:extLst>
          </p:cNvPr>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r>
              <a:rPr lang="en-US" altLang="en-US" dirty="0"/>
              <a:t/>
            </a: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r>
              <a:rPr lang="en-US" altLang="en-US" dirty="0"/>
              <a:t/>
            </a:r>
            <a:br>
              <a:rPr lang="en-US" altLang="en-US" dirty="0"/>
            </a:br>
            <a:r>
              <a:rPr lang="en-US" altLang="en-US" dirty="0"/>
              <a:t/>
            </a:r>
            <a:br>
              <a:rPr lang="en-US" altLang="en-US" dirty="0"/>
            </a:br>
            <a:endParaRPr lang="en-US" altLang="en-US" dirty="0"/>
          </a:p>
        </p:txBody>
      </p:sp>
      <p:pic>
        <p:nvPicPr>
          <p:cNvPr id="77827" name="Picture 4">
            <a:extLst>
              <a:ext uri="{FF2B5EF4-FFF2-40B4-BE49-F238E27FC236}">
                <a16:creationId xmlns=""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 xmlns:a16="http://schemas.microsoft.com/office/drawing/2014/main" id="{820781A6-111F-4348-AA18-D0475B89840C}"/>
              </a:ext>
            </a:extLst>
          </p:cNvPr>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13378</TotalTime>
  <Words>1795</Words>
  <Application>Microsoft Office PowerPoint</Application>
  <PresentationFormat>On-screen Show (4:3)</PresentationFormat>
  <Paragraphs>351</Paragraphs>
  <Slides>45</Slides>
  <Notes>41</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os-8</vt:lpstr>
      <vt:lpstr>Chapter 5:  CPU Scheduling</vt:lpstr>
      <vt:lpstr>Outline</vt:lpstr>
      <vt:lpstr>Objectives</vt:lpstr>
      <vt:lpstr>Basic Concepts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End of Chapter 5</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Admin</cp:lastModifiedBy>
  <cp:revision>263</cp:revision>
  <cp:lastPrinted>2013-09-10T17:57:57Z</cp:lastPrinted>
  <dcterms:created xsi:type="dcterms:W3CDTF">2011-01-13T23:43:38Z</dcterms:created>
  <dcterms:modified xsi:type="dcterms:W3CDTF">2025-07-31T14:25:05Z</dcterms:modified>
</cp:coreProperties>
</file>